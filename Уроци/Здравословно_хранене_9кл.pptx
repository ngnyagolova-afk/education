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365760"/>
            <a:ext cx="2011680" cy="20116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74720" y="5303520"/>
            <a:ext cx="1280160" cy="128016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4114800"/>
            <a:ext cx="914400" cy="91440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🥦🍎🌾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09728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E7D32"/>
                </a:solidFill>
              </a:rPr>
              <a:t>Здравословно хранене и здравословен живот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840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</a:rPr>
              <a:t>Гражданско образование  ·  9 клас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434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77777"/>
                </a:solidFill>
              </a:rPr>
              <a:t>2025 / 2026 учебна година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5303520"/>
            <a:ext cx="6583680" cy="7772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534924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🎯  Да разберем как да живеем по-здравословно!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565C0"/>
                </a:solidFill>
              </a:rPr>
              <a:t>🧠  Мозъчна атака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444444"/>
                </a:solidFill>
              </a:rPr>
              <a:t>Какво знаете за здравословния живот?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5120640" cy="12801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5C0"/>
                </a:solidFill>
              </a:rPr>
              <a:t>📌  Как работим: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1B1B2F"/>
                </a:solidFill>
              </a:rPr>
              <a:t>▸  Всеки казва 1 нещо, което свързва с "здравословен живот"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1B1B2F"/>
                </a:solidFill>
              </a:rPr>
              <a:t>▸  Учителят записва отговорите на дъската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1B1B2F"/>
                </a:solidFill>
              </a:rPr>
              <a:t>▸  Групираме идеите по категории</a:t>
            </a:r>
          </a:p>
        </p:txBody>
      </p:sp>
      <p:pic>
        <p:nvPicPr>
          <p:cNvPr id="8" name="Picture 7" descr="brainst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731520"/>
            <a:ext cx="6492240" cy="4572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5989320"/>
            <a:ext cx="12188952" cy="74980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03504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565C0"/>
                </a:solidFill>
              </a:rPr>
              <a:t>💬  Въпроси за старт:   Какво ядохте днес?  |  Спортувахте ли тази седмица?  |  Колко часа спахте?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28816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Граждaнско образование  |  9 клас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E7D32"/>
                </a:solidFill>
              </a:rPr>
              <a:t>🌿  Какво е здравословен живот?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21945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2194560" cy="20116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1B1B2F"/>
                </a:solidFill>
              </a:rPr>
              <a:t>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2860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CAF50"/>
                </a:solidFill>
              </a:rPr>
              <a:t>Хранене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880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1B2F"/>
                </a:solidFill>
              </a:rPr>
              <a:t>Балансирана диета,
много плодове и зеленчуци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2888" y="1051560"/>
            <a:ext cx="21945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32888" y="1051560"/>
            <a:ext cx="2194560" cy="20116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2888" y="13716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1B1B2F"/>
                </a:solidFill>
              </a:rPr>
              <a:t>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22860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96F3"/>
                </a:solidFill>
              </a:rPr>
              <a:t>Движение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2888" y="2880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1B2F"/>
                </a:solidFill>
              </a:rPr>
              <a:t>Поне 60 мин.
активност дневно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37176" y="1051560"/>
            <a:ext cx="21945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37176" y="1051560"/>
            <a:ext cx="2194560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37176" y="13716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1B1B2F"/>
                </a:solidFill>
              </a:rPr>
              <a:t>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7176" y="22860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CD4"/>
                </a:solidFill>
              </a:rPr>
              <a:t>Вода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2880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1B2F"/>
                </a:solidFill>
              </a:rPr>
              <a:t>8 чаши вода
на ден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41464" y="1051560"/>
            <a:ext cx="21945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41464" y="1051560"/>
            <a:ext cx="2194560" cy="201168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41464" y="13716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1B1B2F"/>
                </a:solidFill>
              </a:rPr>
              <a:t>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1464" y="22860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73AB7"/>
                </a:solidFill>
              </a:rPr>
              <a:t>Сън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1464" y="2880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1B2F"/>
                </a:solidFill>
              </a:rPr>
              <a:t>8–10 часа
нощен сън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45752" y="1051560"/>
            <a:ext cx="21945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45752" y="1051560"/>
            <a:ext cx="2194560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45752" y="13716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1B1B2F"/>
                </a:solidFill>
              </a:rPr>
              <a:t>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22860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9800"/>
                </a:solidFill>
              </a:rPr>
              <a:t>Психика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2880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1B2F"/>
                </a:solidFill>
              </a:rPr>
              <a:t>Управление
на стреса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28816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Граждaнско образование  |  9 клас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315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E7D32"/>
                </a:solidFill>
              </a:rPr>
              <a:t>🔺  Хранителна пирамида</a:t>
            </a:r>
          </a:p>
        </p:txBody>
      </p:sp>
      <p:pic>
        <p:nvPicPr>
          <p:cNvPr id="4" name="Picture 3" descr="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66928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11887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7D32"/>
                </a:solidFill>
              </a:rPr>
              <a:t>Запомнете: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B1B2F"/>
                </a:solidFill>
              </a:rPr>
              <a:t>✔  Основата = трябва ни НАЙ-МНОГО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B1B2F"/>
                </a:solidFill>
              </a:rPr>
              <a:t>✔  Върхът = трябва ни НАЙ-МАЛКО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B1B2F"/>
                </a:solidFill>
              </a:rPr>
              <a:t>✔  Разнообразие = ключ към здравето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B1B2F"/>
                </a:solidFill>
              </a:rPr>
              <a:t>✔  Намалете преработените храни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B1B2F"/>
                </a:solidFill>
              </a:rPr>
              <a:t>✔  Предпочитайте пресни, сезонни продукти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5029200"/>
            <a:ext cx="5943600" cy="128016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5047488"/>
            <a:ext cx="5669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691E"/>
                </a:solidFill>
              </a:rPr>
              <a:t>💡  Правило 5 на ден:
яжте поне 5 различни
порции плодове и зеленчуци!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28816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Граждaнско образование  |  9 клас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5C00"/>
                </a:solidFill>
              </a:rPr>
              <a:t>🍽️  Здравословната чиния</a:t>
            </a:r>
          </a:p>
        </p:txBody>
      </p:sp>
      <p:pic>
        <p:nvPicPr>
          <p:cNvPr id="4" name="Picture 3" descr="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5303520" cy="5303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60720" y="1097280"/>
            <a:ext cx="6217920" cy="804672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113385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C00"/>
                </a:solidFill>
              </a:rPr>
              <a:t>🥦 50% чиния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49961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1B2F"/>
                </a:solidFill>
              </a:rPr>
              <a:t>Зеленчуци и плодове — разнообразни и свежи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2057400"/>
            <a:ext cx="62179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209397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C00"/>
                </a:solidFill>
              </a:rPr>
              <a:t>🌾 25% чиния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45973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1B2F"/>
                </a:solidFill>
              </a:rPr>
              <a:t>Пълнозърнести — ориз, тестени, хляб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3017520"/>
            <a:ext cx="6217920" cy="804672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305409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C00"/>
                </a:solidFill>
              </a:rPr>
              <a:t>🥩 25% чиния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41985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1B2F"/>
                </a:solidFill>
              </a:rPr>
              <a:t>Белтъчини — риба, пиле, варива, яйца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3977640"/>
            <a:ext cx="62179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01421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C00"/>
                </a:solidFill>
              </a:rPr>
              <a:t>🧂 Ограничавайте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37997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1B2F"/>
                </a:solidFill>
              </a:rPr>
              <a:t>Сол, захар, наситени мазнини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4937760"/>
            <a:ext cx="6217920" cy="804672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49743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C00"/>
                </a:solidFill>
              </a:rPr>
              <a:t>🫒 Добри мазнини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534009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1B2F"/>
                </a:solidFill>
              </a:rPr>
              <a:t>Зехтин, авокадо, ядки — умерено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28816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Граждaнско образование  |  9 клас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565C0"/>
                </a:solidFill>
              </a:rPr>
              <a:t>💧  Водата — извор на живот</a:t>
            </a:r>
          </a:p>
        </p:txBody>
      </p:sp>
      <p:pic>
        <p:nvPicPr>
          <p:cNvPr id="4" name="Picture 3" descr="wa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109728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Важни факти: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1B2F"/>
                </a:solidFill>
              </a:rPr>
              <a:t>💧  60% от тялото ни е вода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1B2F"/>
                </a:solidFill>
              </a:rPr>
              <a:t>💧  Мозъкът е 75% вода — обезводняването причинява умора и главоболие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1B2F"/>
                </a:solidFill>
              </a:rPr>
              <a:t>💧  Пийте вода — НЕ сокове и газирани напитки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1B2F"/>
                </a:solidFill>
              </a:rPr>
              <a:t>💧  Признаци на обезводняване: тъмна урина, умора, главоболие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1B2F"/>
                </a:solidFill>
              </a:rPr>
              <a:t>💧  Пийте по чаша вода ПРЕДИ всяко хранене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212080"/>
            <a:ext cx="12188952" cy="150876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2578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579B"/>
                </a:solidFill>
              </a:rPr>
              <a:t>🏃  Важно: При физическа активност нуждата от вода се увеличава!
Пийте 200 мл преди, по време и след тренировка.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28816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Граждaнско образование  |  9 клас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</a:rPr>
              <a:t>🏃  Физическа активност</a:t>
            </a:r>
          </a:p>
        </p:txBody>
      </p:sp>
      <p:pic>
        <p:nvPicPr>
          <p:cNvPr id="4" name="Picture 3" descr="activ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640080"/>
            <a:ext cx="5669280" cy="5303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1005840"/>
            <a:ext cx="5669280" cy="11430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СЗО препоръчва: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1B2F"/>
                </a:solidFill>
              </a:rPr>
              <a:t>60+ мин. умерена активност
всеки ден за тийнейджъри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31720"/>
            <a:ext cx="5669280" cy="11430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Ползи: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889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1B2F"/>
                </a:solidFill>
              </a:rPr>
              <a:t>По-здраво сърце, по-добро
настроение, по-малко стрес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657600"/>
            <a:ext cx="5669280" cy="11430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7033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Лесни начини: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148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1B2F"/>
                </a:solidFill>
              </a:rPr>
              <a:t>Ходене пеша, стълби,
колело, танци, игри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983480"/>
            <a:ext cx="5669280" cy="11430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50292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Намалете: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4406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1B2F"/>
                </a:solidFill>
              </a:rPr>
              <a:t>Сядане пред екрани — не
повече от 2 ч. рекреационно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28816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Граждaнско образование  |  9 клас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A148C"/>
                </a:solidFill>
              </a:rPr>
              <a:t>😴  Сън и почивка</a:t>
            </a:r>
          </a:p>
        </p:txBody>
      </p:sp>
      <p:pic>
        <p:nvPicPr>
          <p:cNvPr id="4" name="Picture 3" descr="sl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4864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100584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148C"/>
                </a:solidFill>
              </a:rPr>
              <a:t>Правила за добър сън: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1B2F"/>
                </a:solidFill>
              </a:rPr>
              <a:t>🌙  По време на сън мозъкът консолидира ученото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1B2F"/>
                </a:solidFill>
              </a:rPr>
              <a:t>🌙  Недоспиването → лоша концентрация, лошо настроение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1B2F"/>
                </a:solidFill>
              </a:rPr>
              <a:t>🌙  Избягвайте телефон 1 час преди лягане (синя светлина)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1B2F"/>
                </a:solidFill>
              </a:rPr>
              <a:t>🌙  Редовен режим: лягайте и ставайте в едно и също време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1B2F"/>
                </a:solidFill>
              </a:rPr>
              <a:t>🌙  Тъмна, тиха и хладна стая = по-добър сън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74920"/>
            <a:ext cx="12188952" cy="1600200"/>
          </a:xfrm>
          <a:prstGeom prst="rect">
            <a:avLst/>
          </a:prstGeom>
          <a:solidFill>
            <a:srgbClr val="D1C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138928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A148C"/>
                </a:solidFill>
              </a:rPr>
              <a:t>⚠️  При тийнейджъри липсата на сън увеличава риска от депресия,
намалява имунитета и влошава успеха в училище!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28816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Граждaнско образование  |  9 клас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B71C1C"/>
                </a:solidFill>
              </a:rPr>
              <a:t>⚠️  Вредни навици и последствия</a:t>
            </a:r>
          </a:p>
        </p:txBody>
      </p:sp>
      <p:pic>
        <p:nvPicPr>
          <p:cNvPr id="4" name="Picture 3" descr="bad_hab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4389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577840"/>
            <a:ext cx="12188952" cy="1115568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562356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71C1C"/>
                </a:solidFill>
              </a:rPr>
              <a:t>💬  Дискусия: Кои от тези навици са разпространени сред младите хора? Как можем да ги преодолеем?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Граждaнско образование  |  9 клас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E7D32"/>
                </a:solidFill>
              </a:rPr>
              <a:t>✅  Моят ангажимент за здраве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333333"/>
                </a:solidFill>
              </a:rPr>
              <a:t>Отбележи 3 навика, които ще промениш от УТРЕ:</a:t>
            </a:r>
          </a:p>
        </p:txBody>
      </p:sp>
      <p:pic>
        <p:nvPicPr>
          <p:cNvPr id="6" name="Picture 5" descr="commi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1161288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806440"/>
            <a:ext cx="12188952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3387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FFFFF"/>
                </a:solidFill>
              </a:rPr>
              <a:t>🌱  "Здравето не е всичко, но без здраве всичко е нищо."  — Артур Шопенхауер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Граждaнско образование  |  9 клас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