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11155680" cy="2560320"/>
          </a:xfrm>
          <a:prstGeom prst="rect">
            <a:avLst/>
          </a:prstGeom>
          <a:solidFill>
            <a:srgbClr val="0D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6A10"/>
                </a:solidFill>
              </a:rPr>
              <a:t>ЕДНОМЕРЕН МАСИВ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Комбинаторни алгоритми
в игрови ситуации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6E4F7"/>
                </a:solidFill>
              </a:rPr>
              <a:t>Урок 13 • Кули на Ханой • Триъгълник на Паскал • Дамите • Цветове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B0D0"/>
                </a:solidFill>
              </a:rPr>
              <a:t>КОМБИНИРАН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11б клас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Увод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</a:rPr>
              <a:t>Вие вече познавате различните комбинаторни съединения, знаете алгоритмите за генерирането им и можете да ги реализирате на езика C#.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</a:rPr>
              <a:t>Предстои ви да научите как комбинаторните алгоритми се прилагат в игрови ситуации и за решаване на реални проблеми от ежедневието.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1338560" cy="347472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1109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Теми в урока</a:t>
            </a:r>
          </a:p>
          <a:p>
            <a:pPr algn="l"/>
            <a:r>
              <a:rPr sz="1600" b="0" i="0">
                <a:solidFill>
                  <a:srgbClr val="1A375E"/>
                </a:solidFill>
              </a:rPr>
              <a:t>•  Кули на Ханой — класическа рекурсивна задача</a:t>
            </a:r>
          </a:p>
          <a:p>
            <a:pPr algn="l"/>
            <a:r>
              <a:rPr sz="1600" b="0" i="0">
                <a:solidFill>
                  <a:srgbClr val="1A375E"/>
                </a:solidFill>
              </a:rPr>
              <a:t>•  Триъгълник на Паскал — комбинации за големи стойности</a:t>
            </a:r>
          </a:p>
          <a:p>
            <a:pPr algn="l"/>
            <a:r>
              <a:rPr sz="1600" b="0" i="0">
                <a:solidFill>
                  <a:srgbClr val="1A375E"/>
                </a:solidFill>
              </a:rPr>
              <a:t>•  Задача с дамите на шахматна дъска — backtracking</a:t>
            </a:r>
          </a:p>
          <a:p>
            <a:pPr algn="l"/>
            <a:r>
              <a:rPr sz="1600" b="0" i="0">
                <a:solidFill>
                  <a:srgbClr val="1A375E"/>
                </a:solidFill>
              </a:rPr>
              <a:t>•  Цветни комбинации — WinForms визуализация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Кули на Ханой — задача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600200"/>
            <a:ext cx="137160" cy="3200400"/>
          </a:xfrm>
          <a:prstGeom prst="rect">
            <a:avLst/>
          </a:prstGeom>
          <a:solidFill>
            <a:srgbClr val="8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4937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75E"/>
                </a:solidFill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600200"/>
            <a:ext cx="137160" cy="3200400"/>
          </a:xfrm>
          <a:prstGeom prst="rect">
            <a:avLst/>
          </a:prstGeom>
          <a:solidFill>
            <a:srgbClr val="8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4937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75E"/>
                </a:solidFill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1600200"/>
            <a:ext cx="137160" cy="3200400"/>
          </a:xfrm>
          <a:prstGeom prst="rect">
            <a:avLst/>
          </a:prstGeom>
          <a:solidFill>
            <a:srgbClr val="8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4937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75E"/>
                </a:solidFill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59" y="4434840"/>
            <a:ext cx="1828800" cy="41148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5860" y="3931920"/>
            <a:ext cx="1371600" cy="41148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94460" y="3428999"/>
            <a:ext cx="914400" cy="411480"/>
          </a:xfrm>
          <a:prstGeom prst="rect">
            <a:avLst/>
          </a:prstGeom>
          <a:solidFill>
            <a:srgbClr val="6AB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39496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Начално положение: всички дискове са наредени на стълб A (най-голям отдолу)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600200"/>
            <a:ext cx="4114800" cy="324612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691640"/>
            <a:ext cx="3886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5E"/>
                </a:solidFill>
              </a:rPr>
              <a:t>Правила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Местим по един диск наведнъж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Диск с по-голям диаметър не може да се постави върху по-малък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Целта: преместване на всички дискове от A на C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всеки ход трябва да се премести само един диск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Кули на Ханой — рекурсивно решение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303520" cy="347472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074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Рекурсивна идея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Задача: премести n диска от A на C, използвайки B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Стъпка 1: премести (n-1) диска от A на B (използвайки C)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Стъпка 2: премести най-долния диск от A на C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Стъпка 3: премести (n-1) диска от B на C (използвайки A)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Базов случай: n == 1 → директно преместване A → C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Брой ходове: 2ⁿ − 1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00200"/>
            <a:ext cx="5943600" cy="4023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91640"/>
            <a:ext cx="5760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Hanoi(int n, char a, char b, char c)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(n &lt; 2)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Console.WriteLine(a.ToString() + "-&gt;" + c.ToString());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else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Hanoi(n - 1, a, c, b);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Console.WriteLine(a.ToString() + "-&gt;" + c.ToString());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Hanoi(n - 1, b, a, c);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Main(string[] args)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int n = Convert.ToInt32(Console.ReadLine());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Hanoi(n, '1', '2', '3');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2578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6A10"/>
                </a:solidFill>
              </a:rPr>
              <a:t>При n=3: нужни са 2³−1 = 7 хода    |    При n=10: 1023 хода    |    При n=64: ~1.8×10¹⁹ хода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Триъгълник на Паскал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За пресмятане на Cₙᵏ при ГОЛЕМИ стойности на n и k се използва триъгълникът на Паскал.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71900" y="2194560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1900" y="2212848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633472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633472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2651760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7540" y="3072384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7540" y="3090672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0" y="3072384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0" y="3090672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6260" y="3072384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260" y="3090672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3511296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3529584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511296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529584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511296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3529584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511296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529584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83180" y="3950208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83180" y="3968496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7540" y="3950208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77540" y="3968496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71900" y="3950208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1900" y="3968496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6260" y="3950208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6260" y="3968496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0620" y="3950208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0620" y="3968496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389120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4407408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4389120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4407408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4389120"/>
            <a:ext cx="548640" cy="393192"/>
          </a:xfrm>
          <a:prstGeom prst="rect">
            <a:avLst/>
          </a:prstGeom>
          <a:solidFill>
            <a:srgbClr val="E86A1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4407408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389120"/>
            <a:ext cx="548640" cy="393192"/>
          </a:xfrm>
          <a:prstGeom prst="rect">
            <a:avLst/>
          </a:prstGeom>
          <a:solidFill>
            <a:srgbClr val="E86A1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9080" y="4407408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4389120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0" y="4407408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4389120"/>
            <a:ext cx="548640" cy="393192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800" y="4407408"/>
            <a:ext cx="548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2148840"/>
            <a:ext cx="4754880" cy="411480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69480" y="2240280"/>
            <a:ext cx="45262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Свойства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Cₙᵏ = n! / (k! · (n−k)!)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Всеки елемент е сума от двата над него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C(n,k) = C(n-1,k-1) + C(n-1,k)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Лява и дясна страна — единици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Симетрия: C(n,k) = C(n, n-k)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n-тия ред = коефициенти на (a+b)ⁿ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Триъгълник на Паскал — C# реализация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Вместо рекурсивно изчисление на n!, използваме програмна реализация на Паскал: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713232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69494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N = 16;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long[] bas = new long[100];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long[] now = new long[100];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Main(string[] args)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bas[0] = 1;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t = 1; t &lt;= N; t++)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for (int i = 0; i &lt; t + 1; i++)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now[i] = 0;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for (int i = 0; i &lt; t; i++)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now[i]     += bas[i];   // от ляво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now[i + 1] += bas[i];   // от дясно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for (int i = 0; i &lt;= t; i++)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bas[i] = now[i];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// bas[] съдържа n-тия ред на триъгълника на Паскал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Console.WriteLine("C(N,k) за N=" + N + ":");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k = 0; k &lt;= N; k++)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Console.Write(bas[k] + " ");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148840"/>
            <a:ext cx="4206240" cy="457200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240280"/>
            <a:ext cx="397763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Защо Паскал?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n! много бързо преполнява int/long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Паскал: само събиране — без преполване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C(16,8) = 12870 — лесно се изчислява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Използва два реда масив: bas[] и now[]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Работи до N≈66 за long (64-битов)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Крайните числа в реда → C(N,k) за всяко 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Задача с дамите на шахматна дъска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658368" cy="658368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4128" y="1600200"/>
            <a:ext cx="658368" cy="658368"/>
          </a:xfrm>
          <a:prstGeom prst="rect">
            <a:avLst/>
          </a:prstGeom>
          <a:solidFill>
            <a:srgbClr val="4A6AA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5" y="1600200"/>
            <a:ext cx="658368" cy="658368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40864" y="1600200"/>
            <a:ext cx="658368" cy="658368"/>
          </a:xfrm>
          <a:prstGeom prst="rect">
            <a:avLst/>
          </a:prstGeom>
          <a:solidFill>
            <a:srgbClr val="4A6AA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58568"/>
            <a:ext cx="658368" cy="658368"/>
          </a:xfrm>
          <a:prstGeom prst="rect">
            <a:avLst/>
          </a:prstGeom>
          <a:solidFill>
            <a:srgbClr val="4A6AA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2258568"/>
            <a:ext cx="658368" cy="658368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82495" y="2258568"/>
            <a:ext cx="658368" cy="658368"/>
          </a:xfrm>
          <a:prstGeom prst="rect">
            <a:avLst/>
          </a:prstGeom>
          <a:solidFill>
            <a:srgbClr val="4A6AA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2258568"/>
            <a:ext cx="658368" cy="658368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16936"/>
            <a:ext cx="658368" cy="658368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" y="2916936"/>
            <a:ext cx="658368" cy="658368"/>
          </a:xfrm>
          <a:prstGeom prst="rect">
            <a:avLst/>
          </a:prstGeom>
          <a:solidFill>
            <a:srgbClr val="4A6AA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82495" y="2916936"/>
            <a:ext cx="658368" cy="658368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40864" y="2916936"/>
            <a:ext cx="658368" cy="658368"/>
          </a:xfrm>
          <a:prstGeom prst="rect">
            <a:avLst/>
          </a:prstGeom>
          <a:solidFill>
            <a:srgbClr val="4A6AA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75304"/>
            <a:ext cx="658368" cy="658368"/>
          </a:xfrm>
          <a:prstGeom prst="rect">
            <a:avLst/>
          </a:prstGeom>
          <a:solidFill>
            <a:srgbClr val="4A6AA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" y="3575304"/>
            <a:ext cx="658368" cy="658368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82495" y="3575304"/>
            <a:ext cx="658368" cy="658368"/>
          </a:xfrm>
          <a:prstGeom prst="rect">
            <a:avLst/>
          </a:prstGeom>
          <a:solidFill>
            <a:srgbClr val="4A6AA0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40864" y="3575304"/>
            <a:ext cx="658368" cy="658368"/>
          </a:xfrm>
          <a:prstGeom prst="rect">
            <a:avLst/>
          </a:prstGeom>
          <a:solidFill>
            <a:srgbClr val="D6E4F7"/>
          </a:solidFill>
          <a:ln w="381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1581912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6A10"/>
                </a:solidFill>
              </a:rPr>
              <a:t>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6584" y="2240279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6A10"/>
                </a:solidFill>
              </a:rPr>
              <a:t>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898648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6A10"/>
                </a:solidFill>
              </a:rPr>
              <a:t>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8216" y="3557016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6A10"/>
                </a:solidFill>
              </a:rPr>
              <a:t>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25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4×4 дъска — едно решение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1600200"/>
            <a:ext cx="4114800" cy="356616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1691640"/>
            <a:ext cx="3886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5E"/>
                </a:solidFill>
              </a:rPr>
              <a:t>Условие на задачата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Поставете N дами на N×N дъска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Никоя дама да не заплашва друга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Дама заплашва: ред, колона и диагонали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N=8: 92 решения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N=4: 2 решения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Алгоритъм: backtracking (с връщане)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1600200"/>
            <a:ext cx="4572000" cy="3566160"/>
          </a:xfrm>
          <a:prstGeom prst="rect">
            <a:avLst/>
          </a:prstGeom>
          <a:solidFill>
            <a:srgbClr val="FFF0E0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1691640"/>
            <a:ext cx="43434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A10"/>
                </a:solidFill>
              </a:rPr>
              <a:t>Проверки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Ред: col[row] — само 1 дама на ред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Колона: colUsed[] — само 1 дама на колона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Главен диагонал: row - col = const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Странич. диагонал: row + col = const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diagUsed1[row-col+n]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diagUsed2[row+col]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3492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Поставяме по 1 дама на ред, рекурсивно преминаваме към следващия ред.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Задача с дамите — C# реализация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71323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6949440" cy="4937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n;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int[]  col       = new int[100];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bool[] colUsed   = new bool[100];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bool[] diagUsed1 = new bool[200]; // row - col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bool[] diagUsed2 = new bool[200]; // row + col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int count = 0;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Place(int row)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(row &gt;= n) { count++; Print();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t = 0; t &lt; n; t++)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if (!colUsed[t] &amp;&amp; !diagUsed1[row - t + n] &amp;&amp; !diagUsed2[row + t])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col[row] = t;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colUsed[t]         = true;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diagUsed1[row-t+n] = true;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diagUsed2[row+t]   = true;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Place(row + 1);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colUsed[t]         = false;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diagUsed1[row-t+n] = false;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    diagUsed2[row+t]   = false;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// В Main: n=int.Parse(Console.ReadLine()); Place(0);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600200"/>
            <a:ext cx="4206240" cy="512064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691640"/>
            <a:ext cx="3977639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Как работи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Поставяме 1 дама на всеки ред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Проверяваме колона и двата диагонала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успех: рекурсия за следващия ред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При неуспех: пробваме следваща колона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Backtracking: връщаме маркировките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Базов случай: row == n → решение!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Сложност: O(n!) в най-лош случай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N=8 → 92, N=12 → 14200 решения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Цветни комбинации — задача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Задача: Имаме квадрат 3×3, в него всяко квадратче може да се оцвети в един от 9 цвята. На всяка секунда трябва да се сменят четири ъглови цвята в произволен ред. Скидулирайте графично приложение ШАДРАВАН, визуализиращо смяната.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777240" cy="777240"/>
          </a:xfrm>
          <a:prstGeom prst="rect">
            <a:avLst/>
          </a:prstGeom>
          <a:solidFill>
            <a:srgbClr val="FF0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4480" y="2697480"/>
            <a:ext cx="777240" cy="777240"/>
          </a:xfrm>
          <a:prstGeom prst="rect">
            <a:avLst/>
          </a:prstGeom>
          <a:solidFill>
            <a:srgbClr val="008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2697480"/>
            <a:ext cx="777240" cy="777240"/>
          </a:xfrm>
          <a:prstGeom prst="rect">
            <a:avLst/>
          </a:prstGeom>
          <a:solidFill>
            <a:srgbClr val="00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777240" cy="777240"/>
          </a:xfrm>
          <a:prstGeom prst="rect">
            <a:avLst/>
          </a:prstGeom>
          <a:solidFill>
            <a:srgbClr val="FFFF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3520440"/>
            <a:ext cx="777240" cy="777240"/>
          </a:xfrm>
          <a:prstGeom prst="rect">
            <a:avLst/>
          </a:prstGeom>
          <a:solidFill>
            <a:srgbClr val="FF8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3520440"/>
            <a:ext cx="777240" cy="777240"/>
          </a:xfrm>
          <a:prstGeom prst="rect">
            <a:avLst/>
          </a:prstGeom>
          <a:solidFill>
            <a:srgbClr val="800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43400"/>
            <a:ext cx="777240" cy="777240"/>
          </a:xfrm>
          <a:prstGeom prst="rect">
            <a:avLst/>
          </a:prstGeom>
          <a:solidFill>
            <a:srgbClr val="00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4343400"/>
            <a:ext cx="777240" cy="777240"/>
          </a:xfrm>
          <a:prstGeom prst="rect">
            <a:avLst/>
          </a:prstGeom>
          <a:solidFill>
            <a:srgbClr val="FF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7440" y="4343400"/>
            <a:ext cx="777240" cy="777240"/>
          </a:xfrm>
          <a:prstGeom prst="rect">
            <a:avLst/>
          </a:prstGeom>
          <a:solidFill>
            <a:srgbClr val="808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3×3 квадратна мрежа
(9 различни цвята)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697480"/>
            <a:ext cx="4114800" cy="347472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2788920"/>
            <a:ext cx="3886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5E"/>
                </a:solidFill>
              </a:rPr>
              <a:t>Правила на играта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9 квадратчета, всяко с различен цвят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На всяка секунда: смяна на 4 ъглови цвята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Визуализация: WinForms + Timer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Генерираме комбинации от 9 по 4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Всяка комбинация = различна смяна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Показваме текущата комбинация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697480"/>
            <a:ext cx="4114800" cy="3474720"/>
          </a:xfrm>
          <a:prstGeom prst="rect">
            <a:avLst/>
          </a:prstGeom>
          <a:solidFill>
            <a:srgbClr val="FFF0E0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788920"/>
            <a:ext cx="3886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A10"/>
                </a:solidFill>
              </a:rPr>
              <a:t>Математика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Брой комбинации: C(9,4) = 126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Редът не е важен → комбинации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На всяка 1 секунда: следваща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Лексикографски ред на смените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Изчерпваме всички 126 смени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Визуализация на всяка стъпка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Цветни комбинации — WinForms реализация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713232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69494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// Генериране на комбинации без повторение от позиции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static void Comb(int index, int start)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(index &gt;= k) { Print();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i = start; i &lt; n; i++)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seq[index] = elements[i];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Comb(index + 1, i + 1);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// Timer в WinForms — смяна на цветовете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private void timer1_Tick(object sender, EventArgs e)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if (count &gt;= allCombinations.Count)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{ timer1.Stop(); return;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// Вземаме следващата комбинация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var combo = allCombinations[count++];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// Сменяме цветовете на ъгловите квадратчета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for (int p = 0; p &lt; 4; p++)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        pictureBox[combo[p]].BackColor = nextColors[p];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D4D4"/>
                </a:solidFill>
                <a:latin typeface="Consolas"/>
              </a:rPr>
              <a:t>// Стартиране: Generate(0, 0); timer1.Start();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600200"/>
            <a:ext cx="4206240" cy="502920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691640"/>
            <a:ext cx="397763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E"/>
                </a:solidFill>
              </a:rPr>
              <a:t>Структура на приложението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Form1: 9 PictureBox-а в 3×3 мрежа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Бутон 'Старт' — стартира Timer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Timer: Interval = 1000 (1 секунда)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Tick: прилагаме следващата комбинация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Генерираме предварително всички C(9,4)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Визуализираме смяната на екрана</a:t>
            </a:r>
          </a:p>
          <a:p>
            <a:pPr algn="l"/>
            <a:r>
              <a:rPr sz="1300" b="0" i="0">
                <a:solidFill>
                  <a:srgbClr val="1A375E"/>
                </a:solidFill>
              </a:rPr>
              <a:t>•  Label: показва номера на комбинацията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УРОК 13   |   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Въпроси и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Важно: прилагайте метода за 'изходяне от задачата'!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84831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Кули на Ханой: напишете програма, която при n=3 извежда всички ходове. Колко хода са нужни? Проверете с формулата 2ⁿ−1.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6207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6207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Доплатително: използвайте програмата за Кули на Ханой, за да намерите минималния брой ходове при n=4 и n=5.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3931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3931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Триъгълник на Паскал: намерете C(10,3) и C(16,7) без да изчислявате факториели. Напишете програма, която ги извежда.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1655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165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Задача с дамите: за N=5 намерете всички решения. Колко са? Тествайте с дадения C# код.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19379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Цветни комбинации: разширете задачата — вместо 3×3, направете 4×4 дъска с 16 квадратчета. Колко комбинации по 4 може да се образуват?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