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11155680" cy="3017520"/>
          </a:xfrm>
          <a:prstGeom prst="rect">
            <a:avLst/>
          </a:prstGeom>
          <a:solidFill>
            <a:srgbClr val="0D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6A10"/>
                </a:solidFill>
              </a:rPr>
              <a:t>КОМБИНАТОРНИ АЛГОРИТМИ В ИГРОВИ СИТУАЦИИ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Шадраван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4F7"/>
                </a:solidFill>
              </a:rPr>
              <a:t>Стъпка по стъпка — от идея до работещо приложение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B0D0"/>
                </a:solidFill>
              </a:rPr>
              <a:t>Упражнение  •  11б клас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4480560"/>
            <a:ext cx="868680" cy="868680"/>
          </a:xfrm>
          <a:prstGeom prst="rect">
            <a:avLst/>
          </a:prstGeom>
          <a:solidFill>
            <a:srgbClr val="E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04120" y="4480560"/>
            <a:ext cx="868680" cy="868680"/>
          </a:xfrm>
          <a:prstGeom prst="rect">
            <a:avLst/>
          </a:prstGeom>
          <a:solidFill>
            <a:srgbClr val="3A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64240" y="4480560"/>
            <a:ext cx="868680" cy="868680"/>
          </a:xfrm>
          <a:prstGeom prst="rect">
            <a:avLst/>
          </a:prstGeom>
          <a:solidFill>
            <a:srgbClr val="3A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440680"/>
            <a:ext cx="868680" cy="868680"/>
          </a:xfrm>
          <a:prstGeom prst="rect">
            <a:avLst/>
          </a:prstGeom>
          <a:solidFill>
            <a:srgbClr val="E5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04120" y="5440680"/>
            <a:ext cx="868680" cy="868680"/>
          </a:xfrm>
          <a:prstGeom prst="rect">
            <a:avLst/>
          </a:prstGeom>
          <a:solidFill>
            <a:srgbClr val="E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64240" y="5440680"/>
            <a:ext cx="868680" cy="868680"/>
          </a:xfrm>
          <a:prstGeom prst="rect">
            <a:avLst/>
          </a:prstGeom>
          <a:solidFill>
            <a:srgbClr val="90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6400800"/>
            <a:ext cx="868680" cy="868680"/>
          </a:xfrm>
          <a:prstGeom prst="rect">
            <a:avLst/>
          </a:prstGeom>
          <a:solidFill>
            <a:srgbClr val="3A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04120" y="6400800"/>
            <a:ext cx="868680" cy="868680"/>
          </a:xfrm>
          <a:prstGeom prst="rect">
            <a:avLst/>
          </a:prstGeom>
          <a:solidFill>
            <a:srgbClr val="C8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64240" y="6400800"/>
            <a:ext cx="868680" cy="86868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Преход към ШАДРАВАН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Припомняме — 2 въпроса от предходните задачи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338560" cy="2011680"/>
          </a:xfrm>
          <a:prstGeom prst="rect">
            <a:avLst/>
          </a:prstGeom>
          <a:solidFill>
            <a:srgbClr val="F0F4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1133856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Въпрос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При задачата с дамите — как избягвахте повторенията?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A1E"/>
                </a:solidFill>
              </a:rPr>
              <a:t>→  Масивът  used[]  маркираше заети колони. При рекурсията проверявахме if (!used[col]) преди да поставим дама.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1338560" cy="2103120"/>
          </a:xfrm>
          <a:prstGeom prst="rect">
            <a:avLst/>
          </a:prstGeom>
          <a:solidFill>
            <a:srgbClr val="F0F4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11338560" cy="3657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39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Въпрос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При генериране на комбинации — какво подавахме вместо 0 при рекурсивното извикване?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1713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A1E"/>
                </a:solidFill>
              </a:rPr>
              <a:t>→  Подавахме  i + 1  като параметър start, за да гарантираме, че следващият елемент е винаги с по-голям индекс — така редът няма значение и нямаме повторения.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8932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6A10"/>
                </a:solidFill>
              </a:rPr>
              <a:t>И двата механизма ще използваме в ШАДРАВАН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Какво е ШАДРАВАН?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914400" cy="914400"/>
          </a:xfrm>
          <a:prstGeom prst="rect">
            <a:avLst/>
          </a:prstGeom>
          <a:solidFill>
            <a:srgbClr val="E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4752" y="1508760"/>
            <a:ext cx="914400" cy="914400"/>
          </a:xfrm>
          <a:prstGeom prst="rect">
            <a:avLst/>
          </a:prstGeom>
          <a:solidFill>
            <a:srgbClr val="3A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2304" y="1508760"/>
            <a:ext cx="914400" cy="914400"/>
          </a:xfrm>
          <a:prstGeom prst="rect">
            <a:avLst/>
          </a:prstGeom>
          <a:solidFill>
            <a:srgbClr val="3A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914400" cy="914400"/>
          </a:xfrm>
          <a:prstGeom prst="rect">
            <a:avLst/>
          </a:prstGeom>
          <a:solidFill>
            <a:srgbClr val="E5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2496312"/>
            <a:ext cx="914400" cy="914400"/>
          </a:xfrm>
          <a:prstGeom prst="rect">
            <a:avLst/>
          </a:prstGeom>
          <a:solidFill>
            <a:srgbClr val="E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2304" y="2496312"/>
            <a:ext cx="914400" cy="914400"/>
          </a:xfrm>
          <a:prstGeom prst="rect">
            <a:avLst/>
          </a:prstGeom>
          <a:solidFill>
            <a:srgbClr val="90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83864"/>
            <a:ext cx="914400" cy="914400"/>
          </a:xfrm>
          <a:prstGeom prst="rect">
            <a:avLst/>
          </a:prstGeom>
          <a:solidFill>
            <a:srgbClr val="3A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44752" y="3483864"/>
            <a:ext cx="914400" cy="914400"/>
          </a:xfrm>
          <a:prstGeom prst="rect">
            <a:avLst/>
          </a:prstGeom>
          <a:solidFill>
            <a:srgbClr val="C8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2304" y="3483864"/>
            <a:ext cx="914400" cy="9144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468880"/>
            <a:ext cx="457200" cy="10972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194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6A10"/>
                </a:solidFill>
              </a:rPr>
              <a:t>всяка
секунда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508760"/>
            <a:ext cx="9144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8072" y="1508760"/>
            <a:ext cx="914400" cy="914400"/>
          </a:xfrm>
          <a:prstGeom prst="rect">
            <a:avLst/>
          </a:prstGeom>
          <a:solidFill>
            <a:srgbClr val="3A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5624" y="1508760"/>
            <a:ext cx="9144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2496312"/>
            <a:ext cx="914400" cy="914400"/>
          </a:xfrm>
          <a:prstGeom prst="rect">
            <a:avLst/>
          </a:prstGeom>
          <a:solidFill>
            <a:srgbClr val="E5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8072" y="2496312"/>
            <a:ext cx="914400" cy="914400"/>
          </a:xfrm>
          <a:prstGeom prst="rect">
            <a:avLst/>
          </a:prstGeom>
          <a:solidFill>
            <a:srgbClr val="E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35624" y="2496312"/>
            <a:ext cx="914400" cy="914400"/>
          </a:xfrm>
          <a:prstGeom prst="rect">
            <a:avLst/>
          </a:prstGeom>
          <a:solidFill>
            <a:srgbClr val="90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2816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3483864"/>
            <a:ext cx="9144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48072" y="3483864"/>
            <a:ext cx="914400" cy="914400"/>
          </a:xfrm>
          <a:prstGeom prst="rect">
            <a:avLst/>
          </a:prstGeom>
          <a:solidFill>
            <a:srgbClr val="C8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35624" y="3483864"/>
            <a:ext cx="9144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803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5E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50876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5E"/>
                </a:solidFill>
              </a:rPr>
              <a:t>Описание на задачата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9 квадратчета в решетка 3×3, всяко с различен цвят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На всяка секунда 4 от тях сменят цветовете си ротационно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Редът на смените = лексикографски наредените комбинации C(9,4)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E86A10"/>
                </a:solidFill>
              </a:rPr>
              <a:t>Колко смени ще видим?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C(9,4) = 9! / (4! · 5!) = 126 смени = 126 секунди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E86A10"/>
                </a:solidFill>
              </a:rPr>
              <a:t>Технологии: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WinForms: 9 × PictureBox + 1 × Timer + 1 × Button</a:t>
            </a:r>
          </a:p>
          <a:p>
            <a:pPr algn="l"/>
            <a:r>
              <a:rPr sz="1300" b="0">
                <a:solidFill>
                  <a:srgbClr val="1A375E"/>
                </a:solidFill>
              </a:rPr>
              <a:t>• C# логика: Generate() + Timer_Tick()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Пътна карта — 5 стъпки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85800" cy="7498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685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698480" cy="749808"/>
          </a:xfrm>
          <a:prstGeom prst="rect">
            <a:avLst/>
          </a:prstGeom>
          <a:solidFill>
            <a:srgbClr val="D6E4F7"/>
          </a:solidFill>
          <a:ln w="508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4996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Дизайн на формата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47088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Form1  •  9 × PictureBox  •  1 × Timer  •  1 × Button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685800" cy="7498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87168"/>
            <a:ext cx="685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95728"/>
            <a:ext cx="10698480" cy="749808"/>
          </a:xfrm>
          <a:prstGeom prst="rect">
            <a:avLst/>
          </a:prstGeom>
          <a:solidFill>
            <a:srgbClr val="D6E4F7"/>
          </a:solidFill>
          <a:ln w="508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43230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Глобални полета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79776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pictureBoxes[]  •  colors[]  •  seq[]  •  allCombinations  •  current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28416"/>
            <a:ext cx="685800" cy="7498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19856"/>
            <a:ext cx="685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328416"/>
            <a:ext cx="10698480" cy="749808"/>
          </a:xfrm>
          <a:prstGeom prst="rect">
            <a:avLst/>
          </a:prstGeom>
          <a:solidFill>
            <a:srgbClr val="D6E4F7"/>
          </a:solidFill>
          <a:ln w="508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364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Form_Load — инициализация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12464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Попълване на pictureBoxes[]  •  Задаване на начални цветове  •  Извикване на Generate(0,0)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61104"/>
            <a:ext cx="685800" cy="7498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52544"/>
            <a:ext cx="685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261104"/>
            <a:ext cx="10698480" cy="749808"/>
          </a:xfrm>
          <a:prstGeom prst="rect">
            <a:avLst/>
          </a:prstGeom>
          <a:solidFill>
            <a:srgbClr val="D6E4F7"/>
          </a:solidFill>
          <a:ln w="508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297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Generate() — комбинации C(9,4)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45152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Рекурсивен метод  •  Запазване на 126 комбинации в allCombinations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93792"/>
            <a:ext cx="685800" cy="7498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285231"/>
            <a:ext cx="685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193792"/>
            <a:ext cx="10698480" cy="749808"/>
          </a:xfrm>
          <a:prstGeom prst="rect">
            <a:avLst/>
          </a:prstGeom>
          <a:solidFill>
            <a:srgbClr val="D6E4F7"/>
          </a:solidFill>
          <a:ln w="508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2303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Timer_Tick + Бутон Старт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577840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</a:rPr>
              <a:t>Прилагане на следваща комбинация  •  Ротация на цветове  •  Спиране след 126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1 — Дизайн на формата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Какво трябва да има на Form1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5074920"/>
          </a:xfrm>
          <a:prstGeom prst="rect">
            <a:avLst/>
          </a:prstGeom>
          <a:solidFill>
            <a:srgbClr val="F0F0F0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577840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Form1 — Шадраван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1188720" cy="1188720"/>
          </a:xfrm>
          <a:prstGeom prst="rect">
            <a:avLst/>
          </a:prstGeom>
          <a:solidFill>
            <a:srgbClr val="E53A3A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6232" y="1920240"/>
            <a:ext cx="1188720" cy="1188720"/>
          </a:xfrm>
          <a:prstGeom prst="rect">
            <a:avLst/>
          </a:prstGeom>
          <a:solidFill>
            <a:srgbClr val="3AA03A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4" y="1920240"/>
            <a:ext cx="1188720" cy="1188720"/>
          </a:xfrm>
          <a:prstGeom prst="rect">
            <a:avLst/>
          </a:prstGeom>
          <a:solidFill>
            <a:srgbClr val="3A6AE5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00400"/>
            <a:ext cx="1188720" cy="1188720"/>
          </a:xfrm>
          <a:prstGeom prst="rect">
            <a:avLst/>
          </a:prstGeom>
          <a:solidFill>
            <a:srgbClr val="E5D03A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3200400"/>
            <a:ext cx="1188720" cy="1188720"/>
          </a:xfrm>
          <a:prstGeom prst="rect">
            <a:avLst/>
          </a:prstGeom>
          <a:solidFill>
            <a:srgbClr val="E5803A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8104" y="3200400"/>
            <a:ext cx="1188720" cy="1188720"/>
          </a:xfrm>
          <a:prstGeom prst="rect">
            <a:avLst/>
          </a:prstGeom>
          <a:solidFill>
            <a:srgbClr val="903AC8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480560"/>
            <a:ext cx="1188720" cy="1188720"/>
          </a:xfrm>
          <a:prstGeom prst="rect">
            <a:avLst/>
          </a:prstGeom>
          <a:solidFill>
            <a:srgbClr val="3AC8C8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56232" y="4480560"/>
            <a:ext cx="1188720" cy="1188720"/>
          </a:xfrm>
          <a:prstGeom prst="rect">
            <a:avLst/>
          </a:prstGeom>
          <a:solidFill>
            <a:srgbClr val="C83AC8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18104" y="4480560"/>
            <a:ext cx="1188720" cy="1188720"/>
          </a:xfrm>
          <a:prstGeom prst="rect">
            <a:avLst/>
          </a:prstGeom>
          <a:solidFill>
            <a:srgbClr val="A0A0A0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4892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pb9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5486400"/>
            <a:ext cx="2011680" cy="457200"/>
          </a:xfrm>
          <a:prstGeom prst="rect">
            <a:avLst/>
          </a:prstGeom>
          <a:solidFill>
            <a:srgbClr val="0078D4"/>
          </a:solidFill>
          <a:ln w="1016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551383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Старт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508760"/>
            <a:ext cx="58064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75E"/>
                </a:solidFill>
              </a:rPr>
              <a:t>Как се прави в Designer: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1.  Нов Windows Forms проект → Form1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2.  Плъзни 9 × PictureBox от Toolbox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3.  Наредете ги в решетка 3×3 (Size: 100×100 всеки)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4.  Именуване: pictureBox1 … pictureBox9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5.  Плъзни Button → Name: btnStart, Text: "Старт"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6.  Плъзни Timer → Name: timer1, Interval: 1000, Enabled: false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7.  Двоен клик върху бутона → генерира btnStart_Click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A375E"/>
                </a:solidFill>
              </a:rPr>
              <a:t>8.  Двоен клик върху Timer → генерира timer1_Tick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806440"/>
            <a:ext cx="5806440" cy="685800"/>
          </a:xfrm>
          <a:prstGeom prst="rect">
            <a:avLst/>
          </a:prstGeom>
          <a:solidFill>
            <a:srgbClr val="FFF0D0"/>
          </a:solidFill>
          <a:ln w="1524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5879592"/>
            <a:ext cx="562355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3000"/>
                </a:solidFill>
              </a:rPr>
              <a:t>⚠  PictureBox-овете трябва да имат BorderStyle = FixedSingle — за да се виждат границите.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2 — Глобални полета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Декларираме всичко необходимо преди методите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949440" cy="5166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6748272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public partial class Form1 : Form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Масив с 9-те PictureBox-а (попълваме в Form_Load)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PictureBox[] pictureBoxes;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9 различни начални цвята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Color[] colors = new Color[]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Color.Red,     Color.Green,   Color.Blue,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Color.Yellow,  Color.Orange,  Color.Purple,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Color.Cyan,    Color.Magenta, Color.Gray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};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Помощен масив за текущата комбинация (4 индекса)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int[] seq = new int[4];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Списък с всички 126 комбинации — генерира се веднъж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List&lt;int[]&gt; allCombinations = new List&lt;int[]&gt;();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Индекс на текущата смяна (0..125)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int current = 0;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... (конструктор и методи следват)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08760"/>
            <a:ext cx="44805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75E"/>
                </a:solidFill>
              </a:rPr>
              <a:t>Защо тези полета?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86A10"/>
                </a:solidFill>
              </a:rPr>
              <a:t>pictureBoxes[]</a:t>
            </a:r>
          </a:p>
          <a:p>
            <a:r>
              <a:rPr sz="1100">
                <a:solidFill>
                  <a:srgbClr val="1A375E"/>
                </a:solidFill>
              </a:rPr>
              <a:t>Позволява достъп по индекс 0–8 вместо по名 (pictureBox1, pictureBox2...)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86A10"/>
                </a:solidFill>
              </a:rPr>
              <a:t>colors[]</a:t>
            </a:r>
          </a:p>
          <a:p>
            <a:r>
              <a:rPr sz="1100">
                <a:solidFill>
                  <a:srgbClr val="1A375E"/>
                </a:solidFill>
              </a:rPr>
              <a:t>9 различни цвята — по един за всеки квадрат в началото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86A10"/>
                </a:solidFill>
              </a:rPr>
              <a:t>seq[]</a:t>
            </a:r>
          </a:p>
          <a:p>
            <a:r>
              <a:rPr sz="1100">
                <a:solidFill>
                  <a:srgbClr val="1A375E"/>
                </a:solidFill>
              </a:rPr>
              <a:t>Временен масив при рекурсията — пази кои 4 позиции избираме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86A10"/>
                </a:solidFill>
              </a:rPr>
              <a:t>allCombinations</a:t>
            </a:r>
          </a:p>
          <a:p>
            <a:r>
              <a:rPr sz="1100">
                <a:solidFill>
                  <a:srgbClr val="1A375E"/>
                </a:solidFill>
              </a:rPr>
              <a:t>List с 126 int[4] — всички комбинации, генерирани веднъж в Load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E86A10"/>
                </a:solidFill>
              </a:rPr>
              <a:t>current</a:t>
            </a:r>
          </a:p>
          <a:p>
            <a:r>
              <a:rPr sz="1100">
                <a:solidFill>
                  <a:srgbClr val="1A375E"/>
                </a:solidFill>
              </a:rPr>
              <a:t>Брояч — коя поред смяна прилагаме в Timer_Tick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3 — Form_Load: инициализация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Попълваме масивите и стартираме генерирането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949440" cy="4846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6748272" cy="4681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private void Form1_Load(object sender, EventArgs e)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Попълваме масива pictureBoxes[] по ред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pictureBoxes = new PictureBox[]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pictureBox1, pictureBox2, pictureBox3,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pictureBox4, pictureBox5, pictureBox6,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pictureBox7, pictureBox8, pictureBox9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};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Задаваме начален цвят на всяко квадратче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for (int i = 0; i &lt; 9; i++)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pictureBoxes[i].BackColor = colors[i];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Генерираме всички C(9,4) = 126 комбинации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Generate(0, 0);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Проверка (по желание): трябва да е 126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Text = "Комбинации: " + allCombinations.Count;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087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375E"/>
                </a:solidFill>
              </a:rPr>
              <a:t>Важни детайли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1A375E"/>
                </a:solidFill>
              </a:rPr>
              <a:t>• Редът в масива pictureBoxes[] трябва да съответства на визуалния ред отляво-надясно, отгоре-надолу: 0=горе-ляво, 8=долу-дясно.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1A375E"/>
                </a:solidFill>
              </a:rPr>
              <a:t>• Свързването между Designer имената (pictureBox1) и индексите (0) се прави точно тук.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1A375E"/>
                </a:solidFill>
              </a:rPr>
              <a:t>• Generate(0, 0) се извиква ВЕДНЪЖ при зареждане — не при всяка смяна.</a:t>
            </a:r>
          </a:p>
          <a:p>
            <a:pPr algn="l">
              <a:spcBef>
                <a:spcPts val="800"/>
              </a:spcBef>
            </a:pPr>
            <a:r>
              <a:rPr sz="1200">
                <a:solidFill>
                  <a:srgbClr val="1A375E"/>
                </a:solidFill>
              </a:rPr>
              <a:t>• След Load: allCombinations.Count трябва да е точно 126.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5257800"/>
            <a:ext cx="4480560" cy="822960"/>
          </a:xfrm>
          <a:prstGeom prst="rect">
            <a:avLst/>
          </a:prstGeom>
          <a:solidFill>
            <a:srgbClr val="FFF0D0"/>
          </a:solidFill>
          <a:ln w="1524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7" y="5330952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3000"/>
                </a:solidFill>
              </a:rPr>
              <a:t>⚠  Честа грешка: объркан ред в pictureBoxes[] → квадратчетата светват не там, където трябва. Проверявайте визуално след Form_Load.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4 — Generate(): комбинации C(9,4)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Рекурсивно генерираме всичките 126 комбинации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949440" cy="5074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6748272" cy="4910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void Generate(int index, int start)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Базов случай: избрали сме 4 елемента → запазваме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if (index &gt;= 4)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allCombinations.Add((int[])seq.Clone());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return;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Пробваме всяка позиция от start до 8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for (int i = start; i &lt; 9; i++)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seq[index] = i;                    // поставяме i-тата позиция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Generate(index + 1, i + 1);        // следващата е винаги &gt; i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Резултат: allCombinations съдържа: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{0,1,2,3}, {0,1,2,4}, {0,1,2,5}, ..., {5,6,7,8}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Общо: C(9,4) = 126 елемента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508760"/>
            <a:ext cx="4480560" cy="23774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5727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Как работи рекурсията?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42519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5E"/>
                </a:solidFill>
              </a:rPr>
              <a:t>index = коя позиция в seq[] попълваме (0..3)
start = от кой индекс на PictureBox пробваме
Generate(index+1, i+1) гарантира:
  → i+1 &gt; i → нямаме повторения
  → редът не е от значение (комбинация)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977639"/>
            <a:ext cx="4480560" cy="1828800"/>
          </a:xfrm>
          <a:prstGeom prst="rect">
            <a:avLst/>
          </a:prstGeom>
          <a:solidFill>
            <a:srgbClr val="FFF0E0"/>
          </a:solidFill>
          <a:ln w="635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0416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10"/>
                </a:solidFill>
              </a:rPr>
              <a:t>Ключовият ред: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4074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1E1E"/>
                </a:solidFill>
              </a:rPr>
              <a:t>allCombinations.Add((int[])seq.Clone())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46320"/>
            <a:ext cx="4251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5E"/>
                </a:solidFill>
              </a:rPr>
              <a:t>seq.Clone() е ЗАДЪЛЖИТЕЛНО!
Без него всички 126 елемента
сочат към СЪЩИЯ масив seq[]
и ще съдържат последната комбинация.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5а — Timer_Tick: прилагаме смяната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На всяка секунда ротираме цветовете на 4 квадратчета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7223760" cy="5166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7022592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private void timer1_Tick(object sender, EventArgs e)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Спираме след като изчерпим всичките 126 комбинации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if (current &gt;= allCombinations.Count)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timer1.Stop();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return;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Вземаме текущата комбинация — 4 индекса на PictureBox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int[] combo = allCombinations[current];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Ротираме цветовете на избраните 4 квадратчета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(последният получава цвета на първия — цикличнo)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Color first = pictureBoxes[combo[0]].BackColor;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for (int p = 0; p &lt; 3; p++)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pictureBoxes[combo[p]].BackColor = pictureBoxes[combo[p + 1]].BackColor;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pictureBoxes[combo[3]].BackColor = first;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Преминаваме към следващата комбинация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current++;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508760"/>
            <a:ext cx="4206240" cy="516636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5727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Пример: combo = {0, 2, 6, 8}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965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5E"/>
                </a:solidFill>
              </a:rPr>
              <a:t>Ъглите на решетката: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Преди: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633472"/>
            <a:ext cx="429768" cy="429768"/>
          </a:xfrm>
          <a:prstGeom prst="rect">
            <a:avLst/>
          </a:prstGeom>
          <a:solidFill>
            <a:srgbClr val="E53A3A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2633472"/>
            <a:ext cx="429768" cy="429768"/>
          </a:xfrm>
          <a:prstGeom prst="rect">
            <a:avLst/>
          </a:prstGeom>
          <a:solidFill>
            <a:srgbClr val="3A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2633472"/>
            <a:ext cx="429768" cy="429768"/>
          </a:xfrm>
          <a:prstGeom prst="rect">
            <a:avLst/>
          </a:prstGeom>
          <a:solidFill>
            <a:srgbClr val="3A6AE5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3090672"/>
            <a:ext cx="429768" cy="429768"/>
          </a:xfrm>
          <a:prstGeom prst="rect">
            <a:avLst/>
          </a:prstGeom>
          <a:solidFill>
            <a:srgbClr val="E5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3090672"/>
            <a:ext cx="429768" cy="429768"/>
          </a:xfrm>
          <a:prstGeom prst="rect">
            <a:avLst/>
          </a:prstGeom>
          <a:solidFill>
            <a:srgbClr val="E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3090672"/>
            <a:ext cx="429768" cy="429768"/>
          </a:xfrm>
          <a:prstGeom prst="rect">
            <a:avLst/>
          </a:prstGeom>
          <a:solidFill>
            <a:srgbClr val="90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547872"/>
            <a:ext cx="429768" cy="429768"/>
          </a:xfrm>
          <a:prstGeom prst="rect">
            <a:avLst/>
          </a:prstGeom>
          <a:solidFill>
            <a:srgbClr val="3AC8C8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3547872"/>
            <a:ext cx="429768" cy="429768"/>
          </a:xfrm>
          <a:prstGeom prst="rect">
            <a:avLst/>
          </a:prstGeom>
          <a:solidFill>
            <a:srgbClr val="C8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3547872"/>
            <a:ext cx="429768" cy="429768"/>
          </a:xfrm>
          <a:prstGeom prst="rect">
            <a:avLst/>
          </a:prstGeom>
          <a:solidFill>
            <a:srgbClr val="A0A0A0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6A10"/>
                </a:solidFill>
              </a:rPr>
              <a:t>→  Ротация: 0←8←6←2←0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498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След: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4800600"/>
            <a:ext cx="429768" cy="429768"/>
          </a:xfrm>
          <a:prstGeom prst="rect">
            <a:avLst/>
          </a:prstGeom>
          <a:solidFill>
            <a:srgbClr val="A0A0A0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4800600"/>
            <a:ext cx="429768" cy="429768"/>
          </a:xfrm>
          <a:prstGeom prst="rect">
            <a:avLst/>
          </a:prstGeom>
          <a:solidFill>
            <a:srgbClr val="3A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4800600"/>
            <a:ext cx="429768" cy="429768"/>
          </a:xfrm>
          <a:prstGeom prst="rect">
            <a:avLst/>
          </a:prstGeom>
          <a:solidFill>
            <a:srgbClr val="E53A3A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5257800"/>
            <a:ext cx="429768" cy="429768"/>
          </a:xfrm>
          <a:prstGeom prst="rect">
            <a:avLst/>
          </a:prstGeom>
          <a:solidFill>
            <a:srgbClr val="E5D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5257800"/>
            <a:ext cx="429768" cy="429768"/>
          </a:xfrm>
          <a:prstGeom prst="rect">
            <a:avLst/>
          </a:prstGeom>
          <a:solidFill>
            <a:srgbClr val="E5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5257800"/>
            <a:ext cx="429768" cy="429768"/>
          </a:xfrm>
          <a:prstGeom prst="rect">
            <a:avLst/>
          </a:prstGeom>
          <a:solidFill>
            <a:srgbClr val="90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5715000"/>
            <a:ext cx="429768" cy="429768"/>
          </a:xfrm>
          <a:prstGeom prst="rect">
            <a:avLst/>
          </a:prstGeom>
          <a:solidFill>
            <a:srgbClr val="3A6AE5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5715000"/>
            <a:ext cx="429768" cy="429768"/>
          </a:xfrm>
          <a:prstGeom prst="rect">
            <a:avLst/>
          </a:prstGeom>
          <a:solidFill>
            <a:srgbClr val="C83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3960" y="5715000"/>
            <a:ext cx="429768" cy="429768"/>
          </a:xfrm>
          <a:prstGeom prst="rect">
            <a:avLst/>
          </a:prstGeom>
          <a:solidFill>
            <a:srgbClr val="3AC8C8"/>
          </a:solidFill>
          <a:ln w="2540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Стъпка 5б — Бутон Старт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Стартираме и спираме анимацията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85800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665683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private void btnStart_Click(object sender, EventArgs e)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Нулираме брояча и стартираме от начало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current = 0;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Възстановяваме началните цветове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for (int i = 0; i &lt; 9; i++)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    pictureBoxes[i].BackColor = colors[i];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// Стартираме Timer-а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timer1.Start();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68580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663440"/>
            <a:ext cx="6656832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По желание: бутон Стоп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private void btnStop_Click(object sender, EventArgs e)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timer1.Stop();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508760"/>
            <a:ext cx="4526280" cy="44348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572768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Проверки преди да тестваме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993392"/>
            <a:ext cx="4297680" cy="475488"/>
          </a:xfrm>
          <a:prstGeom prst="rect">
            <a:avLst/>
          </a:prstGeom>
          <a:solidFill>
            <a:srgbClr val="E8F8E8"/>
          </a:solidFill>
          <a:ln w="1524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20665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A1E"/>
                </a:solidFill>
              </a:rPr>
              <a:t>✔  allCombinations.Count == 126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523744"/>
            <a:ext cx="4297680" cy="475488"/>
          </a:xfrm>
          <a:prstGeom prst="rect">
            <a:avLst/>
          </a:prstGeom>
          <a:solidFill>
            <a:srgbClr val="E8F8E8"/>
          </a:solidFill>
          <a:ln w="1524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7" y="2596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A1E"/>
                </a:solidFill>
              </a:rPr>
              <a:t>✔  Timer.Interval == 1000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3054096"/>
            <a:ext cx="4297680" cy="475488"/>
          </a:xfrm>
          <a:prstGeom prst="rect">
            <a:avLst/>
          </a:prstGeom>
          <a:solidFill>
            <a:srgbClr val="E8F8E8"/>
          </a:solidFill>
          <a:ln w="1524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3127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A1E"/>
                </a:solidFill>
              </a:rPr>
              <a:t>✔  9 PictureBox-а с различни цветове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3584448"/>
            <a:ext cx="4297680" cy="475488"/>
          </a:xfrm>
          <a:prstGeom prst="rect">
            <a:avLst/>
          </a:prstGeom>
          <a:solidFill>
            <a:srgbClr val="E8F8E8"/>
          </a:solidFill>
          <a:ln w="1524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7" y="3657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A1E"/>
                </a:solidFill>
              </a:rPr>
              <a:t>✔  current се нулира при всеки Старт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4114800"/>
            <a:ext cx="4297680" cy="475488"/>
          </a:xfrm>
          <a:prstGeom prst="rect">
            <a:avLst/>
          </a:prstGeom>
          <a:solidFill>
            <a:srgbClr val="E8F8E8"/>
          </a:solidFill>
          <a:ln w="1524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527" y="41879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6A1E"/>
                </a:solidFill>
              </a:rPr>
              <a:t>✔  timer1.Stop() при current &gt;= 126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6053328"/>
            <a:ext cx="4526280" cy="640080"/>
          </a:xfrm>
          <a:prstGeom prst="rect">
            <a:avLst/>
          </a:prstGeom>
          <a:solidFill>
            <a:srgbClr val="FFF0D0"/>
          </a:solidFill>
          <a:ln w="15240">
            <a:solidFill>
              <a:srgbClr val="E8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7" y="6126480"/>
            <a:ext cx="43434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3000"/>
                </a:solidFill>
              </a:rPr>
              <a:t>⚠  Не забравяйте да свържете събитията! Двоен клик върху btnStart и timer1 в Designer.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Пълен код — Form1.cs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Всичко на едно място за проверка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475720" cy="5166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00200"/>
            <a:ext cx="11274552" cy="5001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public partial class Form1 : Form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PictureBox[] pictureBoxes;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Color[] colors = { Color.Red, Color.Green, Color.Blue,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    Color.Yellow, Color.Orange, Color.Purple,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            Color.Cyan, Color.Magenta, Color.Gray };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int[] seq = new int[4];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List&lt;int[]&gt; allCombinations = new List&lt;int[]&gt;();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int current = 0;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public Form1() { InitializeComponent();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private void Form1_Load(object sender, EventArgs e)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pictureBoxes = new PictureBox[]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pictureBox1, pictureBox2, pictureBox3,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pictureBox4, pictureBox5, pictureBox6,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pictureBox7, pictureBox8, pictureBox9 };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0; i &lt; 9; i++) pictureBoxes[i].BackColor = colors[i];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Generate(0, 0);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void Generate(int index, int start)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if (index &gt;= 4) { allCombinations.Add((int[])seq.Clone()); return;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start; i &lt; 9; i++)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{ seq[index] = i; Generate(index + 1, i + 1);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private void timer1_Tick(object sender, EventArgs e)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if (current &gt;= allCombinations.Count) { timer1.Stop(); return;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int[] combo = allCombinations[current];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Color first = pictureBoxes[combo[0]].BackColor;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p = 0; p &lt; 3; p++)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    pictureBoxes[combo[p]].BackColor = pictureBoxes[combo[p+1]].BackColor;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pictureBoxes[combo[3]].BackColor = first;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current++;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private void btnStart_Click(object sender, EventArgs e)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current = 0;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for (int i = 0; i &lt; 9; i++) pictureBoxes[i].BackColor = colors[i];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    timer1.Start();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/>
            <a:r>
              <a:rPr sz="9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Чести трудности и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338560" cy="1536192"/>
          </a:xfrm>
          <a:prstGeom prst="rect">
            <a:avLst/>
          </a:prstGeom>
          <a:solidFill>
            <a:srgbClr val="FDF3F3"/>
          </a:solidFill>
          <a:ln w="1016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57200" cy="153619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756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636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Масивът pictureBoxes[] не е попълнен правилно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938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0000"/>
                </a:solidFill>
              </a:rPr>
              <a:t>Симптом: Квадратчетата светват на грешните места или програмата се срива с IndexOutOfRange.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951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375E"/>
                </a:solidFill>
              </a:rPr>
              <a:t>Решение: Проверете реда в Form_Load: pictureBox1 трябва да е индекс 0 (горе-ляво), pictureBox9 — индекс 8 (долу-дясно). Добавете временен Text = "" + pictureBoxes[i].Name за проверка.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9544"/>
            <a:ext cx="11338560" cy="1536192"/>
          </a:xfrm>
          <a:prstGeom prst="rect">
            <a:avLst/>
          </a:prstGeom>
          <a:solidFill>
            <a:srgbClr val="FDF3F3"/>
          </a:solidFill>
          <a:ln w="1016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209544"/>
            <a:ext cx="457200" cy="153619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6440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Generate() записва 126 пъти ЕДНО И СЪЩО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3016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0000"/>
                </a:solidFill>
              </a:rPr>
              <a:t>Симптом: allCombinations.Count == 126, но всички елементи са еднакви — последната комбинация.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959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375E"/>
                </a:solidFill>
              </a:rPr>
              <a:t>Решение: Липсва .Clone()! Трябва: allCombinations.Add((int[])seq.Clone())  Без Clone() всички 126 елемента сочат към СЪЩИЯ масив seq[].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10327"/>
            <a:ext cx="11338560" cy="1536192"/>
          </a:xfrm>
          <a:prstGeom prst="rect">
            <a:avLst/>
          </a:prstGeom>
          <a:solidFill>
            <a:srgbClr val="FDF3F3"/>
          </a:solidFill>
          <a:ln w="1016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10327"/>
            <a:ext cx="457200" cy="153619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477255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965191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0000"/>
                </a:solidFill>
              </a:rPr>
              <a:t>Timer не спира след 126 смени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330951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0000"/>
                </a:solidFill>
              </a:rPr>
              <a:t>Симптом: Приложението продължава да работи и хвърля IndexOutOfRange при current=126.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69671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375E"/>
                </a:solidFill>
              </a:rPr>
              <a:t>Решение: Добавете в началото на Tick:
if (current &gt;= allCombinations.Count) { timer1.Stop(); return;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Допълнителна задача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За тези, които са завършили основната задача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338560" cy="3657600"/>
          </a:xfrm>
          <a:prstGeom prst="rect">
            <a:avLst/>
          </a:prstGeom>
          <a:solidFill>
            <a:srgbClr val="F0F8FF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5E"/>
                </a:solidFill>
              </a:rPr>
              <a:t>Задача: случайни цветове при смяна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5E"/>
                </a:solidFill>
              </a:rPr>
              <a:t>Промени приложението така, че при всяка смяна избраните 4 квадратчета получават СЛУЧАЙНИ цветове от colors[], а не ротират помежду си.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10789920" cy="2331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34640"/>
            <a:ext cx="10588752" cy="21671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В Timer_Tick — заменяме ротацията с: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Random rnd = new Random();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Разбъркваме colors[] и взимаме първите 4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Color[] shuffled = colors.OrderBy(x =&gt; rnd.Next()).ToArray();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for (int p = 0; p &lt; 4; p++)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    pictureBoxes[combo[p]].BackColor = shuffled[p];</a:t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D4D4D4"/>
                </a:solidFill>
                <a:latin typeface="Consolas"/>
              </a:rPr>
              <a:t>// Нужно: using System.Linq;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257800"/>
            <a:ext cx="11338560" cy="1325880"/>
          </a:xfrm>
          <a:prstGeom prst="rect">
            <a:avLst/>
          </a:prstGeom>
          <a:solidFill>
            <a:srgbClr val="F0F8E8"/>
          </a:solidFill>
          <a:ln w="10160">
            <a:solidFill>
              <a:srgbClr val="1E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218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A1E"/>
                </a:solidFill>
              </a:rPr>
              <a:t>Въпрос за размисъл: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87568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Колко визуално различни комбинации са възможни при случайни цветове? При всяка смяна 4 позиции × 9 цвята... Намери формулата и изчисли.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9601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ШАДРАВАН  •  Упражнение  •  11б клас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Обобщение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338560" cy="4206240"/>
          </a:xfrm>
          <a:prstGeom prst="rect">
            <a:avLst/>
          </a:prstGeom>
          <a:solidFill>
            <a:srgbClr val="D6E4F7"/>
          </a:solidFill>
          <a:ln w="63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5E"/>
                </a:solidFill>
              </a:rPr>
              <a:t>ШАДРАВАН = комбинаторика + WinForms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84831"/>
            <a:ext cx="2926080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0551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C(9,4) = 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57984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Брой комбинации без повторение от 9 по 4 — точно 126 смени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4911"/>
            <a:ext cx="2926080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70631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Generate(index, start)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98063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Рекурсивен метод — един и същ като в предходните задачи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1"/>
            <a:ext cx="2926080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10711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(int[])seq.Clone()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38144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Задължително при запазване на масив — без него: 126 еднакви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1"/>
            <a:ext cx="2926080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50791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Timer_Tick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78223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Прилага следващата комбинация — ротация на 4 цвята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45152"/>
            <a:ext cx="2926080" cy="50292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9087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timer1.Stop()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18304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5E"/>
                </a:solidFill>
              </a:rPr>
              <a:t>Спираме след като current достигне 126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11338560" cy="74980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1616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Незавършилите доизпълняват задачата вкъщи. Генерирането на комбинации е едно и също — само приложението (WinForms) е новото.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