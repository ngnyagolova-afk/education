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Заглавен слайд.</a:t>
            </a:r>
          </a:p>
          <a:p>
            <a:r>
              <a:t>Свържете с предишния урок (Урок 10: Сортиране) — 'Вече знаем как се сортира. Сега ще видим как се използва сортиран масив по-ефективно.'</a:t>
            </a:r>
          </a:p>
          <a:p>
            <a:r>
              <a:t>Загрейте с въпрос: 'Играта Намислих си число — колко опита са ви нужни максимум за число от 1 до 1000?'</a:t>
            </a:r>
          </a:p>
          <a:p>
            <a:r>
              <a:t>Очакван отговор от учениците: много. Правилен отговор: 10 опита (log₂ 1000 ≈ 10) — именно това е двоичното търсене.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Играйте играта с учениците — един ученик мисли число 1-100, класът задава въпроси.</a:t>
            </a:r>
          </a:p>
          <a:p>
            <a:r>
              <a:t>Покажете на дъската колко бързо се стига до отговора с 'питай средата'.</a:t>
            </a:r>
          </a:p>
          <a:p>
            <a:r>
              <a:t>Ключова идея: при СОРТИРАН масив можем да намерим елемент за O(log n) вместо O(n) при последователно търсене.</a:t>
            </a:r>
          </a:p>
          <a:p>
            <a:r>
              <a:t>За 1 000 000 елемента: последователно — до 1 000 000 стъпки. Двоично — максимум 20 стъпки!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Нарисувайте алгоритъма на дъската стъпка по стъпка с конкретен пример.</a:t>
            </a:r>
          </a:p>
          <a:p>
            <a:r>
              <a:t>Пример: масив [1 3 4 5 7 9 12 30], търсим 12.</a:t>
            </a:r>
          </a:p>
          <a:p>
            <a:r>
              <a:t>  Стъпка 1: left=0, right=7, mid=3, arr[3]=5 &lt; 12 → left=4</a:t>
            </a:r>
          </a:p>
          <a:p>
            <a:r>
              <a:t>  Стъпка 2: left=4, right=7, mid=5, arr[5]=9 &lt; 12 → left=6</a:t>
            </a:r>
          </a:p>
          <a:p>
            <a:r>
              <a:t>  Стъпка 3: left=6, right=7, mid=6, arr[6]=12 == 12 → НАМЕРЕН на индекс 6</a:t>
            </a:r>
          </a:p>
          <a:p>
            <a:r>
              <a:t>Подчертайте: 3 стъпки вместо 7 при последователно търсене.</a:t>
            </a:r>
          </a:p>
          <a:p>
            <a:r>
              <a:t>Принцип 'Разделяй и владей' — разделяме проблема на две половини при всяка стъпка.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Дайте 5-7 минути на учениците да опитат сами.</a:t>
            </a:r>
          </a:p>
          <a:p>
            <a:r>
              <a:t>Hint: методът BinarySearch приема масива и k, използва left/right/mid.</a:t>
            </a:r>
          </a:p>
          <a:p>
            <a:r>
              <a:t>Напомнете: докато left &lt;= right. Ако k &lt; arr[mid] → right = mid-1. Ако k &gt; arr[mid] → left = mid+1.</a:t>
            </a:r>
          </a:p>
          <a:p>
            <a:r>
              <a:t>Честа грешка: mid = left + right / 2 (без скоби) → грешка поради приоритет на операциите! Правилно: mid = (left + right) /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Обяснете ред по ред:</a:t>
            </a:r>
          </a:p>
          <a:p>
            <a:r>
              <a:t>  left = 0, right = arr.Length-1 — границите на търсене</a:t>
            </a:r>
          </a:p>
          <a:p>
            <a:r>
              <a:t>  mid = (left + right) / 2 — средата</a:t>
            </a:r>
          </a:p>
          <a:p>
            <a:r>
              <a:t>  Ако намерим → return mid (индексът)</a:t>
            </a:r>
          </a:p>
          <a:p>
            <a:r>
              <a:t>  Ако k &lt; arr[mid] → елементът е в лявата половина → right = mid - 1</a:t>
            </a:r>
          </a:p>
          <a:p>
            <a:r>
              <a:t>  Ако k &gt; arr[mid] → елементът е в дясната половина → left = mid + 1</a:t>
            </a:r>
          </a:p>
          <a:p>
            <a:r>
              <a:t>  Когато left &gt; right → не е намерен → return -1</a:t>
            </a:r>
          </a:p>
          <a:p>
            <a:r>
              <a:t>Сложност: O(log n) — при всяка итерация диапазонът се намалява наполовина.</a:t>
            </a:r>
          </a:p>
          <a:p>
            <a:r>
              <a:t>Задача 1 от Въпроси и задачи е вариант на тази — търсенето да върне и индекса.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Аналогия: представете си две тестета карти, наредени по стойност. Как да ги обедините в едно наредено тесте?</a:t>
            </a:r>
          </a:p>
          <a:p>
            <a:r>
              <a:t>Вземате горната карта от всяко тесте, слагате по-малката в новото тесте, повтаряте.</a:t>
            </a:r>
          </a:p>
          <a:p>
            <a:r>
              <a:t>Тази операция е ядрото на алгоритъма Merge Sort (сортиране чрез сливане) — един от най-ефективните алгоритми за сортиране O(n·log n).</a:t>
            </a:r>
          </a:p>
          <a:p>
            <a:r>
              <a:t>Три случая: и двата имат елементи → сравни. Само масив 1 → копирай. Само масив 2 → копирай.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while-цикъла са задължителни:</a:t>
            </a:r>
          </a:p>
          <a:p>
            <a:r>
              <a:t>  1. Докато и двата масива имат елементи — сравняваме и взимаме по-малкия</a:t>
            </a:r>
          </a:p>
          <a:p>
            <a:r>
              <a:t>  2. Ако n1 е свършил, n2 все още има — копираме остатъка</a:t>
            </a:r>
          </a:p>
          <a:p>
            <a:r>
              <a:t>  3. Ако n2 е свършил, n1 все още има — копираме остатъка</a:t>
            </a:r>
          </a:p>
          <a:p>
            <a:r>
              <a:t>Забележете: само ЕДИН от последните два while ще се изпълни (не и двата).</a:t>
            </a:r>
          </a:p>
          <a:p>
            <a:r>
              <a:t>Трикът k++ = n1[i++]: C# изчислява индексите преди инкрементирането.</a:t>
            </a:r>
          </a:p>
          <a:p>
            <a:r>
              <a:t>Честа грешка: забравен втори или трети while → непълен резултат.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Предикатът е функция, която получава елемент и връща bool.</a:t>
            </a:r>
          </a:p>
          <a:p>
            <a:r>
              <a:t>Find и FindAll приемат 'именован метод' или 'ламбда израз' — двете са равностойни.</a:t>
            </a:r>
          </a:p>
          <a:p>
            <a:r>
              <a:t>Кратка форма: static bool IsEven(int n) =&gt; n % 2 == 0;  (expression-bodied method)</a:t>
            </a:r>
          </a:p>
          <a:p>
            <a:r>
              <a:t>FindAll връща нов масив — ако няма съвпадения, връща празен масив (не null).</a:t>
            </a:r>
          </a:p>
          <a:p>
            <a:r>
              <a:t>Find и FindLast връщат стойността по подразбиране (0 за int, null за reference types) ако няма съвпадение.</a:t>
            </a:r>
          </a:p>
          <a:p>
            <a:r>
              <a:t>Задача 2 от Въпроси и задачи: прочетете числа, изведете всички &gt;= k — FindAll с ламбда.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IndexOf: последователно търсене — O(n), работи с всякакъв масив.</a:t>
            </a:r>
          </a:p>
          <a:p>
            <a:r>
              <a:t>BinarySearch: двоично търсене — O(log n), САМО за сортиран масив!</a:t>
            </a:r>
          </a:p>
          <a:p>
            <a:r>
              <a:t>Ако BinarySearch не намери елемента, връща ОТРИЦАТЕЛНО число (не -1 задължително) — ~(индекс на следващия по-голям).</a:t>
            </a:r>
          </a:p>
          <a:p>
            <a:r>
              <a:t>Проверката трябва да е: if (result &gt;= 0) намерен, else не е намерен.</a:t>
            </a:r>
          </a:p>
          <a:p>
            <a:r>
              <a:t>Ламбда изрази: n =&gt; n % 2 == 0 е по-кратко от static bool IsEven(int n) { return n % 2 == 0; }</a:t>
            </a:r>
          </a:p>
          <a:p>
            <a:r>
              <a:t>Тренирайте учениците да пишат ламбди — ще са нужни за Задача 4 и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 1: вариант на Слайд 4 — методът трябва да върне индекса, не само Yes/No.</a:t>
            </a:r>
          </a:p>
          <a:p>
            <a:r>
              <a:t>Задача 2: Array.FindAll(numbers, n =&gt; n &gt;= k) — много кратко с ламбда.</a:t>
            </a:r>
          </a:p>
          <a:p>
            <a:r>
              <a:t>Задача 3: по-сложна — Random.Next(1, 1001) за случайно число. Консолна версия е задължителна, графична е бонус.</a:t>
            </a:r>
          </a:p>
          <a:p>
            <a:r>
              <a:t>За графичната: TextBox за въвеждане, Label за съобщение, ListBox за история на опитите.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 4 (Площадки):</a:t>
            </a:r>
          </a:p>
          <a:p>
            <a:r>
              <a:t>  Алгоритъм: currentLen=1, maxLen=1, maxNum=arr[0]</a:t>
            </a:r>
          </a:p>
          <a:p>
            <a:r>
              <a:t>  За i от 1 до n-1: ако arr[i]==arr[i-1] → currentLen++, иначе currentLen=1</a:t>
            </a:r>
          </a:p>
          <a:p>
            <a:r>
              <a:t>  Ако currentLen &gt; maxLen → maxLen=currentLen, maxNum=arr[i]</a:t>
            </a:r>
          </a:p>
          <a:p>
            <a:r>
              <a:t>  Масивът трябва да е НЕНАМАЛЯВАЩ (= сортиран) за да работи!</a:t>
            </a:r>
          </a:p>
          <a:p/>
          <a:p>
            <a:r>
              <a:t>Задача 5 (Най-честото число):</a:t>
            </a:r>
          </a:p>
          <a:p>
            <a:r>
              <a:t>  Вариант 1: сортираме → намираме площадката (от Задача 4)</a:t>
            </a:r>
          </a:p>
          <a:p>
            <a:r>
              <a:t>  Вариант 2: Dictionary&lt;int,int&gt; за броене</a:t>
            </a:r>
          </a:p>
          <a:p>
            <a:r>
              <a:t>  Вариант 3 (с LINQ): numbers.GroupBy(x=&gt;x).OrderByDescending(g=&gt;g.Count()).First()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 4: Алгоритъмът с curLen/maxLen е класически — трябва да е наизуст.</a:t>
            </a:r>
          </a:p>
          <a:p>
            <a:r>
              <a:t>Задача 5: Покажете и двата варианта — Dictionary е по-явен, LINQ е по-елегантен.</a:t>
            </a:r>
          </a:p>
          <a:p>
            <a:r>
              <a:t>GroupBy е LINQ метод — свързва с урока по LINQ (Урок 10).</a:t>
            </a:r>
          </a:p>
          <a:p>
            <a:r>
              <a:t>Обсъдете: кой вариант е по-четим? Кой по-ефективен? Кога да ползваме кой?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Ключово послание: изборът на алгоритъм зависи от 1) дали масивът е сортиран, 2) колко пъти ще търсим.</a:t>
            </a:r>
          </a:p>
          <a:p>
            <a:r>
              <a:t>Ако търсим веднъж → не си заслужава да сортираме (O(n log n)) само за да търсим с O(log n).</a:t>
            </a:r>
          </a:p>
          <a:p>
            <a:r>
              <a:t>Ако търсим многократно → сортираме веднъж и после използваме двоично търсене.</a:t>
            </a:r>
          </a:p>
          <a:p>
            <a:r>
              <a:t>Array.BinarySearch() е готов метод — не пишете свой ако не е специално изисквано.</a:t>
            </a:r>
          </a:p>
          <a:p>
            <a:r>
              <a:t>Новото понятие от урока: Сливане на сортирани редици = основата на Merge 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УРОК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ЕДНОМЕРЕН МАСИВ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CCAA"/>
                </a:solidFill>
                <a:latin typeface="Calibri"/>
              </a:rPr>
              <a:t>Техники за работа със сортиран масив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931920"/>
            <a:ext cx="12188952" cy="50292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  <a:latin typeface="Calibri"/>
              </a:rPr>
              <a:t>Разработка на Софтуер  ·  11Б клас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1A1A"/>
                </a:solidFill>
              </a:rPr>
              <a:t>▸  Двоично търсене (Binary Search)</a:t>
            </a:r>
          </a:p>
          <a:p>
            <a:r>
              <a:rPr sz="1800">
                <a:solidFill>
                  <a:srgbClr val="1A1A1A"/>
                </a:solidFill>
              </a:rPr>
              <a:t>▸  Сливане на сортирани редици</a:t>
            </a:r>
          </a:p>
          <a:p>
            <a:r>
              <a:rPr sz="1800">
                <a:solidFill>
                  <a:srgbClr val="1A1A1A"/>
                </a:solidFill>
              </a:rPr>
              <a:t>▸  Стандартни библиотечни методи: Find, FindAll, IndexOf, BinarySearch</a:t>
            </a:r>
          </a:p>
          <a:p>
            <a:r>
              <a:rPr sz="1800">
                <a:solidFill>
                  <a:srgbClr val="1A1A1A"/>
                </a:solidFill>
              </a:rPr>
              <a:t>▸  Ламбда изрази с Array методи</a:t>
            </a:r>
          </a:p>
          <a:p>
            <a:r>
              <a:rPr sz="1800">
                <a:solidFill>
                  <a:srgbClr val="1A1A1A"/>
                </a:solidFill>
              </a:rPr>
              <a:t>▸  Задачи и упражнения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000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  Мотивация: Играта „Намислих си число"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1A1A1A"/>
                </a:solidFill>
              </a:rPr>
              <a:t>Единият играч мисли число от 1 до 1000.</a:t>
            </a:r>
          </a:p>
          <a:p>
            <a:r>
              <a:rPr sz="2100" b="0">
                <a:solidFill>
                  <a:srgbClr val="1A1A1A"/>
                </a:solidFill>
              </a:rPr>
              <a:t>Другият се опитва да го познае.</a:t>
            </a:r>
          </a:p>
          <a:p>
            <a:r>
              <a:rPr sz="2100" b="0">
                <a:solidFill>
                  <a:srgbClr val="1A1A1A"/>
                </a:solidFill>
              </a:rPr>
              <a:t>След всеки опит: „Намери!", „Нагоре" или „Надолу".</a:t>
            </a:r>
          </a:p>
          <a:p>
            <a:r>
              <a:rPr sz="2000">
                <a:solidFill>
                  <a:srgbClr val="1A1A1A"/>
                </a:solidFill>
              </a:rPr>
              <a:t/>
            </a:r>
          </a:p>
          <a:p>
            <a:r>
              <a:rPr sz="2000">
                <a:solidFill>
                  <a:srgbClr val="1A1A1A"/>
                </a:solidFill>
              </a:rPr>
              <a:t/>
            </a:r>
          </a:p>
          <a:p>
            <a:r>
              <a:rPr sz="2000" b="0">
                <a:solidFill>
                  <a:srgbClr val="C62028"/>
                </a:solidFill>
              </a:rPr>
              <a:t>Наивна стратегия: 1, 2, 3, 4... → до 1000 опита.</a:t>
            </a:r>
          </a:p>
          <a:p>
            <a:r>
              <a:rPr sz="2000" b="0">
                <a:solidFill>
                  <a:srgbClr val="1A1A1A"/>
                </a:solidFill>
              </a:rPr>
              <a:t/>
            </a:r>
          </a:p>
          <a:p>
            <a:r>
              <a:rPr sz="2200" b="1">
                <a:solidFill>
                  <a:srgbClr val="007000"/>
                </a:solidFill>
              </a:rPr>
              <a:t>Умна стратегия: Питай средата!  →  максимум 10 опита.</a:t>
            </a:r>
          </a:p>
          <a:p>
            <a:r>
              <a:rPr sz="2000" b="0">
                <a:solidFill>
                  <a:srgbClr val="1A1A1A"/>
                </a:solidFill>
              </a:rPr>
              <a:t/>
            </a:r>
          </a:p>
          <a:p>
            <a:r>
              <a:rPr sz="1900" b="0">
                <a:solidFill>
                  <a:srgbClr val="0070C0"/>
                </a:solidFill>
              </a:rPr>
              <a:t>Защо 10?  log₂(1000) ≈ 9.97  →  при всяко питане изключваме половината.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000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  Двоично търсене — Алгоритъм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5486400" cy="457200"/>
          </a:xfrm>
          <a:prstGeom prst="rect">
            <a:avLst/>
          </a:prstGeom>
          <a:solidFill>
            <a:srgbClr val="7B3000"/>
          </a:solidFill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  ИЗИСКВА СОРТИРАН МАСИВ!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1A1A1A"/>
                </a:solidFill>
              </a:rPr>
              <a:t>1.  Задават се лява (left=0) и дясна (right=n-1) граница.</a:t>
            </a:r>
          </a:p>
          <a:p>
            <a:r>
              <a:rPr sz="1900" b="0">
                <a:solidFill>
                  <a:srgbClr val="1A1A1A"/>
                </a:solidFill>
              </a:rPr>
              <a:t>2.  Докато left ≤ right:</a:t>
            </a:r>
          </a:p>
          <a:p>
            <a:r>
              <a:rPr sz="1800" b="0">
                <a:solidFill>
                  <a:srgbClr val="1A1A1A"/>
                </a:solidFill>
              </a:rPr>
              <a:t>        mid = (left + right) / 2  →  средният индекс</a:t>
            </a:r>
          </a:p>
          <a:p>
            <a:r>
              <a:rPr sz="1800" b="0">
                <a:solidFill>
                  <a:srgbClr val="007000"/>
                </a:solidFill>
              </a:rPr>
              <a:t>        Ако arr[mid] == k  →  намерен! Връщаме mid.</a:t>
            </a:r>
          </a:p>
          <a:p>
            <a:r>
              <a:rPr sz="1800" b="0">
                <a:solidFill>
                  <a:srgbClr val="0070C0"/>
                </a:solidFill>
              </a:rPr>
              <a:t>        Ако k &lt; arr[mid]   →  търсим в лявата половина: right = mid - 1</a:t>
            </a:r>
          </a:p>
          <a:p>
            <a:r>
              <a:rPr sz="1800" b="0">
                <a:solidFill>
                  <a:srgbClr val="C05000"/>
                </a:solidFill>
              </a:rPr>
              <a:t>        Ако k &gt; arr[mid]   →  търсим в дясната половина: left = mid + 1</a:t>
            </a:r>
          </a:p>
          <a:p>
            <a:r>
              <a:rPr sz="1900" b="0">
                <a:solidFill>
                  <a:srgbClr val="C62028"/>
                </a:solidFill>
              </a:rPr>
              <a:t>3.  Ако left &gt; right  →  елементът не е в масива. Връщаме -1.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3000"/>
                </a:solidFill>
                <a:latin typeface="Calibri"/>
              </a:rPr>
              <a:t>Пример: масив [1 3 4 5 7 9 12 30], търсим k=12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440680"/>
            <a:ext cx="1234440" cy="5029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5440680"/>
            <a:ext cx="1234440" cy="5029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5440680"/>
            <a:ext cx="1234440" cy="5029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5440680"/>
            <a:ext cx="1234440" cy="5029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5440680"/>
            <a:ext cx="1234440" cy="5029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5440680"/>
            <a:ext cx="1234440" cy="5029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5440680"/>
            <a:ext cx="1234440" cy="50292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66960" y="5440680"/>
            <a:ext cx="1234440" cy="50292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1A1A1A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000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  Задача 1: Двоично търсене — Yes / 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11430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Прочетете произволен брой цели числа в нарастващ ред (ред 1), разделени с интервал.
Прочетете цяло число k (ред 2). Проверете чрез двоично търсене дали k се среща
в редицата и изведете "Yes" или "No".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3000"/>
                </a:solidFill>
                <a:latin typeface="Calibri"/>
              </a:rPr>
              <a:t>Примерен вход: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88920"/>
            <a:ext cx="3657600" cy="777240"/>
          </a:xfrm>
          <a:prstGeom prst="rect">
            <a:avLst/>
          </a:prstGeom>
          <a:solidFill>
            <a:srgbClr val="EEEEEE"/>
          </a:solidFill>
        </p:spPr>
        <p:txBody>
          <a:bodyPr wrap="non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Courier New"/>
              </a:rPr>
              <a:t>1 3 4 5 7 9 12 30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000"/>
                </a:solidFill>
                <a:latin typeface="Calibri"/>
              </a:rPr>
              <a:t>Изход: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88920"/>
            <a:ext cx="1828800" cy="457200"/>
          </a:xfrm>
          <a:prstGeom prst="rect">
            <a:avLst/>
          </a:prstGeom>
          <a:solidFill>
            <a:srgbClr val="EEEEEE"/>
          </a:solidFill>
        </p:spPr>
        <p:txBody>
          <a:bodyPr wrap="non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Courier New"/>
              </a:rPr>
              <a:t>Yes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57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B3000"/>
                </a:solidFill>
                <a:latin typeface="Calibri"/>
              </a:rPr>
              <a:t>▸ Създайте метод BinarySearch(int[] arr, int k) → връща индекс или 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14800"/>
            <a:ext cx="11430000" cy="2286000"/>
          </a:xfrm>
          <a:prstGeom prst="rect">
            <a:avLst/>
          </a:prstGeom>
          <a:solidFill>
            <a:srgbClr val="EEEEEE"/>
          </a:solidFill>
        </p:spPr>
        <p:txBody>
          <a:bodyPr wrap="none">
            <a:spAutoFit/>
          </a:bodyPr>
          <a:lstStyle/>
          <a:p>
            <a:r>
              <a:rPr sz="1500">
                <a:solidFill>
                  <a:srgbClr val="1A1A1A"/>
                </a:solidFill>
                <a:latin typeface="Courier New"/>
              </a:rPr>
              <a:t>static void Main(string[] args)</a:t>
            </a:r>
          </a:p>
          <a:p>
            <a:r>
              <a:rPr sz="1500">
                <a:solidFill>
                  <a:srgbClr val="1A1A1A"/>
                </a:solidFill>
                <a:latin typeface="Courier New"/>
              </a:rPr>
              <a:t>{</a:t>
            </a:r>
          </a:p>
          <a:p>
            <a:r>
              <a:rPr sz="1500">
                <a:solidFill>
                  <a:srgbClr val="1A1A1A"/>
                </a:solidFill>
                <a:latin typeface="Courier New"/>
              </a:rPr>
              <a:t>    int[] numbers = Console.ReadLine().Split().Select(int.Parse).ToArray();</a:t>
            </a:r>
          </a:p>
          <a:p>
            <a:r>
              <a:rPr sz="1500">
                <a:solidFill>
                  <a:srgbClr val="1A1A1A"/>
                </a:solidFill>
                <a:latin typeface="Courier New"/>
              </a:rPr>
              <a:t>    int k   = int.Parse(Console.ReadLine());</a:t>
            </a:r>
          </a:p>
          <a:p>
            <a:r>
              <a:rPr sz="1500">
                <a:solidFill>
                  <a:srgbClr val="1A1A1A"/>
                </a:solidFill>
                <a:latin typeface="Courier New"/>
              </a:rPr>
              <a:t>    int ind = BinarySearch(numbers, k);</a:t>
            </a:r>
          </a:p>
          <a:p>
            <a:r>
              <a:rPr sz="1500">
                <a:solidFill>
                  <a:srgbClr val="1A1A1A"/>
                </a:solidFill>
                <a:latin typeface="Courier New"/>
              </a:rPr>
              <a:t>    if (ind != -1)  Console.WriteLine("Yes");</a:t>
            </a:r>
          </a:p>
          <a:p>
            <a:r>
              <a:rPr sz="1500">
                <a:solidFill>
                  <a:srgbClr val="1A1A1A"/>
                </a:solidFill>
                <a:latin typeface="Courier New"/>
              </a:rPr>
              <a:t>    else            Console.WriteLine("No");</a:t>
            </a:r>
          </a:p>
          <a:p>
            <a:r>
              <a:rPr sz="150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000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  Решение: Задача 1 — BinarySearch метод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5029200"/>
          </a:xfrm>
          <a:prstGeom prst="rect">
            <a:avLst/>
          </a:prstGeom>
          <a:solidFill>
            <a:srgbClr val="EEEEEE"/>
          </a:solidFill>
        </p:spPr>
        <p:txBody>
          <a:bodyPr wrap="none">
            <a:spAutoFit/>
          </a:bodyPr>
          <a:lstStyle/>
          <a:p>
            <a:r>
              <a:rPr sz="1700">
                <a:solidFill>
                  <a:srgbClr val="1A1A1A"/>
                </a:solidFill>
                <a:latin typeface="Courier New"/>
              </a:rPr>
              <a:t>private static int BinarySearch(int[] arr, int k)</a:t>
            </a:r>
          </a:p>
          <a:p>
            <a:r>
              <a:rPr sz="1700">
                <a:solidFill>
                  <a:srgbClr val="1A1A1A"/>
                </a:solidFill>
                <a:latin typeface="Courier New"/>
              </a:rPr>
              <a:t>{</a:t>
            </a:r>
          </a:p>
          <a:p>
            <a:r>
              <a:rPr sz="1700">
                <a:solidFill>
                  <a:srgbClr val="1A1A1A"/>
                </a:solidFill>
                <a:latin typeface="Courier New"/>
              </a:rPr>
              <a:t>    int left = 0, right = arr.Length - 1, mid;</a:t>
            </a:r>
          </a:p>
          <a:p>
            <a:r>
              <a:rPr sz="17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700">
                <a:solidFill>
                  <a:srgbClr val="1A1A1A"/>
                </a:solidFill>
                <a:latin typeface="Courier New"/>
              </a:rPr>
              <a:t>    while (left &lt;= right)</a:t>
            </a:r>
          </a:p>
          <a:p>
            <a:r>
              <a:rPr sz="1700">
                <a:solidFill>
                  <a:srgbClr val="1A1A1A"/>
                </a:solidFill>
                <a:latin typeface="Courier New"/>
              </a:rPr>
              <a:t>    {</a:t>
            </a:r>
          </a:p>
          <a:p>
            <a:r>
              <a:rPr sz="1700">
                <a:solidFill>
                  <a:srgbClr val="1A1A1A"/>
                </a:solidFill>
                <a:latin typeface="Courier New"/>
              </a:rPr>
              <a:t>        mid = (left + right) / 2;</a:t>
            </a:r>
          </a:p>
          <a:p>
            <a:r>
              <a:rPr sz="17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700">
                <a:solidFill>
                  <a:srgbClr val="1A1A1A"/>
                </a:solidFill>
                <a:latin typeface="Courier New"/>
              </a:rPr>
              <a:t>        if (k == arr[mid])  </a:t>
            </a:r>
            <a:r>
              <a:rPr sz="1700">
                <a:solidFill>
                  <a:srgbClr val="007000"/>
                </a:solidFill>
                <a:latin typeface="Courier New"/>
              </a:rPr>
              <a:t>return mid;</a:t>
            </a:r>
          </a:p>
          <a:p>
            <a:r>
              <a:rPr sz="1700">
                <a:solidFill>
                  <a:srgbClr val="1A1A1A"/>
                </a:solidFill>
                <a:latin typeface="Courier New"/>
              </a:rPr>
              <a:t>        if (k &lt;  arr[mid])  right = mid - 1;  </a:t>
            </a:r>
            <a:r>
              <a:rPr sz="1700">
                <a:solidFill>
                  <a:srgbClr val="007000"/>
                </a:solidFill>
                <a:latin typeface="Courier New"/>
              </a:rPr>
              <a:t>// търси в лявата половина</a:t>
            </a:r>
          </a:p>
          <a:p>
            <a:r>
              <a:rPr sz="1700">
                <a:solidFill>
                  <a:srgbClr val="1A1A1A"/>
                </a:solidFill>
                <a:latin typeface="Courier New"/>
              </a:rPr>
              <a:t>        else                left  = mid + 1;  </a:t>
            </a:r>
            <a:r>
              <a:rPr sz="1700">
                <a:solidFill>
                  <a:srgbClr val="007000"/>
                </a:solidFill>
                <a:latin typeface="Courier New"/>
              </a:rPr>
              <a:t>// търси в дясната половина</a:t>
            </a:r>
          </a:p>
          <a:p>
            <a:r>
              <a:rPr sz="170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r>
              <a:rPr sz="1700">
                <a:solidFill>
                  <a:srgbClr val="1A1A1A"/>
                </a:solidFill>
                <a:latin typeface="Courier New"/>
              </a:rPr>
              <a:t>    return -1;  </a:t>
            </a:r>
            <a:r>
              <a:rPr sz="1700">
                <a:solidFill>
                  <a:srgbClr val="007000"/>
                </a:solidFill>
                <a:latin typeface="Courier New"/>
              </a:rPr>
              <a:t>// не е намерен</a:t>
            </a:r>
          </a:p>
          <a:p>
            <a:r>
              <a:rPr sz="170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000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  Сливане на сортирани редици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78992"/>
            <a:ext cx="5486400" cy="457200"/>
          </a:xfrm>
          <a:prstGeom prst="rect">
            <a:avLst/>
          </a:prstGeom>
          <a:solidFill>
            <a:srgbClr val="7B3000"/>
          </a:solidFill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  MERGE — Основа на Merge Sort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1A"/>
                </a:solidFill>
              </a:rPr>
              <a:t>Дадени са два СОРТИРАНИ масива. Целта е да се обединят в един сортиран масив.</a:t>
            </a:r>
          </a:p>
          <a:p>
            <a:r>
              <a:rPr sz="1000" b="0">
                <a:solidFill>
                  <a:srgbClr val="1A1A1A"/>
                </a:solidFill>
              </a:rPr>
              <a:t/>
            </a:r>
          </a:p>
          <a:p>
            <a:r>
              <a:rPr sz="1900" b="0">
                <a:solidFill>
                  <a:srgbClr val="C62028"/>
                </a:solidFill>
              </a:rPr>
              <a:t>Наивен начин: обедини + сортирай  →  O(n·log n)</a:t>
            </a:r>
          </a:p>
          <a:p>
            <a:r>
              <a:rPr sz="1000" b="0">
                <a:solidFill>
                  <a:srgbClr val="1A1A1A"/>
                </a:solidFill>
              </a:rPr>
              <a:t/>
            </a:r>
          </a:p>
          <a:p>
            <a:r>
              <a:rPr sz="2000" b="1">
                <a:solidFill>
                  <a:srgbClr val="007000"/>
                </a:solidFill>
              </a:rPr>
              <a:t>По-умен начин: Сравнявай текущите елементи на двата масива,</a:t>
            </a:r>
          </a:p>
          <a:p>
            <a:r>
              <a:rPr sz="2000" b="1">
                <a:solidFill>
                  <a:srgbClr val="007000"/>
                </a:solidFill>
              </a:rPr>
              <a:t>поставяй по-малкия в резултата  →  O(n)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703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3000"/>
                </a:solidFill>
                <a:latin typeface="Calibri"/>
              </a:rPr>
              <a:t>Пример: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069080"/>
            <a:ext cx="868680" cy="457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069080"/>
            <a:ext cx="868680" cy="457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069080"/>
            <a:ext cx="868680" cy="457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4069080"/>
            <a:ext cx="868680" cy="457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4069080"/>
            <a:ext cx="868680" cy="457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160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4069080"/>
            <a:ext cx="86868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4069080"/>
            <a:ext cx="86868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4069080"/>
            <a:ext cx="86868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4069080"/>
            <a:ext cx="86868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4069080"/>
            <a:ext cx="86868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064240" y="4069080"/>
            <a:ext cx="86868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70080" y="4069080"/>
            <a:ext cx="868680" cy="457200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A1A1A"/>
                </a:solidFill>
              </a:rP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663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500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617720"/>
            <a:ext cx="804672" cy="4572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80" y="4617720"/>
            <a:ext cx="804672" cy="4572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617720"/>
            <a:ext cx="804672" cy="4572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7639" y="4617720"/>
            <a:ext cx="804672" cy="4572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4617720"/>
            <a:ext cx="804672" cy="4572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0" y="4617720"/>
            <a:ext cx="804672" cy="4572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79" y="4617720"/>
            <a:ext cx="804672" cy="4572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59" y="4617720"/>
            <a:ext cx="804672" cy="4572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4617720"/>
            <a:ext cx="804672" cy="4572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19" y="4617720"/>
            <a:ext cx="804672" cy="4572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10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4617720"/>
            <a:ext cx="804672" cy="4572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27080" y="4617720"/>
            <a:ext cx="804672" cy="4572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A1A"/>
                </a:solidFill>
              </a:rPr>
              <a:t>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000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  Задача 2: Сливане на сортирани редици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Прочетете два реда с цели числа в нарастващ ред. Създайте нов масив с елементите и от двата, наредени в нарастващ ред — БЕЗ допълнително сортиране.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745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3000"/>
                </a:solidFill>
                <a:latin typeface="Calibri"/>
              </a:rPr>
              <a:t>Вход:  1 3 5 7 9  /  2 4 6 8 10 20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40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000"/>
                </a:solidFill>
                <a:latin typeface="Calibri"/>
              </a:rPr>
              <a:t>Изход: 1 2 3 4 5 6 7 8 9 10 20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651760"/>
            <a:ext cx="11430000" cy="3931920"/>
          </a:xfrm>
          <a:prstGeom prst="rect">
            <a:avLst/>
          </a:prstGeom>
          <a:solidFill>
            <a:srgbClr val="EEEEEE"/>
          </a:solidFill>
        </p:spPr>
        <p:txBody>
          <a:bodyPr wrap="none">
            <a:spAutoFit/>
          </a:bodyPr>
          <a:lstStyle/>
          <a:p>
            <a:r>
              <a:rPr sz="1400">
                <a:solidFill>
                  <a:srgbClr val="1A1A1A"/>
                </a:solidFill>
                <a:latin typeface="Courier New"/>
              </a:rPr>
              <a:t>int[] n1 = Console.ReadLine().Split().Select(int.Parse).ToArray();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int[] n2 = Console.ReadLine().Split().Select(int.Parse).ToArray();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int[] merged = new int[n1.Length + n2.Length];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int i = 0, j = 0, k = 0;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007000"/>
                </a:solidFill>
                <a:latin typeface="Courier New"/>
              </a:rPr>
              <a:t>// 1. И двата масива имат елементи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while (i &lt; n1.Length &amp;&amp; j &lt; n2.Length)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{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    if (n1[i] &lt;= n2[j])  merged[k++] = n1[i++];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    else                 merged[k++] = n2[j++];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}</a:t>
            </a:r>
          </a:p>
          <a:p>
            <a:r>
              <a:rPr sz="1400">
                <a:solidFill>
                  <a:srgbClr val="007000"/>
                </a:solidFill>
                <a:latin typeface="Courier New"/>
              </a:rPr>
              <a:t>// 2. Остатък от n1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while (i &lt; n1.Length)  merged[k++] = n1[i++];</a:t>
            </a:r>
          </a:p>
          <a:p>
            <a:r>
              <a:rPr sz="1400">
                <a:solidFill>
                  <a:srgbClr val="007000"/>
                </a:solidFill>
                <a:latin typeface="Courier New"/>
              </a:rPr>
              <a:t>// 3. Остатък от n2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while (j &lt; n2.Length)  merged[k++] = n2[j++];</a:t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400">
                <a:solidFill>
                  <a:srgbClr val="1A1A1A"/>
                </a:solidFill>
                <a:latin typeface="Courier New"/>
              </a:rPr>
              <a:t>Console.WriteLine(string.Join(" ", merged));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000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  Стандартни методи: Array.Find / FindAll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78992"/>
            <a:ext cx="5486400" cy="457200"/>
          </a:xfrm>
          <a:prstGeom prst="rect">
            <a:avLst/>
          </a:prstGeom>
          <a:solidFill>
            <a:srgbClr val="7B3000"/>
          </a:solidFill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  Клас Array — Методи за търсене с предикат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70C0"/>
                </a:solidFill>
              </a:rPr>
              <a:t>Find(arr, predicate)     →  първият елемент, отговарящ на условието (или 0)</a:t>
            </a:r>
          </a:p>
          <a:p>
            <a:r>
              <a:rPr sz="1800" b="0">
                <a:solidFill>
                  <a:srgbClr val="0070C0"/>
                </a:solidFill>
              </a:rPr>
              <a:t>FindLast(arr, predicate) →  последният съвпадащ елемент</a:t>
            </a:r>
          </a:p>
          <a:p>
            <a:r>
              <a:rPr sz="1800" b="0">
                <a:solidFill>
                  <a:srgbClr val="0070C0"/>
                </a:solidFill>
              </a:rPr>
              <a:t>FindAll(arr, predicate)  →  масив от ВСИЧКИ съвпадащи елементи</a:t>
            </a:r>
          </a:p>
          <a:p>
            <a:r>
              <a:rPr sz="1000" b="0">
                <a:solidFill>
                  <a:srgbClr val="1A1A1A"/>
                </a:solidFill>
              </a:rPr>
              <a:t/>
            </a:r>
          </a:p>
          <a:p>
            <a:r>
              <a:rPr sz="1900" b="0">
                <a:solidFill>
                  <a:srgbClr val="7B3000"/>
                </a:solidFill>
              </a:rPr>
              <a:t>Предикат = функция bool f(T x) — връща true/false за всеки елемент.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154680"/>
            <a:ext cx="11430000" cy="3017520"/>
          </a:xfrm>
          <a:prstGeom prst="rect">
            <a:avLst/>
          </a:prstGeom>
          <a:solidFill>
            <a:srgbClr val="EEEEEE"/>
          </a:solidFill>
        </p:spPr>
        <p:txBody>
          <a:bodyPr wrap="none">
            <a:spAutoFit/>
          </a:bodyPr>
          <a:lstStyle/>
          <a:p>
            <a:r>
              <a:rPr sz="1600">
                <a:solidFill>
                  <a:srgbClr val="1A1A1A"/>
                </a:solidFill>
                <a:latin typeface="Courier New"/>
              </a:rPr>
              <a:t>int[] numbers = Console.ReadLine().Split().Select(int.Parse).ToArray();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600">
                <a:solidFill>
                  <a:srgbClr val="007000"/>
                </a:solidFill>
                <a:latin typeface="Courier New"/>
              </a:rPr>
              <a:t>// Намери ПЪРВОТО четно число (с именован метод):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>int first = Array.</a:t>
            </a:r>
            <a:r>
              <a:rPr sz="1600">
                <a:solidFill>
                  <a:srgbClr val="0070C0"/>
                </a:solidFill>
                <a:latin typeface="Courier New"/>
              </a:rPr>
              <a:t>Find</a:t>
            </a:r>
            <a:r>
              <a:rPr sz="1600">
                <a:solidFill>
                  <a:srgbClr val="1A1A1A"/>
                </a:solidFill>
                <a:latin typeface="Courier New"/>
              </a:rPr>
              <a:t>(numbers, IsEven);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600">
                <a:solidFill>
                  <a:srgbClr val="007000"/>
                </a:solidFill>
                <a:latin typeface="Courier New"/>
              </a:rPr>
              <a:t>// Намери ВСИЧКИ четни числа (с ламбда):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>int[] evens = Array.</a:t>
            </a:r>
            <a:r>
              <a:rPr sz="1600">
                <a:solidFill>
                  <a:srgbClr val="0070C0"/>
                </a:solidFill>
                <a:latin typeface="Courier New"/>
              </a:rPr>
              <a:t>FindAll</a:t>
            </a:r>
            <a:r>
              <a:rPr sz="1600">
                <a:solidFill>
                  <a:srgbClr val="1A1A1A"/>
                </a:solidFill>
                <a:latin typeface="Courier New"/>
              </a:rPr>
              <a:t>(numbers, n =&gt; n % 2 == 0);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>Console.WriteLine(string.</a:t>
            </a:r>
            <a:r>
              <a:rPr sz="1600">
                <a:solidFill>
                  <a:srgbClr val="0070C0"/>
                </a:solidFill>
                <a:latin typeface="Courier New"/>
              </a:rPr>
              <a:t>Join</a:t>
            </a:r>
            <a:r>
              <a:rPr sz="1600">
                <a:solidFill>
                  <a:srgbClr val="1A1A1A"/>
                </a:solidFill>
                <a:latin typeface="Courier New"/>
              </a:rPr>
              <a:t>(" ", evens));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600">
                <a:solidFill>
                  <a:srgbClr val="007000"/>
                </a:solidFill>
                <a:latin typeface="Courier New"/>
              </a:rPr>
              <a:t>// Помощен метод-предикат: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>static bool IsEven(int n) =&gt; n % 2 == 0;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000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  Array.IndexOf и Array.BinarySearch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70C0"/>
                </a:solidFill>
                <a:latin typeface="Calibri"/>
              </a:rPr>
              <a:t>IndexOf(arr, val)       →  индексът на ПЪРВОТО срещане на val  (или -1)</a:t>
            </a:r>
          </a:p>
          <a:p>
            <a:r>
              <a:rPr sz="1800" b="0">
                <a:solidFill>
                  <a:srgbClr val="0070C0"/>
                </a:solidFill>
                <a:latin typeface="Calibri"/>
              </a:rPr>
              <a:t>LastIndexOf(arr, val)   →  индексът на ПОСЛЕДНОТО срещане</a:t>
            </a:r>
          </a:p>
          <a:p>
            <a:r>
              <a:rPr sz="1800" b="0">
                <a:solidFill>
                  <a:srgbClr val="0070C0"/>
                </a:solidFill>
                <a:latin typeface="Calibri"/>
              </a:rPr>
              <a:t>Array.BinarySearch(arr, val)  →  индекс при СОРТИРАН масив (или отрицателно число)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48840"/>
            <a:ext cx="11430000" cy="3840480"/>
          </a:xfrm>
          <a:prstGeom prst="rect">
            <a:avLst/>
          </a:prstGeom>
          <a:solidFill>
            <a:srgbClr val="EEEEEE"/>
          </a:solidFill>
        </p:spPr>
        <p:txBody>
          <a:bodyPr wrap="none">
            <a:spAutoFit/>
          </a:bodyPr>
          <a:lstStyle/>
          <a:p>
            <a:r>
              <a:rPr sz="1600">
                <a:solidFill>
                  <a:srgbClr val="007000"/>
                </a:solidFill>
                <a:latin typeface="Courier New"/>
              </a:rPr>
              <a:t>// IndexOf — работи с всякакъв масив: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>int[] arr   = { 2, 4, 6, 7, 8 };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>int idx = Array.</a:t>
            </a:r>
            <a:r>
              <a:rPr sz="1600">
                <a:solidFill>
                  <a:srgbClr val="0070C0"/>
                </a:solidFill>
                <a:latin typeface="Courier New"/>
              </a:rPr>
              <a:t>IndexOf</a:t>
            </a:r>
            <a:r>
              <a:rPr sz="1600">
                <a:solidFill>
                  <a:srgbClr val="1A1A1A"/>
                </a:solidFill>
                <a:latin typeface="Courier New"/>
              </a:rPr>
              <a:t>(arr, 5);  </a:t>
            </a:r>
            <a:r>
              <a:rPr sz="1600">
                <a:solidFill>
                  <a:srgbClr val="007000"/>
                </a:solidFill>
                <a:latin typeface="Courier New"/>
              </a:rPr>
              <a:t>// idx = -1 (не е намерен)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>int idx2 = Array.</a:t>
            </a:r>
            <a:r>
              <a:rPr sz="1600">
                <a:solidFill>
                  <a:srgbClr val="0070C0"/>
                </a:solidFill>
                <a:latin typeface="Courier New"/>
              </a:rPr>
              <a:t>IndexOf</a:t>
            </a:r>
            <a:r>
              <a:rPr sz="1600">
                <a:solidFill>
                  <a:srgbClr val="1A1A1A"/>
                </a:solidFill>
                <a:latin typeface="Courier New"/>
              </a:rPr>
              <a:t>(arr, 4); </a:t>
            </a:r>
            <a:r>
              <a:rPr sz="1600">
                <a:solidFill>
                  <a:srgbClr val="007000"/>
                </a:solidFill>
                <a:latin typeface="Courier New"/>
              </a:rPr>
              <a:t>// idx2 = 1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600">
                <a:solidFill>
                  <a:srgbClr val="007000"/>
                </a:solidFill>
                <a:latin typeface="Courier New"/>
              </a:rPr>
              <a:t>// BinarySearch — само за СОРТИРАН масив: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>int[] sorted = { 2, 4, 6, 7, 8 };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>int index = Array.</a:t>
            </a:r>
            <a:r>
              <a:rPr sz="1600">
                <a:solidFill>
                  <a:srgbClr val="0070C0"/>
                </a:solidFill>
                <a:latin typeface="Courier New"/>
              </a:rPr>
              <a:t>BinarySearch</a:t>
            </a:r>
            <a:r>
              <a:rPr sz="1600">
                <a:solidFill>
                  <a:srgbClr val="1A1A1A"/>
                </a:solidFill>
                <a:latin typeface="Courier New"/>
              </a:rPr>
              <a:t>(sorted, 5);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>Console.WriteLine(index);  </a:t>
            </a:r>
            <a:r>
              <a:rPr sz="1600">
                <a:solidFill>
                  <a:srgbClr val="007000"/>
                </a:solidFill>
                <a:latin typeface="Courier New"/>
              </a:rPr>
              <a:t>// отрицателно — не е намерен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600">
                <a:solidFill>
                  <a:srgbClr val="007000"/>
                </a:solidFill>
                <a:latin typeface="Courier New"/>
              </a:rPr>
              <a:t>// FindAll с ламбда — вместо именован метод:</a:t>
            </a:r>
          </a:p>
          <a:p>
            <a:r>
              <a:rPr sz="1600">
                <a:solidFill>
                  <a:srgbClr val="1A1A1A"/>
                </a:solidFill>
                <a:latin typeface="Courier New"/>
              </a:rPr>
              <a:t>int[] evens = Array.</a:t>
            </a:r>
            <a:r>
              <a:rPr sz="1600">
                <a:solidFill>
                  <a:srgbClr val="0070C0"/>
                </a:solidFill>
                <a:latin typeface="Courier New"/>
              </a:rPr>
              <a:t>FindAll</a:t>
            </a:r>
            <a:r>
              <a:rPr sz="1600">
                <a:solidFill>
                  <a:srgbClr val="1A1A1A"/>
                </a:solidFill>
                <a:latin typeface="Courier New"/>
              </a:rPr>
              <a:t>(arr, n =&gt; n % 2 == 0);  </a:t>
            </a:r>
            <a:r>
              <a:rPr sz="1600">
                <a:solidFill>
                  <a:srgbClr val="007000"/>
                </a:solidFill>
                <a:latin typeface="Courier New"/>
              </a:rPr>
              <a:t>// [2, 4, 6, 8]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000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  Въпроси и задачи  (1 –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A1A"/>
                </a:solidFill>
              </a:rPr>
              <a:t>1.  Прочетете числа в нарастващ ред и число k. Намерете k чрез двоично търсене.</a:t>
            </a:r>
          </a:p>
          <a:p>
            <a:r>
              <a:rPr sz="1600" b="0">
                <a:solidFill>
                  <a:srgbClr val="1A1A1A"/>
                </a:solidFill>
              </a:rPr>
              <a:t>     Изведете индекса му или -1 ако не е намерен.</a:t>
            </a:r>
          </a:p>
          <a:p>
            <a:r>
              <a:rPr sz="800" b="0">
                <a:solidFill>
                  <a:srgbClr val="1A1A1A"/>
                </a:solidFill>
              </a:rPr>
              <a:t/>
            </a:r>
          </a:p>
          <a:p>
            <a:r>
              <a:rPr sz="1800" b="0">
                <a:solidFill>
                  <a:srgbClr val="1A1A1A"/>
                </a:solidFill>
              </a:rPr>
              <a:t>2.  Прочетете числа и число k. Изведете всички числа ≥ k.</a:t>
            </a:r>
          </a:p>
          <a:p>
            <a:r>
              <a:rPr sz="1600" b="0">
                <a:solidFill>
                  <a:srgbClr val="1A1A1A"/>
                </a:solidFill>
              </a:rPr>
              <a:t>     Използвайте Array.FindAll с ламбда израз.</a:t>
            </a:r>
          </a:p>
          <a:p>
            <a:r>
              <a:rPr sz="800" b="0">
                <a:solidFill>
                  <a:srgbClr val="1A1A1A"/>
                </a:solidFill>
              </a:rPr>
              <a:t/>
            </a:r>
          </a:p>
          <a:p>
            <a:r>
              <a:rPr sz="1800" b="0">
                <a:solidFill>
                  <a:srgbClr val="1A1A1A"/>
                </a:solidFill>
              </a:rPr>
              <a:t>3.  Приложение „Намислих си число".</a:t>
            </a:r>
          </a:p>
          <a:p>
            <a:r>
              <a:rPr sz="1600" b="0">
                <a:solidFill>
                  <a:srgbClr val="1A1A1A"/>
                </a:solidFill>
              </a:rPr>
              <a:t>     Програмата изтегля случайно число 1–1000. Играчът въвежда опити.</a:t>
            </a:r>
          </a:p>
          <a:p>
            <a:r>
              <a:rPr sz="1600" b="0">
                <a:solidFill>
                  <a:srgbClr val="1A1A1A"/>
                </a:solidFill>
              </a:rPr>
              <a:t>     „Познахте!" (с брой опити) / „Нагоре" / „Надолу".</a:t>
            </a:r>
          </a:p>
          <a:p>
            <a:r>
              <a:rPr sz="1500" b="0">
                <a:solidFill>
                  <a:srgbClr val="4444AA"/>
                </a:solidFill>
              </a:rPr>
              <a:t>     По избор: конзолно или Windows Forms приложение.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000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  Въпроси и задачи  (4 –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A1A1A"/>
                </a:solidFill>
              </a:rPr>
              <a:t>4.  Прочетете числа в НЕНАМАЛЯВАЩ ред. Намерете НАЙ-ДЪЛГАТА „площадка" —</a:t>
            </a:r>
          </a:p>
          <a:p>
            <a:r>
              <a:rPr sz="1800" b="0">
                <a:solidFill>
                  <a:srgbClr val="1A1A1A"/>
                </a:solidFill>
              </a:rPr>
              <a:t>     поредица от равни числа. Изведете дължината и числото.</a:t>
            </a:r>
          </a:p>
          <a:p>
            <a:r>
              <a:rPr sz="1600" b="0">
                <a:solidFill>
                  <a:srgbClr val="7B3000"/>
                </a:solidFill>
              </a:rPr>
              <a:t>     Упътване: сравнявайте текущия с предходния; пазете текуща и максимална дължина.</a:t>
            </a:r>
          </a:p>
          <a:p>
            <a:r>
              <a:rPr sz="800" b="0">
                <a:solidFill>
                  <a:srgbClr val="1A1A1A"/>
                </a:solidFill>
              </a:rPr>
              <a:t/>
            </a:r>
          </a:p>
          <a:p>
            <a:r>
              <a:rPr sz="1700" b="0">
                <a:solidFill>
                  <a:srgbClr val="007000"/>
                </a:solidFill>
              </a:rPr>
              <a:t>     Пример:  5 5 5 7 7 9 9 9 9  →  4 (числото 9)</a:t>
            </a:r>
          </a:p>
          <a:p>
            <a:r>
              <a:rPr sz="800" b="0">
                <a:solidFill>
                  <a:srgbClr val="1A1A1A"/>
                </a:solidFill>
              </a:rPr>
              <a:t/>
            </a:r>
          </a:p>
          <a:p>
            <a:r>
              <a:rPr sz="1800" b="0">
                <a:solidFill>
                  <a:srgbClr val="1A1A1A"/>
                </a:solidFill>
              </a:rPr>
              <a:t>5.  Прочетете числа. Намерете числото, което се среща НАЙ-МНОГО ПЪТИ,</a:t>
            </a:r>
          </a:p>
          <a:p>
            <a:r>
              <a:rPr sz="1800" b="0">
                <a:solidFill>
                  <a:srgbClr val="1A1A1A"/>
                </a:solidFill>
              </a:rPr>
              <a:t>     и изведете колко пъти се среща.</a:t>
            </a:r>
          </a:p>
          <a:p>
            <a:r>
              <a:rPr sz="800" b="0">
                <a:solidFill>
                  <a:srgbClr val="1A1A1A"/>
                </a:solidFill>
              </a:rPr>
              <a:t/>
            </a:r>
          </a:p>
          <a:p>
            <a:r>
              <a:rPr sz="1700" b="0">
                <a:solidFill>
                  <a:srgbClr val="007000"/>
                </a:solidFill>
              </a:rPr>
              <a:t>     Пример:  3 3 1 3 5 1 1 3  →  3 се среща 4 пъти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000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  Решения: Задачи 4 и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3000"/>
                </a:solidFill>
                <a:latin typeface="Calibri"/>
              </a:rPr>
              <a:t>Задача 4 — Най-дълга площадка: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3000"/>
                </a:solidFill>
                <a:latin typeface="Calibri"/>
              </a:rPr>
              <a:t>Задача 5 — Най-честото число: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5486400" cy="4754880"/>
          </a:xfrm>
          <a:prstGeom prst="rect">
            <a:avLst/>
          </a:prstGeom>
          <a:solidFill>
            <a:srgbClr val="EEEEEE"/>
          </a:solidFill>
        </p:spPr>
        <p:txBody>
          <a:bodyPr wrap="none">
            <a:spAutoFit/>
          </a:bodyPr>
          <a:lstStyle/>
          <a:p>
            <a:r>
              <a:rPr sz="1300">
                <a:solidFill>
                  <a:srgbClr val="1A1A1A"/>
                </a:solidFill>
                <a:latin typeface="Courier New"/>
              </a:rPr>
              <a:t>int[] nums = Console.ReadLine()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.Split().Select(int.Parse).ToArray();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int curLen = 1, maxLen = 1;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int maxNum = nums[0];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for (int i = 1; i &lt; nums.Length; i++)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{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if (nums[i] == nums[i - 1])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    curLen++;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else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    curLen = 1;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if (curLen &gt; maxLen)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{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    maxLen = curLen;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    maxNum = nums[i];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}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}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Console.WriteLine($"{maxLen} {maxNum}");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463040"/>
            <a:ext cx="5486400" cy="4754880"/>
          </a:xfrm>
          <a:prstGeom prst="rect">
            <a:avLst/>
          </a:prstGeom>
          <a:solidFill>
            <a:srgbClr val="EEEEEE"/>
          </a:solidFill>
        </p:spPr>
        <p:txBody>
          <a:bodyPr wrap="none">
            <a:spAutoFit/>
          </a:bodyPr>
          <a:lstStyle/>
          <a:p>
            <a:r>
              <a:rPr sz="1300">
                <a:solidFill>
                  <a:srgbClr val="1A1A1A"/>
                </a:solidFill>
                <a:latin typeface="Courier New"/>
              </a:rPr>
              <a:t>int[] nums = Console.ReadLine()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.Split().Select(int.Parse).ToArray();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007000"/>
                </a:solidFill>
                <a:latin typeface="Courier New"/>
              </a:rPr>
              <a:t>// Вариант с Dictionary: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var freq = new Dictionary&lt;int,int&gt;();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foreach (var n in nums)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{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if (!freq.ContainsKey(n)) freq[n] = 0;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freq[n]++;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}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int maxCount = freq.Values.Max();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int maxVal   = freq.First(kv =&gt; kv.Value == maxCount).Key;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Console.WriteLine($"{maxVal} се среща {maxCount} пъти");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/>
            </a:r>
          </a:p>
          <a:p>
            <a:r>
              <a:rPr sz="1300">
                <a:solidFill>
                  <a:srgbClr val="007000"/>
                </a:solidFill>
                <a:latin typeface="Courier New"/>
              </a:rPr>
              <a:t>// Вариант с LINQ (1 ред):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var g = nums.GroupBy(x =&gt; x)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.OrderByDescending(g =&gt; g.Count())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    .First();</a:t>
            </a:r>
          </a:p>
          <a:p>
            <a:r>
              <a:rPr sz="1300">
                <a:solidFill>
                  <a:srgbClr val="1A1A1A"/>
                </a:solidFill>
                <a:latin typeface="Courier New"/>
              </a:rPr>
              <a:t>Console.WriteLine($"{g.Key}: {g.Count()} пъти");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05000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  Обобщение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30352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448" y="1051560"/>
            <a:ext cx="3200400" cy="475488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Алгоритъм / Метод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051560"/>
            <a:ext cx="2286000" cy="475488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Изисква сортиране?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96712" y="1051560"/>
            <a:ext cx="1645920" cy="475488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Сложност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0920" y="1051560"/>
            <a:ext cx="4572000" cy="475488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Употреба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" y="1527048"/>
            <a:ext cx="320040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Последователно търсене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527048"/>
            <a:ext cx="228600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НЕ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96712" y="1527048"/>
            <a:ext cx="164592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O(n)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1527048"/>
            <a:ext cx="457200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Всякакъв масив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" y="2002536"/>
            <a:ext cx="320040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Двоично търсене (ръчно)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002536"/>
            <a:ext cx="228600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ДА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96712" y="2002536"/>
            <a:ext cx="164592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O(log 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2002536"/>
            <a:ext cx="457200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Сортиран масив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" y="2478024"/>
            <a:ext cx="320040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Array.BinarySearch()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478024"/>
            <a:ext cx="228600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ДА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96712" y="2478024"/>
            <a:ext cx="164592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O(log 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2478024"/>
            <a:ext cx="457200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Сортиран масив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" y="2953512"/>
            <a:ext cx="320040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Array.IndexOf()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953512"/>
            <a:ext cx="228600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НЕ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96712" y="2953512"/>
            <a:ext cx="164592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O(n)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953512"/>
            <a:ext cx="457200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Намери индекс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" y="3429000"/>
            <a:ext cx="320040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Array.Find()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3280" y="3429000"/>
            <a:ext cx="228600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НЕ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96712" y="3429000"/>
            <a:ext cx="164592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O(n)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0920" y="3429000"/>
            <a:ext cx="457200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Намери елемент по предикат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" y="3904488"/>
            <a:ext cx="320040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Array.FindAll()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904488"/>
            <a:ext cx="228600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НЕ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96712" y="3904488"/>
            <a:ext cx="164592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O(n)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3904488"/>
            <a:ext cx="457200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Намери всички по предикат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" y="4379976"/>
            <a:ext cx="320040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Сливане (Merge)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4379976"/>
            <a:ext cx="228600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ДА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96712" y="4379976"/>
            <a:ext cx="164592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O(n)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0920" y="4379976"/>
            <a:ext cx="457200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A1A1A"/>
                </a:solidFill>
              </a:rPr>
              <a:t>Обединяване на масиви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