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ЗАГЛАВЕН СЛАЙД — Урок 10: Сортиране на масив</a:t>
            </a:r>
          </a:p>
          <a:p/>
          <a:p>
            <a:r>
              <a:t>Цел на урока:</a:t>
            </a:r>
          </a:p>
          <a:p>
            <a:r>
              <a:t>Учениците да разберат:</a:t>
            </a:r>
          </a:p>
          <a:p>
            <a:r>
              <a:t>1. Защо е нужно сортирането</a:t>
            </a:r>
          </a:p>
          <a:p>
            <a:r>
              <a:t>2. Как работят два основни алгоритъма: Bubble Sort и Selection Sort</a:t>
            </a:r>
          </a:p>
          <a:p>
            <a:r>
              <a:t>3. Как се сортират числа, низове и обекти в C#</a:t>
            </a:r>
          </a:p>
          <a:p>
            <a:r>
              <a:t>4. Как да използват вградения Array.Sort()</a:t>
            </a:r>
          </a:p>
          <a:p/>
          <a:p>
            <a:r>
              <a:t>Въвеждащ въпрос:</a:t>
            </a:r>
          </a:p>
          <a:p>
            <a:r>
              <a:t>"Представете си, че имате списък от 1000 ученика и трябва да намерите Иван Иванов. Ще е по-лесно ако списъкът е сортиран по азбучен ред, нали?"</a:t>
            </a:r>
          </a:p>
          <a:p>
            <a:r>
              <a:t>→ Ето затова сортирането е толкова важно!</a:t>
            </a:r>
          </a:p>
          <a:p/>
          <a:p>
            <a:r>
              <a:t>Предварителни знания, от които се нуждаят:</a:t>
            </a:r>
          </a:p>
          <a:p>
            <a:r>
              <a:t>- Деклариране и обхождане на масив</a:t>
            </a:r>
          </a:p>
          <a:p>
            <a:r>
              <a:t>- for и foreach цикли</a:t>
            </a:r>
          </a:p>
          <a:p>
            <a:r>
              <a:t>- if условия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КАКВО Е СОРТИРАНЕ?</a:t>
            </a:r>
          </a:p>
          <a:p/>
          <a:p>
            <a:r>
              <a:t>Обяснение за класа:</a:t>
            </a:r>
          </a:p>
          <a:p>
            <a:r>
              <a:t>Представете си, че имате карти с числа: 5, 2, 9, 7, 4, 1</a:t>
            </a:r>
          </a:p>
          <a:p>
            <a:r>
              <a:t>"Как бихте ги наредили от най-малкото към най-голямото?"</a:t>
            </a:r>
          </a:p>
          <a:p>
            <a:r>
              <a:t>→ Учениците интуитивно знаят как, но компютърът трябва да бъде НАУЧЕН!</a:t>
            </a:r>
          </a:p>
          <a:p/>
          <a:p>
            <a:r>
              <a:t>Важни термини:</a:t>
            </a:r>
          </a:p>
          <a:p>
            <a:r>
              <a:t>- Възходящ ред = нарастващ = ascending = от малко към голямо</a:t>
            </a:r>
          </a:p>
          <a:p>
            <a:r>
              <a:t>- Низходящ ред = намаляващ = descending = от голямо към малко</a:t>
            </a:r>
          </a:p>
          <a:p>
            <a:r>
              <a:t>- Лексикографски ред = азбучен ред (буква по буква)</a:t>
            </a:r>
          </a:p>
          <a:p/>
          <a:p>
            <a:r>
              <a:t>Пример за лексикографски ред:</a:t>
            </a:r>
          </a:p>
          <a:p>
            <a:r>
              <a:t>"apple" &lt; "banana" (защото 'a' &lt; 'b')</a:t>
            </a:r>
          </a:p>
          <a:p>
            <a:r>
              <a:t>"app" &lt; "apple" (по-късата дума е по-малка при еднакво начало)</a:t>
            </a:r>
          </a:p>
          <a:p/>
          <a:p>
            <a:r>
              <a:t>Реален пример: телефонен указател, списък с ученици, класация в игра.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ВИДОВЕ АЛГОРИТМИ ЗА СОРТИРАНЕ</a:t>
            </a:r>
          </a:p>
          <a:p/>
          <a:p>
            <a:r>
              <a:t>Обяснение на O(n²) и O(n log n) — просто!:</a:t>
            </a:r>
          </a:p>
          <a:p>
            <a:r>
              <a:t>"Ако имате 10 елемента:</a:t>
            </a:r>
          </a:p>
          <a:p>
            <a:r>
              <a:t>- Бавен алгоритъм: ~100 операции (10²)</a:t>
            </a:r>
          </a:p>
          <a:p>
            <a:r>
              <a:t>- Бърз алгоритъм: ~33 операции (10 × log₂10 ≈ 33)</a:t>
            </a:r>
          </a:p>
          <a:p/>
          <a:p>
            <a:r>
              <a:t>Ако имате 1 000 000 елемента:</a:t>
            </a:r>
          </a:p>
          <a:p>
            <a:r>
              <a:t>- Бавен: 1 000 000 000 000 операции (1 трилион!) → часове</a:t>
            </a:r>
          </a:p>
          <a:p>
            <a:r>
              <a:t>- Бърз: ~20 000 000 операции → секунди"</a:t>
            </a:r>
          </a:p>
          <a:p/>
          <a:p>
            <a:r>
              <a:t>В този урок учим бавните — те са по-лесни за разбиране!</a:t>
            </a:r>
          </a:p>
          <a:p>
            <a:r>
              <a:t>Бързите алгоритми са в по-напреднал курс.</a:t>
            </a:r>
          </a:p>
          <a:p/>
          <a:p>
            <a:r>
              <a:t>Визуализация: Покажете visualgo.net/en/sorting на проектора!</a:t>
            </a:r>
          </a:p>
          <a:p>
            <a:r>
              <a:t>- Изберете Bubble Sort и натиснете Sort</a:t>
            </a:r>
          </a:p>
          <a:p>
            <a:r>
              <a:t>- Учениците виждат анимация на алгоритъма</a:t>
            </a:r>
          </a:p>
          <a:p>
            <a:r>
              <a:t>- После сравнете с Quick Sort — видима разлика в скоростта!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BUBBLE SORT — ИДЕЯ И ВИЗУАЛИЗАЦИЯ</a:t>
            </a:r>
          </a:p>
          <a:p/>
          <a:p>
            <a:r>
              <a:t>Обяснение стъпка по стъпка:</a:t>
            </a:r>
          </a:p>
          <a:p>
            <a:r>
              <a:t>Покажете физически с карти на дъската!</a:t>
            </a:r>
          </a:p>
          <a:p>
            <a:r>
              <a:t>- Вземете 6 карти с числата 5, 2, 9, 7, 4, 1</a:t>
            </a:r>
          </a:p>
          <a:p>
            <a:r>
              <a:t>- Обходете ги двойка по двойка и разменяйте ако трябва</a:t>
            </a:r>
          </a:p>
          <a:p>
            <a:r>
              <a:t>- След 1 обход, 9 е на последно място</a:t>
            </a:r>
          </a:p>
          <a:p/>
          <a:p>
            <a:r>
              <a:t>Защо се казва "мехурче"?</a:t>
            </a:r>
          </a:p>
          <a:p>
            <a:r>
              <a:t>"Представете си, че всяко голямо число е мехурче — то се "издига" нагоре (към края на масива) с всеки обход, точно като мехурчета в газирана вода!"</a:t>
            </a:r>
          </a:p>
          <a:p/>
          <a:p>
            <a:r>
              <a:t>Колко обхода са нужни?</a:t>
            </a:r>
          </a:p>
          <a:p>
            <a:r>
              <a:t>- n-1 обхода за n елемента</a:t>
            </a:r>
          </a:p>
          <a:p>
            <a:r>
              <a:t>- При всеки следващ обход проверяваме с 1 елемент по-малко (последните са вече наредени)</a:t>
            </a:r>
          </a:p>
          <a:p>
            <a:r>
              <a:t>- Оптимизация: ако в даден обход няма размяна → масивът е вече сортиран!</a:t>
            </a:r>
          </a:p>
          <a:p/>
          <a:p>
            <a:r>
              <a:t>Важно за кода: Разменяме с ВРЕМЕННА ПРОМЕНЛИВА temp:</a:t>
            </a:r>
          </a:p>
          <a:p>
            <a:r>
              <a:t>int temp = a[j];     ← запомняме a[j]</a:t>
            </a:r>
          </a:p>
          <a:p>
            <a:r>
              <a:t>a[j] = a[j+1];      ← презаписваме a[j]</a:t>
            </a:r>
          </a:p>
          <a:p>
            <a:r>
              <a:t>a[j+1] = temp;      ← слагаме старото a[j] на новото място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BUBBLE SORT — КОД</a:t>
            </a:r>
          </a:p>
          <a:p/>
          <a:p>
            <a:r>
              <a:t>Обяснение на кода ред по ред:</a:t>
            </a:r>
          </a:p>
          <a:p/>
          <a:p>
            <a:r>
              <a:t>Външният цикъл: for (int i = 0; i &lt; numbers.Length - 1; i++)</a:t>
            </a:r>
          </a:p>
          <a:p>
            <a:r>
              <a:t>→ Брои обходите. Правим n-1 обхода.</a:t>
            </a:r>
          </a:p>
          <a:p/>
          <a:p>
            <a:r>
              <a:t>Вътрешният цикъл: for (int j = 0; j &lt; numbers.Length - 1 - i; j++)</a:t>
            </a:r>
          </a:p>
          <a:p>
            <a:r>
              <a:t>→ Обхожда двойките. Спира по-рано (- i) защото последните i елемента вече са наредени!</a:t>
            </a:r>
          </a:p>
          <a:p/>
          <a:p>
            <a:r>
              <a:t>Условието: if (numbers[j] &gt; numbers[j + 1])</a:t>
            </a:r>
          </a:p>
          <a:p>
            <a:r>
              <a:t>→ Ако текущият е ПО-ГОЛЯМ от следващия → трябва размяна</a:t>
            </a:r>
          </a:p>
          <a:p>
            <a:r>
              <a:t>→ За НАМАЛЯВАЩ ред: сменете &gt; с &lt;</a:t>
            </a:r>
          </a:p>
          <a:p/>
          <a:p>
            <a:r>
              <a:t>Размяната с temp — ЗАДЪЛЖИТЕЛНО!</a:t>
            </a:r>
          </a:p>
          <a:p>
            <a:r>
              <a:t>int temp = numbers[j];       // запомняме</a:t>
            </a:r>
          </a:p>
          <a:p>
            <a:r>
              <a:t>numbers[j] = numbers[j+1];  // презаписваме</a:t>
            </a:r>
          </a:p>
          <a:p>
            <a:r>
              <a:t>numbers[j+1] = temp;         // слагаме стария</a:t>
            </a:r>
          </a:p>
          <a:p/>
          <a:p>
            <a:r>
              <a:t>БЕЗ temp: numbers[j] = numbers[j+1]; → ГУБИМ стойността на numbers[j]!</a:t>
            </a:r>
          </a:p>
          <a:p/>
          <a:p>
            <a:r>
              <a:t>Main метода:</a:t>
            </a:r>
          </a:p>
          <a:p>
            <a:r>
              <a:t>.Split() → разделя входния ред по интервали</a:t>
            </a:r>
          </a:p>
          <a:p>
            <a:r>
              <a:t>.Select(int.Parse) → преобразува всяка дума в число</a:t>
            </a:r>
          </a:p>
          <a:p>
            <a:r>
              <a:t>.ToArray() → събира в масив</a:t>
            </a:r>
          </a:p>
          <a:p/>
          <a:p>
            <a:r>
              <a:t>Пример: вход "5 2 9 7 4 1" → изход "1 2 4 5 7 9"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SELECTION SORT — ИДЕЯ</a:t>
            </a:r>
          </a:p>
          <a:p/>
          <a:p>
            <a:r>
              <a:t>Разлика от Bubble Sort:</a:t>
            </a:r>
          </a:p>
          <a:p>
            <a:r>
              <a:t>- Bubble Sort: разменя СЪСЕДНИ елементи при всяка стъпка → много размени</a:t>
            </a:r>
          </a:p>
          <a:p>
            <a:r>
              <a:t>- Selection Sort: прави САМО ЕДНА размяна на обход (минималния на правилното място) → по-малко размени</a:t>
            </a:r>
          </a:p>
          <a:p/>
          <a:p>
            <a:r>
              <a:t>Обяснение стъпка по стъпка:</a:t>
            </a:r>
          </a:p>
          <a:p>
            <a:r>
              <a:t>Обход 1 (i=0): Намираме минималния от цял масив → 1 (на позиция 5)</a:t>
            </a:r>
          </a:p>
          <a:p>
            <a:r>
              <a:t>              Разменяме го с позиция 0: [1, 2, 9, 7, 4, 5]</a:t>
            </a:r>
          </a:p>
          <a:p/>
          <a:p>
            <a:r>
              <a:t>Обход 2 (i=1): Намираме минималния от позиция 1 нататък → 2 (вече е на позиция 1)</a:t>
            </a:r>
          </a:p>
          <a:p>
            <a:r>
              <a:t>              Не се налага размяна: [1, 2, 9, 7, 4, 5]</a:t>
            </a:r>
          </a:p>
          <a:p/>
          <a:p>
            <a:r>
              <a:t>И така нататък...</a:t>
            </a:r>
          </a:p>
          <a:p/>
          <a:p>
            <a:r>
              <a:t>Аналогия: "Представете си картите. Намирате най-малката, слагате я на първо място. После намирате следващата най-малка от останалите и я слагате на второ място. Повтаряте."</a:t>
            </a:r>
          </a:p>
          <a:p/>
          <a:p>
            <a:r>
              <a:t>Брой обходи: n-1 (точно като Bubble Sort)</a:t>
            </a:r>
          </a:p>
          <a:p>
            <a:r>
              <a:t>Брой размени: максимум n-1 (по-малко от Bubble Sort!)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SELECTION SORT — КОД</a:t>
            </a:r>
          </a:p>
          <a:p/>
          <a:p>
            <a:r>
              <a:t>Обяснение на кода:</a:t>
            </a:r>
          </a:p>
          <a:p/>
          <a:p>
            <a:r>
              <a:t>int min = numbers[i];</a:t>
            </a:r>
          </a:p>
          <a:p>
            <a:r>
              <a:t>int index = i;</a:t>
            </a:r>
          </a:p>
          <a:p>
            <a:r>
              <a:t>→ Приемаме, че ТЕКУЩИЯТ елемент е минималният.</a:t>
            </a:r>
          </a:p>
          <a:p>
            <a:r>
              <a:t>→ Запомняме и ИНДЕКСА му (нужен за размяната!)</a:t>
            </a:r>
          </a:p>
          <a:p/>
          <a:p>
            <a:r>
              <a:t>Вътрешният цикъл: for (int j = i + 1; ...)</a:t>
            </a:r>
          </a:p>
          <a:p>
            <a:r>
              <a:t>→ Търсим по-малък от i+1 нататък</a:t>
            </a:r>
          </a:p>
          <a:p>
            <a:r>
              <a:t>→ if (numbers[j] &lt; min) → намерихме по-малък → обновяваме min и index</a:t>
            </a:r>
          </a:p>
          <a:p/>
          <a:p>
            <a:r>
              <a:t>Размяната накрая:</a:t>
            </a:r>
          </a:p>
          <a:p>
            <a:r>
              <a:t>→ Разменяме numbers[i] с numbers[index] (минималния)</a:t>
            </a:r>
          </a:p>
          <a:p>
            <a:r>
              <a:t>→ Само ЕДНА размяна на обход!</a:t>
            </a:r>
          </a:p>
          <a:p/>
          <a:p>
            <a:r>
              <a:t>Честа грешка: Да разменим с numbers[min] вместо numbers[index]</a:t>
            </a:r>
          </a:p>
          <a:p>
            <a:r>
              <a:t>→ min е СТОЙНОСТТА, index е ПОЗИЦИЯТА!</a:t>
            </a:r>
          </a:p>
          <a:p/>
          <a:p>
            <a:r>
              <a:t>Сравнение Bubble vs Selection:</a:t>
            </a:r>
          </a:p>
          <a:p>
            <a:r>
              <a:t>Bubble Sort: много размени, лесен за разбиране</a:t>
            </a:r>
          </a:p>
          <a:p>
            <a:r>
              <a:t>Selection Sort: малко размени, малко по-сложен</a:t>
            </a:r>
          </a:p>
          <a:p>
            <a:r>
              <a:t>Двата имат еднаква сложност O(n²) — бавни за голям 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СОРТИРАНЕ НА НИЗОВЕ</a:t>
            </a:r>
          </a:p>
          <a:p/>
          <a:p>
            <a:r>
              <a:t>Защо не можем да използваме &gt; и &lt; за низове?</a:t>
            </a:r>
          </a:p>
          <a:p>
            <a:r>
              <a:t>В C# операторите &gt; и &lt; не са дефинирани за тип string.</a:t>
            </a:r>
          </a:p>
          <a:p>
            <a:r>
              <a:t>Ако напишем: if (words[j] &gt; words[j+1]) → ГРЕШКА при компилация!</a:t>
            </a:r>
          </a:p>
          <a:p/>
          <a:p>
            <a:r>
              <a:t>CompareTo() — как работи?</a:t>
            </a:r>
          </a:p>
          <a:p>
            <a:r>
              <a:t>"apple".CompareTo("banana") → връща отрицателно число (apple е преди banana азбучно)</a:t>
            </a:r>
          </a:p>
          <a:p>
            <a:r>
              <a:t>"banana".CompareTo("apple") → връща положително число</a:t>
            </a:r>
          </a:p>
          <a:p>
            <a:r>
              <a:t>"apple".CompareTo("apple") → връща 0</a:t>
            </a:r>
          </a:p>
          <a:p/>
          <a:p>
            <a:r>
              <a:t>Важно: CompareTo() е ЧУВСТВИТЕЛЕН към главни/малки букви!</a:t>
            </a:r>
          </a:p>
          <a:p>
            <a:r>
              <a:t>"Apple".CompareTo("apple") → може да даде неочакван резултат</a:t>
            </a:r>
          </a:p>
          <a:p>
            <a:r>
              <a:t>→ За сравнение без значение на главни: използвайте .ToLower() или StringComparison.OrdinalIgnoreCase</a:t>
            </a:r>
          </a:p>
          <a:p/>
          <a:p>
            <a:r>
              <a:t>Кодът е ИДЕНТИЧЕН с Bubble Sort за числа — само:</a:t>
            </a:r>
          </a:p>
          <a:p>
            <a:r>
              <a:t>- Типът е string вместо int</a:t>
            </a:r>
          </a:p>
          <a:p>
            <a:r>
              <a:t>- if условието е .CompareTo() &gt; 0 вместо &gt;</a:t>
            </a:r>
          </a:p>
          <a:p/>
          <a:p>
            <a:r>
              <a:t>Примерно обяснение:</a:t>
            </a:r>
          </a:p>
          <a:p>
            <a:r>
              <a:t>"Само едно нещо се сменя в кода — условието if!</a:t>
            </a:r>
          </a:p>
          <a:p>
            <a:r>
              <a:t>Вместо numbers[j] &gt; numbers[j+1] пишем words[j].CompareTo(words[j+1]) &gt;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СОРТИРАНЕ НА ОБЕКТИ</a:t>
            </a:r>
          </a:p>
          <a:p/>
          <a:p>
            <a:r>
              <a:t>Ключово разбиране:</a:t>
            </a:r>
          </a:p>
          <a:p>
            <a:r>
              <a:t>При сортиране на обекти:</a:t>
            </a:r>
          </a:p>
          <a:p>
            <a:r>
              <a:t>1. СРАВНЯВАМЕ по конкретно поле (критерий за сортиране)</a:t>
            </a:r>
          </a:p>
          <a:p>
            <a:r>
              <a:t>2. РАЗМЕНЯМЕ ЦЕЛИЯ ОБЕКТ (не само полето!)</a:t>
            </a:r>
          </a:p>
          <a:p/>
          <a:p>
            <a:r>
              <a:t>Пример за грешка:</a:t>
            </a:r>
          </a:p>
          <a:p>
            <a:r>
              <a:t>Ако разменим само grades:</a:t>
            </a:r>
          </a:p>
          <a:p>
            <a:r>
              <a:t>students[j].Grades = students[j+1].Grades; → ГРЕШКА! Обектите не се разместват, само едно поле се сменя!</a:t>
            </a:r>
          </a:p>
          <a:p/>
          <a:p>
            <a:r>
              <a:t>Правилно: Разменяме целия Student обект с временна променлива.</a:t>
            </a:r>
          </a:p>
          <a:p/>
          <a:p>
            <a:r>
              <a:t>Може да сортираме по РАЗЛИЧНИ критерии:</a:t>
            </a:r>
          </a:p>
          <a:p>
            <a:r>
              <a:t>- По успех (Grades) — примерът горе</a:t>
            </a:r>
          </a:p>
          <a:p>
            <a:r>
              <a:t>- По отсъствия (Absences)</a:t>
            </a:r>
          </a:p>
          <a:p>
            <a:r>
              <a:t>- По имена (Name) — с CompareTo()</a:t>
            </a:r>
          </a:p>
          <a:p>
            <a:r>
              <a:t>- По няколко критерия едновременно (по-сложно)</a:t>
            </a:r>
          </a:p>
          <a:p/>
          <a:p>
            <a:r>
              <a:t>ToString() метода:</a:t>
            </a:r>
          </a:p>
          <a:p>
            <a:r>
              <a:t>public override string ToString() → предефинираме ToString() за красив изход</a:t>
            </a:r>
          </a:p>
          <a:p>
            <a:r>
              <a:t>Console.WriteLine(student) → автоматично вика ToString()</a:t>
            </a:r>
          </a:p>
          <a:p>
            <a:r>
              <a:t>→ Резултат: "Иван Иванов - отс.:12.0, успех:5.20"</a:t>
            </a:r>
          </a:p>
          <a:p/>
          <a:p>
            <a:r>
              <a:t>Входни данни за задачата:</a:t>
            </a:r>
          </a:p>
          <a:p>
            <a:r>
              <a:t>Брой ученици: 3</a:t>
            </a:r>
          </a:p>
          <a:p>
            <a:r>
              <a:t>Иван Иванов → 12 → 5.2</a:t>
            </a:r>
          </a:p>
          <a:p>
            <a:r>
              <a:t>Петър Петров → 20 → 6</a:t>
            </a:r>
          </a:p>
          <a:p>
            <a:r>
              <a:t>Димитър Димитров → 10 → 4.8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ARRAY.SORT() — ВГРАДЕНИ МЕТОДИ</a:t>
            </a:r>
          </a:p>
          <a:p/>
          <a:p>
            <a:r>
              <a:t>Защо да учим Bubble и Selection Sort ако има Array.Sort()?</a:t>
            </a:r>
          </a:p>
          <a:p>
            <a:r>
              <a:t>"Array.Sort() е като калкулатор — полезен, но трябва да знаете как работи ръчното сортиране, за да разберете какво прави компютърът."</a:t>
            </a:r>
          </a:p>
          <a:p>
            <a:r>
              <a:t>→ На изпит може да се иска ръчно написан алгоритъм!</a:t>
            </a:r>
          </a:p>
          <a:p>
            <a:r>
              <a:t>→ В реалния код → Array.Sort()</a:t>
            </a:r>
          </a:p>
          <a:p/>
          <a:p>
            <a:r>
              <a:t>Array.Sort() използва вътрешно Quick Sort / Introsort — O(n log n)!</a:t>
            </a:r>
          </a:p>
          <a:p/>
          <a:p>
            <a:r>
              <a:t>За НАМАЛЯВАЩ ред:</a:t>
            </a:r>
          </a:p>
          <a:p>
            <a:r>
              <a:t>Двете стъпки: Array.Sort() + Array.Reverse()</a:t>
            </a:r>
          </a:p>
          <a:p>
            <a:r>
              <a:t>ВАЖНО: Array.Reverse() не сортира! То просто обръща реда на елементите.</a:t>
            </a:r>
          </a:p>
          <a:p>
            <a:r>
              <a:t>Затова ПЪРВО сортираме, ПОСЛЕ обръщаме.</a:t>
            </a:r>
          </a:p>
          <a:p/>
          <a:p>
            <a:r>
              <a:t>IComparable:</a:t>
            </a:r>
          </a:p>
          <a:p>
            <a:r>
              <a:t>За обекти Array.Sort() не знае по кое поле да сортира.</a:t>
            </a:r>
          </a:p>
          <a:p>
            <a:r>
              <a:t>Трябва да "кажем" на C# как да сравнява:</a:t>
            </a:r>
          </a:p>
          <a:p>
            <a:r>
              <a:t>→ Класът имплементира IComparable&lt;T&gt;</a:t>
            </a:r>
          </a:p>
          <a:p>
            <a:r>
              <a:t>→ Дефинираме метод CompareTo(), който казва кой е "по-малък"</a:t>
            </a:r>
          </a:p>
          <a:p>
            <a:r>
              <a:t>→ return 1: this е ПО-ГОЛЯМ от other (идва след него)</a:t>
            </a:r>
          </a:p>
          <a:p>
            <a:r>
              <a:t>→ return -1: this е ПО-МАЛЪК от other (идва преди него)</a:t>
            </a:r>
          </a:p>
          <a:p/>
          <a:p>
            <a:r>
              <a:t>За НАМАЛЯВАЩ по успех: if (Grades &lt; other.Grades) return 1 (по-малкият успех е "по-голям")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СРАВНЕНИЕ НА АЛГОРИТМИТЕ</a:t>
            </a:r>
          </a:p>
          <a:p/>
          <a:p>
            <a:r>
              <a:t>Ключови изводи за учениците:</a:t>
            </a:r>
          </a:p>
          <a:p>
            <a:r>
              <a:t>1. Bubble Sort и Selection Sort са УЧЕБНИ алгоритми — за разбиране на принципа</a:t>
            </a:r>
          </a:p>
          <a:p>
            <a:r>
              <a:t>2. В реален C# код → Array.Sort() (бърз, вграден, проверен)</a:t>
            </a:r>
          </a:p>
          <a:p>
            <a:r>
              <a:t>3. За изпит → може да се иска ръчно написан алгоритъм</a:t>
            </a:r>
          </a:p>
          <a:p/>
          <a:p>
            <a:r>
              <a:t>Кога Bubble Sort е по-добър от Selection Sort?</a:t>
            </a:r>
          </a:p>
          <a:p>
            <a:r>
              <a:t>Оптимизиран Bubble Sort (с флаг за размяна) може да спре РАНО ако масивът вече е сортиран → O(n) в най-добрия случай!</a:t>
            </a:r>
          </a:p>
          <a:p>
            <a:r>
              <a:t>Selection Sort винаги прави n-1 обхода → O(n²) дори за сортиран масив.</a:t>
            </a:r>
          </a:p>
          <a:p/>
          <a:p>
            <a:r>
              <a:t>Практически съвет:</a:t>
            </a:r>
          </a:p>
          <a:p>
            <a:r>
              <a:t>"За задачи в клас и изпити → пишете Bubble Sort или Selection Sort.</a:t>
            </a:r>
          </a:p>
          <a:p>
            <a:r>
              <a:t>За проекти и реален код → Array.Sort().</a:t>
            </a:r>
          </a:p>
          <a:p>
            <a:r>
              <a:t>Ако ви питат защо Array.Sort() е по-бързо → защото използва Quick Sort, а не O(n²) алгоритъм."</a:t>
            </a:r>
          </a:p>
          <a:p/>
          <a:p>
            <a:r>
              <a:t>Въпрос за дискусия: "Ако имате 10 студента → кой алгоритъм? Ако имате 1 000 000 студента → кой?"</a:t>
            </a:r>
          </a:p>
          <a:p>
            <a:r>
              <a:t>→ Малко: няма значение. Много: Array.Sort() задължително!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ЗА КЛАС</a:t>
            </a:r>
          </a:p>
          <a:p/>
          <a:p>
            <a:r>
              <a:t>Очаквано решение:</a:t>
            </a:r>
          </a:p>
          <a:p>
            <a:r>
              <a:t>double[] numbers = Console.ReadLine()</a:t>
            </a:r>
          </a:p>
          <a:p>
            <a:r>
              <a:t>    .Split()</a:t>
            </a:r>
          </a:p>
          <a:p>
            <a:r>
              <a:t>    .Select(double.Parse)</a:t>
            </a:r>
          </a:p>
          <a:p>
            <a:r>
              <a:t>    .ToArray();</a:t>
            </a:r>
          </a:p>
          <a:p/>
          <a:p>
            <a:r>
              <a:t>Array.Sort(numbers);</a:t>
            </a:r>
          </a:p>
          <a:p>
            <a:r>
              <a:t>Array.Reverse(numbers);</a:t>
            </a:r>
          </a:p>
          <a:p/>
          <a:p>
            <a:r>
              <a:t>Console.WriteLine($"{numbers[0]} {numbers[1]} {numbers[2]}");</a:t>
            </a:r>
          </a:p>
          <a:p/>
          <a:p>
            <a:r>
              <a:t>Или с Bubble Sort в намаляващ ред (&lt; вместо &gt;):</a:t>
            </a:r>
          </a:p>
          <a:p>
            <a:r>
              <a:t>for (int i = 0; i &lt; numbers.Length - 1; i++)</a:t>
            </a:r>
          </a:p>
          <a:p>
            <a:r>
              <a:t>    for (int j = 0; j &lt; numbers.Length - 1 - i; j++)</a:t>
            </a:r>
          </a:p>
          <a:p>
            <a:r>
              <a:t>        if (numbers[j] &lt; numbers[j + 1])  // ← намаляващ</a:t>
            </a:r>
          </a:p>
          <a:p>
            <a:r>
              <a:t>        { ... размяна ... }</a:t>
            </a:r>
          </a:p>
          <a:p/>
          <a:p>
            <a:r>
              <a:t>Console.WriteLine($"{numbers[0]} {numbers[1]} {numbers[2]}");</a:t>
            </a:r>
          </a:p>
          <a:p/>
          <a:p>
            <a:r>
              <a:t>Типични грешки:</a:t>
            </a:r>
          </a:p>
          <a:p>
            <a:r>
              <a:t>1. Забравят Array.Reverse() след Array.Sort()</a:t>
            </a:r>
          </a:p>
          <a:p>
            <a:r>
              <a:t>2. Пишат &gt; вместо &lt; за намаляващ Bubble Sort</a:t>
            </a:r>
          </a:p>
          <a:p>
            <a:r>
              <a:t>3. Четат double вместо int (или обратно)</a:t>
            </a:r>
          </a:p>
          <a:p/>
          <a:p>
            <a:r>
              <a:t>Разширение за бързите:</a:t>
            </a:r>
          </a:p>
          <a:p>
            <a:r>
              <a:t>"Какво ще стане ако масивът има по-малко от 3 елемента?"</a:t>
            </a:r>
          </a:p>
          <a:p>
            <a:r>
              <a:t>→ Трябва проверка: if (numbers.Length &gt;=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ОБОБЩЕНИЕ — ФИНАЛЕН СЛАЙД</a:t>
            </a:r>
          </a:p>
          <a:p/>
          <a:p>
            <a:r>
              <a:t>Въпроси за бърза проверка:</a:t>
            </a:r>
          </a:p>
          <a:p/>
          <a:p>
            <a:r>
              <a:t>1. "Кое число 'изплува' в края след 1 обход на Bubble Sort?"</a:t>
            </a:r>
          </a:p>
          <a:p>
            <a:r>
              <a:t>   → Най-голямото (при сортиране във възходящ ред)</a:t>
            </a:r>
          </a:p>
          <a:p/>
          <a:p>
            <a:r>
              <a:t>2. "Колко размени прави Selection Sort на обход?"</a:t>
            </a:r>
          </a:p>
          <a:p>
            <a:r>
              <a:t>   → Точно 1</a:t>
            </a:r>
          </a:p>
          <a:p/>
          <a:p>
            <a:r>
              <a:t>3. "Как сравняваме два низа в C#?"</a:t>
            </a:r>
          </a:p>
          <a:p>
            <a:r>
              <a:t>   → str1.CompareTo(str2)</a:t>
            </a:r>
          </a:p>
          <a:p/>
          <a:p>
            <a:r>
              <a:t>4. "Кой вграден метод ни сортира масив?"</a:t>
            </a:r>
          </a:p>
          <a:p>
            <a:r>
              <a:t>   → Array.Sort(масив)</a:t>
            </a:r>
          </a:p>
          <a:p/>
          <a:p>
            <a:r>
              <a:t>5. "Как да сортираме в намаляващ ред с вградени методи?"</a:t>
            </a:r>
          </a:p>
          <a:p>
            <a:r>
              <a:t>   → Array.Sort() + Array.Reverse()</a:t>
            </a:r>
          </a:p>
          <a:p/>
          <a:p>
            <a:r>
              <a:t>Домашна работа (по желание):</a:t>
            </a:r>
          </a:p>
          <a:p>
            <a:r>
              <a:t>- Задача 2 от учебника: най-голямото число от същите цифри</a:t>
            </a:r>
          </a:p>
          <a:p>
            <a:r>
              <a:t>- Посетете visualgo.net/en/sorting и разгледайте анимациите</a:t>
            </a:r>
          </a:p>
          <a:p>
            <a:r>
              <a:t>- Опитайте да напишете Insertion Sort (подсказка: как слагате карта в ръката си?)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9A3C"/>
                </a:solidFill>
              </a:rPr>
              <a:t>Модул 2  ·  Урок 10  ·  Едномерен масив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СОРТИРАНЕ НА МАСИВ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4572000" cy="6400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7889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400" b="0">
                <a:solidFill>
                  <a:srgbClr val="FFFFFF"/>
                </a:solidFill>
              </a:rPr>
              <a:t>▸  Алгоритми за сортиране</a:t>
            </a:r>
          </a:p>
          <a:p>
            <a:pPr>
              <a:spcBef>
                <a:spcPts val="1200"/>
              </a:spcBef>
            </a:pPr>
            <a:r>
              <a:rPr sz="2400" b="0">
                <a:solidFill>
                  <a:srgbClr val="FFFFFF"/>
                </a:solidFill>
              </a:rPr>
              <a:t>▸  Bubble Sort и Selection Sort</a:t>
            </a:r>
          </a:p>
          <a:p>
            <a:pPr>
              <a:spcBef>
                <a:spcPts val="1200"/>
              </a:spcBef>
            </a:pPr>
            <a:r>
              <a:rPr sz="2400" b="0">
                <a:solidFill>
                  <a:srgbClr val="FFFFFF"/>
                </a:solidFill>
              </a:rPr>
              <a:t>▸  Сортиране на низове и обекти</a:t>
            </a:r>
          </a:p>
          <a:p>
            <a:pPr>
              <a:spcBef>
                <a:spcPts val="1200"/>
              </a:spcBef>
            </a:pPr>
            <a:r>
              <a:rPr sz="2400" b="0">
                <a:solidFill>
                  <a:srgbClr val="FFFFFF"/>
                </a:solidFill>
              </a:rPr>
              <a:t>▸  Array.Sort() — вградени методи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72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08090"/>
                </a:solidFill>
              </a:rPr>
              <a:t>11Б клас  ·  C# програмиране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📋  Какво е сортиране на масив?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Подреждане на елементите по даден критерий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21440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  Сортирането на масив = подреждане на елементите му по даден критерий.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9A3C"/>
                </a:solidFill>
              </a:rPr>
              <a:t>  Най-честият критерий е стойността на елементите.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154680"/>
            <a:ext cx="539496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4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D64A1A"/>
                </a:solidFill>
              </a:rPr>
              <a:t>🔢  Числов масив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50292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200" b="0">
                <a:solidFill>
                  <a:srgbClr val="333333"/>
                </a:solidFill>
              </a:rPr>
              <a:t>▸  Възходящ (нарастващ) ред: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A5F9E"/>
                </a:solidFill>
              </a:rPr>
              <a:t>    1, 2, 3, 4, 5, 9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333333"/>
                </a:solidFill>
              </a:rPr>
              <a:t>▸  Низходящ (намаляващ) ред: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A5F9E"/>
                </a:solidFill>
              </a:rPr>
              <a:t>    9, 5, 4, 3, 2, 1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154680"/>
            <a:ext cx="585216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A5F9E"/>
                </a:solidFill>
              </a:rPr>
              <a:t>🔤  Масив от низове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94760"/>
            <a:ext cx="5486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200" b="0">
                <a:solidFill>
                  <a:srgbClr val="333333"/>
                </a:solidFill>
              </a:rPr>
              <a:t>▸  Лексикографски (азбучен) ред: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A5F9E"/>
                </a:solidFill>
              </a:rPr>
              <a:t>    "Ани", "Боби", "Мими"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333333"/>
                </a:solidFill>
              </a:rPr>
              <a:t>▸  По дължина на думата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333333"/>
                </a:solidFill>
              </a:rPr>
              <a:t>▸  По друг потребителски критерий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⚙️  Алгоритми за сортиране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Бавни и бързи методи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Всички алгоритми дават ЕДИН И СЪЩ резултат — разликата е в скоростта!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40280"/>
            <a:ext cx="54406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64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240280"/>
            <a:ext cx="5440680" cy="5303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134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  🐌  БАВНИ алгоритми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1206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2100" b="1">
                <a:solidFill>
                  <a:srgbClr val="D64A1A"/>
                </a:solidFill>
              </a:rPr>
              <a:t>Подходящи за малък брой елементи</a:t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>▸  Метод на мехурчето (Bubble Sort)</a:t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>▸  Метод на пряката селекция (Selection Sort)</a:t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>▸  Сортиране чрез вмъкване (Insertion Sort)</a:t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900"/>
              </a:spcBef>
            </a:pPr>
            <a:r>
              <a:rPr sz="2100" b="1">
                <a:solidFill>
                  <a:srgbClr val="D64A1A"/>
                </a:solidFill>
              </a:rPr>
              <a:t>Сложност:  O(n²)</a:t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>→ 100 елемента = 10 000 сравнения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240280"/>
            <a:ext cx="576072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2240280"/>
            <a:ext cx="5760720" cy="5303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3134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  🚀  БЪРЗИ алгоритми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834640"/>
            <a:ext cx="5486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2100" b="1">
                <a:solidFill>
                  <a:srgbClr val="1A5F9E"/>
                </a:solidFill>
              </a:rPr>
              <a:t>Ефективни при голям брой елементи</a:t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>▸  Бързо сортиране (Quick Sort)</a:t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>▸  Сортиране чрез сливане (Merge Sort)</a:t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>▸  Пирамидално (Heap Sort)</a:t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900"/>
              </a:spcBef>
            </a:pPr>
            <a:r>
              <a:rPr sz="2100" b="1">
                <a:solidFill>
                  <a:srgbClr val="1A5F9E"/>
                </a:solidFill>
              </a:rPr>
              <a:t>Сложност:  O(n log n)</a:t>
            </a:r>
          </a:p>
          <a:p>
            <a:pPr>
              <a:spcBef>
                <a:spcPts val="900"/>
              </a:spcBef>
            </a:pPr>
            <a:r>
              <a:rPr sz="2100" b="0">
                <a:solidFill>
                  <a:srgbClr val="333333"/>
                </a:solidFill>
              </a:rPr>
              <a:t>→ 100 елемента ≈ 664 сравнения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🫧  Метод на мехурчето (Bubble Sort)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Сравняваме съседни елементи и ги разменяме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A1A2E"/>
                </a:solidFill>
              </a:rPr>
              <a:t>Идея: Сравняваме два съседни елемента. Ако не са наредени — разменяме ги.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957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286000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3957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286000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3957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79" y="2286000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3957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286000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79" y="23957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286000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3957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3957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🔄  Сравняваме 5 и 2 → 5&gt;2 → разменяме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90672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3090672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090672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79" y="3090672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090672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79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3090672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3200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✓  Сравняваме 5 и 9 → 5&lt;9 → оставяме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95344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0050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08760" y="3895344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0" y="40050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3895344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40050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79" y="3895344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0" y="40050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3895344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79" y="40050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0" y="3895344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40050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68312" y="40050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🔄  Сравняваме 9 и 7 → 9&gt;7 → разменяме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700016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809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4700016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0" y="4809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4700016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80360" y="4809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11879" y="4700016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0" y="4809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4700016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83479" y="4809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15000" y="4700016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4809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8312" y="480974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🔄  Сравняваме 9 и 4 → 9&gt;4 → разменяме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504688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56144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08760" y="5504688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28800" y="56144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5504688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80360" y="56144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11879" y="5504688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31920" y="56144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5504688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79" y="56144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15000" y="5504688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35040" y="56144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68312" y="561441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🔄  Сравняваме 9 и 1 → 9&gt;1 → разменяме → 9 е на място! 🎯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64A1A"/>
                </a:solidFill>
              </a:rPr>
              <a:t>След 1 обход: най-голямото число "изплува" на последна позиция!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{ }  Bubble Sort — Код в C#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Реализация на метода на мехурчето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6858000" cy="4846320"/>
          </a:xfrm>
          <a:prstGeom prst="rect">
            <a:avLst/>
          </a:prstGeom>
          <a:solidFill>
            <a:srgbClr val="F0F0F8"/>
          </a:solidFill>
          <a:ln w="19050"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37360"/>
            <a:ext cx="652881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static void BubbleSort(int[] numbers)
{
    for (int i = 0; i &lt; numbers.Length - 1; i++)
    {
        for (int j = 0; j &lt; numbers.Length - 1 - i; j++)
        {
            if (numbers[j] &gt; numbers[j + 1])
            {
                int temp      = numbers[j];
                numbers[j]    = numbers[j + 1];
                numbers[j + 1] = temp;
            }
        }
    }
}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572000" cy="4846320"/>
          </a:xfrm>
          <a:prstGeom prst="rect">
            <a:avLst/>
          </a:prstGeom>
          <a:solidFill>
            <a:srgbClr val="F0F0F8"/>
          </a:solidFill>
          <a:ln w="19050"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25512" y="1737360"/>
            <a:ext cx="424281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static void Main(string[] args)
{
    int[] numbers = Console.ReadLine()
        .Split()
        .Select(int.Parse)
        .ToArray();
    BubbleSort(numbers);
    Console.WriteLine(
        string.Join(" ", numbers));
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🎯  Метод на пряката селекция (Selection Sort)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Намираме минималния елемент и го поставяме на място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Идея: При всеки обход намираме най-малкия елемент и го разменяме с текущата позиция.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1005839" cy="658368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500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19" y="2240280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3500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79" y="2240280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3500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39" y="2240280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79" y="23500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240280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3500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240280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3500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3500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▸  1 е минимален → разменяме с позиция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44952"/>
            <a:ext cx="1005839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1546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A44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19" y="3044952"/>
            <a:ext cx="1005839" cy="658368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31546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79" y="3044952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1546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39" y="3044952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79" y="31546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044952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31546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3044952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1546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3154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▸  2 е минимален (вече е на място)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849624"/>
            <a:ext cx="1005839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9593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A44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19" y="3849624"/>
            <a:ext cx="1005839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0" y="39593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A44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79" y="3849624"/>
            <a:ext cx="1005839" cy="658368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39593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39" y="3849624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79" y="39593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849624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39593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3849624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39593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6872" y="39593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▸  4 е минимален → разменяме с позиция 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654296"/>
            <a:ext cx="1005839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7640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A44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17319" y="4654296"/>
            <a:ext cx="1005839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7360" y="47640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A44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8879" y="4654296"/>
            <a:ext cx="1005839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88920" y="47640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A44"/>
                </a:solidFill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39" y="4654296"/>
            <a:ext cx="1005839" cy="658368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79" y="47640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4654296"/>
            <a:ext cx="1005839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47640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23560" y="4654296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0" y="47640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76872" y="476402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▸  5 е минимален → разменяме с позиция 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458968"/>
            <a:ext cx="1005839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556869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A44"/>
                </a:solidFill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17319" y="5458968"/>
            <a:ext cx="1005839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37360" y="556869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A44"/>
                </a:solidFill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68879" y="5458968"/>
            <a:ext cx="1005839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88920" y="556869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A44"/>
                </a:solidFill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20439" y="5458968"/>
            <a:ext cx="1005839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0479" y="556869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A44"/>
                </a:solidFill>
              </a:rP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5458968"/>
            <a:ext cx="1005839" cy="658368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92040" y="556869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23560" y="5458968"/>
            <a:ext cx="1005839" cy="658368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0" y="556869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76872" y="556869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▸  7 е минимален → разменяме с позиция 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6400800"/>
            <a:ext cx="914400" cy="329184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25880" y="6400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  текуща позиция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0" y="6400800"/>
            <a:ext cx="914400" cy="329184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32120" y="64008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  минимален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12480" y="6400800"/>
            <a:ext cx="914400" cy="32918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72600" y="640080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  готов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{ }  Selection Sort — Код в C#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Реализация на метода на пряката селекция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7589520" cy="5029200"/>
          </a:xfrm>
          <a:prstGeom prst="rect">
            <a:avLst/>
          </a:prstGeom>
          <a:solidFill>
            <a:srgbClr val="F0F0F8"/>
          </a:solidFill>
          <a:ln w="19050"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37360"/>
            <a:ext cx="72603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static void SelectionSort(int[] numbers)
{
    for (int i = 0; i &lt; numbers.Length - 1; i++)
    {
        int min   = numbers[i];   // приемаме текущия за минимален
        int index = i;            // запомняме индекса му
        for (int j = i + 1; j &lt; numbers.Length; j++)
        {
            if (numbers[j] &lt; min)   // намерихме по-малък?
            {
                min   = numbers[j]; // обновяваме минималния
                index = j;          // запомняме новия индекс
            }
        }
        // Разменяме минималния с текущата позиция
        int temp       = numbers[i];
        numbers[i]     = numbers[index];
        numbers[index] = temp;
    }
}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600200"/>
            <a:ext cx="37947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4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D64A1A"/>
                </a:solidFill>
              </a:rPr>
              <a:t>🔑  Ключови моменти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24028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▸  min и index запомват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    НАЙ-МАЛКИЯ елемент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    и неговия ИНДЕКС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▸  Вътрешният цикъл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    започва от i+1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    (не проверяваме вече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    наредените!)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▸  Размяна само веднъж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    на обход — с temp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▸  За НАМАЛЯВАЩ ред: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    min → max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333333"/>
                </a:solidFill>
              </a:rPr>
              <a:t>    &lt; → 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🔤  Сортиране на масив от низове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Не може &gt; или &lt; — използваме CompareTo()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Низовете не могат да се сравняват с &gt; или &lt;  !  Използваме метода CompareTo()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11521440" cy="1005840"/>
          </a:xfrm>
          <a:prstGeom prst="rect">
            <a:avLst/>
          </a:prstGeom>
          <a:solidFill>
            <a:srgbClr val="FFF0E0"/>
          </a:solidFill>
          <a:ln w="19050">
            <a:solidFill>
              <a:srgbClr val="D64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64A1A"/>
                </a:solidFill>
              </a:rPr>
              <a:t>  низ1.CompareTo(низ2)  връща: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007A36"/>
                </a:solidFill>
              </a:rPr>
              <a:t>  &lt; 0  →  низ1 е ПРЕДИ низ2 в азбучен ред  (напр. "apple".CompareTo("banana") &lt; 0)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A5F9E"/>
                </a:solidFill>
              </a:rPr>
              <a:t>  = 0  →  низовете са РАВНИ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B71C1C"/>
                </a:solidFill>
              </a:rPr>
              <a:t>  &gt; 0  →  низ1 е СЛЕД низ2 в азбучен ред   (напр. "lemon".CompareTo("apple") &gt; 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91840"/>
            <a:ext cx="8229600" cy="3337560"/>
          </a:xfrm>
          <a:prstGeom prst="rect">
            <a:avLst/>
          </a:prstGeom>
          <a:solidFill>
            <a:srgbClr val="F0F0F8"/>
          </a:solidFill>
          <a:ln w="19050"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429000"/>
            <a:ext cx="79004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// Задача: Въвеждаме текст от малки латински букви,
// извеждаме думите и дължините им в азбучен ред.
string[] words = Console.ReadLine().Split();
// Bubble Sort за низове — само if условието се сменя!
for (int i = 0; i &lt; words.Length - 1; i++)
{
    for (int j = 0; j &lt; words.Length - 1 - i; j++)
    {
        if (words[j].CompareTo(words[j + 1]) &gt; 0)  // ← разлика!
        {
            string temp   = words[j];
            words[j]      = words[j + 1];
            words[j + 1]  = temp;
        }
    }
}
foreach (var word in words)
{
    Console.WriteLine($"{word} - {word.Length}");
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3291840"/>
            <a:ext cx="315468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34015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5F9E"/>
                </a:solidFill>
              </a:rPr>
              <a:t>📥  Вход: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7947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banana lemon apple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64A1A"/>
                </a:solidFill>
              </a:rPr>
              <a:t>📤  Изход: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69087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apple - 5
banana - 6
lemon - 5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🎓  Сортиране на масив от обекти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Клас Student — сортиране по успех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7772400" cy="5029200"/>
          </a:xfrm>
          <a:prstGeom prst="rect">
            <a:avLst/>
          </a:prstGeom>
          <a:solidFill>
            <a:srgbClr val="F0F0F8"/>
          </a:solidFill>
          <a:ln w="19050"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37360"/>
            <a:ext cx="74432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class Student
{
    public string Name     { get; set; }
    public double Absences { get; set; }
    public double Grades   { get; set; }
    public override string ToString()
    {
        return $"{Name} - отс.:{Absences:F1}, успех:{Grades:F2}";
    }
}
// В Main — Bubble Sort по поле Grades (успех):
for (int i = 0; i &lt; n - 1; i++)
{
    for (int j = 0; j &lt; n - 1 - i; j++)
    {
        if (students[j].Grades &lt; students[j + 1].Grades) // ← намаляващ по успех
        {
            Student s       = students[j];
            students[j]     = students[j + 1];
            students[j + 1] = s;
        }
    }
}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600200"/>
            <a:ext cx="35661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4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64A1A"/>
                </a:solidFill>
              </a:rPr>
              <a:t>🔑  Ключова разлика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40280"/>
            <a:ext cx="3337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0">
                <a:solidFill>
                  <a:srgbClr val="333333"/>
                </a:solidFill>
              </a:rPr>
              <a:t>Сравняваме полето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33333"/>
                </a:solidFill>
              </a:rPr>
              <a:t>на обекта: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5F9E"/>
                </a:solidFill>
              </a:rPr>
              <a:t>students[j].Grades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33333"/>
                </a:solidFill>
              </a:rPr>
              <a:t>  вместо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5F9E"/>
                </a:solidFill>
              </a:rPr>
              <a:t>numbers[j]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33333"/>
                </a:solidFill>
              </a:rPr>
              <a:t>Разменяме ЦЕЛИЯ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33333"/>
                </a:solidFill>
              </a:rPr>
              <a:t>обект, не само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D64A1A"/>
                </a:solidFill>
              </a:rPr>
              <a:t>полето!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A5F00"/>
                </a:solidFill>
              </a:rPr>
              <a:t>Student s = students[j];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A5F00"/>
                </a:solidFill>
              </a:rPr>
              <a:t>students[j] = students[j+1];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A5F00"/>
                </a:solidFill>
              </a:rPr>
              <a:t>students[j+1] = 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⚡  Array.Sort() — Вградени методи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Бързо и лесно сортиране от стандартната библиотека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A1A2E"/>
                </a:solidFill>
              </a:rPr>
              <a:t>Не е нужно да пишем сами алгоритъма — C# има вградени методи!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76272"/>
            <a:ext cx="8686800" cy="4480560"/>
          </a:xfrm>
          <a:prstGeom prst="rect">
            <a:avLst/>
          </a:prstGeom>
          <a:solidFill>
            <a:srgbClr val="F0F0F8"/>
          </a:solidFill>
          <a:ln w="19050"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2313432"/>
            <a:ext cx="83576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// 1. Сортиране на числов масив (възходящ ред)
int[] numbers = Console.ReadLine().Split().Select(int.Parse).ToArray();
Array.Sort(numbers);
Console.WriteLine(string.Join(" ", numbers));
// 2. Сортиране в НАМАЛЯВАЩ ред
Array.Sort(numbers);
Array.Reverse(numbers);   // ← обръщаме след сортиране
// 3. Сортиране на масив от низове
string[] words = Console.ReadLine().Split();
Array.Sort(words);        // ← работи директно!
// 4. Сортиране на обекти — трябва IComparable!
// Класът трябва да имплементира CompareTo():
class Student : IComparable&lt;Student&gt;
{
    public int CompareTo(Student other)
    {
        if (Grades &lt; other.Grades) return  1;  // намаляващ
        if (Grades &gt; other.Grades) return -1;
        else                       return  0;
    }
}
// После:
Array.Sort(students);  // ← автоматично използва CompareTo()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2176272"/>
            <a:ext cx="265176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00032" y="23042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AA44"/>
                </a:solidFill>
              </a:rPr>
              <a:t>✅  Предимства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0032" y="2788920"/>
            <a:ext cx="2423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 b="0">
                <a:solidFill>
                  <a:srgbClr val="333333"/>
                </a:solidFill>
              </a:rPr>
              <a:t>▸  Бърз (Quick Sort)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333333"/>
                </a:solidFill>
              </a:rPr>
              <a:t>▸  Вграден в C#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333333"/>
                </a:solidFill>
              </a:rPr>
              <a:t>▸  Малко код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333333"/>
                </a:solidFill>
              </a:rPr>
              <a:t>▸  За числа и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333333"/>
                </a:solidFill>
              </a:rPr>
              <a:t>    низове — директно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D64A1A"/>
                </a:solidFill>
              </a:rPr>
              <a:t>⚠️  За обекти: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333333"/>
                </a:solidFill>
              </a:rPr>
              <a:t>Трябва да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333333"/>
                </a:solidFill>
              </a:rPr>
              <a:t>имплементираме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D64A1A"/>
                </a:solidFill>
              </a:rPr>
              <a:t>IComparable!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📊  Сравнение на алгоритмите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Кога да ползваме кой?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214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664208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664208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Bubble Sort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16642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Selection 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664208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Array.Sort()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2057400" cy="62179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2148840"/>
            <a:ext cx="1911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Сложност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057400"/>
            <a:ext cx="256032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2148840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O(n²)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057400"/>
            <a:ext cx="260604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2148840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O(n²)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2057400"/>
            <a:ext cx="406908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2" y="2148840"/>
            <a:ext cx="3922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O(n log 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79192"/>
            <a:ext cx="2057400" cy="62179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770632"/>
            <a:ext cx="1911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Брой размени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2679192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2032" y="2770632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Много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2679192"/>
            <a:ext cx="26060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2770632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Малко (n-1)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2679192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2770632"/>
            <a:ext cx="3922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Оптимален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00984"/>
            <a:ext cx="2057400" cy="62179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392424"/>
            <a:ext cx="1911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Лесен за разбиране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3300984"/>
            <a:ext cx="256032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42032" y="3392424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 Да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3300984"/>
            <a:ext cx="260604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3792" y="3392424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 Да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3300984"/>
            <a:ext cx="406908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1272" y="3392424"/>
            <a:ext cx="3922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 (само извикване)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22776"/>
            <a:ext cx="2057400" cy="62179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4014215"/>
            <a:ext cx="1911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За числа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3922776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2032" y="4014215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3922776"/>
            <a:ext cx="26060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3792" y="4014215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3922776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2" y="4014215"/>
            <a:ext cx="3922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 Array.Sort(a)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544568"/>
            <a:ext cx="2057400" cy="62179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4636008"/>
            <a:ext cx="1911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За низове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4544568"/>
            <a:ext cx="256032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42032" y="4636008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 с CompareTo()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4544568"/>
            <a:ext cx="260604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93792" y="4636008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 с CompareTo()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4544568"/>
            <a:ext cx="406908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91272" y="4636008"/>
            <a:ext cx="3922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 Array.Sort(a)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166360"/>
            <a:ext cx="2057400" cy="62179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" y="5257800"/>
            <a:ext cx="1911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За обекти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0" y="5166360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42032" y="5257800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 по поле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5166360"/>
            <a:ext cx="26060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93792" y="5257800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 по поле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18120" y="5166360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91272" y="5257800"/>
            <a:ext cx="3922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A44"/>
                </a:solidFill>
              </a:rPr>
              <a:t>✅ с IComparable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788152"/>
            <a:ext cx="2057400" cy="62179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192" y="5879592"/>
            <a:ext cx="1911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Кога да ползваме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68880" y="5788152"/>
            <a:ext cx="256032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42032" y="5879592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Учене, малки масиви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5788152"/>
            <a:ext cx="260604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93792" y="5879592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Учене, малки масиви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5788152"/>
            <a:ext cx="4069080" cy="62179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91272" y="5879592"/>
            <a:ext cx="3922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В реален код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✏️  Задача за решаване в клас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9A3C"/>
                </a:solidFill>
              </a:rPr>
              <a:t>Приложете наученото!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21440" cy="2240280"/>
          </a:xfrm>
          <a:prstGeom prst="rect">
            <a:avLst/>
          </a:prstGeom>
          <a:solidFill>
            <a:srgbClr val="FFF0E0"/>
          </a:solidFill>
          <a:ln w="19050">
            <a:solidFill>
              <a:srgbClr val="D64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64A1A"/>
                </a:solidFill>
              </a:rPr>
              <a:t>📋  Задача: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100" b="0">
                <a:solidFill>
                  <a:srgbClr val="1A1A2E"/>
                </a:solidFill>
              </a:rPr>
              <a:t>Напишете програма, която въвежда произволен брой реални числа, разделени с интервал,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D64A1A"/>
                </a:solidFill>
              </a:rPr>
              <a:t>и извежда ТРИТЕ НАЙ-ГОЛЕМИ числа в редицата.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77639"/>
            <a:ext cx="539496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0965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5F9E"/>
                </a:solidFill>
              </a:rPr>
              <a:t>💡  Подход: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53712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2000" b="0">
                <a:solidFill>
                  <a:srgbClr val="333333"/>
                </a:solidFill>
              </a:rPr>
              <a:t>1.  Въведи числата в масив double[]</a:t>
            </a:r>
          </a:p>
          <a:p>
            <a:pPr>
              <a:spcBef>
                <a:spcPts val="900"/>
              </a:spcBef>
            </a:pPr>
            <a:r>
              <a:rPr sz="2000" b="0">
                <a:solidFill>
                  <a:srgbClr val="333333"/>
                </a:solidFill>
              </a:rPr>
              <a:t>2.  Сортирай масива в НАМАЛЯВАЩ ред</a:t>
            </a:r>
          </a:p>
          <a:p>
            <a:pPr>
              <a:spcBef>
                <a:spcPts val="900"/>
              </a:spcBef>
            </a:pPr>
            <a:r>
              <a:rPr sz="2000" b="0">
                <a:solidFill>
                  <a:srgbClr val="333333"/>
                </a:solidFill>
              </a:rPr>
              <a:t>3.  Изведи a[0], a[1], a[2]</a:t>
            </a:r>
          </a:p>
          <a:p>
            <a:pPr>
              <a:spcBef>
                <a:spcPts val="900"/>
              </a:spcBef>
            </a:pPr>
            <a:r>
              <a:rPr sz="20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900"/>
              </a:spcBef>
            </a:pPr>
            <a:r>
              <a:rPr sz="2000" b="1">
                <a:solidFill>
                  <a:srgbClr val="1A5F9E"/>
                </a:solidFill>
              </a:rPr>
              <a:t>Hint: Array.Sort() + Array.Reverse()</a:t>
            </a:r>
          </a:p>
          <a:p>
            <a:pPr>
              <a:spcBef>
                <a:spcPts val="900"/>
              </a:spcBef>
            </a:pPr>
            <a:r>
              <a:rPr sz="2000" b="1">
                <a:solidFill>
                  <a:srgbClr val="1A5F9E"/>
                </a:solidFill>
              </a:rPr>
              <a:t>  или Bubble Sort с &lt; вместо 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977639"/>
            <a:ext cx="557784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0965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AA44"/>
                </a:solidFill>
              </a:rPr>
              <a:t>✅  Примерен вход/изход: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5537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</a:rPr>
              <a:t>Вход:   3.5  1.2  9.8  4.6  7.1  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074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AA44"/>
                </a:solidFill>
              </a:rPr>
              <a:t>Изход:  9.8  7.1 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5595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</a:rPr>
              <a:t>(трите най-големи, в намаляващ ред)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6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9A3C"/>
                </a:solidFill>
              </a:rPr>
              <a:t>📌  Обобщение — Урок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 🫧   Bubble Sort: сравняваме СЪСЕДНИ, разменяме при нужда — O(n²)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92808"/>
            <a:ext cx="1143000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 🎯   Selection Sort: намираме МИНИМАЛНИЯ, разменяме на правилна позиция — O(n²)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25496"/>
            <a:ext cx="1143000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16936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 🔤   Низове: не &gt; или &lt;, а  низ1.CompareTo(низ2) &gt;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58184"/>
            <a:ext cx="1143000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49624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 🎓   Обекти: сравняваме по ПОЛЕ, разменяме ЦЕЛИЯ обект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690872"/>
            <a:ext cx="1143000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8231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 ⚡   Array.Sort() — вграден, бърз (O(n log n)), за числа и низове директно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623559"/>
            <a:ext cx="1143000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714999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 🎓   За обекти с Array.Sort() → имплементираме IComparable&lt;T&gt;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08090"/>
                </a:solidFill>
              </a:rPr>
              <a:t>▶  Следващ урок: Двумерен масив (матрица)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