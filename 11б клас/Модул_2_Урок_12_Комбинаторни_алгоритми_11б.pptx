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011680"/>
            <a:ext cx="11155680" cy="2560320"/>
          </a:xfrm>
          <a:prstGeom prst="rect">
            <a:avLst/>
          </a:prstGeom>
          <a:solidFill>
            <a:srgbClr val="0D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6A10"/>
                </a:solidFill>
              </a:rPr>
              <a:t>ЕДНОМЕРЕН МАСИВ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Комбинаторни алгоритми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6E4F7"/>
                </a:solidFill>
              </a:rPr>
              <a:t>Урок 12 • Генериране на конфигурации в C#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B0D0"/>
                </a:solidFill>
              </a:rPr>
              <a:t>КОМБИНИРАН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11б клас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УРОК 12   |   ЕДНОМЕРЕН МАСИВ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Комбинаторни алгоритми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029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Комбинаторни конфигурации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459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</a:rPr>
              <a:t>Вие вече знаете какво е рекурсия, какво е едномерен масив и как се реализират програми. Познавате техники за работа с масив.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40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</a:rPr>
              <a:t>Предстои ви да научите как се използват мощните комбинаторни алгоритми.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88920"/>
            <a:ext cx="11338560" cy="3474720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80360"/>
            <a:ext cx="111099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75E"/>
                </a:solidFill>
              </a:rPr>
              <a:t>Основни понятия</a:t>
            </a:r>
          </a:p>
          <a:p>
            <a:pPr algn="l"/>
            <a:r>
              <a:rPr sz="1500" b="0" i="0">
                <a:solidFill>
                  <a:srgbClr val="1A375E"/>
                </a:solidFill>
              </a:rPr>
              <a:t>•  Комбинаторна конфигурация — група от елементи на дадено крайно множество по определени правила</a:t>
            </a:r>
          </a:p>
          <a:p>
            <a:pPr algn="l"/>
            <a:r>
              <a:rPr sz="1500" b="0" i="0">
                <a:solidFill>
                  <a:srgbClr val="1A375E"/>
                </a:solidFill>
              </a:rPr>
              <a:t>•  Конфигурация с повторение — елементите могат да се повтарят</a:t>
            </a:r>
          </a:p>
          <a:p>
            <a:pPr algn="l"/>
            <a:r>
              <a:rPr sz="1500" b="0" i="0">
                <a:solidFill>
                  <a:srgbClr val="1A375E"/>
                </a:solidFill>
              </a:rPr>
              <a:t>•  Конфигурация без повторение — без повтарящи се елементи</a:t>
            </a:r>
          </a:p>
          <a:p>
            <a:pPr algn="l"/>
            <a:r>
              <a:rPr sz="1500" b="0" i="0">
                <a:solidFill>
                  <a:srgbClr val="1A375E"/>
                </a:solidFill>
              </a:rPr>
              <a:t>•  Брой на елементите n — участващи в дадена конфигурация, техният клас k</a:t>
            </a:r>
          </a:p>
          <a:p>
            <a:pPr algn="l"/>
            <a:r>
              <a:rPr sz="1500" b="0" i="0">
                <a:solidFill>
                  <a:srgbClr val="1A375E"/>
                </a:solidFill>
              </a:rPr>
              <a:t>•  Наредба: реда на елементите е от значение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УРОК 12   |   ЕДНОМЕРЕН МАСИВ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Комбинаторни алгоритми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029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Пермутации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5394960" cy="2377440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5E"/>
                </a:solidFill>
              </a:rPr>
              <a:t>Пермутации БЕЗ повторение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75E"/>
                </a:solidFill>
              </a:rPr>
              <a:t>Наредена конфигурация от n елемента, в която всеки елемент се среща точно веднъж.
Брой: Pₙ = n!
Пример (n=3): {a,b,c} → 6 пермутации
abc, acb, bac, bca, cab, cba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00200"/>
            <a:ext cx="5394960" cy="2377440"/>
          </a:xfrm>
          <a:prstGeom prst="rect">
            <a:avLst/>
          </a:prstGeom>
          <a:solidFill>
            <a:srgbClr val="FFF0E0"/>
          </a:solidFill>
          <a:ln w="635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642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6A10"/>
                </a:solidFill>
              </a:rPr>
              <a:t>Пермутации С повторение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031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75E"/>
                </a:solidFill>
              </a:rPr>
              <a:t>Наредена конфигурация от n елемента, в която елементите от отделните класове се повтарят.
Брой: P(n₁,n₂,...,nₖ) = n! / (n₁! · n₂! · ... · nₖ!)
Пример: BANANA → 6!/(3!·2!·1!) = 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6052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6A10"/>
                </a:solidFill>
              </a:rPr>
              <a:t>Важно: Пермутациите са наредени конфигурации — редът е от значение!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УРОК 12   |   ЕДНОМЕРЕН МАСИВ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Комбинаторни алгоритми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029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Вариации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5394960" cy="2651760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5E"/>
                </a:solidFill>
              </a:rPr>
              <a:t>Вариации БЕЗ повторение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75E"/>
                </a:solidFill>
              </a:rPr>
              <a:t>Наредена k-елементна конфигурация от n елемента без повтарящи се елементи.
Брой: Vₙᵏ = n! / (n−k)!
Пример: n=4, k=2 → V₄² = 4!/2! = 12
{a,b,c,d}: ab, ac, ad, ba, bc, bd, 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00200"/>
            <a:ext cx="5394960" cy="2651760"/>
          </a:xfrm>
          <a:prstGeom prst="rect">
            <a:avLst/>
          </a:prstGeom>
          <a:solidFill>
            <a:srgbClr val="FFF0E0"/>
          </a:solidFill>
          <a:ln w="635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642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6A10"/>
                </a:solidFill>
              </a:rPr>
              <a:t>Вариации С повторение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0312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75E"/>
                </a:solidFill>
              </a:rPr>
              <a:t>Наредена k-елементна конфигурация от n елемента, в която елементите могат да се повтарят.
Брой: V̄ₙᵏ = nᵏ
Пример: n=2, k=3 → 2³ = 8
{0,1}: 000, 001, 010, 011, 100, 101, 110, 111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3484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</a:rPr>
              <a:t>Разлика: при вариациите броим наредени подмножества (k &lt; n обикновено), докато при пермутациите k = 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УРОК 12   |   ЕДНОМЕРЕН МАСИВ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Комбинаторни алгоритми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029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Комбинации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5394960" cy="2651760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5E"/>
                </a:solidFill>
              </a:rPr>
              <a:t>Комбинации БЕЗ повторение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75E"/>
                </a:solidFill>
              </a:rPr>
              <a:t>Ненаредена k-елементна конфигурация от n елемента без повтарящи се елементи.
Брой: Cₙᵏ = n! / (k! · (n−k)!)
Пример: n=4, k=2 → C₄² = 6
{a,b,c,d}: ab, ac, ad, bc, bd, cd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00200"/>
            <a:ext cx="5394960" cy="2651760"/>
          </a:xfrm>
          <a:prstGeom prst="rect">
            <a:avLst/>
          </a:prstGeom>
          <a:solidFill>
            <a:srgbClr val="FFF0E0"/>
          </a:solidFill>
          <a:ln w="635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642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6A10"/>
                </a:solidFill>
              </a:rPr>
              <a:t>Комбинации С повторение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0312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75E"/>
                </a:solidFill>
              </a:rPr>
              <a:t>Ненаредена k-елементна конфигурация от n елемента, в която елементите могат да се повтарят.
Брой: C̄ₙᵏ = (n+k−1)! / (k! · (n−1)!)
Пример: n=4, k=2 → C̄₄² = 10
{a,b,c,d}: aa, ab, ac, ad, bb, bc, bd, cc, cd, 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348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</a:rPr>
              <a:t>Ключова разлика: при комбинациите редът НЕ е от значение (за разлика от вариациите).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УРОК 12   |   ЕДНОМЕРЕН МАСИВ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Комбинаторни алгоритми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029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Сравнение на конфигурациите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645920"/>
            <a:ext cx="3474720" cy="475488"/>
          </a:xfrm>
          <a:prstGeom prst="rect">
            <a:avLst/>
          </a:prstGeom>
          <a:solidFill>
            <a:srgbClr val="1A375E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682496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Конфигурация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1645920"/>
            <a:ext cx="1371600" cy="475488"/>
          </a:xfrm>
          <a:prstGeom prst="rect">
            <a:avLst/>
          </a:prstGeom>
          <a:solidFill>
            <a:srgbClr val="1A375E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682496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Ред важен?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645920"/>
            <a:ext cx="1463040" cy="475488"/>
          </a:xfrm>
          <a:prstGeom prst="rect">
            <a:avLst/>
          </a:prstGeom>
          <a:solidFill>
            <a:srgbClr val="1A375E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59" y="1682496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Повторение?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645920"/>
            <a:ext cx="3200400" cy="475488"/>
          </a:xfrm>
          <a:prstGeom prst="rect">
            <a:avLst/>
          </a:prstGeom>
          <a:solidFill>
            <a:srgbClr val="1A375E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682496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Формула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84080" y="1645920"/>
            <a:ext cx="2286000" cy="475488"/>
          </a:xfrm>
          <a:prstGeom prst="rect">
            <a:avLst/>
          </a:prstGeom>
          <a:solidFill>
            <a:srgbClr val="1A375E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9800" y="168249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Пример (n=4,k=2)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121408"/>
            <a:ext cx="3474720" cy="475488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157984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Пермутация (без повт.)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121408"/>
            <a:ext cx="1371600" cy="475488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39" y="2157984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Да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2121408"/>
            <a:ext cx="1463040" cy="475488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59" y="215798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Не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121408"/>
            <a:ext cx="3200400" cy="475488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2157984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Pₙ = n!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0" y="2121408"/>
            <a:ext cx="2286000" cy="475488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215798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24 (n=4)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2596896"/>
            <a:ext cx="3474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2633472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Пермутация (с повт.)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03320" y="2596896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39" y="2633472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Да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0" y="2596896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66359" y="263347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Да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2596896"/>
            <a:ext cx="3200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2633472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P = n!/(n₁!·n₂!...)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84080" y="2596896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9800" y="263347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3072384"/>
            <a:ext cx="3474720" cy="475488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3108960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Вариация (без повт.)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03320" y="3072384"/>
            <a:ext cx="1371600" cy="475488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39" y="3108960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Да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3072384"/>
            <a:ext cx="1463040" cy="475488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66359" y="3108960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Не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072384"/>
            <a:ext cx="3200400" cy="475488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9400" y="3108960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Vₙᵏ = n!/(n−k)!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84080" y="3072384"/>
            <a:ext cx="2286000" cy="475488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29800" y="3108960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3547872"/>
            <a:ext cx="3474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3584448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Вариация (с повт.)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03320" y="3547872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49039" y="358444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Да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3547872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66359" y="3584448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Да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3547872"/>
            <a:ext cx="3200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29400" y="3584448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V̄ₙᵏ = nᵏ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784080" y="3547872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29800" y="358444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16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" y="4023360"/>
            <a:ext cx="3474720" cy="475488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4059936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Комбинация (без повт.)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03320" y="4023360"/>
            <a:ext cx="1371600" cy="475488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49039" y="4059936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Не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20640" y="4023360"/>
            <a:ext cx="1463040" cy="475488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66359" y="4059936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Не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83680" y="4023360"/>
            <a:ext cx="3200400" cy="475488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29400" y="4059936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Cₙᵏ = n!/(k!(n−k)!)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784080" y="4023360"/>
            <a:ext cx="2286000" cy="475488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29800" y="405993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8600" y="4498848"/>
            <a:ext cx="3474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4320" y="4535424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Комбинация (с повт.)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03320" y="4498848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49039" y="4535424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Не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20640" y="4498848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166359" y="453542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Да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83680" y="4498848"/>
            <a:ext cx="3200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29400" y="4535424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C̄ₙᵏ = (n+k−1)!/(k!(n−1)!)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784080" y="4498848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829800" y="453542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75E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УРОК 12   |   ЕДНОМЕРЕН МАСИВ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Комбинаторни алгоритми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029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Генериране на пермутации без повторение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5E"/>
                </a:solidFill>
              </a:rPr>
              <a:t>Рекурсивен алгоритъм: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5486400" cy="3474720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52578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75E"/>
                </a:solidFill>
              </a:rPr>
              <a:t>Идея на алгоритъма</a:t>
            </a:r>
          </a:p>
          <a:p>
            <a:pPr algn="l"/>
            <a:r>
              <a:rPr sz="1400" b="0" i="0">
                <a:solidFill>
                  <a:srgbClr val="1A375E"/>
                </a:solidFill>
              </a:rPr>
              <a:t>•  Поставяме всеки елемент на позиция k</a:t>
            </a:r>
          </a:p>
          <a:p>
            <a:pPr algn="l"/>
            <a:r>
              <a:rPr sz="1400" b="0" i="0">
                <a:solidFill>
                  <a:srgbClr val="1A375E"/>
                </a:solidFill>
              </a:rPr>
              <a:t>•  Маркираме елемента като 'използван'</a:t>
            </a:r>
          </a:p>
          <a:p>
            <a:pPr algn="l"/>
            <a:r>
              <a:rPr sz="1400" b="0" i="0">
                <a:solidFill>
                  <a:srgbClr val="1A375E"/>
                </a:solidFill>
              </a:rPr>
              <a:t>•  Рекурсивно генерираме следващата позиция</a:t>
            </a:r>
          </a:p>
          <a:p>
            <a:pPr algn="l"/>
            <a:r>
              <a:rPr sz="1400" b="0" i="0">
                <a:solidFill>
                  <a:srgbClr val="1A375E"/>
                </a:solidFill>
              </a:rPr>
              <a:t>•  Размаркираме елемента след рекурсията</a:t>
            </a:r>
          </a:p>
          <a:p>
            <a:pPr algn="l"/>
            <a:r>
              <a:rPr sz="1400" b="0" i="0">
                <a:solidFill>
                  <a:srgbClr val="1A375E"/>
                </a:solidFill>
              </a:rPr>
              <a:t>•  Базов случай: k == n → извеждаме пермутацията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600200"/>
            <a:ext cx="5852160" cy="4023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9" y="1691640"/>
            <a:ext cx="56692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void Generate(int k)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if (k &gt;= n) { Print(); return; 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for (int pos = 0; pos &lt; n; pos++)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if (!used[pos])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    used[pos] = true;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    позиция[k] = elements[pos];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    Generate(k + 1);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    used[pos] = false;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6692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</a:rPr>
              <a:t>Сложност: O(n!) — всички n! пермутации се генерират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УРОК 12   |   ЕДНОМЕРЕН МАСИВ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Комбинаторни алгоритми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029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C# код — пермутации без повторение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1143000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11247120" cy="4937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int n;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string[] elements = new string[100];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string[] seq       = new string[100];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bool[]   used      = new bool[100];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int      count     = 0;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void Print()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Console.WriteLine(string.Join(" ", seq));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count++;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void Generate(int k)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if (k &gt;= n) { Print(); return; 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for (int pos = 0; pos &lt; n; pos++)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if (!used[pos])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    used[pos] = true;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    seq[k] = elements[pos];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    Generate(k + 1);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    used[pos] = false;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void Main(string[] args)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n = int.Parse(Console.ReadLine());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string s = Console.ReadLine();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elements = s.Split(' ');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Generate(0);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Console.WriteLine("Count: " + count.ToString());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УРОК 12   |   ЕДНОМЕРЕН МАСИВ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Комбинаторни алгоритми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029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Генериране на вариации без повторение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75E"/>
                </a:solidFill>
              </a:rPr>
              <a:t>Разлика от пермутациите: генерираме само k-елементни наредени конфигурации (k ≤ n).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6858000" cy="44805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66751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int n, k;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string[] elements = new string[100];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string[] seq       = new string[100];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bool[]   used      = new bool[100];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int      count     = 0;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void Generate(int index)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if (index &gt;= k) { Print(); return; 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for (int i = 0; i &lt; n; i++)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if (!used[i])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    used[i] = true;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    seq[index] = elements[i];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    Generate(index + 1);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    used[i] = false;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// В Main: четем n и k от конзолата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148840"/>
            <a:ext cx="4572000" cy="4480560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2240280"/>
            <a:ext cx="43434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75E"/>
                </a:solidFill>
              </a:rPr>
              <a:t>Ключови моменти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Спираме при index == k (не n)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Маркираме/размаркираме елементи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Всеки елемент може да се използва само веднъж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Брой резултати: Vₙᵏ = n!/(n−k)!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При n=4, k=2 → 12 вариации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УРОК 12   |   ЕДНОМЕРЕН МАСИВ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Комбинаторни алгоритми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029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Генериране на вариации с повторение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75E"/>
                </a:solidFill>
              </a:rPr>
              <a:t>Елементите може да се повтарят — не използваме масив used[].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6858000" cy="44805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66751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int n, k;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string[] elements = new string[100];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string[] seq       = new string[100];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int      count     = 0;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void Generate(int index)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if (index &gt;= k) { Print(); return; 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for (int i = 0; i &lt; n; i++)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seq[index] = elements[i];  // без проверка за used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Generate(index + 1);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void Main(string[] args)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n = int.Parse(Console.ReadLine());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k = int.Parse(Console.ReadLine());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string s = Console.ReadLine();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elements = s.Split(' ');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Generate(0);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Console.WriteLine("Count: " + count.ToString());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148840"/>
            <a:ext cx="4572000" cy="4480560"/>
          </a:xfrm>
          <a:prstGeom prst="rect">
            <a:avLst/>
          </a:prstGeom>
          <a:solidFill>
            <a:srgbClr val="FFF0E0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2240280"/>
            <a:ext cx="43434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75E"/>
                </a:solidFill>
              </a:rPr>
              <a:t>Сравнение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БЕЗ повт.: if (!used[i]) + used[i]=true/false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С повт.: директно seq[index]=elements[i]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Брой: nᵏ (вместо n!/(n-k)!)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При n=2, k=3 → 8 вариации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Пример: {0,1} → всички 3-битови числа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УРОК 12   |   ЕДНОМЕРЕН МАСИВ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Комбинаторни алгоритми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029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Генериране на комбинации без повторение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75E"/>
                </a:solidFill>
              </a:rPr>
              <a:t>Редът НЕ е от значение → всеки елемент след предишния (параметър start).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6858000" cy="42062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6675120" cy="4023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int n, k;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string[] elements = new string[100];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string[] seq       = new string[100];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int      count     = 0;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void Generate(int index, int start)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if (index &gt;= k) { Print(); return; 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if (start &gt;= n) return;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for (int i = start; i &lt; n; i++)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seq[index] = elements[i];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Generate(index + 1, i + 1);  // следващ елемент е i+1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// В Main: Generate(0, 0);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148840"/>
            <a:ext cx="4572000" cy="4206240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2240280"/>
            <a:ext cx="4343400" cy="4069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75E"/>
                </a:solidFill>
              </a:rPr>
              <a:t>Алгоритъм — идея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Параметърът start определя от кой индекс стартираме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Всеки следващ елемент е с по-голям индекс → без повторения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Лексикографски наредени резултати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Брой: Cₙᵏ = n!/(k!·(n-k)!)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При n=4, k=2 → 6 комбинации: ab ac ad bc bd cd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УРОК 12   |   ЕДНОМЕРЕН МАСИВ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Комбинаторни алгоритми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029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Генериране на комбинации с повторение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75E"/>
                </a:solidFill>
              </a:rPr>
              <a:t>Елементите могат да се повтарят → рекурсията стартира от i (не i+1).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6858000" cy="2926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66751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void Generate(int index, int start)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if (index &gt;= k) { Print(); return; 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if (start &gt;= n) return;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for (int i = start; i &lt; n; i++)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seq[index] = elements[i];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Generate(index + 1, i);  // i вместо i+1 → позволяваме повторение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166360"/>
            <a:ext cx="6858000" cy="1097280"/>
          </a:xfrm>
          <a:prstGeom prst="rect">
            <a:avLst/>
          </a:prstGeom>
          <a:solidFill>
            <a:srgbClr val="FFF0E0"/>
          </a:solidFill>
          <a:ln w="635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230368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5E"/>
                </a:solidFill>
              </a:rPr>
              <a:t>Разлика: Generate(index+1, i) вместо Generate(index+1, i+1)
→ текущият елемент може да се използва отново на следващата позиция.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148840"/>
            <a:ext cx="4572000" cy="4114800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2240280"/>
            <a:ext cx="4343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75E"/>
                </a:solidFill>
              </a:rPr>
              <a:t>Сравнение без/с повт.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БЕЗ повт.: Generate(index+1, i+1)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С повт.:   Generate(index+1, i)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Брой без: Cₙᵏ = n!/(k!·(n-k)!)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Брой с:   C̄ₙᵏ = (n+k-1)!/(k!·(n-1)!)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При n=4, k=2: без=6, с=10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УРОК 12   |   ЕДНОМЕРЕН МАСИВ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Комбинаторни алгоритми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029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Въпроси и задачи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A10"/>
                </a:solidFill>
              </a:rPr>
              <a:t>Важно е да разбирате в кой ред са елементите и дали се повтарят!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0312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A10"/>
                </a:solidFill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5E"/>
                </a:solidFill>
              </a:rPr>
              <a:t>Разпознайте комбинаторните конфигурации в правилата на следните игри:
     Буква: M, A, T, E, M, A, T, I, K, A — Намерете всички различни пермутации с повторение.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16352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A10"/>
                </a:solidFill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1635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5E"/>
                </a:solidFill>
              </a:rPr>
              <a:t>Създайте конзолно приложение, което да отпечатва всички вариации без
     повторение от буквите {А, Б, В, Г} по 3 от тях. Колко са?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29584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A10"/>
                </a:solidFill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29584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5E"/>
                </a:solidFill>
              </a:rPr>
              <a:t>Разгледайте следния граф (дърво). Определете от коя стойност на k
     всеки елемент се поставя на дадено ниво от рекурсията.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42816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A10"/>
                </a:solidFill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42816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5E"/>
                </a:solidFill>
              </a:rPr>
              <a:t>Известно е, че на един шкаф има 4 различни книги. По колко начина
     можем да наредим книгите в различен ред?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956048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A10"/>
                </a:solidFill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56048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5E"/>
                </a:solidFill>
              </a:rPr>
              <a:t>Създайте конзолно приложение за генериране на комбинации с повторение
     от n елемента по k. Тествайте с n=3, k=2.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