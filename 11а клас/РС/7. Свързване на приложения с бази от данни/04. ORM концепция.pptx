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0"/>
  </p:notesMasterIdLst>
  <p:sldIdLst>
    <p:sldId id="258" r:id="rId2"/>
    <p:sldId id="571" r:id="rId3"/>
    <p:sldId id="632" r:id="rId4"/>
    <p:sldId id="633" r:id="rId5"/>
    <p:sldId id="634" r:id="rId6"/>
    <p:sldId id="635" r:id="rId7"/>
    <p:sldId id="636" r:id="rId8"/>
    <p:sldId id="63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  <p14:sldId id="571"/>
          </p14:sldIdLst>
        </p14:section>
        <p14:section name="Съдържание" id="{0B0C01F3-1F60-4ADB-AC1E-9589654EAEF3}">
          <p14:sldIdLst>
            <p14:sldId id="632"/>
            <p14:sldId id="633"/>
            <p14:sldId id="634"/>
            <p14:sldId id="635"/>
          </p14:sldIdLst>
        </p14:section>
        <p14:section name="Заключение" id="{9315BEE7-605C-4839-996A-A4EEA70921D9}">
          <p14:sldIdLst>
            <p14:sldId id="636"/>
            <p14:sldId id="63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9C932F-7F57-49D2-93B3-7B1DF40B1FDE}" v="36" dt="2023-02-22T09:34:23.2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80" d="100"/>
          <a:sy n="80" d="100"/>
        </p:scale>
        <p:origin x="13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Димитър Минчев" userId="6da192e4-d32c-454b-8615-bbadf07b6639" providerId="ADAL" clId="{1C9C932F-7F57-49D2-93B3-7B1DF40B1FDE}"/>
    <pc:docChg chg="custSel addSld modSld">
      <pc:chgData name="Димитър Минчев" userId="6da192e4-d32c-454b-8615-bbadf07b6639" providerId="ADAL" clId="{1C9C932F-7F57-49D2-93B3-7B1DF40B1FDE}" dt="2023-02-22T09:34:25.522" v="119" actId="478"/>
      <pc:docMkLst>
        <pc:docMk/>
      </pc:docMkLst>
      <pc:sldChg chg="modSp mod">
        <pc:chgData name="Димитър Минчев" userId="6da192e4-d32c-454b-8615-bbadf07b6639" providerId="ADAL" clId="{1C9C932F-7F57-49D2-93B3-7B1DF40B1FDE}" dt="2023-02-22T09:29:48.501" v="28" actId="20577"/>
        <pc:sldMkLst>
          <pc:docMk/>
          <pc:sldMk cId="2386959723" sldId="258"/>
        </pc:sldMkLst>
        <pc:spChg chg="mod">
          <ac:chgData name="Димитър Минчев" userId="6da192e4-d32c-454b-8615-bbadf07b6639" providerId="ADAL" clId="{1C9C932F-7F57-49D2-93B3-7B1DF40B1FDE}" dt="2023-02-22T09:29:41.329" v="1" actId="20577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1C9C932F-7F57-49D2-93B3-7B1DF40B1FDE}" dt="2023-02-22T09:29:48.501" v="28" actId="20577"/>
          <ac:spMkLst>
            <pc:docMk/>
            <pc:sldMk cId="2386959723" sldId="258"/>
            <ac:spMk id="5" creationId="{FD72CEAD-2598-2D6F-7FF9-AF95330D8A09}"/>
          </ac:spMkLst>
        </pc:spChg>
      </pc:sldChg>
      <pc:sldChg chg="modSp mod">
        <pc:chgData name="Димитър Минчев" userId="6da192e4-d32c-454b-8615-bbadf07b6639" providerId="ADAL" clId="{1C9C932F-7F57-49D2-93B3-7B1DF40B1FDE}" dt="2023-02-22T09:30:02.745" v="34" actId="6549"/>
        <pc:sldMkLst>
          <pc:docMk/>
          <pc:sldMk cId="2385751420" sldId="571"/>
        </pc:sldMkLst>
        <pc:spChg chg="mod">
          <ac:chgData name="Димитър Минчев" userId="6da192e4-d32c-454b-8615-bbadf07b6639" providerId="ADAL" clId="{1C9C932F-7F57-49D2-93B3-7B1DF40B1FDE}" dt="2023-02-22T09:30:02.745" v="34" actId="6549"/>
          <ac:spMkLst>
            <pc:docMk/>
            <pc:sldMk cId="2385751420" sldId="571"/>
            <ac:spMk id="8" creationId="{00000000-0000-0000-0000-000000000000}"/>
          </ac:spMkLst>
        </pc:spChg>
      </pc:sldChg>
      <pc:sldChg chg="modSp add mod">
        <pc:chgData name="Димитър Минчев" userId="6da192e4-d32c-454b-8615-bbadf07b6639" providerId="ADAL" clId="{1C9C932F-7F57-49D2-93B3-7B1DF40B1FDE}" dt="2023-02-22T09:31:19.639" v="54" actId="1076"/>
        <pc:sldMkLst>
          <pc:docMk/>
          <pc:sldMk cId="44296328" sldId="632"/>
        </pc:sldMkLst>
        <pc:spChg chg="mod">
          <ac:chgData name="Димитър Минчев" userId="6da192e4-d32c-454b-8615-bbadf07b6639" providerId="ADAL" clId="{1C9C932F-7F57-49D2-93B3-7B1DF40B1FDE}" dt="2023-02-22T09:31:16.863" v="53" actId="403"/>
          <ac:spMkLst>
            <pc:docMk/>
            <pc:sldMk cId="44296328" sldId="632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1C9C932F-7F57-49D2-93B3-7B1DF40B1FDE}" dt="2023-02-22T09:31:05.200" v="46" actId="255"/>
          <ac:spMkLst>
            <pc:docMk/>
            <pc:sldMk cId="44296328" sldId="632"/>
            <ac:spMk id="3" creationId="{00000000-0000-0000-0000-000000000000}"/>
          </ac:spMkLst>
        </pc:spChg>
        <pc:picChg chg="mod">
          <ac:chgData name="Димитър Минчев" userId="6da192e4-d32c-454b-8615-bbadf07b6639" providerId="ADAL" clId="{1C9C932F-7F57-49D2-93B3-7B1DF40B1FDE}" dt="2023-02-22T09:31:19.639" v="54" actId="1076"/>
          <ac:picMkLst>
            <pc:docMk/>
            <pc:sldMk cId="44296328" sldId="632"/>
            <ac:picMk id="4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1C9C932F-7F57-49D2-93B3-7B1DF40B1FDE}" dt="2023-02-22T09:33:42.271" v="100" actId="20577"/>
        <pc:sldMkLst>
          <pc:docMk/>
          <pc:sldMk cId="4030447419" sldId="633"/>
        </pc:sldMkLst>
        <pc:spChg chg="mod">
          <ac:chgData name="Димитър Минчев" userId="6da192e4-d32c-454b-8615-bbadf07b6639" providerId="ADAL" clId="{1C9C932F-7F57-49D2-93B3-7B1DF40B1FDE}" dt="2023-02-22T09:33:42.271" v="100" actId="20577"/>
          <ac:spMkLst>
            <pc:docMk/>
            <pc:sldMk cId="4030447419" sldId="633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1C9C932F-7F57-49D2-93B3-7B1DF40B1FDE}" dt="2023-02-22T09:31:44.922" v="60" actId="2711"/>
          <ac:spMkLst>
            <pc:docMk/>
            <pc:sldMk cId="4030447419" sldId="633"/>
            <ac:spMk id="4" creationId="{00000000-0000-0000-0000-000000000000}"/>
          </ac:spMkLst>
        </pc:spChg>
        <pc:spChg chg="mod">
          <ac:chgData name="Димитър Минчев" userId="6da192e4-d32c-454b-8615-bbadf07b6639" providerId="ADAL" clId="{1C9C932F-7F57-49D2-93B3-7B1DF40B1FDE}" dt="2023-02-22T09:31:41.189" v="59" actId="1076"/>
          <ac:spMkLst>
            <pc:docMk/>
            <pc:sldMk cId="4030447419" sldId="633"/>
            <ac:spMk id="6" creationId="{3904671F-D956-4239-AA23-481C051B4C69}"/>
          </ac:spMkLst>
        </pc:spChg>
        <pc:spChg chg="del mod">
          <ac:chgData name="Димитър Минчев" userId="6da192e4-d32c-454b-8615-bbadf07b6639" providerId="ADAL" clId="{1C9C932F-7F57-49D2-93B3-7B1DF40B1FDE}" dt="2023-02-22T09:32:05.449" v="67" actId="478"/>
          <ac:spMkLst>
            <pc:docMk/>
            <pc:sldMk cId="4030447419" sldId="633"/>
            <ac:spMk id="8" creationId="{95D23B14-1F64-49EE-B347-2619469AB864}"/>
          </ac:spMkLst>
        </pc:spChg>
        <pc:picChg chg="mod">
          <ac:chgData name="Димитър Минчев" userId="6da192e4-d32c-454b-8615-bbadf07b6639" providerId="ADAL" clId="{1C9C932F-7F57-49D2-93B3-7B1DF40B1FDE}" dt="2023-02-22T09:31:39.147" v="58" actId="14100"/>
          <ac:picMkLst>
            <pc:docMk/>
            <pc:sldMk cId="4030447419" sldId="633"/>
            <ac:picMk id="12" creationId="{98D9456A-AAEA-4CFD-A4F3-BD682D0EA427}"/>
          </ac:picMkLst>
        </pc:picChg>
      </pc:sldChg>
      <pc:sldChg chg="delSp modSp add mod modAnim">
        <pc:chgData name="Димитър Минчев" userId="6da192e4-d32c-454b-8615-bbadf07b6639" providerId="ADAL" clId="{1C9C932F-7F57-49D2-93B3-7B1DF40B1FDE}" dt="2023-02-22T09:33:25.745" v="94" actId="1076"/>
        <pc:sldMkLst>
          <pc:docMk/>
          <pc:sldMk cId="652249952" sldId="634"/>
        </pc:sldMkLst>
        <pc:spChg chg="mod">
          <ac:chgData name="Димитър Минчев" userId="6da192e4-d32c-454b-8615-bbadf07b6639" providerId="ADAL" clId="{1C9C932F-7F57-49D2-93B3-7B1DF40B1FDE}" dt="2023-02-22T09:33:20.745" v="93" actId="27636"/>
          <ac:spMkLst>
            <pc:docMk/>
            <pc:sldMk cId="652249952" sldId="634"/>
            <ac:spMk id="3" creationId="{8D804732-9763-494E-B412-88A863C9157E}"/>
          </ac:spMkLst>
        </pc:spChg>
        <pc:spChg chg="mod">
          <ac:chgData name="Димитър Минчев" userId="6da192e4-d32c-454b-8615-bbadf07b6639" providerId="ADAL" clId="{1C9C932F-7F57-49D2-93B3-7B1DF40B1FDE}" dt="2023-02-22T09:33:04.863" v="87" actId="404"/>
          <ac:spMkLst>
            <pc:docMk/>
            <pc:sldMk cId="652249952" sldId="634"/>
            <ac:spMk id="4" creationId="{F9C90218-6CEC-4DC6-9F54-4C18F53F5B6E}"/>
          </ac:spMkLst>
        </pc:spChg>
        <pc:spChg chg="del mod">
          <ac:chgData name="Димитър Минчев" userId="6da192e4-d32c-454b-8615-bbadf07b6639" providerId="ADAL" clId="{1C9C932F-7F57-49D2-93B3-7B1DF40B1FDE}" dt="2023-02-22T09:33:06.536" v="88" actId="478"/>
          <ac:spMkLst>
            <pc:docMk/>
            <pc:sldMk cId="652249952" sldId="634"/>
            <ac:spMk id="8" creationId="{FA792C2B-E72B-4685-9667-9D3089413228}"/>
          </ac:spMkLst>
        </pc:spChg>
        <pc:spChg chg="mod">
          <ac:chgData name="Димитър Минчев" userId="6da192e4-d32c-454b-8615-bbadf07b6639" providerId="ADAL" clId="{1C9C932F-7F57-49D2-93B3-7B1DF40B1FDE}" dt="2023-02-22T09:33:25.745" v="94" actId="1076"/>
          <ac:spMkLst>
            <pc:docMk/>
            <pc:sldMk cId="652249952" sldId="634"/>
            <ac:spMk id="11" creationId="{39964865-E965-443F-8463-D8D318E2144F}"/>
          </ac:spMkLst>
        </pc:spChg>
        <pc:picChg chg="mod">
          <ac:chgData name="Димитър Минчев" userId="6da192e4-d32c-454b-8615-bbadf07b6639" providerId="ADAL" clId="{1C9C932F-7F57-49D2-93B3-7B1DF40B1FDE}" dt="2023-02-22T09:33:25.745" v="94" actId="1076"/>
          <ac:picMkLst>
            <pc:docMk/>
            <pc:sldMk cId="652249952" sldId="634"/>
            <ac:picMk id="9" creationId="{EB5BB82A-3464-4FE0-98B1-642CE64F85C2}"/>
          </ac:picMkLst>
        </pc:picChg>
        <pc:picChg chg="mod">
          <ac:chgData name="Димитър Минчев" userId="6da192e4-d32c-454b-8615-bbadf07b6639" providerId="ADAL" clId="{1C9C932F-7F57-49D2-93B3-7B1DF40B1FDE}" dt="2023-02-22T09:33:25.745" v="94" actId="1076"/>
          <ac:picMkLst>
            <pc:docMk/>
            <pc:sldMk cId="652249952" sldId="634"/>
            <ac:picMk id="10" creationId="{49A4FE45-3AE0-4FEC-91BA-CFBD1498B0A5}"/>
          </ac:picMkLst>
        </pc:picChg>
      </pc:sldChg>
      <pc:sldChg chg="delSp modSp add mod modAnim">
        <pc:chgData name="Димитър Минчев" userId="6da192e4-d32c-454b-8615-bbadf07b6639" providerId="ADAL" clId="{1C9C932F-7F57-49D2-93B3-7B1DF40B1FDE}" dt="2023-02-22T09:34:25.522" v="119" actId="478"/>
        <pc:sldMkLst>
          <pc:docMk/>
          <pc:sldMk cId="77403738" sldId="635"/>
        </pc:sldMkLst>
        <pc:spChg chg="mod">
          <ac:chgData name="Димитър Минчев" userId="6da192e4-d32c-454b-8615-bbadf07b6639" providerId="ADAL" clId="{1C9C932F-7F57-49D2-93B3-7B1DF40B1FDE}" dt="2023-02-22T09:33:55.777" v="104" actId="2711"/>
          <ac:spMkLst>
            <pc:docMk/>
            <pc:sldMk cId="77403738" sldId="63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1C9C932F-7F57-49D2-93B3-7B1DF40B1FDE}" dt="2023-02-22T09:34:23.221" v="118" actId="113"/>
          <ac:spMkLst>
            <pc:docMk/>
            <pc:sldMk cId="77403738" sldId="635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1C9C932F-7F57-49D2-93B3-7B1DF40B1FDE}" dt="2023-02-22T09:34:25.522" v="119" actId="478"/>
          <ac:spMkLst>
            <pc:docMk/>
            <pc:sldMk cId="77403738" sldId="635"/>
            <ac:spMk id="6" creationId="{BB7950B5-37F7-41DB-9272-F981122F9CF0}"/>
          </ac:spMkLst>
        </pc:spChg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ORM = Object-Relational Mapping. Аналогия: Google Translate за БД.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t>Две теми: ORM технология + плюсове/минуси.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3CB8708A-8556-42FD-AFB9-1485951BC6C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42727812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БЕЗ ORM: INSERT INTO Students VALUES (@name, @age); ръчно за всяко поле. С ORM: context.Students.Add(new Student{Name=n}); SaveChanges();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DB First: Имаме БД -&gt; ORM генерира C# класове. Code First: C# класове -&gt; ORM генерира таблици.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N+1 ПРОБЛЕМ: 100 обекта, всеки достъпват department.Name = 101 заявки! Решение: .Include(e =&gt; e.Department).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64485B81-E014-4281-8374-1F53B433A1C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9641974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Покажете двата кода един до друг.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нашия курс ще видим и двата подхода.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25.3.2026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mon.bg/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/>
          <a:lstStyle/>
          <a:p>
            <a:r>
              <a:rPr lang="en-US" dirty="0">
                <a:latin typeface="Comfortaa" pitchFamily="2" charset="0"/>
              </a:rPr>
              <a:t>ORM </a:t>
            </a:r>
            <a:r>
              <a:rPr lang="bg-BG" dirty="0">
                <a:latin typeface="Comfortaa" pitchFamily="2" charset="0"/>
              </a:rPr>
              <a:t>концепция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Разработка на софтуер</a:t>
            </a: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957959" y="733260"/>
            <a:ext cx="10515600" cy="1325563"/>
          </a:xfrm>
        </p:spPr>
        <p:txBody>
          <a:bodyPr>
            <a:normAutofit/>
          </a:bodyPr>
          <a:lstStyle/>
          <a:p>
            <a:r>
              <a:rPr lang="bg-BG" b="1" dirty="0">
                <a:latin typeface="Comfortaa" pitchFamily="2" charset="0"/>
              </a:rPr>
              <a:t>Съдържание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957959" y="2058823"/>
            <a:ext cx="10515600" cy="42177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ORM технология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ORM плюсове и минуси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ru-RU" sz="32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751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953000"/>
            <a:ext cx="10363200" cy="820600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Comfortaa" pitchFamily="2" charset="0"/>
              </a:rPr>
              <a:t>Object-Relational Mapping (</a:t>
            </a:r>
            <a:r>
              <a:rPr lang="en-US" sz="3600" dirty="0">
                <a:latin typeface="Comfortaa" pitchFamily="2" charset="0"/>
              </a:rPr>
              <a:t>ORM)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97669" y="5829299"/>
            <a:ext cx="9144000" cy="772181"/>
          </a:xfrm>
        </p:spPr>
        <p:txBody>
          <a:bodyPr>
            <a:normAutofit/>
          </a:bodyPr>
          <a:lstStyle/>
          <a:p>
            <a:r>
              <a:rPr lang="bg-BG" sz="2800" dirty="0">
                <a:latin typeface="Comfortaa" pitchFamily="2" charset="0"/>
              </a:rPr>
              <a:t>Обектно-релационно съответствие</a:t>
            </a:r>
            <a:endParaRPr lang="en-US" sz="2800" dirty="0">
              <a:latin typeface="Comfortaa" pitchFamily="2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1" y="855335"/>
            <a:ext cx="6705598" cy="3702628"/>
          </a:xfrm>
          <a:prstGeom prst="roundRect">
            <a:avLst>
              <a:gd name="adj" fmla="val 10811"/>
            </a:avLst>
          </a:prstGeom>
        </p:spPr>
      </p:pic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915D65E4-FFD9-420F-A506-267524EDDDBC}"/>
              </a:ext>
            </a:extLst>
          </p:cNvPr>
          <p:cNvSpPr txBox="1">
            <a:spLocks/>
          </p:cNvSpPr>
          <p:nvPr/>
        </p:nvSpPr>
        <p:spPr>
          <a:xfrm>
            <a:off x="11568000" y="6525003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defPPr>
              <a:defRPr lang="en-US"/>
            </a:defPPr>
            <a:lvl1pPr marL="0" algn="r" defTabSz="1218987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pPr/>
              <a:t>3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96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sz="2400" dirty="0">
                <a:latin typeface="Comfortaa" pitchFamily="2" charset="0"/>
              </a:rPr>
              <a:t>Обектно-релационно съответствие </a:t>
            </a:r>
            <a:r>
              <a:rPr lang="en-US" sz="2400" dirty="0">
                <a:latin typeface="Comfortaa" pitchFamily="2" charset="0"/>
              </a:rPr>
              <a:t>- Object-Relational Mapping (ORM) </a:t>
            </a:r>
            <a:r>
              <a:rPr lang="bg-BG" sz="2400" dirty="0">
                <a:latin typeface="Comfortaa" pitchFamily="2" charset="0"/>
              </a:rPr>
              <a:t>ни позволява да манипулираме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бази данни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използвайки общи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класове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и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обекти</a:t>
            </a:r>
            <a:endParaRPr lang="en-US" sz="2400" dirty="0">
              <a:latin typeface="Comfortaa" pitchFamily="2" charset="0"/>
            </a:endParaRPr>
          </a:p>
          <a:p>
            <a:pPr lvl="1"/>
            <a:r>
              <a:rPr lang="bg-BG" sz="2000" dirty="0">
                <a:latin typeface="Comfortaa" pitchFamily="2" charset="0"/>
              </a:rPr>
              <a:t>Таблици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latin typeface="Comfortaa" pitchFamily="2" charset="0"/>
              </a:rPr>
              <a:t>в базата данни </a:t>
            </a:r>
            <a:r>
              <a:rPr lang="en-US" sz="2000" dirty="0">
                <a:latin typeface="Comfortaa" pitchFamily="2" charset="0"/>
                <a:sym typeface="Wingdings" panose="05000000000000000000" pitchFamily="2" charset="2"/>
              </a:rPr>
              <a:t> C# / Java </a:t>
            </a:r>
            <a:r>
              <a:rPr lang="bg-BG" sz="2000" dirty="0">
                <a:latin typeface="Comfortaa" pitchFamily="2" charset="0"/>
                <a:sym typeface="Wingdings" panose="05000000000000000000" pitchFamily="2" charset="2"/>
              </a:rPr>
              <a:t>класове</a:t>
            </a:r>
            <a:endParaRPr lang="en-US" sz="2000" dirty="0">
              <a:latin typeface="Comfortaa" pitchFamily="2" charset="0"/>
            </a:endParaRPr>
          </a:p>
          <a:p>
            <a:endParaRPr lang="en-US" sz="2400" dirty="0">
              <a:latin typeface="Comfortaa" pitchFamily="2" charset="0"/>
            </a:endParaRPr>
          </a:p>
          <a:p>
            <a:endParaRPr lang="en-US" sz="2400" dirty="0">
              <a:latin typeface="Comfortaa" pitchFamily="2" charset="0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Какво е </a:t>
            </a:r>
            <a:r>
              <a:rPr lang="en-US" dirty="0">
                <a:latin typeface="Comfortaa" pitchFamily="2" charset="0"/>
              </a:rPr>
              <a:t>ORM?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904671F-D956-4239-AA23-481C051B4C69}"/>
              </a:ext>
            </a:extLst>
          </p:cNvPr>
          <p:cNvSpPr/>
          <p:nvPr/>
        </p:nvSpPr>
        <p:spPr>
          <a:xfrm>
            <a:off x="4251895" y="4674550"/>
            <a:ext cx="786828" cy="502162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D9456A-AAEA-4CFD-A4F3-BD682D0EA4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723" y="3429000"/>
            <a:ext cx="6200740" cy="2995863"/>
          </a:xfrm>
          <a:prstGeom prst="roundRect">
            <a:avLst>
              <a:gd name="adj" fmla="val 8070"/>
            </a:avLst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4CDD821-449B-4EFD-BF45-5A442F93B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189" y="3581400"/>
            <a:ext cx="2511317" cy="268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447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04732-9763-494E-B412-88A863C91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Comfortaa" pitchFamily="2" charset="0"/>
              </a:rPr>
              <a:t>ORM </a:t>
            </a:r>
            <a:r>
              <a:rPr lang="bg-BG" dirty="0">
                <a:latin typeface="Comfortaa" pitchFamily="2" charset="0"/>
              </a:rPr>
              <a:t>работна рамка /</a:t>
            </a:r>
            <a:r>
              <a:rPr lang="en-US" dirty="0">
                <a:latin typeface="Comfortaa" pitchFamily="2" charset="0"/>
              </a:rPr>
              <a:t>framework</a:t>
            </a:r>
            <a:r>
              <a:rPr lang="bg-BG" dirty="0">
                <a:latin typeface="Comfortaa" pitchFamily="2" charset="0"/>
              </a:rPr>
              <a:t>/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обичайно предоставят следната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функционалност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/>
            <a:r>
              <a:rPr lang="bg-BG" dirty="0">
                <a:latin typeface="Comfortaa" pitchFamily="2" charset="0"/>
              </a:rPr>
              <a:t>Автоматично генерира</a:t>
            </a:r>
            <a:r>
              <a:rPr lang="en-US" dirty="0">
                <a:latin typeface="Comfortaa" pitchFamily="2" charset="0"/>
              </a:rPr>
              <a:t> SQL </a:t>
            </a:r>
            <a:r>
              <a:rPr lang="bg-BG" dirty="0">
                <a:latin typeface="Comfortaa" pitchFamily="2" charset="0"/>
              </a:rPr>
              <a:t>за извършване на операции върху данните</a:t>
            </a:r>
            <a:endParaRPr lang="en-US" dirty="0">
              <a:latin typeface="Comfortaa" pitchFamily="2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  <a:p>
            <a:pPr marL="377887" lvl="1" indent="0">
              <a:buNone/>
            </a:pPr>
            <a:endParaRPr lang="en-US" dirty="0">
              <a:latin typeface="Comfortaa" pitchFamily="2" charset="0"/>
            </a:endParaRPr>
          </a:p>
          <a:p>
            <a:pPr marL="377887" lvl="1" indent="0">
              <a:buNone/>
            </a:pPr>
            <a:endParaRPr lang="en-US" dirty="0">
              <a:latin typeface="Comfortaa" pitchFamily="2" charset="0"/>
            </a:endParaRPr>
          </a:p>
          <a:p>
            <a:pPr marL="377887" lvl="1" indent="0">
              <a:buNone/>
            </a:pP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Създаване на обектен модел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по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схемата на БД </a:t>
            </a:r>
            <a:r>
              <a:rPr lang="en-US" dirty="0">
                <a:latin typeface="Comfortaa" pitchFamily="2" charset="0"/>
              </a:rPr>
              <a:t>(DB First </a:t>
            </a:r>
            <a:r>
              <a:rPr lang="bg-BG" dirty="0">
                <a:latin typeface="Comfortaa" pitchFamily="2" charset="0"/>
              </a:rPr>
              <a:t>модел</a:t>
            </a:r>
            <a:r>
              <a:rPr lang="en-US" dirty="0">
                <a:latin typeface="Comfortaa" pitchFamily="2" charset="0"/>
              </a:rPr>
              <a:t>)</a:t>
            </a:r>
          </a:p>
          <a:p>
            <a:pPr lvl="1"/>
            <a:r>
              <a:rPr lang="bg-BG" dirty="0">
                <a:latin typeface="Comfortaa" pitchFamily="2" charset="0"/>
              </a:rPr>
              <a:t>Създаване на схемата на БД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от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обектен модел (</a:t>
            </a:r>
            <a:r>
              <a:rPr lang="en-US" dirty="0">
                <a:latin typeface="Comfortaa" pitchFamily="2" charset="0"/>
              </a:rPr>
              <a:t>Code First </a:t>
            </a:r>
            <a:r>
              <a:rPr lang="bg-BG" dirty="0">
                <a:latin typeface="Comfortaa" pitchFamily="2" charset="0"/>
              </a:rPr>
              <a:t>модел</a:t>
            </a:r>
            <a:r>
              <a:rPr lang="en-US" dirty="0">
                <a:latin typeface="Comfortaa" pitchFamily="2" charset="0"/>
              </a:rPr>
              <a:t>)</a:t>
            </a:r>
          </a:p>
          <a:p>
            <a:pPr lvl="1"/>
            <a:r>
              <a:rPr lang="bg-BG" dirty="0">
                <a:latin typeface="Comfortaa" pitchFamily="2" charset="0"/>
              </a:rPr>
              <a:t>Извличане на информация от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обектно-ориентирано</a:t>
            </a:r>
            <a:r>
              <a:rPr lang="en-US" dirty="0">
                <a:latin typeface="Comfortaa" pitchFamily="2" charset="0"/>
              </a:rPr>
              <a:t> API (</a:t>
            </a:r>
            <a:r>
              <a:rPr lang="bg-BG" dirty="0">
                <a:latin typeface="Comfortaa" pitchFamily="2" charset="0"/>
              </a:rPr>
              <a:t>например</a:t>
            </a:r>
            <a:r>
              <a:rPr lang="en-US" dirty="0">
                <a:latin typeface="Comfortaa" pitchFamily="2" charset="0"/>
              </a:rPr>
              <a:t> LINQ </a:t>
            </a:r>
            <a:r>
              <a:rPr lang="bg-BG" dirty="0">
                <a:latin typeface="Comfortaa" pitchFamily="2" charset="0"/>
              </a:rPr>
              <a:t>заявки</a:t>
            </a:r>
            <a:r>
              <a:rPr lang="en-US" dirty="0">
                <a:latin typeface="Comfortaa" pitchFamily="2" charset="0"/>
              </a:rPr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C90218-6CEC-4DC6-9F54-4C18F53F5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Comfortaa" pitchFamily="2" charset="0"/>
              </a:rPr>
              <a:t>ORM Framework: </a:t>
            </a:r>
            <a:r>
              <a:rPr lang="bg-BG" sz="3600" dirty="0">
                <a:latin typeface="Comfortaa" pitchFamily="2" charset="0"/>
              </a:rPr>
              <a:t>Отличителни черти</a:t>
            </a:r>
            <a:endParaRPr lang="en-US" sz="3600" dirty="0">
              <a:latin typeface="Comfortaa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5BB82A-3464-4FE0-98B1-642CE64F8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995" y="3299290"/>
            <a:ext cx="3962400" cy="1691811"/>
          </a:xfrm>
          <a:prstGeom prst="roundRect">
            <a:avLst>
              <a:gd name="adj" fmla="val 9957"/>
            </a:avLst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A4FE45-3AE0-4FEC-91BA-CFBD1498B0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236493"/>
            <a:ext cx="5135498" cy="1691811"/>
          </a:xfrm>
          <a:prstGeom prst="roundRect">
            <a:avLst>
              <a:gd name="adj" fmla="val 10049"/>
            </a:avLst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39964865-E965-443F-8463-D8D318E2144F}"/>
              </a:ext>
            </a:extLst>
          </p:cNvPr>
          <p:cNvSpPr/>
          <p:nvPr/>
        </p:nvSpPr>
        <p:spPr>
          <a:xfrm>
            <a:off x="5378115" y="3868153"/>
            <a:ext cx="661737" cy="478614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5224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mfortaa" pitchFamily="2" charset="0"/>
              </a:rPr>
              <a:t>ORM </a:t>
            </a:r>
            <a:r>
              <a:rPr lang="bg-BG" dirty="0">
                <a:latin typeface="Comfortaa" pitchFamily="2" charset="0"/>
              </a:rPr>
              <a:t>плюсове и минуси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Плюсове</a:t>
            </a:r>
            <a:r>
              <a:rPr lang="bg-BG" dirty="0">
                <a:latin typeface="Comfortaa" pitchFamily="2" charset="0"/>
              </a:rPr>
              <a:t> на обектно-релационно съотвествие</a:t>
            </a:r>
            <a:r>
              <a:rPr lang="en-US" dirty="0">
                <a:latin typeface="Comfortaa" pitchFamily="2" charset="0"/>
              </a:rPr>
              <a:t> (ORM)</a:t>
            </a:r>
          </a:p>
          <a:p>
            <a:pPr lvl="1"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По-голяма продуктивност за разработчиците</a:t>
            </a:r>
            <a:r>
              <a:rPr lang="en-US" sz="2200" dirty="0">
                <a:latin typeface="Comfortaa" pitchFamily="2" charset="0"/>
              </a:rPr>
              <a:t>: </a:t>
            </a:r>
            <a:r>
              <a:rPr lang="bg-BG" sz="2200" dirty="0">
                <a:latin typeface="Comfortaa" pitchFamily="2" charset="0"/>
              </a:rPr>
              <a:t>пише се по-малко код</a:t>
            </a:r>
            <a:endParaRPr lang="en-US" sz="22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Абстрахиране от разликите между</a:t>
            </a:r>
            <a:r>
              <a:rPr lang="da-DK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обектния</a:t>
            </a:r>
            <a:r>
              <a:rPr lang="da-DK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и</a:t>
            </a:r>
            <a:r>
              <a:rPr lang="da-DK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релационния</a:t>
            </a:r>
            <a:r>
              <a:rPr lang="da-DK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свят</a:t>
            </a:r>
            <a:endParaRPr lang="da-DK" sz="22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Управляемост на</a:t>
            </a:r>
            <a:r>
              <a:rPr lang="en-US" sz="2200" dirty="0">
                <a:latin typeface="Comfortaa" pitchFamily="2" charset="0"/>
              </a:rPr>
              <a:t> CRUD </a:t>
            </a:r>
            <a:r>
              <a:rPr lang="bg-BG" sz="2200" dirty="0">
                <a:latin typeface="Comfortaa" pitchFamily="2" charset="0"/>
              </a:rPr>
              <a:t>операциите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за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комплексни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връзки</a:t>
            </a:r>
            <a:endParaRPr lang="en-US" sz="22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По-лесна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поддръжка</a:t>
            </a:r>
            <a:endParaRPr lang="en-US" sz="22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Минуси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на обектно-релационно съотвествие</a:t>
            </a:r>
            <a:r>
              <a:rPr lang="en-US" dirty="0">
                <a:latin typeface="Comfortaa" pitchFamily="2" charset="0"/>
              </a:rPr>
              <a:t> (ORM)</a:t>
            </a:r>
          </a:p>
          <a:p>
            <a:pPr lvl="1"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Влошена производителност</a:t>
            </a:r>
            <a:r>
              <a:rPr lang="en-US" sz="2200" dirty="0">
                <a:latin typeface="Comfortaa" pitchFamily="2" charset="0"/>
              </a:rPr>
              <a:t> (</a:t>
            </a:r>
            <a:r>
              <a:rPr lang="bg-BG" sz="2200" dirty="0">
                <a:latin typeface="Comfortaa" pitchFamily="2" charset="0"/>
              </a:rPr>
              <a:t>заради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надразход /</a:t>
            </a:r>
            <a:r>
              <a:rPr lang="en-US" sz="2200" dirty="0">
                <a:latin typeface="Comfortaa" pitchFamily="2" charset="0"/>
              </a:rPr>
              <a:t>overhead/ </a:t>
            </a:r>
            <a:r>
              <a:rPr lang="bg-BG" sz="2200" dirty="0">
                <a:latin typeface="Comfortaa" pitchFamily="2" charset="0"/>
              </a:rPr>
              <a:t>или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автоматичногенериран</a:t>
            </a:r>
            <a:r>
              <a:rPr lang="en-US" sz="2200" dirty="0">
                <a:latin typeface="Comfortaa" pitchFamily="2" charset="0"/>
              </a:rPr>
              <a:t> SQL)</a:t>
            </a:r>
          </a:p>
          <a:p>
            <a:pPr lvl="1"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Намалена гъвкавост</a:t>
            </a:r>
            <a:r>
              <a:rPr lang="en-US" sz="2200" dirty="0">
                <a:latin typeface="Comfortaa" pitchFamily="2" charset="0"/>
              </a:rPr>
              <a:t> (</a:t>
            </a:r>
            <a:r>
              <a:rPr lang="bg-BG" sz="2200" dirty="0">
                <a:latin typeface="Comfortaa" pitchFamily="2" charset="0"/>
              </a:rPr>
              <a:t>някои операции са доста трудни за импелементиране</a:t>
            </a:r>
            <a:r>
              <a:rPr lang="en-US" sz="2200" dirty="0">
                <a:latin typeface="Comfortaa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7403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Без ORM vs С 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БЕЗ ORM: 15+ реда за INSERT на 1 обект</a:t>
            </a:r>
          </a:p>
          <a:p>
            <a:r>
              <a:t>  SqlConnection, SqlCommand, 3x AddWithValue, ExecuteNonQuery</a:t>
            </a:r>
          </a:p>
          <a:p>
            <a:r>
              <a:t>С ORM: 2 реда:</a:t>
            </a:r>
          </a:p>
          <a:p>
            <a:r>
              <a:t>  context.Students.Add(new Student{Name=n, Age=a});</a:t>
            </a:r>
          </a:p>
          <a:p>
            <a:r>
              <a:t>  context.SaveChanges();</a:t>
            </a:r>
          </a:p>
          <a:p>
            <a:r>
              <a:t>Спестено ~80% код при CRUD операции!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Database-First vs Code-First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DATABASE-FIRST: Имаме БД -&gt; генерираме C# класове</a:t>
            </a:r>
          </a:p>
          <a:p>
            <a:r>
              <a:t>  Кога: legacy системи, работа с DBA</a:t>
            </a:r>
          </a:p>
          <a:p>
            <a:r>
              <a:t>CODE-FIRST: C# класове -&gt; EFC създава таблиците</a:t>
            </a:r>
          </a:p>
          <a:p>
            <a:r>
              <a:t>  Кога: нови проекти, agile разработка</a:t>
            </a:r>
          </a:p>
          <a:p>
            <a:r>
              <a:t>Препоръка: нови проекти = Code-First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</TotalTime>
  <Words>446</Words>
  <Application>Microsoft Office PowerPoint</Application>
  <PresentationFormat>Widescreen</PresentationFormat>
  <Paragraphs>63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Comfortaa</vt:lpstr>
      <vt:lpstr>Times New Roman</vt:lpstr>
      <vt:lpstr>Wingdings</vt:lpstr>
      <vt:lpstr>Office Theme</vt:lpstr>
      <vt:lpstr>ORM концепция</vt:lpstr>
      <vt:lpstr>Съдържание</vt:lpstr>
      <vt:lpstr>Object-Relational Mapping (ORM)</vt:lpstr>
      <vt:lpstr>Какво е ORM?</vt:lpstr>
      <vt:lpstr>ORM Framework: Отличителни черти</vt:lpstr>
      <vt:lpstr>ORM плюсове и минуси</vt:lpstr>
      <vt:lpstr>Без ORM vs С ORM</vt:lpstr>
      <vt:lpstr>Database-First vs Code-First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Нели Г. Няголова</cp:lastModifiedBy>
  <cp:revision>11</cp:revision>
  <dcterms:created xsi:type="dcterms:W3CDTF">2022-08-09T09:25:46Z</dcterms:created>
  <dcterms:modified xsi:type="dcterms:W3CDTF">2026-03-25T04:24:42Z</dcterms:modified>
</cp:coreProperties>
</file>