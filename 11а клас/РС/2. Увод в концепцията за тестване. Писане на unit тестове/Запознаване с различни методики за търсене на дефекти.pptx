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8079" y="581108"/>
            <a:ext cx="8825658" cy="3329581"/>
          </a:xfrm>
        </p:spPr>
        <p:txBody>
          <a:bodyPr/>
          <a:lstStyle/>
          <a:p>
            <a:pPr algn="ctr"/>
            <a:r>
              <a:rPr lang="bg-BG" sz="4800" dirty="0" smtClean="0"/>
              <a:t>Запознаване с различни методики за търсене на дефекти</a:t>
            </a:r>
            <a:endParaRPr lang="bg-BG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50228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963985"/>
          </a:xfrm>
        </p:spPr>
        <p:txBody>
          <a:bodyPr/>
          <a:lstStyle/>
          <a:p>
            <a:r>
              <a:rPr lang="bg-BG" sz="2300" b="1" dirty="0"/>
              <a:t>1. Използване на дебъгер (</a:t>
            </a:r>
            <a:r>
              <a:rPr lang="en-US" sz="2300" b="1" dirty="0"/>
              <a:t>Debugger) </a:t>
            </a:r>
            <a:r>
              <a:rPr lang="bg-BG" sz="2300" b="1" dirty="0"/>
              <a:t>в </a:t>
            </a:r>
            <a:r>
              <a:rPr lang="en-US" sz="2300" b="1" dirty="0"/>
              <a:t>Visual Studio / Rider</a:t>
            </a:r>
            <a:br>
              <a:rPr lang="en-US" sz="2300" b="1" dirty="0"/>
            </a:br>
            <a:r>
              <a:rPr lang="bg-BG" sz="2300" dirty="0"/>
              <a:t>Най-често използваният и мощен метод.</a:t>
            </a:r>
            <a:br>
              <a:rPr lang="bg-BG" sz="2300" dirty="0"/>
            </a:br>
            <a:r>
              <a:rPr lang="bg-BG" sz="2300" b="1" dirty="0"/>
              <a:t>Основни стъпки:</a:t>
            </a:r>
            <a:br>
              <a:rPr lang="bg-BG" sz="2300" b="1" dirty="0"/>
            </a:br>
            <a:r>
              <a:rPr lang="bg-BG" sz="2300" b="1" u="sng" dirty="0"/>
              <a:t>Поставяне на </a:t>
            </a:r>
            <a:r>
              <a:rPr lang="en-US" sz="2300" b="1" u="sng" dirty="0"/>
              <a:t>Breakpoints </a:t>
            </a:r>
            <a:r>
              <a:rPr lang="en-US" sz="2300" b="1" dirty="0"/>
              <a:t>(</a:t>
            </a:r>
            <a:r>
              <a:rPr lang="bg-BG" sz="2300" b="1" dirty="0"/>
              <a:t>точки на прекъсване)</a:t>
            </a:r>
            <a:r>
              <a:rPr lang="bg-BG" sz="2300" dirty="0"/>
              <a:t> – щракни в лявата колона до реда с кода.</a:t>
            </a:r>
            <a:br>
              <a:rPr lang="bg-BG" sz="2300" dirty="0"/>
            </a:br>
            <a:r>
              <a:rPr lang="bg-BG" sz="2300" dirty="0"/>
              <a:t>Когато програмата достигне тази точка, тя спира изпълнението.</a:t>
            </a:r>
            <a:br>
              <a:rPr lang="bg-BG" sz="2300" dirty="0"/>
            </a:br>
            <a:r>
              <a:rPr lang="bg-BG" sz="2300" b="1" u="sng" dirty="0"/>
              <a:t>Стъпково изпълнение </a:t>
            </a:r>
            <a:r>
              <a:rPr lang="bg-BG" sz="2300" b="1" dirty="0"/>
              <a:t>(</a:t>
            </a:r>
            <a:r>
              <a:rPr lang="en-US" sz="2300" b="1" dirty="0"/>
              <a:t>Step-by-step execution)</a:t>
            </a:r>
            <a:r>
              <a:rPr lang="en-US" sz="2300" dirty="0"/>
              <a:t/>
            </a:r>
            <a:br>
              <a:rPr lang="en-US" sz="2300" dirty="0"/>
            </a:br>
            <a:r>
              <a:rPr lang="en-US" sz="2300" i="1" dirty="0"/>
              <a:t>Step Into (F11)</a:t>
            </a:r>
            <a:r>
              <a:rPr lang="en-US" sz="2300" dirty="0"/>
              <a:t> – </a:t>
            </a:r>
            <a:r>
              <a:rPr lang="bg-BG" sz="2300" dirty="0"/>
              <a:t>влиза в извикан метод.</a:t>
            </a:r>
            <a:br>
              <a:rPr lang="bg-BG" sz="2300" dirty="0"/>
            </a:br>
            <a:r>
              <a:rPr lang="en-US" sz="2300" i="1" dirty="0"/>
              <a:t>Step Over (F10)</a:t>
            </a:r>
            <a:r>
              <a:rPr lang="en-US" sz="2300" dirty="0"/>
              <a:t> – </a:t>
            </a:r>
            <a:r>
              <a:rPr lang="bg-BG" sz="2300" dirty="0"/>
              <a:t>прескача метода, но го изпълнява.</a:t>
            </a:r>
            <a:br>
              <a:rPr lang="bg-BG" sz="2300" dirty="0"/>
            </a:br>
            <a:r>
              <a:rPr lang="en-US" sz="2300" i="1" dirty="0"/>
              <a:t>Step Out (Shift+F11)</a:t>
            </a:r>
            <a:r>
              <a:rPr lang="en-US" sz="2300" dirty="0"/>
              <a:t> – </a:t>
            </a:r>
            <a:r>
              <a:rPr lang="bg-BG" sz="2300" dirty="0"/>
              <a:t>излиза от текущия метод.</a:t>
            </a:r>
            <a:br>
              <a:rPr lang="bg-BG" sz="2300" dirty="0"/>
            </a:br>
            <a:r>
              <a:rPr lang="bg-BG" sz="2300" b="1" u="sng" dirty="0"/>
              <a:t>Преглеждане на променливи </a:t>
            </a:r>
            <a:r>
              <a:rPr lang="bg-BG" sz="2300" b="1" dirty="0"/>
              <a:t>(</a:t>
            </a:r>
            <a:r>
              <a:rPr lang="en-US" sz="2300" b="1" dirty="0"/>
              <a:t>Watch / Locals / Autos Window)</a:t>
            </a:r>
            <a:r>
              <a:rPr lang="en-US" sz="2300" dirty="0"/>
              <a:t/>
            </a:r>
            <a:br>
              <a:rPr lang="en-US" sz="2300" dirty="0"/>
            </a:br>
            <a:r>
              <a:rPr lang="bg-BG" sz="2300" dirty="0"/>
              <a:t>Позволява да </a:t>
            </a:r>
            <a:r>
              <a:rPr lang="bg-BG" sz="2300" dirty="0" smtClean="0"/>
              <a:t>се наблюдават </a:t>
            </a:r>
            <a:r>
              <a:rPr lang="bg-BG" sz="2300" dirty="0"/>
              <a:t>стойностите на променливите по време на изпълнение.</a:t>
            </a:r>
            <a:br>
              <a:rPr lang="bg-BG" sz="2300" dirty="0"/>
            </a:br>
            <a:r>
              <a:rPr lang="bg-BG" sz="2300" b="1" dirty="0"/>
              <a:t>Използване на </a:t>
            </a:r>
            <a:r>
              <a:rPr lang="en-US" sz="2300" b="1" dirty="0"/>
              <a:t>Call Stack</a:t>
            </a:r>
            <a:r>
              <a:rPr lang="en-US" sz="2300" dirty="0"/>
              <a:t/>
            </a:r>
            <a:br>
              <a:rPr lang="en-US" sz="2300" dirty="0"/>
            </a:br>
            <a:r>
              <a:rPr lang="bg-BG" sz="2300" dirty="0"/>
              <a:t>Проследява пътя на извикванията на методи до текущия момент.</a:t>
            </a:r>
            <a:br>
              <a:rPr lang="bg-BG" sz="2300" dirty="0"/>
            </a:br>
            <a:endParaRPr lang="bg-BG" sz="2300" dirty="0"/>
          </a:p>
        </p:txBody>
      </p:sp>
    </p:spTree>
    <p:extLst>
      <p:ext uri="{BB962C8B-B14F-4D97-AF65-F5344CB8AC3E}">
        <p14:creationId xmlns:p14="http://schemas.microsoft.com/office/powerpoint/2010/main" val="206177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900374"/>
          </a:xfrm>
        </p:spPr>
        <p:txBody>
          <a:bodyPr/>
          <a:lstStyle/>
          <a:p>
            <a:r>
              <a:rPr lang="ru-RU" b="1" dirty="0" smtClean="0"/>
              <a:t>2.Използване </a:t>
            </a:r>
            <a:r>
              <a:rPr lang="ru-RU" b="1" dirty="0"/>
              <a:t>на логове (Logging)</a:t>
            </a:r>
            <a:br>
              <a:rPr lang="ru-RU" b="1" dirty="0"/>
            </a:br>
            <a:r>
              <a:rPr lang="ru-RU" dirty="0"/>
              <a:t>Полезно, когато не можеш да използваш дебъгер (например при работа със сървърни приложения).</a:t>
            </a:r>
            <a:br>
              <a:rPr lang="ru-RU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30259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900374"/>
          </a:xfrm>
        </p:spPr>
        <p:txBody>
          <a:bodyPr/>
          <a:lstStyle/>
          <a:p>
            <a:r>
              <a:rPr lang="en-US" sz="1200" dirty="0"/>
              <a:t>using System;</a:t>
            </a:r>
            <a:br>
              <a:rPr lang="en-US" sz="1200" dirty="0"/>
            </a:br>
            <a:r>
              <a:rPr lang="en-US" sz="2000" b="1" dirty="0">
                <a:solidFill>
                  <a:srgbClr val="FF0000"/>
                </a:solidFill>
              </a:rPr>
              <a:t>using </a:t>
            </a:r>
            <a:r>
              <a:rPr lang="en-US" sz="2000" b="1" dirty="0" err="1">
                <a:solidFill>
                  <a:srgbClr val="FF0000"/>
                </a:solidFill>
              </a:rPr>
              <a:t>Microsoft.Extensions.Logging</a:t>
            </a:r>
            <a:r>
              <a:rPr lang="en-US" sz="2000" b="1" dirty="0">
                <a:solidFill>
                  <a:srgbClr val="FF0000"/>
                </a:solidFill>
              </a:rPr>
              <a:t>;</a:t>
            </a:r>
            <a:br>
              <a:rPr lang="en-US" sz="2000" b="1" dirty="0">
                <a:solidFill>
                  <a:srgbClr val="FF0000"/>
                </a:solidFill>
              </a:rPr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class Program</a:t>
            </a:r>
            <a:br>
              <a:rPr lang="en-US" sz="1200" dirty="0"/>
            </a:b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/>
              <a:t>    private static </a:t>
            </a:r>
            <a:r>
              <a:rPr lang="en-US" sz="1200" dirty="0" err="1"/>
              <a:t>readonly</a:t>
            </a:r>
            <a:r>
              <a:rPr lang="en-US" sz="1200" dirty="0"/>
              <a:t> </a:t>
            </a:r>
            <a:r>
              <a:rPr lang="en-US" sz="1200" dirty="0" err="1"/>
              <a:t>ILogger</a:t>
            </a:r>
            <a:r>
              <a:rPr lang="en-US" sz="1200" dirty="0"/>
              <a:t>&lt;Program&gt; logger = </a:t>
            </a:r>
            <a:r>
              <a:rPr lang="en-US" sz="1200" dirty="0" err="1"/>
              <a:t>LoggerFactory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        .Create(builder =&gt; </a:t>
            </a:r>
            <a:r>
              <a:rPr lang="en-US" sz="1200" dirty="0" err="1"/>
              <a:t>builder.AddConsole</a:t>
            </a:r>
            <a:r>
              <a:rPr lang="en-US" sz="1200" dirty="0"/>
              <a:t>())</a:t>
            </a:r>
            <a:br>
              <a:rPr lang="en-US" sz="1200" dirty="0"/>
            </a:br>
            <a:r>
              <a:rPr lang="en-US" sz="1200" dirty="0"/>
              <a:t>        .</a:t>
            </a:r>
            <a:r>
              <a:rPr lang="en-US" sz="1200" dirty="0" err="1"/>
              <a:t>CreateLogger</a:t>
            </a:r>
            <a:r>
              <a:rPr lang="en-US" sz="1200" dirty="0"/>
              <a:t>&lt;Program&gt;();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    static void Main()</a:t>
            </a:r>
            <a:br>
              <a:rPr lang="en-US" sz="1200" dirty="0"/>
            </a:br>
            <a:r>
              <a:rPr lang="en-US" sz="1200" dirty="0"/>
              <a:t>    {</a:t>
            </a:r>
            <a:br>
              <a:rPr lang="en-US" sz="1200" dirty="0"/>
            </a:br>
            <a:r>
              <a:rPr lang="en-US" sz="1200" dirty="0"/>
              <a:t>        try</a:t>
            </a:r>
            <a:br>
              <a:rPr lang="en-US" sz="1200" dirty="0"/>
            </a:br>
            <a:r>
              <a:rPr lang="en-US" sz="1200" dirty="0"/>
              <a:t>        {</a:t>
            </a:r>
            <a:br>
              <a:rPr lang="en-US" sz="1200" dirty="0"/>
            </a:br>
            <a:r>
              <a:rPr lang="en-US" sz="1200" dirty="0"/>
              <a:t>            </a:t>
            </a:r>
            <a:r>
              <a:rPr lang="en-US" sz="1200" dirty="0" err="1"/>
              <a:t>int</a:t>
            </a:r>
            <a:r>
              <a:rPr lang="en-US" sz="1200" dirty="0"/>
              <a:t> result = Divide(10, 0);</a:t>
            </a:r>
            <a:br>
              <a:rPr lang="en-US" sz="1200" dirty="0"/>
            </a:br>
            <a:r>
              <a:rPr lang="en-US" sz="1200" dirty="0"/>
              <a:t>            </a:t>
            </a:r>
            <a:r>
              <a:rPr lang="en-US" sz="1200" dirty="0" err="1"/>
              <a:t>Console.WriteLine</a:t>
            </a:r>
            <a:r>
              <a:rPr lang="en-US" sz="1200" dirty="0"/>
              <a:t>(result);</a:t>
            </a:r>
            <a:br>
              <a:rPr lang="en-US" sz="1200" dirty="0"/>
            </a:br>
            <a:r>
              <a:rPr lang="en-US" sz="1200" dirty="0"/>
              <a:t>        }</a:t>
            </a:r>
            <a:br>
              <a:rPr lang="en-US" sz="1200" dirty="0"/>
            </a:br>
            <a:r>
              <a:rPr lang="en-US" sz="1200" dirty="0"/>
              <a:t>        catch (Exception ex)</a:t>
            </a:r>
            <a:br>
              <a:rPr lang="en-US" sz="1200" dirty="0"/>
            </a:br>
            <a:r>
              <a:rPr lang="en-US" sz="1200" dirty="0"/>
              <a:t>        {</a:t>
            </a:r>
            <a:br>
              <a:rPr lang="en-US" sz="1200" dirty="0"/>
            </a:br>
            <a:r>
              <a:rPr lang="en-US" sz="1200" dirty="0"/>
              <a:t>            </a:t>
            </a:r>
            <a:r>
              <a:rPr lang="en-US" sz="1200" dirty="0" err="1"/>
              <a:t>logger.LogError</a:t>
            </a:r>
            <a:r>
              <a:rPr lang="en-US" sz="1200" dirty="0"/>
              <a:t>(ex, "</a:t>
            </a:r>
            <a:r>
              <a:rPr lang="bg-BG" sz="1200" dirty="0"/>
              <a:t>Възникна грешка при делене");</a:t>
            </a:r>
            <a:br>
              <a:rPr lang="bg-BG" sz="1200" dirty="0"/>
            </a:br>
            <a:r>
              <a:rPr lang="bg-BG" sz="1200" dirty="0"/>
              <a:t>        }</a:t>
            </a:r>
            <a:br>
              <a:rPr lang="bg-BG" sz="1200" dirty="0"/>
            </a:br>
            <a:r>
              <a:rPr lang="bg-BG" sz="1200" dirty="0"/>
              <a:t>    }</a:t>
            </a:r>
            <a:br>
              <a:rPr lang="bg-BG" sz="1200" dirty="0"/>
            </a:br>
            <a:r>
              <a:rPr lang="bg-BG" sz="1200" dirty="0"/>
              <a:t/>
            </a:r>
            <a:br>
              <a:rPr lang="bg-BG" sz="1200" dirty="0"/>
            </a:br>
            <a:r>
              <a:rPr lang="bg-BG" sz="1200" dirty="0"/>
              <a:t>    </a:t>
            </a:r>
            <a:r>
              <a:rPr lang="en-US" sz="1200" dirty="0"/>
              <a:t>static </a:t>
            </a:r>
            <a:r>
              <a:rPr lang="en-US" sz="1200" dirty="0" err="1"/>
              <a:t>int</a:t>
            </a:r>
            <a:r>
              <a:rPr lang="en-US" sz="1200" dirty="0"/>
              <a:t> Divide(</a:t>
            </a:r>
            <a:r>
              <a:rPr lang="en-US" sz="1200" dirty="0" err="1"/>
              <a:t>int</a:t>
            </a:r>
            <a:r>
              <a:rPr lang="en-US" sz="1200" dirty="0"/>
              <a:t> a, </a:t>
            </a:r>
            <a:r>
              <a:rPr lang="en-US" sz="1200" dirty="0" err="1"/>
              <a:t>int</a:t>
            </a:r>
            <a:r>
              <a:rPr lang="en-US" sz="1200" dirty="0"/>
              <a:t> b)</a:t>
            </a:r>
            <a:br>
              <a:rPr lang="en-US" sz="1200" dirty="0"/>
            </a:br>
            <a:r>
              <a:rPr lang="en-US" sz="1200" dirty="0"/>
              <a:t>    {</a:t>
            </a:r>
            <a:br>
              <a:rPr lang="en-US" sz="1200" dirty="0"/>
            </a:br>
            <a:r>
              <a:rPr lang="en-US" sz="1200" dirty="0"/>
              <a:t>        return a / b;</a:t>
            </a:r>
            <a:br>
              <a:rPr lang="en-US" sz="1200" dirty="0"/>
            </a:br>
            <a:r>
              <a:rPr lang="en-US" sz="1200" dirty="0"/>
              <a:t>    }</a:t>
            </a:r>
            <a:br>
              <a:rPr lang="en-US" sz="1200" dirty="0"/>
            </a:br>
            <a:r>
              <a:rPr lang="en-US" sz="1200" dirty="0"/>
              <a:t>}</a:t>
            </a:r>
            <a:endParaRPr lang="bg-BG" sz="1200" dirty="0"/>
          </a:p>
        </p:txBody>
      </p:sp>
    </p:spTree>
    <p:extLst>
      <p:ext uri="{BB962C8B-B14F-4D97-AF65-F5344CB8AC3E}">
        <p14:creationId xmlns:p14="http://schemas.microsoft.com/office/powerpoint/2010/main" val="1691977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3.Unit </a:t>
            </a:r>
            <a:r>
              <a:rPr lang="ru-RU" b="1" dirty="0"/>
              <a:t>тестове (Unit Testing)</a:t>
            </a:r>
            <a:br>
              <a:rPr lang="ru-RU" b="1" dirty="0"/>
            </a:br>
            <a:r>
              <a:rPr lang="ru-RU" dirty="0"/>
              <a:t>Тестовете позволяват автоматично откриване на грешки при промени в кода.</a:t>
            </a:r>
            <a:br>
              <a:rPr lang="ru-RU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47932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590273"/>
          </a:xfrm>
        </p:spPr>
        <p:txBody>
          <a:bodyPr/>
          <a:lstStyle/>
          <a:p>
            <a:r>
              <a:rPr lang="en-US" sz="2400" b="1" u="sng" dirty="0">
                <a:solidFill>
                  <a:srgbClr val="FF0000"/>
                </a:solidFill>
              </a:rPr>
              <a:t>using </a:t>
            </a:r>
            <a:r>
              <a:rPr lang="en-US" sz="2400" b="1" u="sng" dirty="0" err="1">
                <a:solidFill>
                  <a:srgbClr val="FF0000"/>
                </a:solidFill>
              </a:rPr>
              <a:t>Xunit</a:t>
            </a:r>
            <a:r>
              <a:rPr lang="en-US" sz="2400" b="1" u="sng" dirty="0">
                <a:solidFill>
                  <a:srgbClr val="FF0000"/>
                </a:solidFill>
              </a:rPr>
              <a:t>;</a:t>
            </a:r>
            <a:br>
              <a:rPr lang="en-US" sz="2400" b="1" u="sng" dirty="0">
                <a:solidFill>
                  <a:srgbClr val="FF0000"/>
                </a:solidFill>
              </a:rPr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public class </a:t>
            </a:r>
            <a:r>
              <a:rPr lang="en-US" sz="2400" dirty="0" err="1"/>
              <a:t>MathTests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{</a:t>
            </a:r>
            <a:br>
              <a:rPr lang="en-US" sz="2400" dirty="0"/>
            </a:br>
            <a:r>
              <a:rPr lang="en-US" sz="2400" dirty="0"/>
              <a:t>    [Fact]</a:t>
            </a:r>
            <a:br>
              <a:rPr lang="en-US" sz="2400" dirty="0"/>
            </a:br>
            <a:r>
              <a:rPr lang="en-US" sz="2400" dirty="0"/>
              <a:t>    public void </a:t>
            </a:r>
            <a:r>
              <a:rPr lang="en-US" sz="2400" dirty="0" err="1"/>
              <a:t>Divide_WhenDividingByZero_ShouldThrowException</a:t>
            </a:r>
            <a:r>
              <a:rPr lang="en-US" sz="2400" dirty="0"/>
              <a:t>()</a:t>
            </a:r>
            <a:br>
              <a:rPr lang="en-US" sz="2400" dirty="0"/>
            </a:br>
            <a:r>
              <a:rPr lang="en-US" sz="2400" dirty="0"/>
              <a:t>    {</a:t>
            </a:r>
            <a:br>
              <a:rPr lang="en-US" sz="2400" dirty="0"/>
            </a:br>
            <a:r>
              <a:rPr lang="en-US" sz="2400" dirty="0"/>
              <a:t>        </a:t>
            </a:r>
            <a:r>
              <a:rPr lang="en-US" sz="2400" dirty="0" err="1"/>
              <a:t>Assert.Throws</a:t>
            </a:r>
            <a:r>
              <a:rPr lang="en-US" sz="2400" dirty="0"/>
              <a:t>&lt;</a:t>
            </a:r>
            <a:r>
              <a:rPr lang="en-US" sz="2400" dirty="0" err="1"/>
              <a:t>DivideByZeroException</a:t>
            </a:r>
            <a:r>
              <a:rPr lang="en-US" sz="2400" dirty="0"/>
              <a:t>&gt;(() =&gt; Divide(10, 0));</a:t>
            </a:r>
            <a:br>
              <a:rPr lang="en-US" sz="2400" dirty="0"/>
            </a:br>
            <a:r>
              <a:rPr lang="en-US" sz="2400" dirty="0"/>
              <a:t>    }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int</a:t>
            </a:r>
            <a:r>
              <a:rPr lang="en-US" sz="2400" dirty="0"/>
              <a:t> Divide(</a:t>
            </a:r>
            <a:r>
              <a:rPr lang="en-US" sz="2400" dirty="0" err="1"/>
              <a:t>int</a:t>
            </a:r>
            <a:r>
              <a:rPr lang="en-US" sz="2400" dirty="0"/>
              <a:t> a, </a:t>
            </a:r>
            <a:r>
              <a:rPr lang="en-US" sz="2400" dirty="0" err="1"/>
              <a:t>int</a:t>
            </a:r>
            <a:r>
              <a:rPr lang="en-US" sz="2400" dirty="0"/>
              <a:t> b) =&gt; a / b;</a:t>
            </a:r>
            <a:br>
              <a:rPr lang="en-US" sz="2400" dirty="0"/>
            </a:br>
            <a:r>
              <a:rPr lang="en-US" sz="2400" dirty="0"/>
              <a:t>}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432083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4151087"/>
          </a:xfrm>
        </p:spPr>
        <p:txBody>
          <a:bodyPr/>
          <a:lstStyle/>
          <a:p>
            <a:r>
              <a:rPr lang="ru-RU" dirty="0" smtClean="0"/>
              <a:t>                   Предимства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 smtClean="0"/>
              <a:t>-Автоматизация </a:t>
            </a:r>
            <a:r>
              <a:rPr lang="ru-RU" dirty="0"/>
              <a:t>на проверките</a:t>
            </a:r>
            <a:br>
              <a:rPr lang="ru-RU" dirty="0"/>
            </a:br>
            <a:r>
              <a:rPr lang="ru-RU" dirty="0" smtClean="0"/>
              <a:t>-Лесно </a:t>
            </a:r>
            <a:r>
              <a:rPr lang="ru-RU" dirty="0"/>
              <a:t>откриване на нови грешки след промени в кода (regression testing)</a:t>
            </a:r>
            <a:br>
              <a:rPr lang="ru-RU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39896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844715"/>
          </a:xfrm>
        </p:spPr>
        <p:txBody>
          <a:bodyPr/>
          <a:lstStyle/>
          <a:p>
            <a:r>
              <a:rPr lang="bg-BG" sz="2800" b="1" dirty="0"/>
              <a:t>4. Използване на статичен анализ и инструменти за качество на кода</a:t>
            </a:r>
            <a:br>
              <a:rPr lang="bg-BG" sz="2800" b="1" dirty="0"/>
            </a:br>
            <a:r>
              <a:rPr lang="bg-BG" sz="2800" dirty="0"/>
              <a:t>Тези инструменти откриват потенциални грешки </a:t>
            </a:r>
            <a:r>
              <a:rPr lang="bg-BG" sz="2800" b="1" dirty="0"/>
              <a:t>преди изпълнение</a:t>
            </a:r>
            <a:r>
              <a:rPr lang="bg-BG" sz="2800" dirty="0"/>
              <a:t> на програмата.</a:t>
            </a:r>
            <a:br>
              <a:rPr lang="bg-BG" sz="2800" dirty="0"/>
            </a:br>
            <a:r>
              <a:rPr lang="bg-BG" sz="2800" b="1" dirty="0"/>
              <a:t>Примери:</a:t>
            </a:r>
            <a:br>
              <a:rPr lang="bg-BG" sz="2800" b="1" dirty="0"/>
            </a:br>
            <a:r>
              <a:rPr lang="en-US" sz="2800" b="1" dirty="0"/>
              <a:t>Visual Studio Code Analysis (Roslyn Analyzers)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b="1" dirty="0" err="1"/>
              <a:t>ReSharper</a:t>
            </a:r>
            <a:r>
              <a:rPr lang="en-US" sz="2800" b="1" dirty="0"/>
              <a:t> / Rider Code Inspections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b="1" dirty="0" err="1"/>
              <a:t>SonarQube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b="1" dirty="0" err="1"/>
              <a:t>StyleCop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bg-BG" sz="2800" dirty="0" smtClean="0"/>
              <a:t>Те </a:t>
            </a:r>
            <a:r>
              <a:rPr lang="bg-BG" sz="2800" dirty="0"/>
              <a:t>откриват:</a:t>
            </a:r>
            <a:br>
              <a:rPr lang="bg-BG" sz="2800" dirty="0"/>
            </a:br>
            <a:r>
              <a:rPr lang="bg-BG" sz="2800" dirty="0"/>
              <a:t>Неизползвани променливи</a:t>
            </a:r>
            <a:br>
              <a:rPr lang="bg-BG" sz="2800" dirty="0"/>
            </a:br>
            <a:r>
              <a:rPr lang="bg-BG" sz="2800" dirty="0"/>
              <a:t>Потенциални </a:t>
            </a:r>
            <a:r>
              <a:rPr lang="en-US" sz="2800" dirty="0"/>
              <a:t>null-reference </a:t>
            </a:r>
            <a:r>
              <a:rPr lang="bg-BG" sz="2800" dirty="0"/>
              <a:t>грешки</a:t>
            </a:r>
            <a:br>
              <a:rPr lang="bg-BG" sz="2800" dirty="0"/>
            </a:br>
            <a:r>
              <a:rPr lang="bg-BG" sz="2800" dirty="0"/>
              <a:t>Неправилна логика или лоши практики</a:t>
            </a:r>
            <a:br>
              <a:rPr lang="bg-BG" sz="2800" dirty="0"/>
            </a:b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1312904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868" y="856211"/>
            <a:ext cx="9404723" cy="45719"/>
          </a:xfrm>
        </p:spPr>
        <p:txBody>
          <a:bodyPr/>
          <a:lstStyle/>
          <a:p>
            <a:r>
              <a:rPr lang="ru-RU" b="1" dirty="0"/>
              <a:t>5. Try/Catch блокове и обработка на изключения</a:t>
            </a:r>
            <a:br>
              <a:rPr lang="ru-RU" b="1" dirty="0"/>
            </a:br>
            <a:r>
              <a:rPr lang="ru-RU" dirty="0"/>
              <a:t>Добра практика е да </a:t>
            </a:r>
            <a:r>
              <a:rPr lang="ru-RU" dirty="0" smtClean="0"/>
              <a:t>се улавят </a:t>
            </a:r>
            <a:r>
              <a:rPr lang="ru-RU" dirty="0"/>
              <a:t>изключения и да </a:t>
            </a:r>
            <a:r>
              <a:rPr lang="ru-RU" dirty="0" smtClean="0"/>
              <a:t>се анализират:</a:t>
            </a:r>
            <a:br>
              <a:rPr lang="ru-RU" dirty="0" smtClean="0"/>
            </a:br>
            <a:r>
              <a:rPr lang="ru-RU" dirty="0"/>
              <a:t/>
            </a:r>
            <a:br>
              <a:rPr lang="ru-RU" dirty="0"/>
            </a:br>
            <a:endParaRPr lang="bg-BG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12366" y="4848244"/>
            <a:ext cx="108883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Никога не използвай празен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catch { }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– така скриваш реалните грешки. </a:t>
            </a:r>
            <a:endParaRPr kumimoji="0" lang="bg-BG" altLang="bg-BG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15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723638"/>
          </a:xfrm>
        </p:spPr>
        <p:txBody>
          <a:bodyPr/>
          <a:lstStyle/>
          <a:p>
            <a:r>
              <a:rPr lang="en-US" dirty="0"/>
              <a:t>try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// </a:t>
            </a:r>
            <a:r>
              <a:rPr lang="bg-BG" dirty="0"/>
              <a:t>Опасен код</a:t>
            </a:r>
            <a:br>
              <a:rPr lang="bg-BG" dirty="0"/>
            </a:br>
            <a:r>
              <a:rPr lang="bg-BG" dirty="0"/>
              <a:t>}</a:t>
            </a:r>
            <a:br>
              <a:rPr lang="bg-BG" dirty="0"/>
            </a:br>
            <a:r>
              <a:rPr lang="en-US" dirty="0"/>
              <a:t>catch (Exception ex)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Console.WriteLine</a:t>
            </a:r>
            <a:r>
              <a:rPr lang="en-US" dirty="0"/>
              <a:t>($"</a:t>
            </a:r>
            <a:r>
              <a:rPr lang="bg-BG" dirty="0"/>
              <a:t>Грешка: {</a:t>
            </a:r>
            <a:r>
              <a:rPr lang="en-US" dirty="0" err="1"/>
              <a:t>ex.Message</a:t>
            </a:r>
            <a:r>
              <a:rPr lang="en-US" dirty="0"/>
              <a:t>}");</a:t>
            </a:r>
            <a:br>
              <a:rPr lang="en-US" dirty="0"/>
            </a:br>
            <a:r>
              <a:rPr lang="en-US" dirty="0"/>
              <a:t>}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870684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6138913"/>
          </a:xfrm>
        </p:spPr>
        <p:txBody>
          <a:bodyPr/>
          <a:lstStyle/>
          <a:p>
            <a:r>
              <a:rPr lang="ru-RU" sz="2800" b="1" dirty="0"/>
              <a:t>6. Debug клас (System.Diagnostics.Debug)</a:t>
            </a:r>
            <a:br>
              <a:rPr lang="ru-RU" sz="2800" b="1" dirty="0"/>
            </a:br>
            <a:r>
              <a:rPr lang="ru-RU" sz="2800" dirty="0"/>
              <a:t>Позволява да </a:t>
            </a:r>
            <a:r>
              <a:rPr lang="ru-RU" sz="2800" dirty="0" smtClean="0"/>
              <a:t>се изведе </a:t>
            </a:r>
            <a:r>
              <a:rPr lang="ru-RU" sz="2800" dirty="0"/>
              <a:t>информация само в debug режим:</a:t>
            </a:r>
            <a:br>
              <a:rPr lang="ru-RU" sz="2800" dirty="0"/>
            </a:b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en-US" sz="2000" b="1" u="sng" dirty="0">
                <a:solidFill>
                  <a:srgbClr val="FF0000"/>
                </a:solidFill>
              </a:rPr>
              <a:t>using </a:t>
            </a:r>
            <a:r>
              <a:rPr lang="en-US" sz="2000" b="1" u="sng" dirty="0" err="1">
                <a:solidFill>
                  <a:srgbClr val="FF0000"/>
                </a:solidFill>
              </a:rPr>
              <a:t>System.Diagnostics</a:t>
            </a:r>
            <a:r>
              <a:rPr lang="en-US" sz="2000" b="1" u="sng" dirty="0">
                <a:solidFill>
                  <a:srgbClr val="FF0000"/>
                </a:solidFill>
              </a:rPr>
              <a:t>;</a:t>
            </a:r>
            <a:br>
              <a:rPr lang="en-US" sz="2000" b="1" u="sng" dirty="0">
                <a:solidFill>
                  <a:srgbClr val="FF0000"/>
                </a:solidFill>
              </a:rPr>
            </a:br>
            <a:r>
              <a:rPr lang="en-US" sz="2000" b="1" u="sng" dirty="0">
                <a:solidFill>
                  <a:srgbClr val="FF0000"/>
                </a:solidFill>
              </a:rPr>
              <a:t/>
            </a:r>
            <a:br>
              <a:rPr lang="en-US" sz="2000" b="1" u="sng" dirty="0">
                <a:solidFill>
                  <a:srgbClr val="FF0000"/>
                </a:solidFill>
              </a:rPr>
            </a:br>
            <a:r>
              <a:rPr lang="en-US" sz="2000" b="1" u="sng" dirty="0" err="1" smtClean="0">
                <a:solidFill>
                  <a:srgbClr val="FF0000"/>
                </a:solidFill>
              </a:rPr>
              <a:t>Debug.WriteLine</a:t>
            </a:r>
            <a:r>
              <a:rPr lang="en-US" sz="2000" b="1" u="sng" dirty="0">
                <a:solidFill>
                  <a:srgbClr val="FF0000"/>
                </a:solidFill>
              </a:rPr>
              <a:t>("</a:t>
            </a:r>
            <a:r>
              <a:rPr lang="ru-RU" sz="2000" b="1" u="sng" dirty="0">
                <a:solidFill>
                  <a:srgbClr val="FF0000"/>
                </a:solidFill>
              </a:rPr>
              <a:t>Тук сме в </a:t>
            </a:r>
            <a:r>
              <a:rPr lang="en-US" sz="2000" b="1" u="sng" dirty="0">
                <a:solidFill>
                  <a:srgbClr val="FF0000"/>
                </a:solidFill>
              </a:rPr>
              <a:t>debug </a:t>
            </a:r>
            <a:r>
              <a:rPr lang="ru-RU" sz="2000" b="1" u="sng" dirty="0">
                <a:solidFill>
                  <a:srgbClr val="FF0000"/>
                </a:solidFill>
              </a:rPr>
              <a:t>режим</a:t>
            </a:r>
            <a:r>
              <a:rPr lang="ru-RU" sz="2000" b="1" u="sng" dirty="0" smtClean="0">
                <a:solidFill>
                  <a:srgbClr val="FF0000"/>
                </a:solidFill>
              </a:rPr>
              <a:t>");  </a:t>
            </a:r>
            <a:r>
              <a:rPr lang="ru-RU" sz="3200" b="1" u="sng" dirty="0" smtClean="0"/>
              <a:t/>
            </a:r>
            <a:br>
              <a:rPr lang="ru-RU" sz="3200" b="1" u="sng" dirty="0" smtClean="0"/>
            </a:br>
            <a:r>
              <a:rPr lang="bg-BG" sz="2800" b="1" dirty="0"/>
              <a:t>7. Профилиране и анализ на производителността</a:t>
            </a:r>
            <a:br>
              <a:rPr lang="bg-BG" sz="2800" b="1" dirty="0"/>
            </a:br>
            <a:r>
              <a:rPr lang="bg-BG" sz="2800" dirty="0"/>
              <a:t>Понякога грешките са логически, но свързани с </a:t>
            </a:r>
            <a:r>
              <a:rPr lang="bg-BG" sz="2800" b="1" dirty="0"/>
              <a:t>бавна работа или </a:t>
            </a:r>
            <a:r>
              <a:rPr lang="en-US" sz="2800" b="1" dirty="0"/>
              <a:t>memory leaks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bg-BG" sz="2800" dirty="0"/>
              <a:t>Инструменти:</a:t>
            </a:r>
            <a:br>
              <a:rPr lang="bg-BG" sz="2800" dirty="0"/>
            </a:br>
            <a:r>
              <a:rPr lang="en-US" sz="2800" dirty="0"/>
              <a:t>Visual Studio </a:t>
            </a:r>
            <a:r>
              <a:rPr lang="en-US" sz="2800" b="1" dirty="0"/>
              <a:t>Performance Profiler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3200" b="1" dirty="0" err="1"/>
              <a:t>dotTrace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b="1" dirty="0" err="1"/>
              <a:t>dotMemory</a:t>
            </a:r>
            <a:r>
              <a:rPr lang="en-US" sz="3200" dirty="0"/>
              <a:t/>
            </a:r>
            <a:br>
              <a:rPr lang="en-US" sz="3200" dirty="0"/>
            </a:br>
            <a:endParaRPr lang="bg-BG" sz="3200" u="sng" dirty="0"/>
          </a:p>
        </p:txBody>
      </p:sp>
    </p:spTree>
    <p:extLst>
      <p:ext uri="{BB962C8B-B14F-4D97-AF65-F5344CB8AC3E}">
        <p14:creationId xmlns:p14="http://schemas.microsoft.com/office/powerpoint/2010/main" val="11741164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83</Words>
  <Application>Microsoft Office PowerPoint</Application>
  <PresentationFormat>Widescreen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Century Gothic</vt:lpstr>
      <vt:lpstr>Wingdings 3</vt:lpstr>
      <vt:lpstr>Ion</vt:lpstr>
      <vt:lpstr>Запознаване с различни методики за търсене на дефекти</vt:lpstr>
      <vt:lpstr>1. Използване на дебъгер (Debugger) в Visual Studio / Rider Най-често използваният и мощен метод. Основни стъпки: Поставяне на Breakpoints (точки на прекъсване) – щракни в лявата колона до реда с кода. Когато програмата достигне тази точка, тя спира изпълнението. Стъпково изпълнение (Step-by-step execution) Step Into (F11) – влиза в извикан метод. Step Over (F10) – прескача метода, но го изпълнява. Step Out (Shift+F11) – излиза от текущия метод. Преглеждане на променливи (Watch / Locals / Autos Window) Позволява да се наблюдават стойностите на променливите по време на изпълнение. Използване на Call Stack Проследява пътя на извикванията на методи до текущия момент. </vt:lpstr>
      <vt:lpstr>2.Използване на логове (Logging) Полезно, когато не можеш да използваш дебъгер (например при работа със сървърни приложения). </vt:lpstr>
      <vt:lpstr>using System; using Microsoft.Extensions.Logging;  class Program {     private static readonly ILogger&lt;Program&gt; logger = LoggerFactory         .Create(builder =&gt; builder.AddConsole())         .CreateLogger&lt;Program&gt;();      static void Main()     {         try         {             int result = Divide(10, 0);             Console.WriteLine(result);         }         catch (Exception ex)         {             logger.LogError(ex, "Възникна грешка при делене");         }     }      static int Divide(int a, int b)     {         return a / b;     } }</vt:lpstr>
      <vt:lpstr>3.Unit тестове (Unit Testing) Тестовете позволяват автоматично откриване на грешки при промени в кода. </vt:lpstr>
      <vt:lpstr>using Xunit;  public class MathTests {     [Fact]     public void Divide_WhenDividingByZero_ShouldThrowException()     {         Assert.Throws&lt;DivideByZeroException&gt;(() =&gt; Divide(10, 0));     }      int Divide(int a, int b) =&gt; a / b; }</vt:lpstr>
      <vt:lpstr>                   Предимства: -Автоматизация на проверките -Лесно откриване на нови грешки след промени в кода (regression testing) </vt:lpstr>
      <vt:lpstr>4. Използване на статичен анализ и инструменти за качество на кода Тези инструменти откриват потенциални грешки преди изпълнение на програмата. Примери: Visual Studio Code Analysis (Roslyn Analyzers) ReSharper / Rider Code Inspections SonarQube StyleCop Те откриват: Неизползвани променливи Потенциални null-reference грешки Неправилна логика или лоши практики </vt:lpstr>
      <vt:lpstr>5. Try/Catch блокове и обработка на изключения Добра практика е да се улавят изключения и да се анализират:  </vt:lpstr>
      <vt:lpstr>try {     // Опасен код } catch (Exception ex) {     Console.WriteLine($"Грешка: {ex.Message}"); }</vt:lpstr>
      <vt:lpstr>6. Debug клас (System.Diagnostics.Debug) Позволява да се изведе информация само в debug режим:  using System.Diagnostics;  Debug.WriteLine("Тук сме в debug режим");   7. Профилиране и анализ на производителността Понякога грешките са логически, но свързани с бавна работа или memory leaks. Инструменти: Visual Studio Performance Profiler dotTrace dotMemory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Запознаване с различни методики за търсене на дефекти</dc:title>
  <dc:creator>Neli Nqgolova</dc:creator>
  <cp:lastModifiedBy>Neli Nqgolova</cp:lastModifiedBy>
  <cp:revision>6</cp:revision>
  <dcterms:created xsi:type="dcterms:W3CDTF">2025-10-16T09:22:50Z</dcterms:created>
  <dcterms:modified xsi:type="dcterms:W3CDTF">2025-10-16T09:35:07Z</dcterms:modified>
</cp:coreProperties>
</file>