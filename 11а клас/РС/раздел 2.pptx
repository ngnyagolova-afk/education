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90" r:id="rId4"/>
    <p:sldId id="258" r:id="rId5"/>
    <p:sldId id="259" r:id="rId6"/>
    <p:sldId id="291" r:id="rId7"/>
    <p:sldId id="260" r:id="rId8"/>
    <p:sldId id="261" r:id="rId9"/>
    <p:sldId id="262" r:id="rId10"/>
    <p:sldId id="263" r:id="rId11"/>
    <p:sldId id="358" r:id="rId12"/>
    <p:sldId id="264" r:id="rId13"/>
    <p:sldId id="265" r:id="rId14"/>
    <p:sldId id="266" r:id="rId15"/>
    <p:sldId id="267" r:id="rId16"/>
    <p:sldId id="268" r:id="rId17"/>
    <p:sldId id="292" r:id="rId18"/>
    <p:sldId id="269" r:id="rId19"/>
    <p:sldId id="270" r:id="rId20"/>
    <p:sldId id="359" r:id="rId21"/>
    <p:sldId id="271" r:id="rId22"/>
    <p:sldId id="293" r:id="rId23"/>
    <p:sldId id="272" r:id="rId24"/>
    <p:sldId id="273" r:id="rId25"/>
    <p:sldId id="274" r:id="rId26"/>
    <p:sldId id="275" r:id="rId27"/>
    <p:sldId id="294" r:id="rId28"/>
    <p:sldId id="295" r:id="rId29"/>
    <p:sldId id="296" r:id="rId30"/>
    <p:sldId id="298" r:id="rId31"/>
    <p:sldId id="297" r:id="rId32"/>
    <p:sldId id="299" r:id="rId33"/>
    <p:sldId id="300" r:id="rId34"/>
    <p:sldId id="301" r:id="rId35"/>
    <p:sldId id="302" r:id="rId36"/>
    <p:sldId id="303" r:id="rId37"/>
    <p:sldId id="304" r:id="rId38"/>
    <p:sldId id="309" r:id="rId39"/>
    <p:sldId id="305" r:id="rId40"/>
    <p:sldId id="310" r:id="rId41"/>
    <p:sldId id="306" r:id="rId42"/>
    <p:sldId id="311" r:id="rId43"/>
    <p:sldId id="307" r:id="rId44"/>
    <p:sldId id="312" r:id="rId45"/>
    <p:sldId id="308" r:id="rId46"/>
    <p:sldId id="313" r:id="rId47"/>
    <p:sldId id="360" r:id="rId48"/>
    <p:sldId id="276" r:id="rId49"/>
    <p:sldId id="314" r:id="rId50"/>
    <p:sldId id="277" r:id="rId51"/>
    <p:sldId id="278" r:id="rId52"/>
    <p:sldId id="279" r:id="rId53"/>
    <p:sldId id="280" r:id="rId54"/>
    <p:sldId id="281" r:id="rId55"/>
    <p:sldId id="315" r:id="rId56"/>
    <p:sldId id="316" r:id="rId57"/>
    <p:sldId id="361" r:id="rId58"/>
    <p:sldId id="282" r:id="rId59"/>
    <p:sldId id="317" r:id="rId60"/>
    <p:sldId id="283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30" r:id="rId69"/>
    <p:sldId id="327" r:id="rId70"/>
    <p:sldId id="331" r:id="rId71"/>
    <p:sldId id="328" r:id="rId72"/>
    <p:sldId id="332" r:id="rId73"/>
    <p:sldId id="329" r:id="rId74"/>
    <p:sldId id="333" r:id="rId75"/>
    <p:sldId id="325" r:id="rId76"/>
    <p:sldId id="334" r:id="rId77"/>
    <p:sldId id="362" r:id="rId78"/>
    <p:sldId id="335" r:id="rId79"/>
    <p:sldId id="336" r:id="rId80"/>
    <p:sldId id="284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63" r:id="rId89"/>
    <p:sldId id="344" r:id="rId90"/>
    <p:sldId id="345" r:id="rId91"/>
    <p:sldId id="285" r:id="rId92"/>
    <p:sldId id="346" r:id="rId93"/>
    <p:sldId id="347" r:id="rId94"/>
    <p:sldId id="364" r:id="rId95"/>
    <p:sldId id="286" r:id="rId96"/>
    <p:sldId id="287" r:id="rId97"/>
    <p:sldId id="348" r:id="rId98"/>
    <p:sldId id="353" r:id="rId99"/>
    <p:sldId id="349" r:id="rId100"/>
    <p:sldId id="354" r:id="rId101"/>
    <p:sldId id="350" r:id="rId102"/>
    <p:sldId id="355" r:id="rId103"/>
    <p:sldId id="351" r:id="rId104"/>
    <p:sldId id="356" r:id="rId105"/>
    <p:sldId id="352" r:id="rId106"/>
    <p:sldId id="357" r:id="rId107"/>
    <p:sldId id="289" r:id="rId10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2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8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0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9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8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0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6211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97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1577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41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60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5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b="1" dirty="0"/>
              <a:t>Инструменти за разработка 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Раздел 2 РС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УРОК 2.1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 и текстови редактори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5333" y="609600"/>
            <a:ext cx="795866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ru-RU" sz="3600" b="1" dirty="0" smtClean="0"/>
              <a:t>Какво </a:t>
            </a:r>
            <a:r>
              <a:rPr lang="ru-RU" sz="3600" b="1" dirty="0"/>
              <a:t>е интегрирана среда за разработка (IDE</a:t>
            </a:r>
            <a:r>
              <a:rPr lang="ru-RU" sz="3600" b="1" dirty="0" smtClean="0"/>
              <a:t>)</a:t>
            </a:r>
          </a:p>
          <a:p>
            <a:endParaRPr lang="ru-RU" sz="3600" b="1" dirty="0"/>
          </a:p>
          <a:p>
            <a:r>
              <a:rPr lang="ru-RU" sz="3600" b="1" dirty="0"/>
              <a:t>IDE (Integrated Development Environment)</a:t>
            </a:r>
            <a:r>
              <a:rPr lang="ru-RU" sz="3600" dirty="0"/>
              <a:t> </a:t>
            </a:r>
            <a:endParaRPr lang="ru-RU" sz="3600" dirty="0" smtClean="0"/>
          </a:p>
          <a:p>
            <a:r>
              <a:rPr lang="ru-RU" sz="3600" dirty="0" smtClean="0"/>
              <a:t>е </a:t>
            </a:r>
            <a:r>
              <a:rPr lang="ru-RU" sz="3600" dirty="0"/>
              <a:t>софтуер, който обединява всички основни инструменти, нужни за създаване на софтуер, в една програма.</a:t>
            </a:r>
          </a:p>
        </p:txBody>
      </p:sp>
    </p:spTree>
    <p:extLst>
      <p:ext uri="{BB962C8B-B14F-4D97-AF65-F5344CB8AC3E}">
        <p14:creationId xmlns:p14="http://schemas.microsoft.com/office/powerpoint/2010/main" val="159023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Какво е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33" y="1134533"/>
            <a:ext cx="8500534" cy="4776689"/>
          </a:xfrm>
        </p:spPr>
        <p:txBody>
          <a:bodyPr>
            <a:noAutofit/>
          </a:bodyPr>
          <a:lstStyle/>
          <a:p>
            <a:r>
              <a:rPr sz="4000" dirty="0"/>
              <a:t>Integrated Development Environment (IDE)</a:t>
            </a:r>
          </a:p>
          <a:p>
            <a:r>
              <a:rPr sz="4000" dirty="0" err="1"/>
              <a:t>Редактор</a:t>
            </a:r>
            <a:r>
              <a:rPr sz="4000" dirty="0"/>
              <a:t> </a:t>
            </a:r>
            <a:r>
              <a:rPr sz="4000" dirty="0" err="1"/>
              <a:t>на</a:t>
            </a:r>
            <a:r>
              <a:rPr sz="4000" dirty="0"/>
              <a:t> </a:t>
            </a:r>
            <a:r>
              <a:rPr sz="4000" dirty="0" err="1"/>
              <a:t>код</a:t>
            </a:r>
            <a:endParaRPr sz="4000" dirty="0"/>
          </a:p>
          <a:p>
            <a:r>
              <a:rPr sz="4000" dirty="0" err="1"/>
              <a:t>Компилатор</a:t>
            </a:r>
            <a:r>
              <a:rPr sz="4000" dirty="0"/>
              <a:t> / </a:t>
            </a:r>
            <a:r>
              <a:rPr sz="4000" dirty="0" err="1"/>
              <a:t>интерпретатор</a:t>
            </a:r>
            <a:endParaRPr sz="4000" dirty="0"/>
          </a:p>
          <a:p>
            <a:r>
              <a:rPr sz="4000" dirty="0" err="1"/>
              <a:t>Дебъгер</a:t>
            </a:r>
            <a:endParaRPr sz="4000" dirty="0"/>
          </a:p>
          <a:p>
            <a:r>
              <a:rPr sz="4000" dirty="0" err="1"/>
              <a:t>Инструменти</a:t>
            </a:r>
            <a:r>
              <a:rPr sz="4000" dirty="0"/>
              <a:t> </a:t>
            </a:r>
            <a:r>
              <a:rPr sz="4000" dirty="0" err="1"/>
              <a:t>за</a:t>
            </a:r>
            <a:r>
              <a:rPr sz="4000" dirty="0"/>
              <a:t> </a:t>
            </a:r>
            <a:r>
              <a:rPr sz="4000" dirty="0" err="1"/>
              <a:t>билд</a:t>
            </a:r>
            <a:r>
              <a:rPr sz="4000" dirty="0"/>
              <a:t> и </a:t>
            </a:r>
            <a:r>
              <a:rPr sz="4000" dirty="0" err="1"/>
              <a:t>тестване</a:t>
            </a:r>
            <a:endParaRPr sz="4000" dirty="0"/>
          </a:p>
          <a:p>
            <a:r>
              <a:rPr sz="4000" dirty="0" err="1"/>
              <a:t>Git</a:t>
            </a:r>
            <a:r>
              <a:rPr sz="4000" dirty="0"/>
              <a:t> </a:t>
            </a:r>
            <a:r>
              <a:rPr sz="4000" dirty="0" err="1"/>
              <a:t>интеграция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Примери за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7732" y="6925733"/>
            <a:ext cx="5418667" cy="1672696"/>
          </a:xfrm>
        </p:spPr>
        <p:txBody>
          <a:bodyPr/>
          <a:lstStyle/>
          <a:p>
            <a:pPr marL="0" indent="0">
              <a:buNone/>
            </a:pPr>
            <a:endParaRPr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7200" y="2160194"/>
            <a:ext cx="627960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C#, .NET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PyCharm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Eclipse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Java, C++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3132" y="677334"/>
            <a:ext cx="739986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2. Какво е текстов </a:t>
            </a:r>
            <a:r>
              <a:rPr lang="ru-RU" sz="4000" b="1" dirty="0" smtClean="0"/>
              <a:t>редактор</a:t>
            </a:r>
          </a:p>
          <a:p>
            <a:endParaRPr lang="ru-RU" sz="4000" b="1" dirty="0"/>
          </a:p>
          <a:p>
            <a:r>
              <a:rPr lang="ru-RU" sz="4000" b="1" dirty="0"/>
              <a:t>Текстов редактор</a:t>
            </a:r>
            <a:r>
              <a:rPr lang="ru-RU" sz="4000" dirty="0"/>
              <a:t> е програма за създаване и редактиране на текстови файлове, включително програмен код.</a:t>
            </a:r>
          </a:p>
        </p:txBody>
      </p:sp>
    </p:spTree>
    <p:extLst>
      <p:ext uri="{BB962C8B-B14F-4D97-AF65-F5344CB8AC3E}">
        <p14:creationId xmlns:p14="http://schemas.microsoft.com/office/powerpoint/2010/main" val="334799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Какво е текстов редактор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1" y="1269999"/>
            <a:ext cx="8805332" cy="5528733"/>
          </a:xfrm>
        </p:spPr>
        <p:txBody>
          <a:bodyPr>
            <a:normAutofit fontScale="55000" lnSpcReduction="20000"/>
          </a:bodyPr>
          <a:lstStyle/>
          <a:p>
            <a:r>
              <a:rPr lang="bg-BG" sz="6500" b="1" dirty="0"/>
              <a:t>Характеристики:</a:t>
            </a:r>
          </a:p>
          <a:p>
            <a:r>
              <a:rPr lang="bg-BG" sz="6500" dirty="0"/>
              <a:t>лек и бърз;</a:t>
            </a:r>
          </a:p>
          <a:p>
            <a:r>
              <a:rPr lang="bg-BG" sz="6500" dirty="0"/>
              <a:t>няма компилатор и дебъгер по подразбиране;</a:t>
            </a:r>
          </a:p>
          <a:p>
            <a:r>
              <a:rPr lang="bg-BG" sz="6500" dirty="0"/>
              <a:t>функционалността се добавя чрез разширения.</a:t>
            </a:r>
          </a:p>
          <a:p>
            <a:r>
              <a:rPr lang="bg-BG" sz="6500" b="1" dirty="0"/>
              <a:t>Примери:</a:t>
            </a:r>
          </a:p>
          <a:p>
            <a:r>
              <a:rPr lang="en-US" sz="6500" dirty="0"/>
              <a:t>Visual Studio Code</a:t>
            </a:r>
          </a:p>
          <a:p>
            <a:r>
              <a:rPr lang="en-US" sz="6500" dirty="0"/>
              <a:t>Notepad++</a:t>
            </a:r>
          </a:p>
          <a:p>
            <a:r>
              <a:rPr lang="en-US" sz="6500" dirty="0"/>
              <a:t>Sublime Text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 vs Текстов редактор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711043"/>
              </p:ext>
            </p:extLst>
          </p:nvPr>
        </p:nvGraphicFramePr>
        <p:xfrm>
          <a:off x="457200" y="1350274"/>
          <a:ext cx="8229600" cy="5669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464097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8557643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26905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bg-BG" sz="2800" dirty="0"/>
                        <a:t>Характеристика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800" dirty="0"/>
                        <a:t>Текстов редактор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928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bg-BG" sz="2800"/>
                        <a:t>Компилация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00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bg-BG" sz="2800" dirty="0"/>
                        <a:t>Дебъгване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Не (по подразбиране)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717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bg-BG" sz="2800"/>
                        <a:t>Инструменти „всичко в едно“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65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bg-BG" sz="2800"/>
                        <a:t>Лекота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/>
                        <a:t>По-тежко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По-лек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612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bg-BG" sz="2800"/>
                        <a:t>Подходящо за обучение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800" dirty="0"/>
                        <a:t>Частично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40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33" y="1388533"/>
            <a:ext cx="8111067" cy="4522689"/>
          </a:xfrm>
        </p:spPr>
        <p:txBody>
          <a:bodyPr>
            <a:normAutofit/>
          </a:bodyPr>
          <a:lstStyle/>
          <a:p>
            <a:r>
              <a:rPr sz="4400" dirty="0" err="1"/>
              <a:t>Проект</a:t>
            </a:r>
            <a:r>
              <a:rPr sz="4400" dirty="0"/>
              <a:t> в Visual Studio – </a:t>
            </a:r>
            <a:r>
              <a:rPr sz="4400" dirty="0" err="1"/>
              <a:t>всичко</a:t>
            </a:r>
            <a:r>
              <a:rPr sz="4400" dirty="0"/>
              <a:t> е </a:t>
            </a:r>
            <a:r>
              <a:rPr sz="4400" dirty="0" err="1"/>
              <a:t>готово</a:t>
            </a:r>
            <a:endParaRPr sz="4400" dirty="0"/>
          </a:p>
          <a:p>
            <a:r>
              <a:rPr sz="4400" dirty="0"/>
              <a:t>VS Code – </a:t>
            </a:r>
            <a:r>
              <a:rPr sz="4400" dirty="0" err="1"/>
              <a:t>добавяме</a:t>
            </a:r>
            <a:r>
              <a:rPr sz="4400" dirty="0"/>
              <a:t> </a:t>
            </a:r>
            <a:r>
              <a:rPr sz="4400" dirty="0" err="1"/>
              <a:t>разширения</a:t>
            </a:r>
            <a:r>
              <a:rPr sz="4400" dirty="0"/>
              <a:t> </a:t>
            </a:r>
            <a:r>
              <a:rPr sz="4400" dirty="0" err="1"/>
              <a:t>ръчно</a:t>
            </a:r>
            <a:endParaRPr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1" y="1439333"/>
            <a:ext cx="7899400" cy="4471889"/>
          </a:xfrm>
        </p:spPr>
        <p:txBody>
          <a:bodyPr>
            <a:normAutofit/>
          </a:bodyPr>
          <a:lstStyle/>
          <a:p>
            <a:r>
              <a:rPr sz="4000" dirty="0"/>
              <a:t>1. </a:t>
            </a:r>
            <a:r>
              <a:rPr sz="4000" dirty="0" err="1"/>
              <a:t>Инсталирайте</a:t>
            </a:r>
            <a:r>
              <a:rPr sz="4000" dirty="0"/>
              <a:t> Visual Studio </a:t>
            </a:r>
            <a:r>
              <a:rPr sz="4000" dirty="0" err="1"/>
              <a:t>или</a:t>
            </a:r>
            <a:r>
              <a:rPr sz="4000" dirty="0"/>
              <a:t> VS Code</a:t>
            </a:r>
          </a:p>
          <a:p>
            <a:r>
              <a:rPr sz="4000" dirty="0"/>
              <a:t>2. </a:t>
            </a:r>
            <a:r>
              <a:rPr sz="4000" dirty="0" err="1"/>
              <a:t>Отворете</a:t>
            </a:r>
            <a:r>
              <a:rPr sz="4000" dirty="0"/>
              <a:t> </a:t>
            </a:r>
            <a:r>
              <a:rPr sz="4000" dirty="0" err="1"/>
              <a:t>нов</a:t>
            </a:r>
            <a:r>
              <a:rPr sz="4000" dirty="0"/>
              <a:t> </a:t>
            </a:r>
            <a:r>
              <a:rPr sz="4000" dirty="0" err="1"/>
              <a:t>проект</a:t>
            </a:r>
            <a:endParaRPr sz="4000" dirty="0"/>
          </a:p>
          <a:p>
            <a:r>
              <a:rPr sz="4000" dirty="0"/>
              <a:t>3. </a:t>
            </a:r>
            <a:r>
              <a:rPr sz="4000" dirty="0" err="1"/>
              <a:t>Напишете</a:t>
            </a:r>
            <a:r>
              <a:rPr sz="4000" dirty="0"/>
              <a:t> </a:t>
            </a:r>
            <a:r>
              <a:rPr sz="4000" dirty="0" err="1"/>
              <a:t>кратка</a:t>
            </a:r>
            <a:r>
              <a:rPr sz="4000" dirty="0"/>
              <a:t> </a:t>
            </a:r>
            <a:r>
              <a:rPr sz="4000" dirty="0" err="1"/>
              <a:t>програма</a:t>
            </a:r>
            <a:r>
              <a:rPr sz="4000" dirty="0"/>
              <a:t> (Hello World)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333" y="1574801"/>
            <a:ext cx="8932333" cy="2540000"/>
          </a:xfrm>
        </p:spPr>
        <p:txBody>
          <a:bodyPr/>
          <a:lstStyle/>
          <a:p>
            <a:pPr algn="ctr"/>
            <a:r>
              <a:rPr lang="bg-BG" dirty="0" smtClean="0"/>
              <a:t>БЛАГОДАРЯ ЗА ВНИМАНИЕТО!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45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УРОК 2.2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Продуктивно използване на 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Защо</a:t>
            </a:r>
            <a:r>
              <a:rPr dirty="0"/>
              <a:t> </a:t>
            </a:r>
            <a:r>
              <a:rPr dirty="0" err="1" smtClean="0"/>
              <a:t>продуктивност</a:t>
            </a:r>
            <a:r>
              <a:rPr lang="bg-BG" dirty="0" smtClean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33" y="1244599"/>
            <a:ext cx="8568267" cy="5528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Продуктивното използване означава:</a:t>
            </a:r>
          </a:p>
          <a:p>
            <a:r>
              <a:rPr lang="ru-RU" sz="4000" dirty="0"/>
              <a:t>по-малко писане;</a:t>
            </a:r>
          </a:p>
          <a:p>
            <a:r>
              <a:rPr lang="ru-RU" sz="4000" dirty="0"/>
              <a:t>по-малко грешки;</a:t>
            </a:r>
          </a:p>
          <a:p>
            <a:r>
              <a:rPr lang="ru-RU" sz="4000" dirty="0"/>
              <a:t>по-бърза разработка;</a:t>
            </a:r>
          </a:p>
          <a:p>
            <a:r>
              <a:rPr lang="ru-RU" sz="4000" dirty="0"/>
              <a:t>по-лесно четим код.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0" y="702733"/>
            <a:ext cx="7950200" cy="2353734"/>
          </a:xfrm>
        </p:spPr>
        <p:txBody>
          <a:bodyPr>
            <a:normAutofit/>
          </a:bodyPr>
          <a:lstStyle/>
          <a:p>
            <a:r>
              <a:rPr lang="ru-RU" dirty="0"/>
              <a:t>Основни инструменти за продуктивност в IDE (Visual Studio</a:t>
            </a:r>
            <a:r>
              <a:rPr lang="ru-RU" dirty="0" smtClean="0"/>
              <a:t>)</a:t>
            </a:r>
            <a:br>
              <a:rPr lang="ru-RU" dirty="0" smtClean="0"/>
            </a:br>
            <a:r>
              <a:rPr dirty="0" smtClean="0"/>
              <a:t>IntelliSense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37933"/>
            <a:ext cx="8229600" cy="3188230"/>
          </a:xfrm>
        </p:spPr>
        <p:txBody>
          <a:bodyPr>
            <a:noAutofit/>
          </a:bodyPr>
          <a:lstStyle/>
          <a:p>
            <a:r>
              <a:rPr sz="3600" dirty="0" err="1"/>
              <a:t>Автоматично</a:t>
            </a:r>
            <a:r>
              <a:rPr sz="3600" dirty="0"/>
              <a:t> </a:t>
            </a:r>
            <a:r>
              <a:rPr sz="3600" dirty="0" err="1"/>
              <a:t>предлага</a:t>
            </a:r>
            <a:r>
              <a:rPr sz="3600" dirty="0"/>
              <a:t> </a:t>
            </a:r>
            <a:r>
              <a:rPr sz="3600" dirty="0" err="1"/>
              <a:t>методи</a:t>
            </a:r>
            <a:endParaRPr sz="3600" dirty="0"/>
          </a:p>
          <a:p>
            <a:r>
              <a:rPr sz="3600" dirty="0" err="1"/>
              <a:t>Свойства</a:t>
            </a:r>
            <a:endParaRPr sz="3600" dirty="0"/>
          </a:p>
          <a:p>
            <a:r>
              <a:rPr sz="3600" dirty="0" err="1"/>
              <a:t>Параметри</a:t>
            </a:r>
            <a:endParaRPr sz="3600" dirty="0"/>
          </a:p>
          <a:p>
            <a:r>
              <a:rPr sz="3600" dirty="0" err="1"/>
              <a:t>Пример</a:t>
            </a:r>
            <a:r>
              <a:rPr sz="3600" dirty="0"/>
              <a:t>: </a:t>
            </a:r>
            <a:r>
              <a:rPr sz="3600" dirty="0" err="1" smtClean="0"/>
              <a:t>Console.Wri</a:t>
            </a:r>
            <a:r>
              <a:rPr lang="bg-BG" sz="3600" dirty="0" smtClean="0"/>
              <a:t> </a:t>
            </a:r>
            <a:r>
              <a:rPr lang="bg-BG" sz="3600" u="sng" dirty="0" smtClean="0">
                <a:solidFill>
                  <a:srgbClr val="FF0000"/>
                </a:solidFill>
              </a:rPr>
              <a:t>/</a:t>
            </a:r>
            <a:r>
              <a:rPr lang="en-US" sz="3600" u="sng" dirty="0" err="1">
                <a:solidFill>
                  <a:srgbClr val="FF0000"/>
                </a:solidFill>
              </a:rPr>
              <a:t>Console.WriteLine</a:t>
            </a:r>
            <a:r>
              <a:rPr lang="en-US" sz="3600" u="sng" dirty="0" smtClean="0">
                <a:solidFill>
                  <a:srgbClr val="FF0000"/>
                </a:solidFill>
              </a:rPr>
              <a:t>()</a:t>
            </a:r>
            <a:r>
              <a:rPr lang="bg-BG" sz="3600" u="sng" dirty="0" smtClean="0">
                <a:solidFill>
                  <a:srgbClr val="FF0000"/>
                </a:solidFill>
              </a:rPr>
              <a:t>/</a:t>
            </a:r>
            <a:endParaRPr sz="36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7" y="1219200"/>
            <a:ext cx="8856133" cy="46920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4400" dirty="0"/>
              <a:t>Клавишна комбинация</a:t>
            </a:r>
            <a:r>
              <a:rPr lang="bg-BG" sz="4400" dirty="0" smtClean="0"/>
              <a:t>: </a:t>
            </a:r>
            <a:r>
              <a:rPr sz="4400" b="1" dirty="0" smtClean="0"/>
              <a:t>Ctrl </a:t>
            </a:r>
            <a:r>
              <a:rPr sz="4400" b="1" dirty="0"/>
              <a:t>+ .</a:t>
            </a:r>
          </a:p>
          <a:p>
            <a:r>
              <a:rPr sz="4400" dirty="0" err="1"/>
              <a:t>Добавя</a:t>
            </a:r>
            <a:r>
              <a:rPr sz="4400" dirty="0"/>
              <a:t> using</a:t>
            </a:r>
          </a:p>
          <a:p>
            <a:r>
              <a:rPr sz="4400" dirty="0" err="1"/>
              <a:t>Генерира</a:t>
            </a:r>
            <a:r>
              <a:rPr sz="4400" dirty="0"/>
              <a:t> </a:t>
            </a:r>
            <a:r>
              <a:rPr sz="4400" dirty="0" err="1"/>
              <a:t>метод</a:t>
            </a:r>
            <a:endParaRPr sz="4400" dirty="0"/>
          </a:p>
          <a:p>
            <a:r>
              <a:rPr sz="4400" dirty="0" err="1"/>
              <a:t>Поправя</a:t>
            </a:r>
            <a:r>
              <a:rPr sz="4400" dirty="0"/>
              <a:t> </a:t>
            </a:r>
            <a:r>
              <a:rPr sz="4400" dirty="0" err="1"/>
              <a:t>грешки</a:t>
            </a:r>
            <a:endParaRPr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Клавишни комбинации (Visual Studio)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794933"/>
            <a:ext cx="8077200" cy="4116289"/>
          </a:xfrm>
        </p:spPr>
        <p:txBody>
          <a:bodyPr>
            <a:noAutofit/>
          </a:bodyPr>
          <a:lstStyle/>
          <a:p>
            <a:r>
              <a:rPr sz="4000" dirty="0"/>
              <a:t>F5 – </a:t>
            </a:r>
            <a:r>
              <a:rPr sz="4000" dirty="0" err="1"/>
              <a:t>стартиране</a:t>
            </a:r>
            <a:r>
              <a:rPr sz="4000" dirty="0"/>
              <a:t> с </a:t>
            </a:r>
            <a:r>
              <a:rPr sz="4000" dirty="0" err="1"/>
              <a:t>дебъг</a:t>
            </a:r>
            <a:endParaRPr sz="4000" dirty="0"/>
          </a:p>
          <a:p>
            <a:r>
              <a:rPr sz="4000" dirty="0"/>
              <a:t>Ctrl + F5 – </a:t>
            </a:r>
            <a:r>
              <a:rPr sz="4000" dirty="0" err="1"/>
              <a:t>без</a:t>
            </a:r>
            <a:r>
              <a:rPr sz="4000" dirty="0"/>
              <a:t> </a:t>
            </a:r>
            <a:r>
              <a:rPr sz="4000" dirty="0" err="1"/>
              <a:t>дебъг</a:t>
            </a:r>
            <a:endParaRPr sz="4000" dirty="0"/>
          </a:p>
          <a:p>
            <a:r>
              <a:rPr sz="4000" dirty="0"/>
              <a:t>F9 – breakpoint</a:t>
            </a:r>
          </a:p>
          <a:p>
            <a:r>
              <a:rPr sz="4000" dirty="0"/>
              <a:t>Ctrl + K, Ctrl + D – </a:t>
            </a:r>
            <a:r>
              <a:rPr sz="4000" dirty="0" err="1"/>
              <a:t>форматиране</a:t>
            </a:r>
            <a:endParaRPr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80067" y="142502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Полезни клавишни комбинации (Visual Studio)</a:t>
            </a:r>
            <a:endParaRPr lang="bg-BG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73054"/>
              </p:ext>
            </p:extLst>
          </p:nvPr>
        </p:nvGraphicFramePr>
        <p:xfrm>
          <a:off x="770467" y="1949714"/>
          <a:ext cx="8229600" cy="3749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8109661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6011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bg-BG" sz="3600" dirty="0"/>
                        <a:t>Комбинация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3600"/>
                        <a:t>Действие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69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Ctrl +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IntelliSense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86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Ctrl + K, Ctrl +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3600" dirty="0"/>
                        <a:t>Форматиране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89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Ctrl + 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Quick 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27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F5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3600" dirty="0"/>
                        <a:t>Стартиране с дебъг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5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055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1" y="1524000"/>
            <a:ext cx="7950200" cy="4387222"/>
          </a:xfrm>
        </p:spPr>
        <p:txBody>
          <a:bodyPr>
            <a:normAutofit/>
          </a:bodyPr>
          <a:lstStyle/>
          <a:p>
            <a:r>
              <a:rPr sz="4400" dirty="0" err="1"/>
              <a:t>Автоматично</a:t>
            </a:r>
            <a:r>
              <a:rPr sz="4400" dirty="0"/>
              <a:t> </a:t>
            </a:r>
            <a:r>
              <a:rPr sz="4400" dirty="0" err="1"/>
              <a:t>добавяне</a:t>
            </a:r>
            <a:r>
              <a:rPr sz="4400" dirty="0"/>
              <a:t> </a:t>
            </a:r>
            <a:r>
              <a:rPr sz="4400" dirty="0" err="1"/>
              <a:t>на</a:t>
            </a:r>
            <a:r>
              <a:rPr sz="4400" dirty="0"/>
              <a:t> using</a:t>
            </a:r>
          </a:p>
          <a:p>
            <a:r>
              <a:rPr sz="4400" dirty="0" err="1"/>
              <a:t>Форматиране</a:t>
            </a:r>
            <a:r>
              <a:rPr sz="4400" dirty="0"/>
              <a:t> </a:t>
            </a:r>
            <a:r>
              <a:rPr sz="4400" dirty="0" err="1"/>
              <a:t>на</a:t>
            </a:r>
            <a:r>
              <a:rPr sz="4400" dirty="0"/>
              <a:t> </a:t>
            </a:r>
            <a:r>
              <a:rPr sz="4400" dirty="0" err="1"/>
              <a:t>код</a:t>
            </a:r>
            <a:r>
              <a:rPr sz="4400" dirty="0"/>
              <a:t> с </a:t>
            </a:r>
            <a:r>
              <a:rPr sz="4400" dirty="0" err="1"/>
              <a:t>една</a:t>
            </a:r>
            <a:r>
              <a:rPr sz="4400" dirty="0"/>
              <a:t> </a:t>
            </a:r>
            <a:r>
              <a:rPr sz="4400" dirty="0" err="1"/>
              <a:t>команда</a:t>
            </a:r>
            <a:endParaRPr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481" y="1473200"/>
            <a:ext cx="8310719" cy="3777622"/>
          </a:xfrm>
        </p:spPr>
        <p:txBody>
          <a:bodyPr>
            <a:noAutofit/>
          </a:bodyPr>
          <a:lstStyle/>
          <a:p>
            <a:r>
              <a:rPr sz="4400" dirty="0"/>
              <a:t>1. </a:t>
            </a:r>
            <a:r>
              <a:rPr sz="4400" dirty="0" err="1"/>
              <a:t>Използвайте</a:t>
            </a:r>
            <a:r>
              <a:rPr sz="4400" dirty="0"/>
              <a:t> IntelliSense</a:t>
            </a:r>
          </a:p>
          <a:p>
            <a:r>
              <a:rPr sz="4400" dirty="0"/>
              <a:t>2. </a:t>
            </a:r>
            <a:r>
              <a:rPr sz="4400" dirty="0" err="1"/>
              <a:t>Добавете</a:t>
            </a:r>
            <a:r>
              <a:rPr sz="4400" dirty="0"/>
              <a:t> breakpoint</a:t>
            </a:r>
          </a:p>
          <a:p>
            <a:r>
              <a:rPr sz="4400" dirty="0"/>
              <a:t>3. </a:t>
            </a:r>
            <a:r>
              <a:rPr sz="4400" dirty="0" err="1"/>
              <a:t>Стартирайте</a:t>
            </a:r>
            <a:r>
              <a:rPr sz="4400" dirty="0"/>
              <a:t> </a:t>
            </a:r>
            <a:r>
              <a:rPr sz="4400" dirty="0" err="1"/>
              <a:t>програмата</a:t>
            </a:r>
            <a:r>
              <a:rPr sz="4400" dirty="0"/>
              <a:t> с F5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587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УРОК 2.3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Техники за продуктивно използване на текстов редактор</a:t>
            </a:r>
          </a:p>
          <a:p>
            <a:r>
              <a:rPr lang="ru-RU" b="1" dirty="0"/>
              <a:t>(разширения и клавишни комбинации)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133" y="635969"/>
            <a:ext cx="836506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/>
              <a:t>Защо да използваме текстов </a:t>
            </a:r>
            <a:r>
              <a:rPr lang="ru-RU" sz="3600" b="1" dirty="0" smtClean="0"/>
              <a:t>редактор</a:t>
            </a:r>
          </a:p>
          <a:p>
            <a:endParaRPr lang="ru-RU" sz="3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бързо стартиране;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работа по различни езици;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подходящ за малки проекти и скриптове.</a:t>
            </a:r>
          </a:p>
        </p:txBody>
      </p:sp>
    </p:spTree>
    <p:extLst>
      <p:ext uri="{BB962C8B-B14F-4D97-AF65-F5344CB8AC3E}">
        <p14:creationId xmlns:p14="http://schemas.microsoft.com/office/powerpoint/2010/main" val="203601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Разширения във VS Code</a:t>
            </a:r>
            <a:br>
              <a:rPr lang="ru-RU" b="1" dirty="0"/>
            </a:br>
            <a:r>
              <a:rPr lang="ru-RU" dirty="0"/>
              <a:t>Чрез разширения текстовият редактор става мощен инструмент.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87599"/>
            <a:ext cx="8229600" cy="3391430"/>
          </a:xfrm>
        </p:spPr>
        <p:txBody>
          <a:bodyPr>
            <a:noAutofit/>
          </a:bodyPr>
          <a:lstStyle/>
          <a:p>
            <a:r>
              <a:rPr lang="ru-RU" sz="4000" b="1" dirty="0"/>
              <a:t>Примери:</a:t>
            </a:r>
          </a:p>
          <a:p>
            <a:r>
              <a:rPr lang="ru-RU" sz="4000" b="1" dirty="0"/>
              <a:t>C#</a:t>
            </a:r>
            <a:r>
              <a:rPr lang="ru-RU" sz="4000" dirty="0"/>
              <a:t> – поддръжка на C#</a:t>
            </a:r>
          </a:p>
          <a:p>
            <a:r>
              <a:rPr lang="ru-RU" sz="4000" b="1" dirty="0"/>
              <a:t>GitLens</a:t>
            </a:r>
            <a:r>
              <a:rPr lang="ru-RU" sz="4000" dirty="0"/>
              <a:t> – Git история</a:t>
            </a:r>
          </a:p>
          <a:p>
            <a:r>
              <a:rPr lang="ru-RU" sz="4000" b="1" dirty="0"/>
              <a:t>Prettier</a:t>
            </a:r>
            <a:r>
              <a:rPr lang="ru-RU" sz="4000" dirty="0"/>
              <a:t> – форматиране</a:t>
            </a:r>
          </a:p>
          <a:p>
            <a:r>
              <a:rPr lang="ru-RU" sz="4000" b="1" dirty="0"/>
              <a:t>IntelliCode</a:t>
            </a:r>
            <a:r>
              <a:rPr lang="ru-RU" sz="4000" dirty="0"/>
              <a:t> – интелигентни предложения</a:t>
            </a:r>
          </a:p>
          <a:p>
            <a:endParaRPr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Полезни комбинации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33" y="1388533"/>
            <a:ext cx="8034867" cy="3777622"/>
          </a:xfrm>
        </p:spPr>
        <p:txBody>
          <a:bodyPr>
            <a:noAutofit/>
          </a:bodyPr>
          <a:lstStyle/>
          <a:p>
            <a:r>
              <a:rPr sz="4000" dirty="0"/>
              <a:t>Ctrl + Shift + P – Command Palette</a:t>
            </a:r>
          </a:p>
          <a:p>
            <a:r>
              <a:rPr sz="4000" dirty="0"/>
              <a:t>Ctrl + P – </a:t>
            </a:r>
            <a:r>
              <a:rPr sz="4000" dirty="0" err="1"/>
              <a:t>търсене</a:t>
            </a:r>
            <a:r>
              <a:rPr sz="4000" dirty="0"/>
              <a:t> </a:t>
            </a:r>
            <a:r>
              <a:rPr sz="4000" dirty="0" err="1"/>
              <a:t>на</a:t>
            </a:r>
            <a:r>
              <a:rPr sz="4000" dirty="0"/>
              <a:t> </a:t>
            </a:r>
            <a:r>
              <a:rPr sz="4000" dirty="0" err="1"/>
              <a:t>файл</a:t>
            </a:r>
            <a:endParaRPr sz="4000" dirty="0"/>
          </a:p>
          <a:p>
            <a:r>
              <a:rPr sz="4000" dirty="0"/>
              <a:t>Ctrl + / – </a:t>
            </a:r>
            <a:r>
              <a:rPr sz="4000" dirty="0" err="1"/>
              <a:t>коментар</a:t>
            </a:r>
            <a:endParaRPr sz="4000" dirty="0"/>
          </a:p>
          <a:p>
            <a:r>
              <a:rPr sz="4000" dirty="0"/>
              <a:t>Alt + Shift + F – </a:t>
            </a:r>
            <a:r>
              <a:rPr sz="4000" dirty="0" err="1"/>
              <a:t>форматиране</a:t>
            </a:r>
            <a:endParaRPr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7600"/>
            <a:ext cx="8686800" cy="5740400"/>
          </a:xfrm>
        </p:spPr>
        <p:txBody>
          <a:bodyPr>
            <a:normAutofit/>
          </a:bodyPr>
          <a:lstStyle/>
          <a:p>
            <a:r>
              <a:rPr sz="2800" dirty="0" err="1"/>
              <a:t>Форматиране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файл</a:t>
            </a:r>
            <a:r>
              <a:rPr sz="2800" dirty="0"/>
              <a:t> с Prettier</a:t>
            </a:r>
          </a:p>
          <a:p>
            <a:r>
              <a:rPr sz="2800" dirty="0" err="1"/>
              <a:t>Бързо</a:t>
            </a:r>
            <a:r>
              <a:rPr sz="2800" dirty="0"/>
              <a:t> </a:t>
            </a:r>
            <a:r>
              <a:rPr sz="2800" dirty="0" err="1" smtClean="0"/>
              <a:t>отваряне</a:t>
            </a:r>
            <a:r>
              <a:rPr sz="2800" dirty="0" smtClean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 smtClean="0"/>
              <a:t>файл</a:t>
            </a:r>
            <a:endParaRPr lang="bg-BG" sz="2800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if </a:t>
            </a:r>
            <a:r>
              <a:rPr lang="en-US" sz="2800" dirty="0">
                <a:solidFill>
                  <a:srgbClr val="FF0000"/>
                </a:solidFill>
              </a:rPr>
              <a:t>(true)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    </a:t>
            </a:r>
            <a:r>
              <a:rPr lang="en-US" sz="2800" dirty="0" err="1">
                <a:solidFill>
                  <a:srgbClr val="FF0000"/>
                </a:solidFill>
              </a:rPr>
              <a:t>Console.WriteLine</a:t>
            </a:r>
            <a:r>
              <a:rPr lang="en-US" sz="2800" dirty="0">
                <a:solidFill>
                  <a:srgbClr val="FF0000"/>
                </a:solidFill>
              </a:rPr>
              <a:t>("Hello");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}</a:t>
            </a:r>
            <a:endParaRPr sz="2800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7133" y="2069238"/>
            <a:ext cx="687174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Неформатиран код: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if(true){ Console.WriteLine("Hello"); }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1" y="1380067"/>
            <a:ext cx="7950200" cy="4531155"/>
          </a:xfrm>
        </p:spPr>
        <p:txBody>
          <a:bodyPr>
            <a:noAutofit/>
          </a:bodyPr>
          <a:lstStyle/>
          <a:p>
            <a:r>
              <a:rPr sz="4400" dirty="0"/>
              <a:t>1. </a:t>
            </a:r>
            <a:r>
              <a:rPr sz="4400" dirty="0" err="1"/>
              <a:t>Инсталирайте</a:t>
            </a:r>
            <a:r>
              <a:rPr sz="4400" dirty="0"/>
              <a:t> VS Code</a:t>
            </a:r>
          </a:p>
          <a:p>
            <a:r>
              <a:rPr sz="4400" dirty="0"/>
              <a:t>2. </a:t>
            </a:r>
            <a:r>
              <a:rPr sz="4400" dirty="0" err="1"/>
              <a:t>Добавете</a:t>
            </a:r>
            <a:r>
              <a:rPr sz="4400" dirty="0"/>
              <a:t> C# </a:t>
            </a:r>
            <a:r>
              <a:rPr sz="4400" dirty="0" err="1"/>
              <a:t>разширение</a:t>
            </a:r>
            <a:endParaRPr sz="4400" dirty="0"/>
          </a:p>
          <a:p>
            <a:r>
              <a:rPr sz="4400" dirty="0"/>
              <a:t>3. </a:t>
            </a:r>
            <a:r>
              <a:rPr sz="4400" dirty="0" err="1"/>
              <a:t>Форматирайте</a:t>
            </a:r>
            <a:r>
              <a:rPr sz="4400" dirty="0"/>
              <a:t> </a:t>
            </a:r>
            <a:r>
              <a:rPr sz="4400" dirty="0" err="1"/>
              <a:t>код</a:t>
            </a:r>
            <a:endParaRPr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1333" y="524933"/>
            <a:ext cx="745066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buAutoNum type="arabicPeriod"/>
            </a:pPr>
            <a:r>
              <a:rPr lang="ru-RU" sz="4800" b="1" dirty="0" smtClean="0"/>
              <a:t>Какво </a:t>
            </a:r>
            <a:r>
              <a:rPr lang="ru-RU" sz="4800" b="1" dirty="0"/>
              <a:t>е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Само текстов редактор</a:t>
            </a:r>
            <a:br>
              <a:rPr lang="ru-RU" sz="4800" dirty="0"/>
            </a:br>
            <a:r>
              <a:rPr lang="ru-RU" sz="4800" dirty="0"/>
              <a:t>B) Интегрирана среда с всички инструменти</a:t>
            </a:r>
            <a:br>
              <a:rPr lang="ru-RU" sz="4800" dirty="0"/>
            </a:br>
            <a:r>
              <a:rPr lang="ru-RU" sz="4800" dirty="0"/>
              <a:t>C) Компилатор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1917578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1333" y="524933"/>
            <a:ext cx="745066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buAutoNum type="arabicPeriod"/>
            </a:pPr>
            <a:r>
              <a:rPr lang="ru-RU" sz="4800" b="1" dirty="0" smtClean="0"/>
              <a:t>Какво </a:t>
            </a:r>
            <a:r>
              <a:rPr lang="ru-RU" sz="4800" b="1" dirty="0"/>
              <a:t>е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Само текстов редактор</a:t>
            </a:r>
            <a:br>
              <a:rPr lang="ru-RU" sz="4800" dirty="0"/>
            </a:br>
            <a:r>
              <a:rPr lang="ru-RU" sz="4800" u="sng" dirty="0"/>
              <a:t>B) Интегрирана среда с всички инструменти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C) Компилатор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829168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2199" y="551303"/>
            <a:ext cx="82465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2. Кое НЕ е характерно за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Вграден дебъгер</a:t>
            </a:r>
            <a:br>
              <a:rPr lang="ru-RU" sz="4800" dirty="0"/>
            </a:br>
            <a:r>
              <a:rPr lang="ru-RU" sz="4800" dirty="0"/>
              <a:t>B) Компилатор</a:t>
            </a:r>
            <a:br>
              <a:rPr lang="ru-RU" sz="4800" dirty="0"/>
            </a:br>
            <a:r>
              <a:rPr lang="ru-RU" sz="4800" dirty="0"/>
              <a:t>C) Само писане на текст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497943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399" y="551303"/>
            <a:ext cx="81703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2. Кое НЕ е характерно за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Вграден дебъгер</a:t>
            </a:r>
            <a:br>
              <a:rPr lang="ru-RU" sz="4800" dirty="0"/>
            </a:br>
            <a:r>
              <a:rPr lang="ru-RU" sz="4800" dirty="0"/>
              <a:t>B) Компилатор</a:t>
            </a:r>
            <a:br>
              <a:rPr lang="ru-RU" sz="4800" dirty="0"/>
            </a:br>
            <a:r>
              <a:rPr lang="ru-RU" sz="4800" u="sng" dirty="0"/>
              <a:t>C) Само писане на текст</a:t>
            </a:r>
            <a:endParaRPr lang="bg-BG" sz="4800" u="sng" dirty="0"/>
          </a:p>
        </p:txBody>
      </p:sp>
    </p:spTree>
    <p:extLst>
      <p:ext uri="{BB962C8B-B14F-4D97-AF65-F5344CB8AC3E}">
        <p14:creationId xmlns:p14="http://schemas.microsoft.com/office/powerpoint/2010/main" val="2063739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41026"/>
            <a:ext cx="8229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3. Кое е предимство на текстовия редактор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Вграден дебъгер</a:t>
            </a:r>
            <a:br>
              <a:rPr lang="ru-RU" sz="4800" dirty="0"/>
            </a:br>
            <a:r>
              <a:rPr lang="ru-RU" sz="4800" dirty="0"/>
              <a:t>B) Лек и бърз</a:t>
            </a:r>
            <a:br>
              <a:rPr lang="ru-RU" sz="4800" dirty="0"/>
            </a:br>
            <a:r>
              <a:rPr lang="ru-RU" sz="4800" dirty="0"/>
              <a:t>C) Автоматична компилация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137633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467" y="557960"/>
            <a:ext cx="894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3. Кое е предимство на текстовия редактор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Вграден дебъгер</a:t>
            </a:r>
            <a:br>
              <a:rPr lang="ru-RU" sz="4800" dirty="0"/>
            </a:br>
            <a:r>
              <a:rPr lang="ru-RU" sz="4800" u="sng" dirty="0"/>
              <a:t>B) Лек и бърз</a:t>
            </a:r>
            <a:br>
              <a:rPr lang="ru-RU" sz="4800" u="sng" dirty="0"/>
            </a:br>
            <a:r>
              <a:rPr lang="ru-RU" sz="4800" dirty="0"/>
              <a:t>C) Автоматична компилация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589597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2732" y="619035"/>
            <a:ext cx="81872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4. Какво прави IntelliSense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Компилира програмата</a:t>
            </a:r>
            <a:br>
              <a:rPr lang="ru-RU" sz="4800" dirty="0"/>
            </a:br>
            <a:r>
              <a:rPr lang="ru-RU" sz="4800" dirty="0"/>
              <a:t>B) Предлага код</a:t>
            </a:r>
            <a:r>
              <a:rPr lang="ru-RU" sz="4800" u="sng" dirty="0"/>
              <a:t/>
            </a:r>
            <a:br>
              <a:rPr lang="ru-RU" sz="4800" u="sng" dirty="0"/>
            </a:br>
            <a:r>
              <a:rPr lang="ru-RU" sz="4800" dirty="0"/>
              <a:t>C) Записва файла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824991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424302"/>
            <a:ext cx="7594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4. Какво прави IntelliSense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Компилира програмата</a:t>
            </a:r>
            <a:br>
              <a:rPr lang="ru-RU" sz="4800" dirty="0"/>
            </a:br>
            <a:r>
              <a:rPr lang="ru-RU" sz="4800" u="sng" dirty="0"/>
              <a:t>B) Предлага код</a:t>
            </a:r>
            <a:br>
              <a:rPr lang="ru-RU" sz="4800" u="sng" dirty="0"/>
            </a:br>
            <a:r>
              <a:rPr lang="ru-RU" sz="4800" dirty="0"/>
              <a:t>C) Записва файла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542695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732" y="522870"/>
            <a:ext cx="83396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5. Коя комбинация извиква </a:t>
            </a:r>
            <a:r>
              <a:rPr lang="en-US" sz="4800" b="1" dirty="0"/>
              <a:t>Quick Actions </a:t>
            </a:r>
            <a:r>
              <a:rPr lang="bg-BG" sz="4800" b="1" dirty="0"/>
              <a:t>във </a:t>
            </a:r>
            <a:r>
              <a:rPr lang="en-US" sz="4800" b="1" dirty="0"/>
              <a:t>Visual Studio</a:t>
            </a:r>
            <a:r>
              <a:rPr lang="en-US" sz="4800" b="1" dirty="0" smtClean="0"/>
              <a:t>?</a:t>
            </a:r>
            <a:endParaRPr lang="bg-BG" sz="4800" b="1" dirty="0" smtClean="0"/>
          </a:p>
          <a:p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A) Ctrl + K</a:t>
            </a:r>
            <a:br>
              <a:rPr lang="en-US" sz="4800" dirty="0"/>
            </a:br>
            <a:r>
              <a:rPr lang="en-US" sz="4800" dirty="0"/>
              <a:t>B) Ctrl + .</a:t>
            </a:r>
            <a:br>
              <a:rPr lang="en-US" sz="4800" dirty="0"/>
            </a:br>
            <a:r>
              <a:rPr lang="en-US" sz="4800" dirty="0"/>
              <a:t>C) Ctrl + Shift + F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463651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732" y="514403"/>
            <a:ext cx="83396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5. Коя комбинация извиква </a:t>
            </a:r>
            <a:r>
              <a:rPr lang="en-US" sz="4800" b="1" dirty="0"/>
              <a:t>Quick Actions </a:t>
            </a:r>
            <a:r>
              <a:rPr lang="bg-BG" sz="4800" b="1" dirty="0"/>
              <a:t>във </a:t>
            </a:r>
            <a:r>
              <a:rPr lang="en-US" sz="4800" b="1" dirty="0"/>
              <a:t>Visual Studio</a:t>
            </a:r>
            <a:r>
              <a:rPr lang="en-US" sz="4800" b="1" dirty="0" smtClean="0"/>
              <a:t>?</a:t>
            </a:r>
            <a:endParaRPr lang="bg-BG" sz="4800" b="1" dirty="0" smtClean="0"/>
          </a:p>
          <a:p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A) Ctrl + K</a:t>
            </a:r>
            <a:br>
              <a:rPr lang="en-US" sz="4800" dirty="0"/>
            </a:br>
            <a:r>
              <a:rPr lang="en-US" sz="4800" u="sng" dirty="0"/>
              <a:t>B) Ctrl + .</a:t>
            </a:r>
            <a:br>
              <a:rPr lang="en-US" sz="4800" u="sng" dirty="0"/>
            </a:br>
            <a:r>
              <a:rPr lang="en-US" sz="4800" dirty="0"/>
              <a:t>C) Ctrl + Shift + F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903280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733" y="458170"/>
            <a:ext cx="88307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6. Каква е целта на breakpoint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Да форматира кода</a:t>
            </a:r>
            <a:br>
              <a:rPr lang="ru-RU" sz="4800" dirty="0"/>
            </a:br>
            <a:r>
              <a:rPr lang="ru-RU" sz="4800" dirty="0"/>
              <a:t>B) Да спре изпълнението за проверка</a:t>
            </a:r>
            <a:br>
              <a:rPr lang="ru-RU" sz="4800" dirty="0"/>
            </a:br>
            <a:r>
              <a:rPr lang="ru-RU" sz="4800" dirty="0"/>
              <a:t>C) Да компилира програмата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834958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733" y="475103"/>
            <a:ext cx="88307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6. Каква е целта на breakpoint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Да форматира кода</a:t>
            </a:r>
            <a:br>
              <a:rPr lang="ru-RU" sz="4800" dirty="0"/>
            </a:br>
            <a:r>
              <a:rPr lang="ru-RU" sz="4800" u="sng" dirty="0"/>
              <a:t>B) Да спре изпълнението за проверка</a:t>
            </a:r>
            <a:br>
              <a:rPr lang="ru-RU" sz="4800" u="sng" dirty="0"/>
            </a:br>
            <a:r>
              <a:rPr lang="ru-RU" sz="4800" dirty="0"/>
              <a:t>C) Да компилира програмата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3642663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556736"/>
            <a:ext cx="87037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7. Как се добавя функционалност във VS Code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Чрез компилатор</a:t>
            </a:r>
            <a:br>
              <a:rPr lang="ru-RU" sz="4800" dirty="0"/>
            </a:br>
            <a:r>
              <a:rPr lang="ru-RU" sz="4800" dirty="0"/>
              <a:t>B) Чрез разширения</a:t>
            </a:r>
            <a:br>
              <a:rPr lang="ru-RU" sz="4800" dirty="0"/>
            </a:br>
            <a:r>
              <a:rPr lang="ru-RU" sz="4800" dirty="0"/>
              <a:t>C) Не може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09562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333" y="539802"/>
            <a:ext cx="87037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7. Как се добавя функционалност във VS Code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Чрез компилатор</a:t>
            </a:r>
            <a:br>
              <a:rPr lang="ru-RU" sz="4800" dirty="0"/>
            </a:br>
            <a:r>
              <a:rPr lang="ru-RU" sz="4800" u="sng" dirty="0"/>
              <a:t>B) Чрез разширения</a:t>
            </a:r>
            <a:br>
              <a:rPr lang="ru-RU" sz="4800" u="sng" dirty="0"/>
            </a:br>
            <a:r>
              <a:rPr lang="ru-RU" sz="4800" dirty="0"/>
              <a:t>C) Не може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1227188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599" y="539803"/>
            <a:ext cx="85767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8. Коя комбинация коментира ред код във </a:t>
            </a:r>
            <a:r>
              <a:rPr lang="en-US" sz="4800" b="1" dirty="0"/>
              <a:t>VS Code</a:t>
            </a:r>
            <a:r>
              <a:rPr lang="en-US" sz="4800" b="1" dirty="0" smtClean="0"/>
              <a:t>?</a:t>
            </a:r>
            <a:endParaRPr lang="bg-BG" sz="4800" b="1" dirty="0" smtClean="0"/>
          </a:p>
          <a:p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A) Ctrl + /</a:t>
            </a:r>
            <a:br>
              <a:rPr lang="en-US" sz="4800" dirty="0"/>
            </a:br>
            <a:r>
              <a:rPr lang="en-US" sz="4800" dirty="0"/>
              <a:t>B) Ctrl + P</a:t>
            </a:r>
            <a:br>
              <a:rPr lang="en-US" sz="4800" dirty="0"/>
            </a:br>
            <a:r>
              <a:rPr lang="en-US" sz="4800" dirty="0"/>
              <a:t>C) F12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9700026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199" y="522870"/>
            <a:ext cx="85767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8. Коя комбинация коментира ред код във </a:t>
            </a:r>
            <a:r>
              <a:rPr lang="en-US" sz="4800" b="1" dirty="0"/>
              <a:t>VS Code</a:t>
            </a:r>
            <a:r>
              <a:rPr lang="en-US" sz="4800" b="1" dirty="0" smtClean="0"/>
              <a:t>?</a:t>
            </a:r>
            <a:endParaRPr lang="bg-BG" sz="4800" b="1" dirty="0" smtClean="0"/>
          </a:p>
          <a:p>
            <a:r>
              <a:rPr lang="en-US" sz="4800" dirty="0"/>
              <a:t/>
            </a:r>
            <a:br>
              <a:rPr lang="en-US" sz="4800" dirty="0"/>
            </a:br>
            <a:r>
              <a:rPr lang="en-US" sz="4800" u="sng" dirty="0"/>
              <a:t>A) Ctrl + /</a:t>
            </a:r>
            <a:br>
              <a:rPr lang="en-US" sz="4800" u="sng" dirty="0"/>
            </a:br>
            <a:r>
              <a:rPr lang="en-US" sz="4800" dirty="0"/>
              <a:t>B) Ctrl + P</a:t>
            </a:r>
            <a:br>
              <a:rPr lang="en-US" sz="4800" dirty="0"/>
            </a:br>
            <a:r>
              <a:rPr lang="en-US" sz="4800" dirty="0"/>
              <a:t>C) F12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416681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5333" y="703702"/>
            <a:ext cx="765386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/>
              <a:t>9. Кога е по-подходящо да използваме IDE?</a:t>
            </a:r>
          </a:p>
          <a:p>
            <a:r>
              <a:rPr lang="ru-RU" sz="4800" dirty="0" smtClean="0"/>
              <a:t/>
            </a:r>
            <a:br>
              <a:rPr lang="ru-RU" sz="4800" dirty="0" smtClean="0"/>
            </a:br>
            <a:r>
              <a:rPr lang="ru-RU" sz="4800" dirty="0" smtClean="0"/>
              <a:t>A) Малък текстов файл</a:t>
            </a:r>
            <a:br>
              <a:rPr lang="ru-RU" sz="4800" dirty="0" smtClean="0"/>
            </a:br>
            <a:r>
              <a:rPr lang="ru-RU" sz="4800" dirty="0" smtClean="0"/>
              <a:t>B) Голям проект</a:t>
            </a:r>
            <a:br>
              <a:rPr lang="ru-RU" sz="4800" dirty="0" smtClean="0"/>
            </a:br>
            <a:r>
              <a:rPr lang="ru-RU" sz="4800" dirty="0" smtClean="0"/>
              <a:t>C) Само HTML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796875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703702"/>
            <a:ext cx="7696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/>
              <a:t>9. Кога е по-подходящо да използваме IDE?</a:t>
            </a:r>
          </a:p>
          <a:p>
            <a:r>
              <a:rPr lang="ru-RU" sz="4800" dirty="0" smtClean="0"/>
              <a:t/>
            </a:r>
            <a:br>
              <a:rPr lang="ru-RU" sz="4800" dirty="0" smtClean="0"/>
            </a:br>
            <a:r>
              <a:rPr lang="ru-RU" sz="4800" dirty="0" smtClean="0"/>
              <a:t>A) Малък текстов файл</a:t>
            </a:r>
            <a:br>
              <a:rPr lang="ru-RU" sz="4800" dirty="0" smtClean="0"/>
            </a:br>
            <a:r>
              <a:rPr lang="ru-RU" sz="4800" u="sng" dirty="0" smtClean="0"/>
              <a:t>B) Голям проект</a:t>
            </a:r>
            <a:br>
              <a:rPr lang="ru-RU" sz="4800" u="sng" dirty="0" smtClean="0"/>
            </a:br>
            <a:r>
              <a:rPr lang="ru-RU" sz="4800" dirty="0" smtClean="0"/>
              <a:t>C) Само HTML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406985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867" y="508969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10. Коя програма е текстов редактор</a:t>
            </a:r>
            <a:r>
              <a:rPr lang="bg-BG" sz="4800" b="1" dirty="0" smtClean="0"/>
              <a:t>?</a:t>
            </a:r>
          </a:p>
          <a:p>
            <a:r>
              <a:rPr lang="bg-BG" sz="4800" dirty="0"/>
              <a:t/>
            </a:r>
            <a:br>
              <a:rPr lang="bg-BG" sz="4800" dirty="0"/>
            </a:br>
            <a:r>
              <a:rPr lang="en-US" sz="4800" dirty="0"/>
              <a:t>A) Visual Studio</a:t>
            </a:r>
            <a:br>
              <a:rPr lang="en-US" sz="4800" dirty="0"/>
            </a:br>
            <a:r>
              <a:rPr lang="en-US" sz="4800" dirty="0"/>
              <a:t>B) IntelliJ IDEA</a:t>
            </a:r>
            <a:br>
              <a:rPr lang="en-US" sz="4800" dirty="0"/>
            </a:br>
            <a:r>
              <a:rPr lang="en-US" sz="4800" dirty="0"/>
              <a:t>C) Visual Studio Code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00531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867" y="559770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/>
              <a:t>10. Коя програма е текстов редактор</a:t>
            </a:r>
            <a:r>
              <a:rPr lang="bg-BG" sz="4800" b="1" dirty="0" smtClean="0"/>
              <a:t>?</a:t>
            </a:r>
          </a:p>
          <a:p>
            <a:r>
              <a:rPr lang="bg-BG" sz="4800" dirty="0"/>
              <a:t/>
            </a:r>
            <a:br>
              <a:rPr lang="bg-BG" sz="4800" dirty="0"/>
            </a:br>
            <a:r>
              <a:rPr lang="en-US" sz="4800" dirty="0"/>
              <a:t>A) Visual Studio</a:t>
            </a:r>
            <a:br>
              <a:rPr lang="en-US" sz="4800" dirty="0"/>
            </a:br>
            <a:r>
              <a:rPr lang="en-US" sz="4800" dirty="0"/>
              <a:t>B) IntelliJ IDEA</a:t>
            </a:r>
            <a:br>
              <a:rPr lang="en-US" sz="4800" dirty="0"/>
            </a:br>
            <a:r>
              <a:rPr lang="en-US" sz="4800" u="sng" dirty="0"/>
              <a:t>C) Visual Studio Code</a:t>
            </a:r>
            <a:endParaRPr lang="bg-BG" sz="4800" u="sng" dirty="0"/>
          </a:p>
        </p:txBody>
      </p:sp>
    </p:spTree>
    <p:extLst>
      <p:ext uri="{BB962C8B-B14F-4D97-AF65-F5344CB8AC3E}">
        <p14:creationId xmlns:p14="http://schemas.microsoft.com/office/powerpoint/2010/main" val="2090708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86350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УРОК 2.4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Използване на инструменти в IDE за работа със сорс-контрол системи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667" y="-31127"/>
            <a:ext cx="8771466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Какво е сорс-контрол система (Source Control</a:t>
            </a:r>
            <a:r>
              <a:rPr lang="ru-RU" sz="4400" b="1" dirty="0" smtClean="0"/>
              <a:t>)?</a:t>
            </a:r>
            <a:endParaRPr lang="ru-RU" sz="4400" b="1" dirty="0"/>
          </a:p>
          <a:p>
            <a:r>
              <a:rPr lang="ru-RU" sz="4000" dirty="0" smtClean="0"/>
              <a:t>Тя е инструмент </a:t>
            </a:r>
            <a:r>
              <a:rPr lang="ru-RU" sz="4000" dirty="0"/>
              <a:t>за: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съхранение на сорс кода;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проследяване на всички промени;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работа в екип;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възстановяване на предишни версии.</a:t>
            </a:r>
          </a:p>
          <a:p>
            <a:r>
              <a:rPr lang="ru-RU" sz="4400" b="1" dirty="0"/>
              <a:t>Най-използвана система: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4400" b="1" dirty="0">
                <a:solidFill>
                  <a:srgbClr val="FF0000"/>
                </a:solidFill>
              </a:rPr>
              <a:t>Git</a:t>
            </a:r>
            <a:endParaRPr lang="ru-R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889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Какво</a:t>
            </a:r>
            <a:r>
              <a:rPr dirty="0"/>
              <a:t> е </a:t>
            </a:r>
            <a:r>
              <a:rPr dirty="0" err="1"/>
              <a:t>Git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7" y="1422400"/>
            <a:ext cx="7687733" cy="4488822"/>
          </a:xfrm>
        </p:spPr>
        <p:txBody>
          <a:bodyPr>
            <a:normAutofit/>
          </a:bodyPr>
          <a:lstStyle/>
          <a:p>
            <a:r>
              <a:rPr sz="4000" dirty="0" err="1"/>
              <a:t>Проследяване</a:t>
            </a:r>
            <a:r>
              <a:rPr sz="4000" dirty="0"/>
              <a:t> </a:t>
            </a:r>
            <a:r>
              <a:rPr sz="4000" dirty="0" err="1"/>
              <a:t>на</a:t>
            </a:r>
            <a:r>
              <a:rPr sz="4000" dirty="0"/>
              <a:t> </a:t>
            </a:r>
            <a:r>
              <a:rPr sz="4000" dirty="0" err="1"/>
              <a:t>промени</a:t>
            </a:r>
            <a:endParaRPr sz="4000" dirty="0"/>
          </a:p>
          <a:p>
            <a:r>
              <a:rPr sz="4000" dirty="0" err="1"/>
              <a:t>Работа</a:t>
            </a:r>
            <a:r>
              <a:rPr sz="4000" dirty="0"/>
              <a:t> в </a:t>
            </a:r>
            <a:r>
              <a:rPr sz="4000" dirty="0" err="1"/>
              <a:t>екип</a:t>
            </a:r>
            <a:endParaRPr sz="4000" dirty="0"/>
          </a:p>
          <a:p>
            <a:r>
              <a:rPr sz="4000" dirty="0" err="1"/>
              <a:t>Връщане</a:t>
            </a:r>
            <a:r>
              <a:rPr sz="4000" dirty="0"/>
              <a:t> </a:t>
            </a:r>
            <a:r>
              <a:rPr sz="4000" dirty="0" err="1"/>
              <a:t>към</a:t>
            </a:r>
            <a:r>
              <a:rPr sz="4000" dirty="0"/>
              <a:t> </a:t>
            </a:r>
            <a:r>
              <a:rPr sz="4000" dirty="0" err="1"/>
              <a:t>стари</a:t>
            </a:r>
            <a:r>
              <a:rPr sz="4000" dirty="0"/>
              <a:t> </a:t>
            </a:r>
            <a:r>
              <a:rPr sz="4000" dirty="0" err="1"/>
              <a:t>версии</a:t>
            </a:r>
            <a:endParaRPr sz="4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Основни Git операции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1" y="1662579"/>
            <a:ext cx="8229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 (repo)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хранилище с код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запис на промени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разклонение на проекта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изпращане на промени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изтегляне на промени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в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933" y="1329267"/>
            <a:ext cx="7755467" cy="45819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000" b="1" dirty="0"/>
              <a:t>Основни възможности:</a:t>
            </a:r>
          </a:p>
          <a:p>
            <a:r>
              <a:rPr lang="ru-RU" sz="4000" dirty="0"/>
              <a:t>визуален преглед на промените;</a:t>
            </a:r>
          </a:p>
          <a:p>
            <a:r>
              <a:rPr lang="ru-RU" sz="4000" dirty="0"/>
              <a:t>създаване на commit без терминал;</a:t>
            </a:r>
          </a:p>
          <a:p>
            <a:r>
              <a:rPr lang="ru-RU" sz="4000" dirty="0"/>
              <a:t>история на промените;</a:t>
            </a:r>
          </a:p>
          <a:p>
            <a:r>
              <a:rPr lang="ru-RU" sz="4000" dirty="0"/>
              <a:t>работа с branch-ове.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422400"/>
            <a:ext cx="7848600" cy="4488822"/>
          </a:xfrm>
        </p:spPr>
        <p:txBody>
          <a:bodyPr>
            <a:normAutofit/>
          </a:bodyPr>
          <a:lstStyle/>
          <a:p>
            <a:r>
              <a:rPr sz="4000" dirty="0" err="1"/>
              <a:t>Създаване</a:t>
            </a:r>
            <a:r>
              <a:rPr sz="4000" dirty="0"/>
              <a:t> </a:t>
            </a:r>
            <a:r>
              <a:rPr sz="4000" dirty="0" err="1"/>
              <a:t>на</a:t>
            </a:r>
            <a:r>
              <a:rPr sz="4000" dirty="0"/>
              <a:t> commit </a:t>
            </a:r>
            <a:r>
              <a:rPr sz="4000" dirty="0" err="1"/>
              <a:t>през</a:t>
            </a:r>
            <a:r>
              <a:rPr sz="4000" dirty="0"/>
              <a:t> IDE</a:t>
            </a:r>
          </a:p>
          <a:p>
            <a:r>
              <a:rPr sz="4000" dirty="0" err="1"/>
              <a:t>Преглед</a:t>
            </a:r>
            <a:r>
              <a:rPr sz="4000" dirty="0"/>
              <a:t> </a:t>
            </a:r>
            <a:r>
              <a:rPr sz="4000" dirty="0" err="1"/>
              <a:t>на</a:t>
            </a:r>
            <a:r>
              <a:rPr sz="4000" dirty="0"/>
              <a:t> </a:t>
            </a:r>
            <a:r>
              <a:rPr sz="4000" dirty="0" err="1"/>
              <a:t>историята</a:t>
            </a:r>
            <a:endParaRPr sz="4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Практически задачи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1" y="1354802"/>
            <a:ext cx="8229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Отваряне на проект във Visual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на Git статус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Промяна в код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 с описание: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„Add calculation logic“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към отдалечено хранилище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467" y="0"/>
            <a:ext cx="8712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Предимства на Git в </a:t>
            </a:r>
            <a:r>
              <a:rPr lang="ru-RU" sz="4800" b="1" dirty="0" smtClean="0"/>
              <a:t>IDE</a:t>
            </a:r>
          </a:p>
          <a:p>
            <a:endParaRPr lang="ru-RU" sz="4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по-малко грешки;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лесна ориентация в проекта;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подходящо за начинаещи.</a:t>
            </a:r>
          </a:p>
        </p:txBody>
      </p:sp>
    </p:spTree>
    <p:extLst>
      <p:ext uri="{BB962C8B-B14F-4D97-AF65-F5344CB8AC3E}">
        <p14:creationId xmlns:p14="http://schemas.microsoft.com/office/powerpoint/2010/main" val="38625660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599" y="94103"/>
            <a:ext cx="747606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Практическа задача за </a:t>
            </a:r>
            <a:r>
              <a:rPr lang="ru-RU" sz="4400" b="1" dirty="0" smtClean="0"/>
              <a:t>учениците</a:t>
            </a:r>
          </a:p>
          <a:p>
            <a:endParaRPr lang="ru-RU" sz="4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Направете промяна в код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Създайте commit с ясно описание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Проверете историята на промените</a:t>
            </a:r>
          </a:p>
        </p:txBody>
      </p:sp>
    </p:spTree>
    <p:extLst>
      <p:ext uri="{BB962C8B-B14F-4D97-AF65-F5344CB8AC3E}">
        <p14:creationId xmlns:p14="http://schemas.microsoft.com/office/powerpoint/2010/main" val="941481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53123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УРОК 2.5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Инструменти за търсене, промяна и навигация в кода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932" y="124936"/>
            <a:ext cx="854286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/>
              <a:t>Защо са нужни тези </a:t>
            </a:r>
            <a:r>
              <a:rPr lang="ru-RU" sz="4400" b="1" dirty="0" smtClean="0"/>
              <a:t>инструменти</a:t>
            </a:r>
          </a:p>
          <a:p>
            <a:endParaRPr lang="ru-RU" sz="4400" b="1" dirty="0"/>
          </a:p>
          <a:p>
            <a:r>
              <a:rPr lang="ru-RU" sz="4400" dirty="0"/>
              <a:t>В реални проекти: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файловете са много;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кодът е дълъг;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търсенето на ръка е неефективно.</a:t>
            </a:r>
          </a:p>
        </p:txBody>
      </p:sp>
    </p:spTree>
    <p:extLst>
      <p:ext uri="{BB962C8B-B14F-4D97-AF65-F5344CB8AC3E}">
        <p14:creationId xmlns:p14="http://schemas.microsoft.com/office/powerpoint/2010/main" val="39497691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Търсене и навигация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933" y="1337733"/>
            <a:ext cx="7882467" cy="4573489"/>
          </a:xfrm>
        </p:spPr>
        <p:txBody>
          <a:bodyPr/>
          <a:lstStyle/>
          <a:p>
            <a:r>
              <a:rPr sz="4000" dirty="0"/>
              <a:t>Ctrl + F – </a:t>
            </a:r>
            <a:r>
              <a:rPr lang="bg-BG" sz="4000" dirty="0" smtClean="0"/>
              <a:t>в </a:t>
            </a:r>
            <a:r>
              <a:rPr sz="4000" dirty="0" err="1" smtClean="0"/>
              <a:t>текущ</a:t>
            </a:r>
            <a:r>
              <a:rPr sz="4000" dirty="0" smtClean="0"/>
              <a:t> </a:t>
            </a:r>
            <a:r>
              <a:rPr sz="4000" dirty="0" err="1"/>
              <a:t>файл</a:t>
            </a:r>
            <a:endParaRPr sz="4000" dirty="0"/>
          </a:p>
          <a:p>
            <a:r>
              <a:rPr sz="4000" dirty="0"/>
              <a:t>Ctrl + Shift + F – </a:t>
            </a:r>
            <a:r>
              <a:rPr lang="bg-BG" sz="4000" dirty="0" smtClean="0"/>
              <a:t>в </a:t>
            </a:r>
            <a:r>
              <a:rPr sz="4000" dirty="0" err="1" smtClean="0"/>
              <a:t>целия</a:t>
            </a:r>
            <a:r>
              <a:rPr sz="4000" dirty="0" smtClean="0"/>
              <a:t> </a:t>
            </a:r>
            <a:r>
              <a:rPr sz="4000" dirty="0" err="1"/>
              <a:t>проект</a:t>
            </a:r>
            <a:endParaRPr sz="4000" dirty="0"/>
          </a:p>
          <a:p>
            <a:r>
              <a:rPr sz="4000" dirty="0"/>
              <a:t>F12 – </a:t>
            </a:r>
            <a:r>
              <a:rPr sz="4000" dirty="0" err="1"/>
              <a:t>към</a:t>
            </a:r>
            <a:r>
              <a:rPr sz="4000" dirty="0"/>
              <a:t> </a:t>
            </a:r>
            <a:r>
              <a:rPr sz="4000" dirty="0" err="1" smtClean="0"/>
              <a:t>дефиниция</a:t>
            </a:r>
            <a:endParaRPr lang="bg-BG" sz="4000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41103" y="611876"/>
            <a:ext cx="850289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Промяна на код (Replace)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 + H</a:t>
            </a: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замяна във файл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 + Shift + H</a:t>
            </a: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замяна в проект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8769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7800" y="369601"/>
            <a:ext cx="84582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bg-BG" sz="44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Замяна на: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CalculateSum()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с: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CalculateTotal()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17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84200" y="522113"/>
            <a:ext cx="883339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Намиране на всички употреби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 + F12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Пример</a:t>
            </a: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double result = CalculateArea();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показва всички места, където се използва методът</a:t>
            </a:r>
          </a:p>
        </p:txBody>
      </p:sp>
    </p:spTree>
    <p:extLst>
      <p:ext uri="{BB962C8B-B14F-4D97-AF65-F5344CB8AC3E}">
        <p14:creationId xmlns:p14="http://schemas.microsoft.com/office/powerpoint/2010/main" val="18369646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92200" y="544368"/>
            <a:ext cx="782393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Навигация към дефиниция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F12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Пример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курсор върху </a:t>
            </a: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CalculateArea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F12 → директно към метода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8456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332" y="221103"/>
            <a:ext cx="85936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/>
              <a:t>Предимства</a:t>
            </a:r>
          </a:p>
          <a:p>
            <a:endParaRPr lang="ru-RU" sz="4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по-бърза ориентация;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по-малко грешки;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800" dirty="0"/>
              <a:t>по-добра поддръжка на код.</a:t>
            </a:r>
          </a:p>
        </p:txBody>
      </p:sp>
    </p:spTree>
    <p:extLst>
      <p:ext uri="{BB962C8B-B14F-4D97-AF65-F5344CB8AC3E}">
        <p14:creationId xmlns:p14="http://schemas.microsoft.com/office/powerpoint/2010/main" val="2855608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4133" y="499533"/>
            <a:ext cx="851746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Практическа </a:t>
            </a:r>
            <a:r>
              <a:rPr lang="ru-RU" sz="4800" b="1" dirty="0" smtClean="0"/>
              <a:t>задача</a:t>
            </a:r>
          </a:p>
          <a:p>
            <a:pPr algn="ctr"/>
            <a:endParaRPr lang="ru-RU" sz="4800" b="1" dirty="0"/>
          </a:p>
          <a:p>
            <a:pPr>
              <a:buFont typeface="+mj-lt"/>
              <a:buAutoNum type="arabicPeriod"/>
            </a:pPr>
            <a:r>
              <a:rPr lang="ru-RU" sz="4000" dirty="0"/>
              <a:t>Намерете метод в проекта</a:t>
            </a:r>
          </a:p>
          <a:p>
            <a:pPr>
              <a:buFont typeface="+mj-lt"/>
              <a:buAutoNum type="arabicPeriod"/>
            </a:pPr>
            <a:r>
              <a:rPr lang="ru-RU" sz="4000" dirty="0"/>
              <a:t>Навигирайте до дефиницията му</a:t>
            </a:r>
          </a:p>
          <a:p>
            <a:pPr>
              <a:buFont typeface="+mj-lt"/>
              <a:buAutoNum type="arabicPeriod"/>
            </a:pPr>
            <a:r>
              <a:rPr lang="ru-RU" sz="4000" dirty="0"/>
              <a:t>Проверете всички негови употреби</a:t>
            </a:r>
          </a:p>
          <a:p>
            <a:pPr>
              <a:buFont typeface="+mj-lt"/>
              <a:buAutoNum type="arabicPeriod"/>
            </a:pPr>
            <a:r>
              <a:rPr lang="ru-RU" sz="4000" dirty="0"/>
              <a:t>Преименувайте метода навсякъде</a:t>
            </a:r>
          </a:p>
        </p:txBody>
      </p:sp>
    </p:spTree>
    <p:extLst>
      <p:ext uri="{BB962C8B-B14F-4D97-AF65-F5344CB8AC3E}">
        <p14:creationId xmlns:p14="http://schemas.microsoft.com/office/powerpoint/2010/main" val="25953644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08969"/>
            <a:ext cx="88815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ctr">
              <a:buAutoNum type="arabicPeriod"/>
            </a:pPr>
            <a:r>
              <a:rPr lang="ru-RU" sz="4800" b="1" dirty="0" smtClean="0"/>
              <a:t>Какво </a:t>
            </a:r>
            <a:r>
              <a:rPr lang="ru-RU" sz="4800" b="1" dirty="0"/>
              <a:t>представлява commit в Git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Изтриване на код</a:t>
            </a:r>
            <a:br>
              <a:rPr lang="ru-RU" sz="4800" dirty="0"/>
            </a:br>
            <a:r>
              <a:rPr lang="ru-RU" sz="4800" dirty="0"/>
              <a:t>B) Запис на текущите промени</a:t>
            </a:r>
            <a:br>
              <a:rPr lang="ru-RU" sz="4800" dirty="0"/>
            </a:br>
            <a:r>
              <a:rPr lang="ru-RU" sz="4800" dirty="0"/>
              <a:t>C) Копиране на проект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9004519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6533" y="542836"/>
            <a:ext cx="88815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ctr">
              <a:buAutoNum type="arabicPeriod"/>
            </a:pPr>
            <a:r>
              <a:rPr lang="ru-RU" sz="4800" b="1" dirty="0" smtClean="0"/>
              <a:t>Какво </a:t>
            </a:r>
            <a:r>
              <a:rPr lang="ru-RU" sz="4800" b="1" dirty="0"/>
              <a:t>представлява commit в Git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Изтриване на код</a:t>
            </a:r>
            <a:br>
              <a:rPr lang="ru-RU" sz="4800" dirty="0"/>
            </a:br>
            <a:r>
              <a:rPr lang="ru-RU" sz="4800" u="sng" dirty="0"/>
              <a:t>B) Запис на текущите промени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C) Копиране на проект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951770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0534" y="514403"/>
            <a:ext cx="8915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2. Коя операция изпраща локалните промени към отдалечено хранилище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Pull</a:t>
            </a:r>
            <a:br>
              <a:rPr lang="ru-RU" sz="4800" dirty="0"/>
            </a:br>
            <a:r>
              <a:rPr lang="ru-RU" sz="4800" dirty="0"/>
              <a:t>B) Commit</a:t>
            </a:r>
            <a:br>
              <a:rPr lang="ru-RU" sz="4800" dirty="0"/>
            </a:br>
            <a:r>
              <a:rPr lang="ru-RU" sz="4800" dirty="0"/>
              <a:t>C) Push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326321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467" y="505937"/>
            <a:ext cx="8915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2. Коя операция изпраща локалните промени към отдалечено хранилище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Pull</a:t>
            </a:r>
            <a:br>
              <a:rPr lang="ru-RU" sz="4800" dirty="0"/>
            </a:br>
            <a:r>
              <a:rPr lang="ru-RU" sz="4800" dirty="0"/>
              <a:t>B) Commit</a:t>
            </a:r>
            <a:br>
              <a:rPr lang="ru-RU" sz="4800" dirty="0"/>
            </a:br>
            <a:r>
              <a:rPr lang="ru-RU" sz="4800" u="sng" dirty="0"/>
              <a:t>C) Push</a:t>
            </a:r>
            <a:endParaRPr lang="bg-BG" sz="4800" u="sng" dirty="0"/>
          </a:p>
        </p:txBody>
      </p:sp>
    </p:spTree>
    <p:extLst>
      <p:ext uri="{BB962C8B-B14F-4D97-AF65-F5344CB8AC3E}">
        <p14:creationId xmlns:p14="http://schemas.microsoft.com/office/powerpoint/2010/main" val="1961679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67" y="514402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3. Коя клавишна комбинация намира всички употреби на даден метод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Ctrl + F</a:t>
            </a:r>
            <a:br>
              <a:rPr lang="ru-RU" sz="4800" dirty="0"/>
            </a:br>
            <a:r>
              <a:rPr lang="ru-RU" sz="4800" dirty="0"/>
              <a:t>B) Shift + F12</a:t>
            </a:r>
            <a:br>
              <a:rPr lang="ru-RU" sz="4800" dirty="0"/>
            </a:br>
            <a:r>
              <a:rPr lang="ru-RU" sz="4800" dirty="0"/>
              <a:t>C) F12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7249103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1335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3. Коя клавишна комбинация намира всички употреби на даден метод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Ctrl + F</a:t>
            </a:r>
            <a:br>
              <a:rPr lang="ru-RU" sz="4800" dirty="0"/>
            </a:br>
            <a:r>
              <a:rPr lang="ru-RU" sz="4800" u="sng" dirty="0"/>
              <a:t>B) Shift + F12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C) F12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40394755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1932" y="474133"/>
            <a:ext cx="89831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4. Какво прави клавишът F12 в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Стартира програмата</a:t>
            </a:r>
            <a:br>
              <a:rPr lang="ru-RU" sz="4800" dirty="0"/>
            </a:br>
            <a:r>
              <a:rPr lang="ru-RU" sz="4800" dirty="0"/>
              <a:t>B) Отваря всички файлове</a:t>
            </a:r>
            <a:br>
              <a:rPr lang="ru-RU" sz="4800" dirty="0"/>
            </a:br>
            <a:r>
              <a:rPr lang="ru-RU" sz="4800" dirty="0"/>
              <a:t>C) Навигира към дефиницията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22451790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5732" y="482600"/>
            <a:ext cx="898313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4. Какво прави клавишът F12 в IDE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Стартира програмата</a:t>
            </a:r>
            <a:br>
              <a:rPr lang="ru-RU" sz="4800" dirty="0"/>
            </a:br>
            <a:r>
              <a:rPr lang="ru-RU" sz="4800" dirty="0"/>
              <a:t>B) Отваря всички файлове</a:t>
            </a:r>
            <a:br>
              <a:rPr lang="ru-RU" sz="4800" dirty="0"/>
            </a:br>
            <a:r>
              <a:rPr lang="ru-RU" sz="4800" u="sng" dirty="0"/>
              <a:t>C) Навигира към дефиницията</a:t>
            </a:r>
            <a:endParaRPr lang="bg-BG" sz="4800" u="sng" dirty="0"/>
          </a:p>
        </p:txBody>
      </p:sp>
    </p:spTree>
    <p:extLst>
      <p:ext uri="{BB962C8B-B14F-4D97-AF65-F5344CB8AC3E}">
        <p14:creationId xmlns:p14="http://schemas.microsoft.com/office/powerpoint/2010/main" val="29952515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533" y="531337"/>
            <a:ext cx="87714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5. Кога е най-полезно търсенето в целия проект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При малък файл</a:t>
            </a:r>
            <a:br>
              <a:rPr lang="ru-RU" sz="4800" dirty="0"/>
            </a:br>
            <a:r>
              <a:rPr lang="ru-RU" sz="4800" dirty="0"/>
              <a:t>B) При голям проект с много файлове</a:t>
            </a:r>
            <a:br>
              <a:rPr lang="ru-RU" sz="4800" dirty="0"/>
            </a:br>
            <a:r>
              <a:rPr lang="ru-RU" sz="4800" dirty="0"/>
              <a:t>C) При компилация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4694801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533" y="505936"/>
            <a:ext cx="87714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5. Кога е най-полезно търсенето в целия проект</a:t>
            </a:r>
            <a:r>
              <a:rPr lang="ru-RU" sz="4800" b="1" dirty="0" smtClean="0"/>
              <a:t>?</a:t>
            </a:r>
          </a:p>
          <a:p>
            <a:r>
              <a:rPr lang="ru-RU" sz="4800" dirty="0"/>
              <a:t/>
            </a:r>
            <a:br>
              <a:rPr lang="ru-RU" sz="4800" dirty="0"/>
            </a:br>
            <a:r>
              <a:rPr lang="ru-RU" sz="4800" dirty="0"/>
              <a:t>A) При малък файл</a:t>
            </a:r>
            <a:br>
              <a:rPr lang="ru-RU" sz="4800" dirty="0"/>
            </a:br>
            <a:r>
              <a:rPr lang="ru-RU" sz="4800" u="sng" dirty="0"/>
              <a:t>B) При голям проект с много файлове</a:t>
            </a:r>
            <a:br>
              <a:rPr lang="ru-RU" sz="4800" u="sng" dirty="0"/>
            </a:br>
            <a:r>
              <a:rPr lang="ru-RU" sz="4800" dirty="0"/>
              <a:t>C) При компилация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7439304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57346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УРОК </a:t>
            </a:r>
            <a:r>
              <a:rPr dirty="0" smtClean="0"/>
              <a:t>2.</a:t>
            </a:r>
            <a:r>
              <a:rPr lang="bg-BG" dirty="0" smtClean="0"/>
              <a:t>6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Използване на външни библиотеки в приложенията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73495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7067" y="0"/>
            <a:ext cx="851746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/>
              <a:t>Какво е външна </a:t>
            </a:r>
            <a:r>
              <a:rPr lang="ru-RU" sz="4400" b="1" dirty="0" smtClean="0"/>
              <a:t>библиотека?</a:t>
            </a:r>
          </a:p>
          <a:p>
            <a:endParaRPr lang="ru-RU" sz="4400" b="1" dirty="0"/>
          </a:p>
          <a:p>
            <a:r>
              <a:rPr lang="ru-RU" sz="4400" b="1" dirty="0"/>
              <a:t>Външна библиотека</a:t>
            </a:r>
            <a:r>
              <a:rPr lang="ru-RU" sz="4400" dirty="0"/>
              <a:t> е готов програмен код, създаден от други разработчици, който може да се използва в нашето 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28326018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Външни библиотеки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785690"/>
            <a:ext cx="829733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работа с файлове;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сериализация на данни (JSON, XML);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работа с мрежа;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криптиране;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логване.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200" y="528637"/>
            <a:ext cx="8229600" cy="6160029"/>
          </a:xfrm>
        </p:spPr>
        <p:txBody>
          <a:bodyPr>
            <a:normAutofit/>
          </a:bodyPr>
          <a:lstStyle/>
          <a:p>
            <a:r>
              <a:rPr lang="ru-RU" b="1" dirty="0"/>
              <a:t>Защо използваме външни </a:t>
            </a:r>
            <a:r>
              <a:rPr lang="ru-RU" b="1" dirty="0" smtClean="0"/>
              <a:t>библиотеки?</a:t>
            </a:r>
            <a:br>
              <a:rPr lang="ru-RU" b="1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>.</a:t>
            </a:r>
            <a:r>
              <a:rPr lang="ru-RU" dirty="0" smtClean="0"/>
              <a:t>спестяват </a:t>
            </a:r>
            <a:r>
              <a:rPr lang="ru-RU" dirty="0"/>
              <a:t>време;</a:t>
            </a:r>
            <a:br>
              <a:rPr lang="ru-RU" dirty="0"/>
            </a:br>
            <a:r>
              <a:rPr lang="ru-RU" dirty="0" smtClean="0"/>
              <a:t>.кодът </a:t>
            </a:r>
            <a:r>
              <a:rPr lang="ru-RU" dirty="0"/>
              <a:t>е тестван и надежден;</a:t>
            </a:r>
            <a:br>
              <a:rPr lang="ru-RU" dirty="0"/>
            </a:br>
            <a:r>
              <a:rPr lang="ru-RU" dirty="0" smtClean="0"/>
              <a:t>.не </a:t>
            </a:r>
            <a:r>
              <a:rPr lang="ru-RU" dirty="0"/>
              <a:t>„изобретяваме колелото“;</a:t>
            </a:r>
            <a:br>
              <a:rPr lang="ru-RU" dirty="0"/>
            </a:br>
            <a:r>
              <a:rPr lang="ru-RU" dirty="0" smtClean="0"/>
              <a:t>.повишават </a:t>
            </a:r>
            <a:r>
              <a:rPr lang="ru-RU" dirty="0"/>
              <a:t>качеството на приложенията.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068424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3066" y="579735"/>
            <a:ext cx="762846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b="1" dirty="0"/>
              <a:t>Пример за външна библиотека (</a:t>
            </a:r>
            <a:r>
              <a:rPr lang="en-US" sz="4400" b="1" dirty="0"/>
              <a:t>C</a:t>
            </a:r>
            <a:r>
              <a:rPr lang="en-US" sz="4400" b="1" dirty="0" smtClean="0"/>
              <a:t>#)</a:t>
            </a:r>
            <a:endParaRPr lang="bg-BG" sz="4400" b="1" dirty="0" smtClean="0"/>
          </a:p>
          <a:p>
            <a:endParaRPr lang="en-US" sz="4400" b="1" dirty="0"/>
          </a:p>
          <a:p>
            <a:r>
              <a:rPr lang="en-US" sz="4400" b="1" dirty="0" err="1"/>
              <a:t>Newtonsoft.Json</a:t>
            </a:r>
            <a:r>
              <a:rPr lang="en-US" sz="4400" b="1" dirty="0"/>
              <a:t> (Json.NET)</a:t>
            </a:r>
          </a:p>
          <a:p>
            <a:r>
              <a:rPr lang="bg-BG" sz="4400" dirty="0"/>
              <a:t>Използва се за работа с </a:t>
            </a:r>
            <a:r>
              <a:rPr lang="en-US" sz="4400" dirty="0"/>
              <a:t>JSON.</a:t>
            </a:r>
          </a:p>
        </p:txBody>
      </p:sp>
    </p:spTree>
    <p:extLst>
      <p:ext uri="{BB962C8B-B14F-4D97-AF65-F5344CB8AC3E}">
        <p14:creationId xmlns:p14="http://schemas.microsoft.com/office/powerpoint/2010/main" val="42025766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0934" y="288599"/>
            <a:ext cx="856923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Примерен клас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 class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 string Name { get; set;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public int Grade { get; set;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6881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7101" y="19560"/>
            <a:ext cx="89627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4400" b="1" dirty="0"/>
              <a:t>Сериализация (обект → </a:t>
            </a:r>
            <a:r>
              <a:rPr lang="en-US" sz="4400" b="1" dirty="0"/>
              <a:t>JSON)</a:t>
            </a:r>
            <a:endParaRPr lang="bg-BG"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67733" y="789001"/>
            <a:ext cx="9347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000" dirty="0"/>
              <a:t>using Newtonsoft.Json;</a:t>
            </a:r>
          </a:p>
          <a:p>
            <a:r>
              <a:rPr lang="bg-BG" sz="4000" dirty="0" smtClean="0"/>
              <a:t>Student </a:t>
            </a:r>
            <a:r>
              <a:rPr lang="bg-BG" sz="4000" dirty="0"/>
              <a:t>s = new Student</a:t>
            </a:r>
          </a:p>
          <a:p>
            <a:r>
              <a:rPr lang="bg-BG" sz="4000" dirty="0"/>
              <a:t>{</a:t>
            </a:r>
          </a:p>
          <a:p>
            <a:r>
              <a:rPr lang="bg-BG" sz="4000" dirty="0"/>
              <a:t>    Name = "Ivan",</a:t>
            </a:r>
          </a:p>
          <a:p>
            <a:r>
              <a:rPr lang="bg-BG" sz="4000" dirty="0"/>
              <a:t>    Grade = 11</a:t>
            </a:r>
          </a:p>
          <a:p>
            <a:r>
              <a:rPr lang="bg-BG" sz="4000" dirty="0"/>
              <a:t>};</a:t>
            </a:r>
          </a:p>
          <a:p>
            <a:r>
              <a:rPr lang="bg-BG" sz="4000" dirty="0" smtClean="0"/>
              <a:t>string </a:t>
            </a:r>
            <a:r>
              <a:rPr lang="bg-BG" sz="4000" dirty="0"/>
              <a:t>json = JsonConvert.SerializeObject(s);</a:t>
            </a:r>
          </a:p>
          <a:p>
            <a:r>
              <a:rPr lang="bg-BG" sz="4000" dirty="0"/>
              <a:t>Console.WriteLine(json);</a:t>
            </a:r>
          </a:p>
        </p:txBody>
      </p:sp>
    </p:spTree>
    <p:extLst>
      <p:ext uri="{BB962C8B-B14F-4D97-AF65-F5344CB8AC3E}">
        <p14:creationId xmlns:p14="http://schemas.microsoft.com/office/powerpoint/2010/main" val="35346985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0308" y="69334"/>
            <a:ext cx="79724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4400" dirty="0"/>
              <a:t>Десериализация (</a:t>
            </a:r>
            <a:r>
              <a:rPr lang="en-US" sz="4400" dirty="0"/>
              <a:t>JSON → </a:t>
            </a:r>
            <a:r>
              <a:rPr lang="bg-BG" sz="4400" dirty="0"/>
              <a:t>обект)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92069"/>
            <a:ext cx="90508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/>
              <a:t>Student student =</a:t>
            </a:r>
          </a:p>
          <a:p>
            <a:r>
              <a:rPr lang="bg-BG" sz="3600" dirty="0"/>
              <a:t>    JsonConvert.DeserializeObject&lt;Student&gt;(json);</a:t>
            </a:r>
          </a:p>
        </p:txBody>
      </p:sp>
    </p:spTree>
    <p:extLst>
      <p:ext uri="{BB962C8B-B14F-4D97-AF65-F5344CB8AC3E}">
        <p14:creationId xmlns:p14="http://schemas.microsoft.com/office/powerpoint/2010/main" val="40005030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91069"/>
            <a:ext cx="905086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/>
              <a:t>Кога НЕ е подходящо да използваме </a:t>
            </a:r>
            <a:r>
              <a:rPr lang="ru-RU" sz="4400" b="1" dirty="0" smtClean="0"/>
              <a:t>библиотека</a:t>
            </a:r>
          </a:p>
          <a:p>
            <a:endParaRPr lang="ru-RU" sz="4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когато задачата е много проста;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когато библиотеката е остаряла;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когато лицензът не позволява използване.</a:t>
            </a:r>
          </a:p>
        </p:txBody>
      </p:sp>
    </p:spTree>
    <p:extLst>
      <p:ext uri="{BB962C8B-B14F-4D97-AF65-F5344CB8AC3E}">
        <p14:creationId xmlns:p14="http://schemas.microsoft.com/office/powerpoint/2010/main" val="22732357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267" y="-10531"/>
            <a:ext cx="87037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/>
              <a:t>Практическа </a:t>
            </a:r>
            <a:r>
              <a:rPr lang="ru-RU" sz="4400" b="1" dirty="0" smtClean="0"/>
              <a:t>задача</a:t>
            </a:r>
          </a:p>
          <a:p>
            <a:endParaRPr lang="ru-RU" sz="4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Създайте клас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Използвайте библиотека за превръщане в 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/>
              <a:t>Изведете резултата на екрана</a:t>
            </a:r>
          </a:p>
        </p:txBody>
      </p:sp>
    </p:spTree>
    <p:extLst>
      <p:ext uri="{BB962C8B-B14F-4D97-AF65-F5344CB8AC3E}">
        <p14:creationId xmlns:p14="http://schemas.microsoft.com/office/powerpoint/2010/main" val="15805594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76675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УРОК </a:t>
            </a:r>
            <a:r>
              <a:rPr dirty="0" smtClean="0"/>
              <a:t>2.</a:t>
            </a:r>
            <a:r>
              <a:rPr lang="bg-BG" dirty="0"/>
              <a:t>7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Управление на пакети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116555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17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 smtClean="0"/>
              <a:t>Какво е пакетен мениджър?</a:t>
            </a:r>
          </a:p>
          <a:p>
            <a:endParaRPr lang="ru-RU" sz="4400" b="1" dirty="0" smtClean="0"/>
          </a:p>
          <a:p>
            <a:r>
              <a:rPr lang="ru-RU" sz="4400" b="1" dirty="0" smtClean="0"/>
              <a:t>Пакетен мениджър</a:t>
            </a:r>
            <a:r>
              <a:rPr lang="ru-RU" sz="4400" dirty="0" smtClean="0"/>
              <a:t> е инструмент за: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 smtClean="0"/>
              <a:t>инсталиране на библиотеки;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 smtClean="0"/>
              <a:t>обновяване на версии;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400" dirty="0" smtClean="0"/>
              <a:t>премахване на зависимости.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3090755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Пакетни мениджъри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267" y="1303867"/>
            <a:ext cx="7840133" cy="4607355"/>
          </a:xfrm>
        </p:spPr>
        <p:txBody>
          <a:bodyPr>
            <a:normAutofit/>
          </a:bodyPr>
          <a:lstStyle/>
          <a:p>
            <a:r>
              <a:rPr sz="4000" dirty="0" err="1"/>
              <a:t>NuGet</a:t>
            </a:r>
            <a:r>
              <a:rPr sz="4000" dirty="0"/>
              <a:t> – C#</a:t>
            </a:r>
          </a:p>
          <a:p>
            <a:r>
              <a:rPr sz="4000" dirty="0" err="1"/>
              <a:t>npm</a:t>
            </a:r>
            <a:r>
              <a:rPr sz="4000" dirty="0"/>
              <a:t> – JavaScript</a:t>
            </a:r>
          </a:p>
          <a:p>
            <a:r>
              <a:rPr sz="4000" dirty="0"/>
              <a:t>pip – </a:t>
            </a:r>
            <a:r>
              <a:rPr sz="4000" dirty="0" smtClean="0"/>
              <a:t>Python</a:t>
            </a:r>
            <a:endParaRPr lang="bg-BG" sz="4000" dirty="0" smtClean="0"/>
          </a:p>
          <a:p>
            <a:r>
              <a:rPr lang="en-US" sz="4000" b="1" dirty="0"/>
              <a:t>composer</a:t>
            </a:r>
            <a:r>
              <a:rPr lang="en-US" sz="4000" dirty="0"/>
              <a:t> – PHP</a:t>
            </a:r>
            <a:endParaRPr sz="4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3134" y="517435"/>
            <a:ext cx="8483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err="1"/>
              <a:t>NuGet</a:t>
            </a:r>
            <a:r>
              <a:rPr lang="en-US" sz="4400" b="1" dirty="0"/>
              <a:t> – </a:t>
            </a:r>
            <a:r>
              <a:rPr lang="bg-BG" sz="4400" b="1" dirty="0"/>
              <a:t>управление на пакети в </a:t>
            </a:r>
            <a:r>
              <a:rPr lang="en-US" sz="4400" b="1" dirty="0"/>
              <a:t>C#</a:t>
            </a:r>
          </a:p>
          <a:p>
            <a:r>
              <a:rPr lang="bg-BG" sz="4400" b="1" dirty="0"/>
              <a:t>Инсталиране чрез </a:t>
            </a:r>
            <a:r>
              <a:rPr lang="en-US" sz="4400" b="1" dirty="0" smtClean="0"/>
              <a:t>IDE</a:t>
            </a:r>
            <a:endParaRPr lang="bg-BG" sz="4400" b="1" dirty="0" smtClean="0"/>
          </a:p>
          <a:p>
            <a:endParaRPr lang="en-US" sz="4400" b="1" dirty="0"/>
          </a:p>
          <a:p>
            <a:pPr>
              <a:buFont typeface="+mj-lt"/>
              <a:buAutoNum type="arabicPeriod"/>
            </a:pPr>
            <a:r>
              <a:rPr lang="en-US" sz="4400" dirty="0"/>
              <a:t>Right click → Manage </a:t>
            </a:r>
            <a:r>
              <a:rPr lang="en-US" sz="4400" dirty="0" err="1"/>
              <a:t>NuGet</a:t>
            </a:r>
            <a:r>
              <a:rPr lang="en-US" sz="4400" dirty="0"/>
              <a:t> Packages</a:t>
            </a:r>
          </a:p>
          <a:p>
            <a:pPr>
              <a:buFont typeface="+mj-lt"/>
              <a:buAutoNum type="arabicPeriod"/>
            </a:pPr>
            <a:r>
              <a:rPr lang="en-US" sz="4400" dirty="0"/>
              <a:t>Search → Install</a:t>
            </a:r>
          </a:p>
        </p:txBody>
      </p:sp>
    </p:spTree>
    <p:extLst>
      <p:ext uri="{BB962C8B-B14F-4D97-AF65-F5344CB8AC3E}">
        <p14:creationId xmlns:p14="http://schemas.microsoft.com/office/powerpoint/2010/main" val="593742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4879" y="543487"/>
            <a:ext cx="65942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4400" dirty="0"/>
              <a:t>Инсталиране чрез конзола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467" y="1620502"/>
            <a:ext cx="87206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FF0000"/>
                </a:solidFill>
              </a:rPr>
              <a:t>dotnet</a:t>
            </a:r>
            <a:r>
              <a:rPr lang="en-US" sz="4400" dirty="0">
                <a:solidFill>
                  <a:srgbClr val="FF0000"/>
                </a:solidFill>
              </a:rPr>
              <a:t> add package </a:t>
            </a:r>
            <a:r>
              <a:rPr lang="en-US" sz="4400" dirty="0" err="1">
                <a:solidFill>
                  <a:srgbClr val="FF0000"/>
                </a:solidFill>
              </a:rPr>
              <a:t>Newtonsoft.Json</a:t>
            </a:r>
            <a:endParaRPr lang="bg-BG" sz="4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1" y="3605255"/>
            <a:ext cx="90263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dirty="0"/>
              <a:t>Обновяване и премахване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20402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>
                <a:solidFill>
                  <a:srgbClr val="FF0000"/>
                </a:solidFill>
              </a:rPr>
              <a:t>dotnet add package Newtonsoft.Json --version 13.0.1</a:t>
            </a:r>
          </a:p>
          <a:p>
            <a:r>
              <a:rPr lang="bg-BG" sz="3600" dirty="0">
                <a:solidFill>
                  <a:srgbClr val="FF0000"/>
                </a:solidFill>
              </a:rPr>
              <a:t>dotnet remove package Newtonsoft.Json</a:t>
            </a:r>
          </a:p>
        </p:txBody>
      </p:sp>
    </p:spTree>
    <p:extLst>
      <p:ext uri="{BB962C8B-B14F-4D97-AF65-F5344CB8AC3E}">
        <p14:creationId xmlns:p14="http://schemas.microsoft.com/office/powerpoint/2010/main" val="33655972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0867" y="618067"/>
            <a:ext cx="7255933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000" dirty="0"/>
              <a:t>Проверка на инсталирани </a:t>
            </a:r>
            <a:r>
              <a:rPr lang="bg-BG" sz="4000" dirty="0" smtClean="0"/>
              <a:t>пакети</a:t>
            </a:r>
          </a:p>
          <a:p>
            <a:endParaRPr lang="bg-BG" sz="4000" dirty="0" smtClean="0"/>
          </a:p>
          <a:p>
            <a:r>
              <a:rPr lang="bg-BG" sz="4000" dirty="0">
                <a:solidFill>
                  <a:srgbClr val="FF0000"/>
                </a:solidFill>
              </a:rPr>
              <a:t>dotnet list package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704017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867" y="1236133"/>
            <a:ext cx="8119533" cy="46750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000" b="1" dirty="0"/>
              <a:t>Какво се случва „зад кулисите</a:t>
            </a:r>
            <a:r>
              <a:rPr lang="ru-RU" sz="4000" b="1" dirty="0" smtClean="0"/>
              <a:t>“?</a:t>
            </a:r>
          </a:p>
          <a:p>
            <a:pPr marL="0" indent="0">
              <a:buNone/>
            </a:pPr>
            <a:endParaRPr lang="ru-RU" sz="4000" b="1" dirty="0"/>
          </a:p>
          <a:p>
            <a:r>
              <a:rPr lang="ru-RU" sz="4000" dirty="0"/>
              <a:t>библиотеката се изтегля;</a:t>
            </a:r>
          </a:p>
          <a:p>
            <a:r>
              <a:rPr lang="ru-RU" sz="4000" dirty="0"/>
              <a:t>добавя се към проекта;</a:t>
            </a:r>
          </a:p>
          <a:p>
            <a:r>
              <a:rPr lang="ru-RU" sz="4000" dirty="0"/>
              <a:t>автоматично се включва при компилация.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67" y="1303867"/>
            <a:ext cx="7738533" cy="4607355"/>
          </a:xfrm>
        </p:spPr>
        <p:txBody>
          <a:bodyPr>
            <a:noAutofit/>
          </a:bodyPr>
          <a:lstStyle/>
          <a:p>
            <a:r>
              <a:rPr sz="4000" dirty="0"/>
              <a:t>1. </a:t>
            </a:r>
            <a:r>
              <a:rPr sz="4000" dirty="0" err="1"/>
              <a:t>Инсталирайте</a:t>
            </a:r>
            <a:r>
              <a:rPr sz="4000" dirty="0"/>
              <a:t> </a:t>
            </a:r>
            <a:r>
              <a:rPr sz="4000" dirty="0" err="1"/>
              <a:t>библиотека</a:t>
            </a:r>
            <a:r>
              <a:rPr sz="4000" dirty="0"/>
              <a:t> с </a:t>
            </a:r>
            <a:r>
              <a:rPr sz="4000" dirty="0" err="1"/>
              <a:t>NuGet</a:t>
            </a:r>
            <a:endParaRPr sz="4000" dirty="0"/>
          </a:p>
          <a:p>
            <a:r>
              <a:rPr sz="4000" dirty="0"/>
              <a:t>2. </a:t>
            </a:r>
            <a:r>
              <a:rPr sz="4000" dirty="0" err="1"/>
              <a:t>Използвайте</a:t>
            </a:r>
            <a:r>
              <a:rPr sz="4000" dirty="0"/>
              <a:t> я в </a:t>
            </a:r>
            <a:r>
              <a:rPr sz="4000" dirty="0" err="1"/>
              <a:t>код</a:t>
            </a:r>
            <a:endParaRPr sz="4000" dirty="0"/>
          </a:p>
          <a:p>
            <a:r>
              <a:rPr sz="4000" dirty="0"/>
              <a:t>3. </a:t>
            </a:r>
            <a:r>
              <a:rPr sz="4000" dirty="0" err="1"/>
              <a:t>Намерете</a:t>
            </a:r>
            <a:r>
              <a:rPr sz="4000" dirty="0"/>
              <a:t> </a:t>
            </a:r>
            <a:r>
              <a:rPr sz="4000" dirty="0" err="1"/>
              <a:t>дефиниция</a:t>
            </a:r>
            <a:r>
              <a:rPr sz="4000" dirty="0"/>
              <a:t> с </a:t>
            </a:r>
            <a:r>
              <a:rPr sz="4000" dirty="0" smtClean="0"/>
              <a:t>F12</a:t>
            </a:r>
            <a:endParaRPr lang="bg-BG" sz="4000" dirty="0" smtClean="0"/>
          </a:p>
          <a:p>
            <a:r>
              <a:rPr lang="bg-BG" sz="4000" dirty="0"/>
              <a:t>Премахнете я от проекта</a:t>
            </a:r>
            <a:endParaRPr sz="4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0734" y="500519"/>
            <a:ext cx="873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ru-RU" sz="4400" b="1" dirty="0" smtClean="0"/>
              <a:t>Какво </a:t>
            </a:r>
            <a:r>
              <a:rPr lang="ru-RU" sz="4400" b="1" dirty="0"/>
              <a:t>представлява външната библиотека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Операционна система</a:t>
            </a:r>
            <a:br>
              <a:rPr lang="ru-RU" sz="4400" dirty="0"/>
            </a:br>
            <a:r>
              <a:rPr lang="ru-RU" sz="4400" dirty="0"/>
              <a:t>B) Готов код за повторна употреба</a:t>
            </a:r>
            <a:br>
              <a:rPr lang="ru-RU" sz="4400" dirty="0"/>
            </a:br>
            <a:r>
              <a:rPr lang="ru-RU" sz="4400" dirty="0"/>
              <a:t>C) Компилатор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33360464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6134" y="500520"/>
            <a:ext cx="873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ru-RU" sz="4400" b="1" dirty="0" smtClean="0"/>
              <a:t>Какво </a:t>
            </a:r>
            <a:r>
              <a:rPr lang="ru-RU" sz="4400" b="1" dirty="0"/>
              <a:t>представлява външната библиотека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Операционна система</a:t>
            </a:r>
            <a:br>
              <a:rPr lang="ru-RU" sz="4400" dirty="0"/>
            </a:br>
            <a:r>
              <a:rPr lang="ru-RU" sz="4400" u="sng" dirty="0"/>
              <a:t>B) Готов код за повторна употреба</a:t>
            </a:r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C) Компилатор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34556713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1534" y="531337"/>
            <a:ext cx="779779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2. Кое е основно предимство на библиотеките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Увеличават размера на кода</a:t>
            </a:r>
            <a:br>
              <a:rPr lang="ru-RU" sz="4400" dirty="0"/>
            </a:br>
            <a:r>
              <a:rPr lang="ru-RU" sz="4400" dirty="0"/>
              <a:t>B) Пестят време и усилия</a:t>
            </a:r>
            <a:br>
              <a:rPr lang="ru-RU" sz="4400" dirty="0"/>
            </a:br>
            <a:r>
              <a:rPr lang="ru-RU" sz="4400" dirty="0"/>
              <a:t>C) Забавят разработката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436749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3800" y="539803"/>
            <a:ext cx="781473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2. Кое е основно предимство на библиотеките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Увеличават размера на кода</a:t>
            </a:r>
            <a:br>
              <a:rPr lang="ru-RU" sz="4400" dirty="0"/>
            </a:br>
            <a:r>
              <a:rPr lang="ru-RU" sz="4400" u="sng" dirty="0"/>
              <a:t>B) Пестят време и усилия</a:t>
            </a:r>
            <a:br>
              <a:rPr lang="ru-RU" sz="4400" u="sng" dirty="0"/>
            </a:br>
            <a:r>
              <a:rPr lang="ru-RU" sz="4400" dirty="0"/>
              <a:t>C) Забавят разработката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40465980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1532" y="517436"/>
            <a:ext cx="85259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3. За какво се използва Newtonsoft.Json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Работа с файлове</a:t>
            </a:r>
            <a:br>
              <a:rPr lang="ru-RU" sz="4400" dirty="0"/>
            </a:br>
            <a:r>
              <a:rPr lang="ru-RU" sz="4400" dirty="0"/>
              <a:t>B) Работа с мрежа</a:t>
            </a:r>
            <a:br>
              <a:rPr lang="ru-RU" sz="4400" dirty="0"/>
            </a:br>
            <a:r>
              <a:rPr lang="ru-RU" sz="4400" dirty="0"/>
              <a:t>C) Работа с JSON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33256031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3865" y="568236"/>
            <a:ext cx="85259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3. За какво се използва Newtonsoft.Json</a:t>
            </a:r>
            <a:r>
              <a:rPr lang="ru-RU" sz="4400" b="1" dirty="0" smtClean="0"/>
              <a:t>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Работа с файлове</a:t>
            </a:r>
            <a:br>
              <a:rPr lang="ru-RU" sz="4400" dirty="0"/>
            </a:br>
            <a:r>
              <a:rPr lang="ru-RU" sz="4400" dirty="0"/>
              <a:t>B) Работа с мрежа</a:t>
            </a:r>
            <a:br>
              <a:rPr lang="ru-RU" sz="4400" dirty="0"/>
            </a:br>
            <a:r>
              <a:rPr lang="ru-RU" sz="4400" u="sng" dirty="0"/>
              <a:t>C) Работа с JSON</a:t>
            </a:r>
            <a:endParaRPr lang="bg-BG" sz="4400" u="sng" dirty="0"/>
          </a:p>
        </p:txBody>
      </p:sp>
    </p:spTree>
    <p:extLst>
      <p:ext uri="{BB962C8B-B14F-4D97-AF65-F5344CB8AC3E}">
        <p14:creationId xmlns:p14="http://schemas.microsoft.com/office/powerpoint/2010/main" val="15653034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1" y="492036"/>
            <a:ext cx="7746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4. Кой инструмент управлява пакети в C</a:t>
            </a:r>
            <a:r>
              <a:rPr lang="ru-RU" sz="4400" b="1" dirty="0" smtClean="0"/>
              <a:t>#?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npm</a:t>
            </a:r>
            <a:br>
              <a:rPr lang="ru-RU" sz="4400" dirty="0"/>
            </a:br>
            <a:r>
              <a:rPr lang="ru-RU" sz="4400" dirty="0"/>
              <a:t>B) pip</a:t>
            </a:r>
            <a:br>
              <a:rPr lang="ru-RU" sz="4400" dirty="0"/>
            </a:br>
            <a:r>
              <a:rPr lang="ru-RU" sz="4400" dirty="0"/>
              <a:t>C) NuGet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330042894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1" y="517437"/>
            <a:ext cx="739986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4. Кой инструмент управлява пакети в C</a:t>
            </a:r>
            <a:r>
              <a:rPr lang="ru-RU" sz="4400" b="1" dirty="0" smtClean="0"/>
              <a:t>#?</a:t>
            </a:r>
          </a:p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A) npm</a:t>
            </a:r>
            <a:br>
              <a:rPr lang="ru-RU" sz="4400" dirty="0"/>
            </a:br>
            <a:r>
              <a:rPr lang="ru-RU" sz="4400" dirty="0"/>
              <a:t>B) pip</a:t>
            </a:r>
            <a:br>
              <a:rPr lang="ru-RU" sz="4400" dirty="0"/>
            </a:br>
            <a:r>
              <a:rPr lang="ru-RU" sz="4400" u="sng" dirty="0"/>
              <a:t>C) NuGet</a:t>
            </a:r>
            <a:endParaRPr lang="bg-BG" sz="4400" u="sng" dirty="0"/>
          </a:p>
        </p:txBody>
      </p:sp>
    </p:spTree>
    <p:extLst>
      <p:ext uri="{BB962C8B-B14F-4D97-AF65-F5344CB8AC3E}">
        <p14:creationId xmlns:p14="http://schemas.microsoft.com/office/powerpoint/2010/main" val="18540075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86933" y="492036"/>
            <a:ext cx="899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b="1" dirty="0"/>
              <a:t>5. Коя команда премахва пакет от проект</a:t>
            </a:r>
            <a:r>
              <a:rPr lang="bg-BG" sz="4400" b="1" dirty="0" smtClean="0"/>
              <a:t>?</a:t>
            </a:r>
          </a:p>
          <a:p>
            <a:r>
              <a:rPr lang="bg-BG" sz="4400" dirty="0"/>
              <a:t/>
            </a:r>
            <a:br>
              <a:rPr lang="bg-BG" sz="4400" dirty="0"/>
            </a:br>
            <a:r>
              <a:rPr lang="en-US" sz="4400" dirty="0"/>
              <a:t>A) </a:t>
            </a:r>
            <a:r>
              <a:rPr lang="en-US" sz="4400" dirty="0" err="1"/>
              <a:t>dotnet</a:t>
            </a:r>
            <a:r>
              <a:rPr lang="en-US" sz="4400" dirty="0"/>
              <a:t> add package</a:t>
            </a:r>
            <a:br>
              <a:rPr lang="en-US" sz="4400" dirty="0"/>
            </a:br>
            <a:r>
              <a:rPr lang="en-US" sz="4400" dirty="0"/>
              <a:t>B) </a:t>
            </a:r>
            <a:r>
              <a:rPr lang="en-US" sz="4400" dirty="0" err="1"/>
              <a:t>dotnet</a:t>
            </a:r>
            <a:r>
              <a:rPr lang="en-US" sz="4400" dirty="0"/>
              <a:t> remove package</a:t>
            </a:r>
            <a:br>
              <a:rPr lang="en-US" sz="4400" dirty="0"/>
            </a:br>
            <a:r>
              <a:rPr lang="en-US" sz="4400" dirty="0"/>
              <a:t>C) </a:t>
            </a:r>
            <a:r>
              <a:rPr lang="en-US" sz="4400" dirty="0" err="1"/>
              <a:t>dotnet</a:t>
            </a:r>
            <a:r>
              <a:rPr lang="en-US" sz="4400" dirty="0"/>
              <a:t> list package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5885981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95399" y="492036"/>
            <a:ext cx="899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b="1" dirty="0"/>
              <a:t>5. Коя команда премахва пакет от проект</a:t>
            </a:r>
            <a:r>
              <a:rPr lang="bg-BG" sz="4400" b="1" dirty="0" smtClean="0"/>
              <a:t>?</a:t>
            </a:r>
          </a:p>
          <a:p>
            <a:r>
              <a:rPr lang="bg-BG" sz="4400" dirty="0"/>
              <a:t/>
            </a:r>
            <a:br>
              <a:rPr lang="bg-BG" sz="4400" dirty="0"/>
            </a:br>
            <a:r>
              <a:rPr lang="en-US" sz="4400" dirty="0"/>
              <a:t>A) </a:t>
            </a:r>
            <a:r>
              <a:rPr lang="en-US" sz="4400" dirty="0" err="1"/>
              <a:t>dotnet</a:t>
            </a:r>
            <a:r>
              <a:rPr lang="en-US" sz="4400" dirty="0"/>
              <a:t> add package</a:t>
            </a:r>
            <a:br>
              <a:rPr lang="en-US" sz="4400" dirty="0"/>
            </a:br>
            <a:r>
              <a:rPr lang="en-US" sz="4400" u="sng" dirty="0"/>
              <a:t>B) </a:t>
            </a:r>
            <a:r>
              <a:rPr lang="en-US" sz="4400" u="sng" dirty="0" err="1"/>
              <a:t>dotnet</a:t>
            </a:r>
            <a:r>
              <a:rPr lang="en-US" sz="4400" u="sng" dirty="0"/>
              <a:t> remove package</a:t>
            </a:r>
            <a:br>
              <a:rPr lang="en-US" sz="4400" u="sng" dirty="0"/>
            </a:br>
            <a:r>
              <a:rPr lang="en-US" sz="4400" dirty="0"/>
              <a:t>C) </a:t>
            </a:r>
            <a:r>
              <a:rPr lang="en-US" sz="4400" dirty="0" err="1"/>
              <a:t>dotnet</a:t>
            </a:r>
            <a:r>
              <a:rPr lang="en-US" sz="4400" dirty="0"/>
              <a:t> list package</a:t>
            </a:r>
            <a:endParaRPr lang="bg-BG" sz="4400" dirty="0"/>
          </a:p>
        </p:txBody>
      </p:sp>
    </p:spTree>
    <p:extLst>
      <p:ext uri="{BB962C8B-B14F-4D97-AF65-F5344CB8AC3E}">
        <p14:creationId xmlns:p14="http://schemas.microsoft.com/office/powerpoint/2010/main" val="348614412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159</TotalTime>
  <Words>1548</Words>
  <Application>Microsoft Office PowerPoint</Application>
  <PresentationFormat>On-screen Show (4:3)</PresentationFormat>
  <Paragraphs>402</Paragraphs>
  <Slides>107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2" baseType="lpstr">
      <vt:lpstr>Arial</vt:lpstr>
      <vt:lpstr>Arial Unicode MS</vt:lpstr>
      <vt:lpstr>Century Gothic</vt:lpstr>
      <vt:lpstr>Wingdings 3</vt:lpstr>
      <vt:lpstr>Wisp</vt:lpstr>
      <vt:lpstr>Инструменти за разработка </vt:lpstr>
      <vt:lpstr>УРОК 2.1</vt:lpstr>
      <vt:lpstr>PowerPoint Presentation</vt:lpstr>
      <vt:lpstr>Какво е IDE</vt:lpstr>
      <vt:lpstr>Примери за IDE</vt:lpstr>
      <vt:lpstr>PowerPoint Presentation</vt:lpstr>
      <vt:lpstr>Какво е текстов редактор</vt:lpstr>
      <vt:lpstr>IDE vs Текстов редактор</vt:lpstr>
      <vt:lpstr>Примери</vt:lpstr>
      <vt:lpstr>Практически задачи</vt:lpstr>
      <vt:lpstr>БЛАГОДАРЯ ЗА ВНИМАНИЕТО!</vt:lpstr>
      <vt:lpstr>УРОК 2.2</vt:lpstr>
      <vt:lpstr>Защо продуктивност?</vt:lpstr>
      <vt:lpstr>Основни инструменти за продуктивност в IDE (Visual Studio) IntelliSense</vt:lpstr>
      <vt:lpstr>Quick Actions</vt:lpstr>
      <vt:lpstr>Клавишни комбинации (Visual Studio)</vt:lpstr>
      <vt:lpstr>PowerPoint Presentation</vt:lpstr>
      <vt:lpstr>Примери</vt:lpstr>
      <vt:lpstr>Практически задачи</vt:lpstr>
      <vt:lpstr>БЛАГОДАРЯ ЗА ВНИМАНИЕТО!</vt:lpstr>
      <vt:lpstr>УРОК 2.3</vt:lpstr>
      <vt:lpstr>PowerPoint Presentation</vt:lpstr>
      <vt:lpstr>Разширения във VS Code Чрез разширения текстовият редактор става мощен инструмент.</vt:lpstr>
      <vt:lpstr>Полезни комбинации</vt:lpstr>
      <vt:lpstr>Примери</vt:lpstr>
      <vt:lpstr>Практически задачи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  <vt:lpstr>УРОК 2.4</vt:lpstr>
      <vt:lpstr>PowerPoint Presentation</vt:lpstr>
      <vt:lpstr>Какво е Git</vt:lpstr>
      <vt:lpstr>Основни Git операции</vt:lpstr>
      <vt:lpstr>Git в IDE</vt:lpstr>
      <vt:lpstr>Примери</vt:lpstr>
      <vt:lpstr>Практически задачи</vt:lpstr>
      <vt:lpstr>PowerPoint Presentation</vt:lpstr>
      <vt:lpstr>PowerPoint Presentation</vt:lpstr>
      <vt:lpstr>БЛАГОДАРЯ ЗА ВНИМАНИЕТО!</vt:lpstr>
      <vt:lpstr>УРОК 2.5 </vt:lpstr>
      <vt:lpstr>PowerPoint Presentation</vt:lpstr>
      <vt:lpstr>Търсене и навигация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  <vt:lpstr>УРОК 2.6 </vt:lpstr>
      <vt:lpstr>PowerPoint Presentation</vt:lpstr>
      <vt:lpstr>Външни библиотеки</vt:lpstr>
      <vt:lpstr>Защо използваме външни библиотеки?  .спестяват време; .кодът е тестван и надежден; .не „изобретяваме колелото“; .повишават качеството на приложенията.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  <vt:lpstr>УРОК 2.7 </vt:lpstr>
      <vt:lpstr>PowerPoint Presentation</vt:lpstr>
      <vt:lpstr>Пакетни мениджъри</vt:lpstr>
      <vt:lpstr>PowerPoint Presentation</vt:lpstr>
      <vt:lpstr>PowerPoint Presentation</vt:lpstr>
      <vt:lpstr>PowerPoint Presentation</vt:lpstr>
      <vt:lpstr>Примери</vt:lpstr>
      <vt:lpstr>Практически задачи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IDE, Текстови редактори и Git</dc:title>
  <dc:subject/>
  <dc:creator>Нели Няголова</dc:creator>
  <cp:keywords/>
  <dc:description>generated using python-pptx</dc:description>
  <cp:lastModifiedBy>Нели Г. Няголова</cp:lastModifiedBy>
  <cp:revision>82</cp:revision>
  <dcterms:created xsi:type="dcterms:W3CDTF">2013-01-27T09:14:16Z</dcterms:created>
  <dcterms:modified xsi:type="dcterms:W3CDTF">2026-02-02T16:03:36Z</dcterms:modified>
  <cp:category/>
</cp:coreProperties>
</file>