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492981"/>
            <a:ext cx="8825658" cy="4556097"/>
          </a:xfrm>
        </p:spPr>
        <p:txBody>
          <a:bodyPr/>
          <a:lstStyle/>
          <a:p>
            <a:pPr algn="ctr"/>
            <a:r>
              <a:rPr lang="bg-BG" sz="6000" b="1" dirty="0"/>
              <a:t>КОНКУРЕНТНОСТ. ИЗПЪЛНЕНИЕ НА ПРОГРАМАТА. </a:t>
            </a:r>
            <a:br>
              <a:rPr lang="bg-BG" sz="6000" b="1" dirty="0"/>
            </a:br>
            <a:r>
              <a:rPr lang="bg-BG" sz="6000" b="1" dirty="0"/>
              <a:t>ПРОЦЕС.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flipH="1">
            <a:off x="9980612" y="5557962"/>
            <a:ext cx="45719" cy="80838"/>
          </a:xfrm>
        </p:spPr>
        <p:txBody>
          <a:bodyPr>
            <a:normAutofit fontScale="25000" lnSpcReduction="20000"/>
          </a:bodyPr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5408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773153"/>
          </a:xfrm>
        </p:spPr>
        <p:txBody>
          <a:bodyPr/>
          <a:lstStyle/>
          <a:p>
            <a:r>
              <a:rPr lang="bg-BG" b="1" dirty="0"/>
              <a:t> </a:t>
            </a:r>
            <a:r>
              <a:rPr lang="bg-BG" b="1" dirty="0" smtClean="0"/>
              <a:t>             Какво </a:t>
            </a:r>
            <a:r>
              <a:rPr lang="bg-BG" b="1" dirty="0"/>
              <a:t>ще научим? </a:t>
            </a:r>
            <a:r>
              <a:rPr lang="bg-BG" dirty="0"/>
              <a:t/>
            </a:r>
            <a:br>
              <a:rPr lang="bg-BG" dirty="0"/>
            </a:br>
            <a:r>
              <a:rPr lang="bg-BG" dirty="0" smtClean="0"/>
              <a:t>1.Какво </a:t>
            </a:r>
            <a:r>
              <a:rPr lang="bg-BG" dirty="0"/>
              <a:t>е конкурентност? </a:t>
            </a:r>
            <a:br>
              <a:rPr lang="bg-BG" dirty="0"/>
            </a:br>
            <a:r>
              <a:rPr lang="bg-BG" dirty="0" smtClean="0"/>
              <a:t>2.</a:t>
            </a:r>
            <a:r>
              <a:rPr lang="ru-RU" dirty="0" smtClean="0"/>
              <a:t>Защо </a:t>
            </a:r>
            <a:r>
              <a:rPr lang="ru-RU" dirty="0"/>
              <a:t>програмите (и потребителите) имат нужда от конкурентност? </a:t>
            </a:r>
            <a:br>
              <a:rPr lang="ru-RU" dirty="0"/>
            </a:br>
            <a:r>
              <a:rPr lang="ru-RU" dirty="0" smtClean="0"/>
              <a:t>3.</a:t>
            </a:r>
            <a:r>
              <a:rPr lang="bg-BG" dirty="0" smtClean="0"/>
              <a:t>Как </a:t>
            </a:r>
            <a:r>
              <a:rPr lang="bg-BG" dirty="0"/>
              <a:t>работят програмите? </a:t>
            </a:r>
            <a:br>
              <a:rPr lang="bg-BG" dirty="0"/>
            </a:br>
            <a:r>
              <a:rPr lang="bg-BG" dirty="0" smtClean="0"/>
              <a:t>4.Какво </a:t>
            </a:r>
            <a:r>
              <a:rPr lang="bg-BG" dirty="0"/>
              <a:t>е процес? </a:t>
            </a:r>
          </a:p>
        </p:txBody>
      </p:sp>
    </p:spTree>
    <p:extLst>
      <p:ext uri="{BB962C8B-B14F-4D97-AF65-F5344CB8AC3E}">
        <p14:creationId xmlns:p14="http://schemas.microsoft.com/office/powerpoint/2010/main" val="367084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035546"/>
          </a:xfrm>
        </p:spPr>
        <p:txBody>
          <a:bodyPr/>
          <a:lstStyle/>
          <a:p>
            <a:r>
              <a:rPr lang="ru-RU" b="1" dirty="0"/>
              <a:t>1. Конкурентността (concurrency) </a:t>
            </a:r>
            <a:r>
              <a:rPr lang="ru-RU" dirty="0"/>
              <a:t>се явява важен инструмент в създаването на качествени и добри програми.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В </a:t>
            </a:r>
            <a:r>
              <a:rPr lang="ru-RU" dirty="0"/>
              <a:t>днешно време потребителите не обичат да чакат.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6404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987839"/>
          </a:xfrm>
        </p:spPr>
        <p:txBody>
          <a:bodyPr/>
          <a:lstStyle/>
          <a:p>
            <a:r>
              <a:rPr lang="ru-RU" b="1" dirty="0"/>
              <a:t>2. А защо програмите „забиват</a:t>
            </a:r>
            <a:r>
              <a:rPr lang="ru-RU" b="1" dirty="0" smtClean="0"/>
              <a:t>”?</a:t>
            </a:r>
            <a:br>
              <a:rPr lang="ru-RU" b="1" dirty="0" smtClean="0"/>
            </a:br>
            <a:r>
              <a:rPr lang="ru-RU" dirty="0"/>
              <a:t>Често, когато една програма е „забила”, тя просто извършва дейност, свързана с изчакване на нещо, което отнема повече време. </a:t>
            </a:r>
            <a:r>
              <a:rPr lang="ru-RU" b="1" dirty="0" smtClean="0"/>
              <a:t>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1152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963985"/>
          </a:xfrm>
        </p:spPr>
        <p:txBody>
          <a:bodyPr/>
          <a:lstStyle/>
          <a:p>
            <a:r>
              <a:rPr lang="ru-RU" sz="3500" b="1" dirty="0"/>
              <a:t>3. Какво ако нашата програма започне да прави няколко неща едновременно? </a:t>
            </a:r>
            <a:r>
              <a:rPr lang="ru-RU" sz="3500" b="1" dirty="0" smtClean="0"/>
              <a:t/>
            </a:r>
            <a:br>
              <a:rPr lang="ru-RU" sz="3500" b="1" dirty="0" smtClean="0"/>
            </a:br>
            <a:r>
              <a:rPr lang="ru-RU" sz="3500" dirty="0"/>
              <a:t>Оказва се, </a:t>
            </a:r>
            <a:r>
              <a:rPr lang="ru-RU" sz="3500" dirty="0" smtClean="0"/>
              <a:t>че е възможно или </a:t>
            </a:r>
            <a:r>
              <a:rPr lang="ru-RU" sz="3500" dirty="0"/>
              <a:t>поне привидно едновременно. В днешно време все пак е възможно лесно да се пишат програми със средствата на конкурентното програмиране благодарение на библиотеки и съвременни средства в езиците за програмиране. </a:t>
            </a:r>
            <a:endParaRPr lang="bg-BG" sz="3500" dirty="0"/>
          </a:p>
        </p:txBody>
      </p:sp>
    </p:spTree>
    <p:extLst>
      <p:ext uri="{BB962C8B-B14F-4D97-AF65-F5344CB8AC3E}">
        <p14:creationId xmlns:p14="http://schemas.microsoft.com/office/powerpoint/2010/main" val="66351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45274"/>
            <a:ext cx="9404723" cy="5637474"/>
          </a:xfrm>
        </p:spPr>
        <p:txBody>
          <a:bodyPr/>
          <a:lstStyle/>
          <a:p>
            <a:r>
              <a:rPr lang="ru-RU" sz="5400" b="1" u="sng" dirty="0" smtClean="0"/>
              <a:t>         Определение</a:t>
            </a:r>
            <a:r>
              <a:rPr lang="ru-RU" sz="5400" b="1" u="sng" dirty="0"/>
              <a:t>: Конкурентност </a:t>
            </a:r>
            <a:r>
              <a:rPr lang="ru-RU" sz="5400" b="1" dirty="0"/>
              <a:t>– Изпълнение наведнъж на </a:t>
            </a:r>
            <a:r>
              <a:rPr lang="ru-RU" sz="5400" b="1" dirty="0" smtClean="0"/>
              <a:t>няколко </a:t>
            </a:r>
            <a:r>
              <a:rPr lang="ru-RU" sz="5400" b="1" dirty="0"/>
              <a:t>действия в едно и също време. </a:t>
            </a:r>
            <a:endParaRPr lang="bg-BG" sz="5400" dirty="0"/>
          </a:p>
        </p:txBody>
      </p:sp>
    </p:spTree>
    <p:extLst>
      <p:ext uri="{BB962C8B-B14F-4D97-AF65-F5344CB8AC3E}">
        <p14:creationId xmlns:p14="http://schemas.microsoft.com/office/powerpoint/2010/main" val="127158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876520"/>
          </a:xfrm>
        </p:spPr>
        <p:txBody>
          <a:bodyPr/>
          <a:lstStyle/>
          <a:p>
            <a:r>
              <a:rPr lang="ru-RU" b="1" dirty="0"/>
              <a:t>4. Как се </a:t>
            </a:r>
            <a:r>
              <a:rPr lang="ru-RU" b="1" dirty="0" smtClean="0"/>
              <a:t>изпълняват програмите?</a:t>
            </a:r>
            <a:br>
              <a:rPr lang="ru-RU" b="1" dirty="0" smtClean="0"/>
            </a:br>
            <a:r>
              <a:rPr lang="ru-RU" b="1" dirty="0" smtClean="0"/>
              <a:t> </a:t>
            </a:r>
            <a:br>
              <a:rPr lang="ru-RU" b="1" dirty="0" smtClean="0"/>
            </a:br>
            <a:r>
              <a:rPr lang="ru-RU" b="1" dirty="0"/>
              <a:t/>
            </a:r>
            <a:br>
              <a:rPr lang="ru-RU" b="1" dirty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/>
              <a:t/>
            </a:r>
            <a:br>
              <a:rPr lang="ru-RU" b="1" dirty="0"/>
            </a:br>
            <a:r>
              <a:rPr lang="ru-RU" sz="2800" dirty="0"/>
              <a:t>1. Въвеждаме стойност за числото. </a:t>
            </a:r>
            <a:br>
              <a:rPr lang="ru-RU" sz="2800" dirty="0"/>
            </a:br>
            <a:r>
              <a:rPr lang="bg-BG" sz="2800" dirty="0"/>
              <a:t>2. Извършваме проверка. </a:t>
            </a:r>
            <a:br>
              <a:rPr lang="bg-BG" sz="2800" dirty="0"/>
            </a:br>
            <a:r>
              <a:rPr lang="ru-RU" sz="2800" dirty="0"/>
              <a:t>3. Извеждаме един от двата текста според резултата от проверката.</a:t>
            </a:r>
            <a:endParaRPr lang="bg-BG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858" y="1832618"/>
            <a:ext cx="6198154" cy="218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7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157847" cy="4453237"/>
          </a:xfrm>
        </p:spPr>
        <p:txBody>
          <a:bodyPr/>
          <a:lstStyle/>
          <a:p>
            <a:pPr algn="ctr"/>
            <a:r>
              <a:rPr lang="ru-RU" sz="6600" b="1" dirty="0"/>
              <a:t>5. Какви форми на конкурентност съществуват? </a:t>
            </a:r>
            <a:endParaRPr lang="bg-BG" sz="6600" dirty="0"/>
          </a:p>
        </p:txBody>
      </p:sp>
    </p:spTree>
    <p:extLst>
      <p:ext uri="{BB962C8B-B14F-4D97-AF65-F5344CB8AC3E}">
        <p14:creationId xmlns:p14="http://schemas.microsoft.com/office/powerpoint/2010/main" val="276346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669786"/>
          </a:xfrm>
        </p:spPr>
        <p:txBody>
          <a:bodyPr/>
          <a:lstStyle/>
          <a:p>
            <a:r>
              <a:rPr lang="ru-RU" b="1" dirty="0"/>
              <a:t> </a:t>
            </a:r>
            <a:r>
              <a:rPr lang="ru-RU" b="1" dirty="0" smtClean="0"/>
              <a:t>                      </a:t>
            </a:r>
            <a:r>
              <a:rPr lang="ru-RU" b="1" u="sng" dirty="0" smtClean="0"/>
              <a:t>Определение</a:t>
            </a:r>
            <a:r>
              <a:rPr lang="ru-RU" b="1" u="sng" dirty="0"/>
              <a:t>: </a:t>
            </a:r>
            <a:r>
              <a:rPr lang="ru-RU" b="1" u="sng" dirty="0" smtClean="0"/>
              <a:t/>
            </a:r>
            <a:br>
              <a:rPr lang="ru-RU" b="1" u="sng" dirty="0" smtClean="0"/>
            </a:br>
            <a:r>
              <a:rPr lang="ru-RU" b="1" u="sng" dirty="0" smtClean="0"/>
              <a:t>Многопоточност </a:t>
            </a:r>
            <a:r>
              <a:rPr lang="ru-RU" b="1" u="sng" dirty="0"/>
              <a:t>(Многонишковост) </a:t>
            </a:r>
            <a:r>
              <a:rPr lang="ru-RU" b="1" dirty="0"/>
              <a:t>– форма на 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конкурентност, която използва няколко програмни потока на изпълнение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7567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749299"/>
          </a:xfrm>
        </p:spPr>
        <p:txBody>
          <a:bodyPr/>
          <a:lstStyle/>
          <a:p>
            <a:r>
              <a:rPr lang="ru-RU" b="1" dirty="0" smtClean="0"/>
              <a:t>                 </a:t>
            </a:r>
            <a:r>
              <a:rPr lang="ru-RU" b="1" u="sng" dirty="0" smtClean="0"/>
              <a:t>Определение</a:t>
            </a:r>
            <a:r>
              <a:rPr lang="ru-RU" b="1" u="sng" dirty="0"/>
              <a:t>: </a:t>
            </a:r>
            <a:r>
              <a:rPr lang="ru-RU" b="1" u="sng" dirty="0" smtClean="0"/>
              <a:t/>
            </a:r>
            <a:br>
              <a:rPr lang="ru-RU" b="1" u="sng" dirty="0" smtClean="0"/>
            </a:br>
            <a:r>
              <a:rPr lang="ru-RU" b="1" u="sng" dirty="0" smtClean="0"/>
              <a:t>Паралелна </a:t>
            </a:r>
            <a:r>
              <a:rPr lang="ru-RU" b="1" u="sng" dirty="0"/>
              <a:t>обработка (паралелно програмиране) </a:t>
            </a:r>
            <a:r>
              <a:rPr lang="ru-RU" b="1" dirty="0"/>
              <a:t>– 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изпълнение на голям обем задачи чрез разпределение върху няколко потока (нишки), които се изпълняват едновременно.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456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940131"/>
          </a:xfrm>
        </p:spPr>
        <p:txBody>
          <a:bodyPr/>
          <a:lstStyle/>
          <a:p>
            <a:r>
              <a:rPr lang="ru-RU" b="1" dirty="0" smtClean="0"/>
              <a:t>                  </a:t>
            </a:r>
            <a:r>
              <a:rPr lang="ru-RU" b="1" u="sng" dirty="0" smtClean="0"/>
              <a:t>Определение</a:t>
            </a:r>
            <a:r>
              <a:rPr lang="ru-RU" b="1" u="sng" dirty="0"/>
              <a:t>: </a:t>
            </a:r>
            <a:r>
              <a:rPr lang="ru-RU" b="1" u="sng" dirty="0" smtClean="0"/>
              <a:t/>
            </a:r>
            <a:br>
              <a:rPr lang="ru-RU" b="1" u="sng" dirty="0" smtClean="0"/>
            </a:br>
            <a:r>
              <a:rPr lang="ru-RU" b="1" u="sng" dirty="0" smtClean="0"/>
              <a:t>Асинхронно </a:t>
            </a:r>
            <a:r>
              <a:rPr lang="ru-RU" b="1" u="sng" dirty="0"/>
              <a:t>програмиране </a:t>
            </a:r>
            <a:r>
              <a:rPr lang="ru-RU" b="1" dirty="0"/>
              <a:t>– разновидност на кон- 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курентността, която използва обещания (promises) или обратни извиквания (callbacks) с цел предотвратяване на създаването на излишни потоци.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0971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130962"/>
          </a:xfrm>
        </p:spPr>
        <p:txBody>
          <a:bodyPr/>
          <a:lstStyle/>
          <a:p>
            <a:r>
              <a:rPr lang="ru-RU" b="1" dirty="0" smtClean="0"/>
              <a:t>                 </a:t>
            </a:r>
            <a:r>
              <a:rPr lang="ru-RU" b="1" u="sng" dirty="0" smtClean="0"/>
              <a:t>Определение</a:t>
            </a:r>
            <a:r>
              <a:rPr lang="ru-RU" b="1" u="sng" dirty="0"/>
              <a:t>: </a:t>
            </a:r>
            <a:r>
              <a:rPr lang="ru-RU" b="1" u="sng" dirty="0" smtClean="0"/>
              <a:t/>
            </a:r>
            <a:br>
              <a:rPr lang="ru-RU" b="1" u="sng" dirty="0" smtClean="0"/>
            </a:br>
            <a:r>
              <a:rPr lang="ru-RU" b="1" u="sng" dirty="0" smtClean="0"/>
              <a:t>Обещание </a:t>
            </a:r>
            <a:r>
              <a:rPr lang="ru-RU" b="1" u="sng" dirty="0"/>
              <a:t>(promise) </a:t>
            </a:r>
            <a:r>
              <a:rPr lang="ru-RU" b="1" dirty="0"/>
              <a:t>– тип, който представлява опе- 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рация, която ще бъде завършена в бъдещето. В .NET това са Task и Task&lt;TResult&gt;. Аналози има и в други програмни езици.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3276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797007"/>
          </a:xfrm>
        </p:spPr>
        <p:txBody>
          <a:bodyPr/>
          <a:lstStyle/>
          <a:p>
            <a:r>
              <a:rPr lang="ru-RU" sz="3800" b="1" dirty="0" smtClean="0"/>
              <a:t>                   </a:t>
            </a:r>
            <a:r>
              <a:rPr lang="ru-RU" sz="3800" b="1" u="sng" dirty="0" smtClean="0"/>
              <a:t>Определение</a:t>
            </a:r>
            <a:r>
              <a:rPr lang="ru-RU" sz="3800" b="1" u="sng" dirty="0"/>
              <a:t>: </a:t>
            </a:r>
            <a:r>
              <a:rPr lang="ru-RU" sz="3800" b="1" u="sng" dirty="0" smtClean="0"/>
              <a:t/>
            </a:r>
            <a:br>
              <a:rPr lang="ru-RU" sz="3800" b="1" u="sng" dirty="0" smtClean="0"/>
            </a:br>
            <a:r>
              <a:rPr lang="ru-RU" sz="3800" b="1" u="sng" dirty="0" smtClean="0"/>
              <a:t>Обратно </a:t>
            </a:r>
            <a:r>
              <a:rPr lang="ru-RU" sz="3800" b="1" u="sng" dirty="0"/>
              <a:t>извикване (callback) </a:t>
            </a:r>
            <a:r>
              <a:rPr lang="ru-RU" sz="3800" b="1" dirty="0"/>
              <a:t>– функция/метод, кой- </a:t>
            </a:r>
            <a:r>
              <a:rPr lang="ru-RU" sz="3800" dirty="0"/>
              <a:t/>
            </a:r>
            <a:br>
              <a:rPr lang="ru-RU" sz="3800" dirty="0"/>
            </a:br>
            <a:r>
              <a:rPr lang="ru-RU" sz="3800" b="1" dirty="0"/>
              <a:t>то се изпълнява при приключването на дадена операция. Характерни са за някои по-стари имплементации на асинхронно програмиране и/или за някои технологии. Широко разпространени в миналото са в JavaScript света. </a:t>
            </a:r>
            <a:endParaRPr lang="bg-BG" sz="3800" dirty="0"/>
          </a:p>
        </p:txBody>
      </p:sp>
    </p:spTree>
    <p:extLst>
      <p:ext uri="{BB962C8B-B14F-4D97-AF65-F5344CB8AC3E}">
        <p14:creationId xmlns:p14="http://schemas.microsoft.com/office/powerpoint/2010/main" val="157355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661835"/>
          </a:xfrm>
        </p:spPr>
        <p:txBody>
          <a:bodyPr/>
          <a:lstStyle/>
          <a:p>
            <a:r>
              <a:rPr lang="ru-RU" b="1" dirty="0" smtClean="0"/>
              <a:t>                   </a:t>
            </a:r>
            <a:r>
              <a:rPr lang="ru-RU" b="1" u="sng" dirty="0" smtClean="0"/>
              <a:t>Определение</a:t>
            </a:r>
            <a:r>
              <a:rPr lang="ru-RU" b="1" u="sng" dirty="0"/>
              <a:t>: </a:t>
            </a:r>
            <a:r>
              <a:rPr lang="ru-RU" b="1" u="sng" dirty="0" smtClean="0"/>
              <a:t/>
            </a:r>
            <a:br>
              <a:rPr lang="ru-RU" b="1" u="sng" dirty="0" smtClean="0"/>
            </a:br>
            <a:r>
              <a:rPr lang="ru-RU" b="1" u="sng" dirty="0" smtClean="0"/>
              <a:t>Асинхронна </a:t>
            </a:r>
            <a:r>
              <a:rPr lang="ru-RU" b="1" u="sng" dirty="0"/>
              <a:t>операция (asynchronous operation) </a:t>
            </a:r>
            <a:r>
              <a:rPr lang="ru-RU" b="1" dirty="0"/>
              <a:t>– стар- 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тирана операция, която ще приключи след някакво време.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1174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486906"/>
          </a:xfrm>
        </p:spPr>
        <p:txBody>
          <a:bodyPr/>
          <a:lstStyle/>
          <a:p>
            <a:r>
              <a:rPr lang="ru-RU" b="1" i="1" dirty="0"/>
              <a:t>Какви примери за асинхронност сте срещали в реалния живот? Асинхронност ли е да оставим колата си за ремонт и да получим известие, когато е готова, за да отидем да си я вземем?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2491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884473"/>
          </a:xfrm>
        </p:spPr>
        <p:txBody>
          <a:bodyPr/>
          <a:lstStyle/>
          <a:p>
            <a:r>
              <a:rPr lang="ru-RU" b="1" dirty="0"/>
              <a:t>6. Какво се случва с програмата, когато тя се стартира? 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dirty="0"/>
              <a:t>При стартиране програмата се зарежда в оперативната памет (ОП). Тогава операционната система (ОС) създава абстракция за изпълнението на тази програма, която наричаме процес.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6849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20" y="1256306"/>
            <a:ext cx="11231147" cy="432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12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3600" b="1" i="1" dirty="0"/>
              <a:t>Проучете повече: </a:t>
            </a:r>
            <a:r>
              <a:rPr lang="bg-BG" sz="3600" dirty="0"/>
              <a:t/>
            </a:r>
            <a:br>
              <a:rPr lang="bg-BG" sz="3600" dirty="0"/>
            </a:br>
            <a:r>
              <a:rPr lang="ru-RU" sz="3600" b="1" i="1" dirty="0"/>
              <a:t>1. Потърсете повече информация за шаблоните за дизайн (Design patterns) в програмирането. Поинтересувайте се от Observer шаблона. 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600" b="1" i="1" dirty="0"/>
              <a:t>2. Съществуват ли структури, които поддържат конкурентна обработка в .NET? Поддържа ли паралелизъм LINQ библиотеката в .NET? </a:t>
            </a:r>
            <a:endParaRPr lang="bg-BG" sz="3600" dirty="0"/>
          </a:p>
        </p:txBody>
      </p:sp>
    </p:spTree>
    <p:extLst>
      <p:ext uri="{BB962C8B-B14F-4D97-AF65-F5344CB8AC3E}">
        <p14:creationId xmlns:p14="http://schemas.microsoft.com/office/powerpoint/2010/main" val="54542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6091205"/>
          </a:xfrm>
        </p:spPr>
        <p:txBody>
          <a:bodyPr/>
          <a:lstStyle/>
          <a:p>
            <a:r>
              <a:rPr lang="ru-RU" sz="4000" b="1" dirty="0"/>
              <a:t>Какво представляват дизайн шаблоните (design patterns):</a:t>
            </a:r>
            <a:r>
              <a:rPr lang="ru-RU" sz="4000" dirty="0"/>
              <a:t/>
            </a:r>
            <a:br>
              <a:rPr lang="ru-RU" sz="4000" dirty="0"/>
            </a:br>
            <a:r>
              <a:rPr lang="ru-RU" sz="4000" dirty="0"/>
              <a:t>Това са утвърдени решения на повтарящи се проблеми в софтуерната архитектура и дизайн — шаблони, които са вече проучени, тествани и използвани, с цел да направят кода по-устойчив, лесно поддържащ се, гъвкав и разширяем.</a:t>
            </a:r>
            <a:endParaRPr lang="bg-BG" sz="4000" dirty="0"/>
          </a:p>
        </p:txBody>
      </p:sp>
    </p:spTree>
    <p:extLst>
      <p:ext uri="{BB962C8B-B14F-4D97-AF65-F5344CB8AC3E}">
        <p14:creationId xmlns:p14="http://schemas.microsoft.com/office/powerpoint/2010/main" val="50615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844715"/>
          </a:xfrm>
        </p:spPr>
        <p:txBody>
          <a:bodyPr/>
          <a:lstStyle/>
          <a:p>
            <a:r>
              <a:rPr lang="ru-RU" sz="2800" b="1" dirty="0"/>
              <a:t>Цел / намерение</a:t>
            </a:r>
            <a:br>
              <a:rPr lang="ru-RU" sz="2800" b="1" dirty="0"/>
            </a:br>
            <a:r>
              <a:rPr lang="ru-RU" sz="2800" dirty="0"/>
              <a:t>Да се дефинира един-към-много зависимост между обекти, така че когато един „субект/наблюдаваният“ обект промени състоянието си, всички негови „наблюдатели/observers“ се уведомяват автоматично. </a:t>
            </a:r>
            <a:br>
              <a:rPr lang="ru-RU" sz="2800" dirty="0"/>
            </a:br>
            <a:r>
              <a:rPr lang="ru-RU" sz="2800" dirty="0"/>
              <a:t>Също така да се намали степента на свързаност (coupling) между субекта и наблюдателите — субектът знае само интерфейса на наблюдателите, не техните конкретни реализации.</a:t>
            </a:r>
            <a:br>
              <a:rPr lang="ru-RU" sz="2800" dirty="0"/>
            </a:b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213796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916277"/>
          </a:xfrm>
        </p:spPr>
        <p:txBody>
          <a:bodyPr/>
          <a:lstStyle/>
          <a:p>
            <a:r>
              <a:rPr lang="ru-RU" sz="3200" b="1" dirty="0"/>
              <a:t>Предимства: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/>
              <a:t>Гъвкавост — може да добавяш/премахваш наблюдатели по време на изпълнение.</a:t>
            </a:r>
            <a:br>
              <a:rPr lang="ru-RU" sz="3200" dirty="0"/>
            </a:br>
            <a:r>
              <a:rPr lang="ru-RU" sz="3200" dirty="0"/>
              <a:t>Лесно разделяне на отговорности — субектът не знае конкретно какво правят наблюдателите, само че трябва да бъдат уведомени.</a:t>
            </a:r>
            <a:br>
              <a:rPr lang="ru-RU" sz="3200" dirty="0"/>
            </a:br>
            <a:r>
              <a:rPr lang="ru-RU" sz="3200" dirty="0"/>
              <a:t>Подходящ за MVC, GUIs, система с push-нотификации и др.</a:t>
            </a:r>
            <a:br>
              <a:rPr lang="ru-RU" sz="3200" dirty="0"/>
            </a:br>
            <a:endParaRPr lang="bg-BG" sz="3200" dirty="0"/>
          </a:p>
        </p:txBody>
      </p:sp>
    </p:spTree>
    <p:extLst>
      <p:ext uri="{BB962C8B-B14F-4D97-AF65-F5344CB8AC3E}">
        <p14:creationId xmlns:p14="http://schemas.microsoft.com/office/powerpoint/2010/main" val="87213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685689"/>
          </a:xfrm>
        </p:spPr>
        <p:txBody>
          <a:bodyPr/>
          <a:lstStyle/>
          <a:p>
            <a:r>
              <a:rPr lang="ru-RU" sz="2800" b="1" dirty="0"/>
              <a:t>Недостатъци / предизвикателства:</a:t>
            </a:r>
            <a:r>
              <a:rPr lang="ru-RU" sz="2800" dirty="0"/>
              <a:t/>
            </a:r>
            <a:br>
              <a:rPr lang="ru-RU" sz="2800" dirty="0"/>
            </a:br>
            <a:r>
              <a:rPr lang="ru-RU" sz="2800" dirty="0"/>
              <a:t>Ако много наблюдатели са регистрирани или уведомленията са чести, може да има проблем с производителността.</a:t>
            </a:r>
            <a:br>
              <a:rPr lang="ru-RU" sz="2800" dirty="0"/>
            </a:br>
            <a:r>
              <a:rPr lang="ru-RU" sz="2800" dirty="0"/>
              <a:t>Ако уведомяването е синхронно, може да блокира субекта, ако някой наблюдател се бави или има грешка.</a:t>
            </a:r>
            <a:br>
              <a:rPr lang="ru-RU" sz="2800" dirty="0"/>
            </a:br>
            <a:r>
              <a:rPr lang="ru-RU" sz="2800" dirty="0"/>
              <a:t>Управление на живота на наблюдателите — предотвратяване на memory leaks (ако наблюдателят не бъде изписан) и избор дали уведомлението да е синхронно или асинхронно.</a:t>
            </a:r>
            <a:br>
              <a:rPr lang="ru-RU" sz="2800" dirty="0"/>
            </a:br>
            <a:r>
              <a:rPr lang="ru-RU" sz="2800" dirty="0"/>
              <a:t>Поредица на уведомления и запазване на реда (ако е важно) са допълнителен слой сложност.</a:t>
            </a:r>
            <a:br>
              <a:rPr lang="ru-RU" sz="2800" dirty="0"/>
            </a:b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383172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871" y="2233809"/>
            <a:ext cx="9404723" cy="1678233"/>
          </a:xfrm>
        </p:spPr>
        <p:txBody>
          <a:bodyPr/>
          <a:lstStyle/>
          <a:p>
            <a:r>
              <a:rPr lang="bg-BG" sz="4800" b="1" dirty="0" smtClean="0"/>
              <a:t>БЛАГОДАРЯ ЗА ВНИМАНИЕТО!</a:t>
            </a:r>
            <a:endParaRPr lang="bg-BG" sz="4800" b="1" dirty="0"/>
          </a:p>
        </p:txBody>
      </p:sp>
    </p:spTree>
    <p:extLst>
      <p:ext uri="{BB962C8B-B14F-4D97-AF65-F5344CB8AC3E}">
        <p14:creationId xmlns:p14="http://schemas.microsoft.com/office/powerpoint/2010/main" val="244161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405214" y="1715324"/>
            <a:ext cx="4769254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8800" b="0" i="0" u="none" strike="noStrike" cap="none" normalizeH="0" baseline="0" dirty="0" smtClean="0">
                <a:ln>
                  <a:noFill/>
                </a:ln>
                <a:solidFill>
                  <a:srgbClr val="1A73E8"/>
                </a:solidFill>
                <a:effectLst/>
                <a:latin typeface="Google Sans"/>
              </a:rPr>
              <a:t>epyntdhs</a:t>
            </a:r>
            <a:endParaRPr kumimoji="0" lang="bg-BG" altLang="bg-BG" sz="8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Robo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8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/>
            </a:r>
            <a:br>
              <a:rPr kumimoji="0" lang="bg-BG" altLang="bg-BG" sz="8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</a:br>
            <a:endParaRPr kumimoji="0" lang="bg-BG" altLang="bg-BG" sz="8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8406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1082</TotalTime>
  <Words>173</Words>
  <Application>Microsoft Office PowerPoint</Application>
  <PresentationFormat>Widescreen</PresentationFormat>
  <Paragraphs>24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Century Gothic</vt:lpstr>
      <vt:lpstr>Google Sans</vt:lpstr>
      <vt:lpstr>Roboto</vt:lpstr>
      <vt:lpstr>Wingdings 3</vt:lpstr>
      <vt:lpstr>Ion</vt:lpstr>
      <vt:lpstr>КОНКУРЕНТНОСТ. ИЗПЪЛНЕНИЕ НА ПРОГРАМАТА.  ПРОЦЕС.</vt:lpstr>
      <vt:lpstr>              Какво ще научим?  1.Какво е конкурентност?  2.Защо програмите (и потребителите) имат нужда от конкурентност?  3.Как работят програмите?  4.Какво е процес? </vt:lpstr>
      <vt:lpstr>1. Конкурентността (concurrency) се явява важен инструмент в създаването на качествени и добри програми.  В днешно време потребителите не обичат да чакат. </vt:lpstr>
      <vt:lpstr>2. А защо програмите „забиват”? Често, когато една програма е „забила”, тя просто извършва дейност, свързана с изчакване на нещо, което отнема повече време.  </vt:lpstr>
      <vt:lpstr>3. Какво ако нашата програма започне да прави няколко неща едновременно?  Оказва се, че е възможно или поне привидно едновременно. В днешно време все пак е възможно лесно да се пишат програми със средствата на конкурентното програмиране благодарение на библиотеки и съвременни средства в езиците за програмиране. </vt:lpstr>
      <vt:lpstr>         Определение: Конкурентност – Изпълнение наведнъж на няколко действия в едно и също време. </vt:lpstr>
      <vt:lpstr>4. Как се изпълняват програмите?      1. Въвеждаме стойност за числото.  2. Извършваме проверка.  3. Извеждаме един от двата текста според резултата от проверката.</vt:lpstr>
      <vt:lpstr>5. Какви форми на конкурентност съществуват? </vt:lpstr>
      <vt:lpstr>                       Определение:  Многопоточност (Многонишковост) – форма на  конкурентност, която използва няколко програмни потока на изпълнение </vt:lpstr>
      <vt:lpstr>                 Определение:  Паралелна обработка (паралелно програмиране) –  изпълнение на голям обем задачи чрез разпределение върху няколко потока (нишки), които се изпълняват едновременно. </vt:lpstr>
      <vt:lpstr>                  Определение:  Асинхронно програмиране – разновидност на кон-  курентността, която използва обещания (promises) или обратни извиквания (callbacks) с цел предотвратяване на създаването на излишни потоци.</vt:lpstr>
      <vt:lpstr>                 Определение:  Обещание (promise) – тип, който представлява опе-  рация, която ще бъде завършена в бъдещето. В .NET това са Task и Task&lt;TResult&gt;. Аналози има и в други програмни езици. </vt:lpstr>
      <vt:lpstr>                   Определение:  Обратно извикване (callback) – функция/метод, кой-  то се изпълнява при приключването на дадена операция. Характерни са за някои по-стари имплементации на асинхронно програмиране и/или за някои технологии. Широко разпространени в миналото са в JavaScript света. </vt:lpstr>
      <vt:lpstr>                   Определение:  Асинхронна операция (asynchronous operation) – стар-  тирана операция, която ще приключи след някакво време. </vt:lpstr>
      <vt:lpstr>Какви примери за асинхронност сте срещали в реалния живот? Асинхронност ли е да оставим колата си за ремонт и да получим известие, когато е готова, за да отидем да си я вземем? </vt:lpstr>
      <vt:lpstr>6. Какво се случва с програмата, когато тя се стартира?  При стартиране програмата се зарежда в оперативната памет (ОП). Тогава операционната система (ОС) създава абстракция за изпълнението на тази програма, която наричаме процес. </vt:lpstr>
      <vt:lpstr>PowerPoint Presentation</vt:lpstr>
      <vt:lpstr>Проучете повече:  1. Потърсете повече информация за шаблоните за дизайн (Design patterns) в програмирането. Поинтересувайте се от Observer шаблона.  2. Съществуват ли структури, които поддържат конкурентна обработка в .NET? Поддържа ли паралелизъм LINQ библиотеката в .NET? </vt:lpstr>
      <vt:lpstr>Какво представляват дизайн шаблоните (design patterns): Това са утвърдени решения на повтарящи се проблеми в софтуерната архитектура и дизайн — шаблони, които са вече проучени, тествани и използвани, с цел да направят кода по-устойчив, лесно поддържащ се, гъвкав и разширяем.</vt:lpstr>
      <vt:lpstr>Цел / намерение Да се дефинира един-към-много зависимост между обекти, така че когато един „субект/наблюдаваният“ обект промени състоянието си, всички негови „наблюдатели/observers“ се уведомяват автоматично.  Също така да се намали степента на свързаност (coupling) между субекта и наблюдателите — субектът знае само интерфейса на наблюдателите, не техните конкретни реализации. </vt:lpstr>
      <vt:lpstr>Предимства: Гъвкавост — може да добавяш/премахваш наблюдатели по време на изпълнение. Лесно разделяне на отговорности — субектът не знае конкретно какво правят наблюдателите, само че трябва да бъдат уведомени. Подходящ за MVC, GUIs, система с push-нотификации и др. </vt:lpstr>
      <vt:lpstr>Недостатъци / предизвикателства: Ако много наблюдатели са регистрирани или уведомленията са чести, може да има проблем с производителността. Ако уведомяването е синхронно, може да блокира субекта, ако някой наблюдател се бави или има грешка. Управление на живота на наблюдателите — предотвратяване на memory leaks (ако наблюдателят не бъде изписан) и избор дали уведомлението да е синхронно или асинхронно. Поредица на уведомления и запазване на реда (ако е важно) са допълнителен слой сложност. </vt:lpstr>
      <vt:lpstr>БЛАГОДАРЯ ЗА ВНИМАНИЕТО!</vt:lpstr>
      <vt:lpstr>epyntdhs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КОНКУРЕНТНОСТ. ИЗПЪЛНЕНИЕ НА ПРОГРАМАТА.  ПРОЦЕС.</dc:title>
  <dc:creator>Neli Nqgolova</dc:creator>
  <cp:lastModifiedBy>Neli Nqgolova</cp:lastModifiedBy>
  <cp:revision>21</cp:revision>
  <dcterms:created xsi:type="dcterms:W3CDTF">2025-10-08T14:32:42Z</dcterms:created>
  <dcterms:modified xsi:type="dcterms:W3CDTF">2025-10-09T09:00:55Z</dcterms:modified>
</cp:coreProperties>
</file>