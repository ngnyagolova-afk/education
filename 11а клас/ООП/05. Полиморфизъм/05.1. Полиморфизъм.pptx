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4"/>
  </p:notesMasterIdLst>
  <p:sldIdLst>
    <p:sldId id="258" r:id="rId2"/>
    <p:sldId id="625" r:id="rId3"/>
    <p:sldId id="627" r:id="rId4"/>
    <p:sldId id="628" r:id="rId5"/>
    <p:sldId id="629" r:id="rId6"/>
    <p:sldId id="630" r:id="rId7"/>
    <p:sldId id="631" r:id="rId8"/>
    <p:sldId id="632" r:id="rId9"/>
    <p:sldId id="633" r:id="rId10"/>
    <p:sldId id="634" r:id="rId11"/>
    <p:sldId id="635" r:id="rId12"/>
    <p:sldId id="57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</p14:sldIdLst>
        </p14:section>
        <p14:section name="Съдържание" id="{0B0C01F3-1F60-4ADB-AC1E-9589654EAEF3}">
          <p14:sldIdLst>
            <p14:sldId id="625"/>
            <p14:sldId id="627"/>
            <p14:sldId id="628"/>
            <p14:sldId id="629"/>
            <p14:sldId id="630"/>
            <p14:sldId id="631"/>
            <p14:sldId id="632"/>
            <p14:sldId id="633"/>
            <p14:sldId id="634"/>
            <p14:sldId id="635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A51F5-6E34-4A9B-8787-8C29D4F40D1D}" v="1" dt="2022-08-10T06:34:56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92" d="100"/>
          <a:sy n="92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57B27E-985F-48B3-8850-E7A19971FA51}" type="slidenum">
              <a:rPr lang="en-US"/>
              <a:pPr/>
              <a:t>2</a:t>
            </a:fld>
            <a:r>
              <a:rPr lang="en-US" dirty="0"/>
              <a:t>##</a:t>
            </a:r>
          </a:p>
        </p:txBody>
      </p:sp>
      <p:sp>
        <p:nvSpPr>
          <p:cNvPr id="68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912FA526-6A82-4AE4-A70C-F3710AA67EE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9613362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Polymorphism is the ability of an object to take on many forms. The most common use of polymorphism in OOP occurs when a parent class reference is used to refer to a child class object.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D38AFAE1-E0E1-4B22-94BE-24E582E9FB3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786669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bg-B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DA2715D6-3892-408B-9AD9-E35E0D1D027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1389719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bg-B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C8ED5231-9B41-4FE4-8FB6-CBBD3A96F7A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942325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bg-B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FD8755BE-4E43-4AAC-8F79-BEC8C73D603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809613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Demo</a:t>
            </a:r>
            <a:r>
              <a:rPr lang="bg-BG" dirty="0"/>
              <a:t> (</a:t>
            </a:r>
            <a:r>
              <a:rPr lang="en-US" dirty="0"/>
              <a:t>look at View -&gt; Notes Page)</a:t>
            </a:r>
            <a:endParaRPr lang="bg-B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57200" y="4876800"/>
            <a:ext cx="5943600" cy="27111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US" sz="1800" noProof="1"/>
              <a:t>public static void main(String[] args) {</a:t>
            </a:r>
          </a:p>
          <a:p>
            <a:r>
              <a:rPr lang="en-US" sz="1800" noProof="1"/>
              <a:t>    Vegetarian babyDeer = new Deer();</a:t>
            </a:r>
          </a:p>
          <a:p>
            <a:r>
              <a:rPr lang="en-US" sz="1800" noProof="1"/>
              <a:t>    Vegetarian babyElephant  = new Elephant();</a:t>
            </a:r>
          </a:p>
          <a:p>
            <a:endParaRPr lang="en-US" sz="1800" noProof="1"/>
          </a:p>
          <a:p>
            <a:r>
              <a:rPr lang="nn-NO" sz="1800" noProof="1"/>
              <a:t>    List&lt;</a:t>
            </a:r>
            <a:r>
              <a:rPr lang="nn-NO" sz="1800" noProof="1">
                <a:solidFill>
                  <a:schemeClr val="tx2">
                    <a:lumMod val="75000"/>
                  </a:schemeClr>
                </a:solidFill>
              </a:rPr>
              <a:t>Vegetarian</a:t>
            </a:r>
            <a:r>
              <a:rPr lang="nn-NO" sz="1800" noProof="1"/>
              <a:t>&gt; vegetarianAnimals = new ArrayList&lt;&gt;();</a:t>
            </a:r>
          </a:p>
          <a:p>
            <a:endParaRPr lang="nn-NO" sz="1800" noProof="1"/>
          </a:p>
          <a:p>
            <a:r>
              <a:rPr lang="nn-NO" sz="1800" noProof="1"/>
              <a:t>    vegetarianAnimals.add(</a:t>
            </a:r>
            <a:r>
              <a:rPr lang="nn-NO" sz="1800" noProof="1">
                <a:solidFill>
                  <a:schemeClr val="tx2">
                    <a:lumMod val="75000"/>
                  </a:schemeClr>
                </a:solidFill>
              </a:rPr>
              <a:t>babyDeer</a:t>
            </a:r>
            <a:r>
              <a:rPr lang="nn-NO" sz="1800" noProof="1"/>
              <a:t>);</a:t>
            </a:r>
          </a:p>
          <a:p>
            <a:r>
              <a:rPr lang="nn-NO" sz="1800" noProof="1"/>
              <a:t>    vegetarianAnimals.add(</a:t>
            </a:r>
            <a:r>
              <a:rPr lang="nn-NO" sz="1800" noProof="1">
                <a:solidFill>
                  <a:schemeClr val="tx2">
                    <a:lumMod val="75000"/>
                  </a:schemeClr>
                </a:solidFill>
              </a:rPr>
              <a:t>babyElephant</a:t>
            </a:r>
            <a:r>
              <a:rPr lang="nn-NO" sz="1800" noProof="1"/>
              <a:t>);</a:t>
            </a:r>
            <a:endParaRPr lang="en-US" sz="1800" noProof="1"/>
          </a:p>
          <a:p>
            <a:r>
              <a:rPr lang="en-US" sz="1800" noProof="1"/>
              <a:t>}</a:t>
            </a:r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57E349A1-53D0-4F69-9990-E3C9C3C7C8F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733718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Полиморфизъм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ru-RU" dirty="0">
                <a:latin typeface="Comfortaa" pitchFamily="2" charset="0"/>
              </a:rPr>
              <a:t>Много </a:t>
            </a:r>
            <a:r>
              <a:rPr lang="ru-RU" dirty="0" err="1">
                <a:latin typeface="Comfortaa" pitchFamily="2" charset="0"/>
              </a:rPr>
              <a:t>форми</a:t>
            </a:r>
            <a:r>
              <a:rPr lang="ru-RU" dirty="0">
                <a:latin typeface="Comfortaa" pitchFamily="2" charset="0"/>
              </a:rPr>
              <a:t> на </a:t>
            </a:r>
            <a:r>
              <a:rPr lang="ru-RU" dirty="0" err="1">
                <a:latin typeface="Comfortaa" pitchFamily="2" charset="0"/>
              </a:rPr>
              <a:t>обектите</a:t>
            </a:r>
            <a:r>
              <a:rPr lang="ru-RU" dirty="0">
                <a:latin typeface="Comfortaa" pitchFamily="2" charset="0"/>
              </a:rPr>
              <a:t> и</a:t>
            </a:r>
            <a:br>
              <a:rPr lang="ru-RU" dirty="0">
                <a:latin typeface="Comfortaa" pitchFamily="2" charset="0"/>
              </a:rPr>
            </a:br>
            <a:r>
              <a:rPr lang="ru-RU" dirty="0" err="1">
                <a:latin typeface="Comfortaa" pitchFamily="2" charset="0"/>
              </a:rPr>
              <a:t>извикване</a:t>
            </a:r>
            <a:r>
              <a:rPr lang="ru-RU" dirty="0">
                <a:latin typeface="Comfortaa" pitchFamily="2" charset="0"/>
              </a:rPr>
              <a:t> </a:t>
            </a:r>
            <a:r>
              <a:rPr lang="ru-RU" dirty="0" err="1">
                <a:latin typeface="Comfortaa" pitchFamily="2" charset="0"/>
              </a:rPr>
              <a:t>през</a:t>
            </a:r>
            <a:r>
              <a:rPr lang="ru-RU" dirty="0">
                <a:latin typeface="Comfortaa" pitchFamily="2" charset="0"/>
              </a:rPr>
              <a:t> базов интерфейс</a:t>
            </a: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987" name="Rectangle 3"/>
          <p:cNvSpPr>
            <a:spLocks noGrp="1" noChangeArrowheads="1"/>
          </p:cNvSpPr>
          <p:nvPr>
            <p:ph idx="1"/>
          </p:nvPr>
        </p:nvSpPr>
        <p:spPr>
          <a:xfrm>
            <a:off x="1057894" y="2282825"/>
            <a:ext cx="9837717" cy="3363892"/>
          </a:xfrm>
        </p:spPr>
        <p:txBody>
          <a:bodyPr>
            <a:normAutofit/>
          </a:bodyPr>
          <a:lstStyle/>
          <a:p>
            <a:pPr marL="442913" indent="-442913">
              <a:lnSpc>
                <a:spcPct val="100000"/>
              </a:lnSpc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Какво е полиморфизъм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pPr marL="442913" indent="-442913">
              <a:lnSpc>
                <a:spcPct val="100000"/>
              </a:lnSpc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Видове полиморфизъм</a:t>
            </a:r>
            <a:endParaRPr lang="en-US" dirty="0">
              <a:latin typeface="Comfortaa" pitchFamily="2" charset="0"/>
            </a:endParaRPr>
          </a:p>
          <a:p>
            <a:pPr marL="442913" indent="-442913">
              <a:lnSpc>
                <a:spcPct val="100000"/>
              </a:lnSpc>
              <a:buFontTx/>
              <a:buAutoNum type="arabicPeriod"/>
            </a:pPr>
            <a:endParaRPr lang="bg-BG" dirty="0">
              <a:latin typeface="Comfortaa" pitchFamily="2" charset="0"/>
            </a:endParaRPr>
          </a:p>
          <a:p>
            <a:pPr marL="711200" lvl="1" indent="0">
              <a:lnSpc>
                <a:spcPct val="100000"/>
              </a:lnSpc>
              <a:buNone/>
            </a:pPr>
            <a:endParaRPr lang="en-US" sz="3600" dirty="0">
              <a:latin typeface="Comfortaa" pitchFamily="2" charset="0"/>
            </a:endParaRPr>
          </a:p>
        </p:txBody>
      </p:sp>
      <p:sp>
        <p:nvSpPr>
          <p:cNvPr id="68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057894" y="822325"/>
            <a:ext cx="9837717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Съдържание</a:t>
            </a:r>
          </a:p>
        </p:txBody>
      </p:sp>
    </p:spTree>
    <p:extLst>
      <p:ext uri="{BB962C8B-B14F-4D97-AF65-F5344CB8AC3E}">
        <p14:creationId xmlns:p14="http://schemas.microsoft.com/office/powerpoint/2010/main" val="185780984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212130"/>
            <a:ext cx="10515600" cy="531386"/>
          </a:xfrm>
        </p:spPr>
        <p:txBody>
          <a:bodyPr/>
          <a:lstStyle/>
          <a:p>
            <a:pPr marL="0" indent="0">
              <a:buNone/>
            </a:pPr>
            <a:r>
              <a:rPr lang="bg-BG" dirty="0">
                <a:latin typeface="Comfortaa" pitchFamily="2" charset="0"/>
              </a:rPr>
              <a:t>От гръцки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0053" y="342685"/>
            <a:ext cx="10515600" cy="976786"/>
          </a:xfrm>
        </p:spPr>
        <p:txBody>
          <a:bodyPr>
            <a:normAutofit/>
          </a:bodyPr>
          <a:lstStyle/>
          <a:p>
            <a:r>
              <a:rPr lang="bg-BG" noProof="1">
                <a:latin typeface="Comfortaa" pitchFamily="2" charset="0"/>
              </a:rPr>
              <a:t>Какво е полиморфизъм</a:t>
            </a:r>
            <a:r>
              <a:rPr lang="en-US" noProof="1">
                <a:latin typeface="Comfortaa" pitchFamily="2" charset="0"/>
              </a:rPr>
              <a:t>?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: Rounded Corners 4"/>
          <p:cNvSpPr>
            <a:spLocks noChangeArrowheads="1"/>
          </p:cNvSpPr>
          <p:nvPr/>
        </p:nvSpPr>
        <p:spPr bwMode="auto">
          <a:xfrm>
            <a:off x="2050033" y="1823831"/>
            <a:ext cx="3124200" cy="1169353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en-GB" sz="4000" b="1" noProof="1">
                <a:solidFill>
                  <a:schemeClr val="bg1"/>
                </a:solidFill>
                <a:latin typeface="Consolas" pitchFamily="49" charset="0"/>
              </a:rPr>
              <a:t>Polus</a:t>
            </a:r>
          </a:p>
          <a:p>
            <a:pPr algn="ctr">
              <a:defRPr/>
            </a:pPr>
            <a:r>
              <a:rPr lang="en-GB" sz="3200" i="1" noProof="1">
                <a:solidFill>
                  <a:schemeClr val="bg1"/>
                </a:solidFill>
                <a:latin typeface="Consolas" pitchFamily="49" charset="0"/>
              </a:rPr>
              <a:t>(</a:t>
            </a:r>
            <a:r>
              <a:rPr lang="bg-BG" sz="3200" i="1" noProof="1">
                <a:solidFill>
                  <a:schemeClr val="bg1"/>
                </a:solidFill>
                <a:latin typeface="Consolas" pitchFamily="49" charset="0"/>
              </a:rPr>
              <a:t>много</a:t>
            </a:r>
            <a:r>
              <a:rPr lang="en-GB" sz="3200" i="1" noProof="1">
                <a:solidFill>
                  <a:schemeClr val="bg1"/>
                </a:solidFill>
                <a:latin typeface="Consolas" pitchFamily="49" charset="0"/>
              </a:rPr>
              <a:t>)</a:t>
            </a:r>
          </a:p>
        </p:txBody>
      </p:sp>
      <p:sp>
        <p:nvSpPr>
          <p:cNvPr id="6" name="Rectangle: Rounded Corners 4"/>
          <p:cNvSpPr>
            <a:spLocks noChangeArrowheads="1"/>
          </p:cNvSpPr>
          <p:nvPr/>
        </p:nvSpPr>
        <p:spPr bwMode="auto">
          <a:xfrm>
            <a:off x="7017766" y="1823831"/>
            <a:ext cx="3124200" cy="1169353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en-GB" sz="4000" b="1" noProof="1">
                <a:solidFill>
                  <a:schemeClr val="bg1"/>
                </a:solidFill>
                <a:latin typeface="Consolas" pitchFamily="49" charset="0"/>
              </a:rPr>
              <a:t>Morphe</a:t>
            </a:r>
          </a:p>
          <a:p>
            <a:pPr algn="ctr">
              <a:defRPr/>
            </a:pPr>
            <a:r>
              <a:rPr lang="en-GB" sz="3200" i="1" noProof="1">
                <a:solidFill>
                  <a:schemeClr val="bg1"/>
                </a:solidFill>
                <a:latin typeface="Consolas" pitchFamily="49" charset="0"/>
              </a:rPr>
              <a:t>(</a:t>
            </a:r>
            <a:r>
              <a:rPr lang="bg-BG" sz="3200" i="1" noProof="1">
                <a:solidFill>
                  <a:schemeClr val="bg1"/>
                </a:solidFill>
                <a:latin typeface="Consolas" pitchFamily="49" charset="0"/>
              </a:rPr>
              <a:t>форми</a:t>
            </a:r>
            <a:r>
              <a:rPr lang="en-GB" sz="3200" i="1" noProof="1">
                <a:solidFill>
                  <a:schemeClr val="bg1"/>
                </a:solidFill>
                <a:latin typeface="Consolas" pitchFamily="49" charset="0"/>
              </a:rPr>
              <a:t>)</a:t>
            </a:r>
          </a:p>
        </p:txBody>
      </p:sp>
      <p:sp>
        <p:nvSpPr>
          <p:cNvPr id="10" name="Rectangle: Rounded Corners 4"/>
          <p:cNvSpPr>
            <a:spLocks noChangeArrowheads="1"/>
          </p:cNvSpPr>
          <p:nvPr/>
        </p:nvSpPr>
        <p:spPr bwMode="auto">
          <a:xfrm>
            <a:off x="4525753" y="3400982"/>
            <a:ext cx="3124200" cy="1033462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en-GB" sz="3200" b="1" noProof="1">
                <a:solidFill>
                  <a:schemeClr val="bg1"/>
                </a:solidFill>
                <a:latin typeface="Consolas" pitchFamily="49" charset="0"/>
              </a:rPr>
              <a:t>Polumorphos</a:t>
            </a:r>
          </a:p>
        </p:txBody>
      </p:sp>
      <p:cxnSp>
        <p:nvCxnSpPr>
          <p:cNvPr id="16" name="Straight Connector 15"/>
          <p:cNvCxnSpPr>
            <a:stCxn id="5" idx="3"/>
            <a:endCxn id="6" idx="1"/>
          </p:cNvCxnSpPr>
          <p:nvPr/>
        </p:nvCxnSpPr>
        <p:spPr>
          <a:xfrm>
            <a:off x="5174234" y="2408507"/>
            <a:ext cx="184353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10" idx="0"/>
          </p:cNvCxnSpPr>
          <p:nvPr/>
        </p:nvCxnSpPr>
        <p:spPr>
          <a:xfrm>
            <a:off x="6087853" y="2408506"/>
            <a:ext cx="0" cy="99247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949628" y="4655158"/>
            <a:ext cx="10027068" cy="175432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fontAlgn="base"/>
            <a:r>
              <a:rPr lang="bg-BG" sz="36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Това е нещо подобно на дума с </a:t>
            </a:r>
            <a:r>
              <a:rPr lang="bg-BG" sz="3600" b="1" noProof="1">
                <a:solidFill>
                  <a:schemeClr val="tx1"/>
                </a:solidFill>
                <a:latin typeface="Comfortaa" pitchFamily="2" charset="0"/>
                <a:cs typeface="Consolas" pitchFamily="49" charset="0"/>
              </a:rPr>
              <a:t>няколко различни</a:t>
            </a:r>
            <a:r>
              <a:rPr lang="en-US" sz="3600" b="1" noProof="1">
                <a:solidFill>
                  <a:schemeClr val="tx1"/>
                </a:solidFill>
                <a:latin typeface="Comfortaa" pitchFamily="2" charset="0"/>
                <a:cs typeface="Consolas" pitchFamily="49" charset="0"/>
              </a:rPr>
              <a:t> </a:t>
            </a:r>
            <a:r>
              <a:rPr lang="bg-BG" sz="36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значения</a:t>
            </a:r>
            <a:r>
              <a:rPr lang="bg-BG" sz="3600" b="1" noProof="1">
                <a:solidFill>
                  <a:srgbClr val="FBEEDC"/>
                </a:solidFill>
                <a:latin typeface="Comfortaa" pitchFamily="2" charset="0"/>
                <a:cs typeface="Consolas" pitchFamily="49" charset="0"/>
              </a:rPr>
              <a:t>,</a:t>
            </a:r>
            <a:r>
              <a:rPr lang="en-US" sz="3600" b="1" noProof="1">
                <a:solidFill>
                  <a:srgbClr val="FBEEDC"/>
                </a:solidFill>
                <a:latin typeface="Comfortaa" pitchFamily="2" charset="0"/>
                <a:cs typeface="Consolas" pitchFamily="49" charset="0"/>
              </a:rPr>
              <a:t> </a:t>
            </a:r>
            <a:r>
              <a:rPr lang="bg-BG" sz="3600" b="1" noProof="1">
                <a:solidFill>
                  <a:schemeClr val="tx1"/>
                </a:solidFill>
                <a:latin typeface="Comfortaa" pitchFamily="2" charset="0"/>
                <a:cs typeface="Consolas" pitchFamily="49" charset="0"/>
              </a:rPr>
              <a:t>в зависимост</a:t>
            </a:r>
            <a:r>
              <a:rPr lang="en-US" sz="3600" b="1" noProof="1">
                <a:solidFill>
                  <a:schemeClr val="tx1"/>
                </a:solidFill>
                <a:latin typeface="Comfortaa" pitchFamily="2" charset="0"/>
                <a:cs typeface="Consolas" pitchFamily="49" charset="0"/>
              </a:rPr>
              <a:t> </a:t>
            </a:r>
            <a:r>
              <a:rPr lang="bg-BG" sz="36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от</a:t>
            </a:r>
            <a:r>
              <a:rPr lang="en-US" sz="3600" b="1" noProof="1">
                <a:solidFill>
                  <a:srgbClr val="FBEEDC"/>
                </a:solidFill>
                <a:latin typeface="Comfortaa" pitchFamily="2" charset="0"/>
                <a:cs typeface="Consolas" pitchFamily="49" charset="0"/>
              </a:rPr>
              <a:t> </a:t>
            </a:r>
            <a:r>
              <a:rPr lang="bg-BG" sz="3600" b="1" noProof="1">
                <a:solidFill>
                  <a:schemeClr val="tx1"/>
                </a:solidFill>
                <a:latin typeface="Comfortaa" pitchFamily="2" charset="0"/>
                <a:cs typeface="Consolas" pitchFamily="49" charset="0"/>
              </a:rPr>
              <a:t>контекста</a:t>
            </a:r>
            <a:endParaRPr lang="en-US" sz="3600" b="1" noProof="1">
              <a:solidFill>
                <a:schemeClr val="tx1"/>
              </a:solidFill>
              <a:latin typeface="Comfortaa" pitchFamily="2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081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9494" y="1532657"/>
            <a:ext cx="11033012" cy="623359"/>
          </a:xfrm>
        </p:spPr>
        <p:txBody>
          <a:bodyPr/>
          <a:lstStyle/>
          <a:p>
            <a:pPr marL="0" indent="0">
              <a:buNone/>
            </a:pPr>
            <a:r>
              <a:rPr lang="bg-BG" dirty="0">
                <a:latin typeface="Comfortaa" pitchFamily="2" charset="0"/>
              </a:rPr>
              <a:t>Възможността на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обект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да заема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много форми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79494" y="759724"/>
            <a:ext cx="11033011" cy="765958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Полиморфизъм в ООП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81083" y="2382453"/>
            <a:ext cx="11034600" cy="138499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interface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IAnimal {}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abstract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class Mammal {}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Person : Mammal, IAnimal {}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579493" y="4062237"/>
            <a:ext cx="5174283" cy="64633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fontAlgn="base"/>
            <a:r>
              <a:rPr lang="en-US" sz="3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Person </a:t>
            </a:r>
            <a:r>
              <a:rPr lang="en-US" sz="36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IS-A</a:t>
            </a:r>
            <a:r>
              <a:rPr lang="en-US" sz="3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Person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579493" y="4992283"/>
            <a:ext cx="5174282" cy="64633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fontAlgn="base"/>
            <a:r>
              <a:rPr lang="en-US" sz="3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Person </a:t>
            </a:r>
            <a:r>
              <a:rPr lang="en-US" sz="36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IS-A</a:t>
            </a:r>
            <a:r>
              <a:rPr lang="en-US" sz="3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Mammal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6060556" y="5007198"/>
            <a:ext cx="5549970" cy="64633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fontAlgn="base"/>
            <a:r>
              <a:rPr lang="en-US" sz="3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Person </a:t>
            </a:r>
            <a:r>
              <a:rPr lang="en-US" sz="36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IS-A</a:t>
            </a:r>
            <a:r>
              <a:rPr lang="en-US" sz="3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Object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6062535" y="4062236"/>
            <a:ext cx="5549970" cy="64633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fontAlgn="base"/>
            <a:r>
              <a:rPr lang="en-US" sz="3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Person </a:t>
            </a:r>
            <a:r>
              <a:rPr lang="en-US" sz="36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IS-A</a:t>
            </a:r>
            <a:r>
              <a:rPr lang="en-US" sz="3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Animal</a:t>
            </a:r>
          </a:p>
        </p:txBody>
      </p:sp>
    </p:spTree>
    <p:extLst>
      <p:ext uri="{BB962C8B-B14F-4D97-AF65-F5344CB8AC3E}">
        <p14:creationId xmlns:p14="http://schemas.microsoft.com/office/powerpoint/2010/main" val="24006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112" y="4326579"/>
            <a:ext cx="11034600" cy="2057399"/>
          </a:xfrm>
        </p:spPr>
        <p:txBody>
          <a:bodyPr>
            <a:normAutofit/>
          </a:bodyPr>
          <a:lstStyle/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Променливите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са запазени в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референтен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тип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Може да използвате само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референтни методи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Ако имате нужда от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обектен метод</a:t>
            </a:r>
            <a:r>
              <a:rPr lang="bg-BG" dirty="0">
                <a:latin typeface="Comfortaa" pitchFamily="2" charset="0"/>
              </a:rPr>
              <a:t>, трябва да го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преобразувате или да го презапишете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92696" y="389381"/>
            <a:ext cx="11034599" cy="884897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Референтен тип и обектен тип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77112" y="1274278"/>
            <a:ext cx="11034600" cy="181588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fontAlgn="base"/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public class Person </a:t>
            </a:r>
            <a:r>
              <a:rPr lang="en-US" sz="28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:</a:t>
            </a:r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Mammal, Animal {}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Animal person    = new Person();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Mammal personOne = new Person();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Person personTwo = new Person();</a:t>
            </a:r>
          </a:p>
        </p:txBody>
      </p:sp>
      <p:sp>
        <p:nvSpPr>
          <p:cNvPr id="12" name="Rectangle: Rounded Corners 4"/>
          <p:cNvSpPr>
            <a:spLocks noChangeArrowheads="1"/>
          </p:cNvSpPr>
          <p:nvPr/>
        </p:nvSpPr>
        <p:spPr bwMode="auto">
          <a:xfrm>
            <a:off x="592696" y="1676400"/>
            <a:ext cx="1312304" cy="1413760"/>
          </a:xfrm>
          <a:prstGeom prst="roundRect">
            <a:avLst/>
          </a:prstGeom>
          <a:noFill/>
          <a:ln w="38100" algn="ctr">
            <a:solidFill>
              <a:srgbClr val="00B0F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sz="3200" i="1" noProof="1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</p:txBody>
      </p:sp>
      <p:sp>
        <p:nvSpPr>
          <p:cNvPr id="13" name="AutoShape 6"/>
          <p:cNvSpPr>
            <a:spLocks noChangeArrowheads="1"/>
          </p:cNvSpPr>
          <p:nvPr/>
        </p:nvSpPr>
        <p:spPr bwMode="auto">
          <a:xfrm>
            <a:off x="762000" y="3398493"/>
            <a:ext cx="3581400" cy="675999"/>
          </a:xfrm>
          <a:prstGeom prst="wedgeRoundRectCallout">
            <a:avLst>
              <a:gd name="adj1" fmla="val -39116"/>
              <a:gd name="adj2" fmla="val -95585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400" b="1" dirty="0">
                <a:solidFill>
                  <a:schemeClr val="tx1"/>
                </a:solidFill>
                <a:latin typeface="Comfortaa" pitchFamily="2" charset="0"/>
              </a:rPr>
              <a:t>Референтен</a:t>
            </a:r>
            <a:r>
              <a:rPr lang="bg-BG" sz="2400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2400" b="1" dirty="0">
                <a:solidFill>
                  <a:srgbClr val="FFFFFF"/>
                </a:solidFill>
                <a:latin typeface="Comfortaa" pitchFamily="2" charset="0"/>
              </a:rPr>
              <a:t>тип</a:t>
            </a:r>
          </a:p>
        </p:txBody>
      </p:sp>
      <p:sp>
        <p:nvSpPr>
          <p:cNvPr id="14" name="Rectangle: Rounded Corners 4"/>
          <p:cNvSpPr>
            <a:spLocks noChangeArrowheads="1"/>
          </p:cNvSpPr>
          <p:nvPr/>
        </p:nvSpPr>
        <p:spPr bwMode="auto">
          <a:xfrm>
            <a:off x="5105400" y="1676400"/>
            <a:ext cx="1600200" cy="1413760"/>
          </a:xfrm>
          <a:prstGeom prst="roundRect">
            <a:avLst/>
          </a:prstGeom>
          <a:noFill/>
          <a:ln w="38100" algn="ctr">
            <a:solidFill>
              <a:srgbClr val="00B0F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sz="3200" i="1" noProof="1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</a:endParaRPr>
          </a:p>
        </p:txBody>
      </p:sp>
      <p:sp>
        <p:nvSpPr>
          <p:cNvPr id="15" name="AutoShape 6"/>
          <p:cNvSpPr>
            <a:spLocks noChangeArrowheads="1"/>
          </p:cNvSpPr>
          <p:nvPr/>
        </p:nvSpPr>
        <p:spPr bwMode="auto">
          <a:xfrm>
            <a:off x="5638800" y="3398492"/>
            <a:ext cx="3276600" cy="675999"/>
          </a:xfrm>
          <a:prstGeom prst="wedgeRoundRectCallout">
            <a:avLst>
              <a:gd name="adj1" fmla="val -39116"/>
              <a:gd name="adj2" fmla="val -95585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400" b="1" dirty="0">
                <a:solidFill>
                  <a:schemeClr val="tx1"/>
                </a:solidFill>
                <a:latin typeface="Comfortaa" pitchFamily="2" charset="0"/>
              </a:rPr>
              <a:t>Обектен</a:t>
            </a:r>
            <a:r>
              <a:rPr lang="en-US" sz="2400" b="1" dirty="0">
                <a:solidFill>
                  <a:srgbClr val="FFFFFF"/>
                </a:solidFill>
                <a:latin typeface="Comfortaa" pitchFamily="2" charset="0"/>
              </a:rPr>
              <a:t> </a:t>
            </a:r>
            <a:r>
              <a:rPr lang="bg-BG" sz="2400" b="1" dirty="0">
                <a:solidFill>
                  <a:srgbClr val="FFFFFF"/>
                </a:solidFill>
                <a:latin typeface="Comfortaa" pitchFamily="2" charset="0"/>
              </a:rPr>
              <a:t>тип</a:t>
            </a:r>
          </a:p>
        </p:txBody>
      </p:sp>
    </p:spTree>
    <p:extLst>
      <p:ext uri="{BB962C8B-B14F-4D97-AF65-F5344CB8AC3E}">
        <p14:creationId xmlns:p14="http://schemas.microsoft.com/office/powerpoint/2010/main" val="262688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577112" y="1424633"/>
            <a:ext cx="11034600" cy="570422"/>
          </a:xfrm>
        </p:spPr>
        <p:txBody>
          <a:bodyPr/>
          <a:lstStyle/>
          <a:p>
            <a:pPr marL="0" indent="0">
              <a:buNone/>
            </a:pPr>
            <a:r>
              <a:rPr lang="bg-BG" sz="2400" dirty="0">
                <a:latin typeface="Comfortaa" pitchFamily="2" charset="0"/>
              </a:rPr>
              <a:t>Проверява дали 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обекта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е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инстанция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на специфичен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клас</a:t>
            </a:r>
            <a:endParaRPr lang="en-US" sz="24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endParaRPr lang="en-US" sz="24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endParaRPr lang="en-US" sz="24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endParaRPr lang="en-US" sz="24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endParaRPr lang="en-US" sz="24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endParaRPr lang="en-US" sz="24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endParaRPr lang="bg-BG" sz="24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77112" y="543786"/>
            <a:ext cx="10918217" cy="827068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Ключова дума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is</a:t>
            </a:r>
            <a:r>
              <a:rPr lang="en-US" dirty="0">
                <a:latin typeface="Comfortaa" pitchFamily="2" charset="0"/>
              </a:rPr>
              <a:t> [1/2]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77112" y="2048834"/>
            <a:ext cx="11034600" cy="360098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Person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: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Mammal, Animal {}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Animal person    = new Person();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Mammal personOne = new Person();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Person personTwo = new Person();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 (person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is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Person)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((Person) person)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.getSalary();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n-US" sz="40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" name="AutoShape 6"/>
          <p:cNvSpPr>
            <a:spLocks noChangeArrowheads="1"/>
          </p:cNvSpPr>
          <p:nvPr/>
        </p:nvSpPr>
        <p:spPr bwMode="auto">
          <a:xfrm>
            <a:off x="6400801" y="5187906"/>
            <a:ext cx="5332020" cy="1435334"/>
          </a:xfrm>
          <a:prstGeom prst="wedgeRoundRectCallout">
            <a:avLst>
              <a:gd name="adj1" fmla="val -105843"/>
              <a:gd name="adj2" fmla="val -52669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400" dirty="0">
                <a:solidFill>
                  <a:srgbClr val="FFFFFF"/>
                </a:solidFill>
                <a:latin typeface="Comfortaa" pitchFamily="2" charset="0"/>
              </a:rPr>
              <a:t>Преобразуване на обектния тип и използване на методите му</a:t>
            </a:r>
            <a:endParaRPr lang="bg-BG" sz="24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  <p:sp>
        <p:nvSpPr>
          <p:cNvPr id="16" name="AutoShape 6"/>
          <p:cNvSpPr>
            <a:spLocks noChangeArrowheads="1"/>
          </p:cNvSpPr>
          <p:nvPr/>
        </p:nvSpPr>
        <p:spPr bwMode="auto">
          <a:xfrm>
            <a:off x="8077201" y="3200400"/>
            <a:ext cx="3699269" cy="1495056"/>
          </a:xfrm>
          <a:prstGeom prst="wedgeRoundRectCallout">
            <a:avLst>
              <a:gd name="adj1" fmla="val -138107"/>
              <a:gd name="adj2" fmla="val 7788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400" dirty="0">
                <a:solidFill>
                  <a:srgbClr val="FFFFFF"/>
                </a:solidFill>
                <a:latin typeface="Comfortaa" pitchFamily="2" charset="0"/>
              </a:rPr>
              <a:t>Проверка на обектния тип на </a:t>
            </a:r>
            <a:r>
              <a:rPr lang="en-US" sz="2400" dirty="0">
                <a:solidFill>
                  <a:srgbClr val="FFFFFF"/>
                </a:solidFill>
                <a:latin typeface="Comfortaa" pitchFamily="2" charset="0"/>
              </a:rPr>
              <a:t>person</a:t>
            </a:r>
            <a:endParaRPr lang="bg-BG" sz="24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814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25587" y="1716974"/>
            <a:ext cx="10820400" cy="317009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fontAlgn="base"/>
            <a:r>
              <a:rPr lang="bg-BG" sz="4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Всеки път, когато усетиш, че пишеш код от типа</a:t>
            </a:r>
            <a:r>
              <a:rPr lang="en-US" sz="4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 „</a:t>
            </a:r>
            <a:r>
              <a:rPr lang="bg-BG" sz="4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ако обекта е от тип</a:t>
            </a:r>
            <a:r>
              <a:rPr lang="en-US" sz="4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 T1, </a:t>
            </a:r>
            <a:r>
              <a:rPr lang="bg-BG" sz="4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то направи нещо</a:t>
            </a:r>
            <a:r>
              <a:rPr lang="en-US" sz="4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, </a:t>
            </a:r>
            <a:r>
              <a:rPr lang="bg-BG" sz="4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но ако е от тип</a:t>
            </a:r>
            <a:r>
              <a:rPr lang="en-US" sz="4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 T2, </a:t>
            </a:r>
            <a:r>
              <a:rPr lang="bg-BG" sz="4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то направи друго нещо“</a:t>
            </a:r>
            <a:r>
              <a:rPr lang="en-US" sz="4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, </a:t>
            </a:r>
            <a:r>
              <a:rPr lang="bg-BG" sz="4000" b="1" noProof="1">
                <a:solidFill>
                  <a:schemeClr val="tx1"/>
                </a:solidFill>
                <a:latin typeface="Comfortaa" pitchFamily="2" charset="0"/>
                <a:cs typeface="Consolas" pitchFamily="49" charset="0"/>
              </a:rPr>
              <a:t>си забий шамар</a:t>
            </a:r>
            <a:r>
              <a:rPr lang="en-US" sz="4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5375" y="5184250"/>
            <a:ext cx="108806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bg-BG" sz="3200" dirty="0">
                <a:latin typeface="Comfortaa" pitchFamily="2" charset="0"/>
              </a:rPr>
              <a:t>От</a:t>
            </a:r>
            <a:r>
              <a:rPr lang="en-US" sz="3200" dirty="0">
                <a:latin typeface="Comfortaa" pitchFamily="2" charset="0"/>
              </a:rPr>
              <a:t> </a:t>
            </a:r>
            <a:r>
              <a:rPr lang="en-US" sz="3200" i="1" dirty="0">
                <a:latin typeface="Comfortaa" pitchFamily="2" charset="0"/>
              </a:rPr>
              <a:t>Effective C++</a:t>
            </a:r>
            <a:r>
              <a:rPr lang="en-US" sz="3200" dirty="0">
                <a:latin typeface="Comfortaa" pitchFamily="2" charset="0"/>
              </a:rPr>
              <a:t>, </a:t>
            </a:r>
            <a:r>
              <a:rPr lang="bg-BG" sz="3200" dirty="0">
                <a:latin typeface="Comfortaa" pitchFamily="2" charset="0"/>
              </a:rPr>
              <a:t>автор: </a:t>
            </a:r>
            <a:r>
              <a:rPr lang="en-US" sz="3200" dirty="0">
                <a:latin typeface="Comfortaa" pitchFamily="2" charset="0"/>
              </a:rPr>
              <a:t>Scott Meyers</a:t>
            </a:r>
            <a:endParaRPr lang="bg-BG" sz="3200" dirty="0">
              <a:latin typeface="Comfortaa" pitchFamily="2" charset="0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FBA64F7A-2DC2-4CD9-A7F5-CCAC414BE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112" y="543786"/>
            <a:ext cx="10918217" cy="827068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Ключова дума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is</a:t>
            </a:r>
            <a:r>
              <a:rPr lang="en-US" dirty="0">
                <a:latin typeface="Comfortaa" pitchFamily="2" charset="0"/>
              </a:rPr>
              <a:t> [2/2]</a:t>
            </a:r>
          </a:p>
        </p:txBody>
      </p:sp>
    </p:spTree>
    <p:extLst>
      <p:ext uri="{BB962C8B-B14F-4D97-AF65-F5344CB8AC3E}">
        <p14:creationId xmlns:p14="http://schemas.microsoft.com/office/powerpoint/2010/main" val="3008292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21151"/>
            <a:ext cx="10515600" cy="3784298"/>
          </a:xfrm>
        </p:spPr>
        <p:txBody>
          <a:bodyPr>
            <a:normAutofit/>
          </a:bodyPr>
          <a:lstStyle/>
          <a:p>
            <a:r>
              <a:rPr lang="bg-BG" sz="2600" dirty="0">
                <a:latin typeface="Comfortaa" pitchFamily="2" charset="0"/>
              </a:rPr>
              <a:t>Полиморфизъм по време на </a:t>
            </a:r>
            <a:r>
              <a:rPr lang="bg-BG" sz="2600" b="1" dirty="0">
                <a:solidFill>
                  <a:srgbClr val="00B0F0"/>
                </a:solidFill>
                <a:latin typeface="Comfortaa" pitchFamily="2" charset="0"/>
              </a:rPr>
              <a:t>изпълнение</a:t>
            </a:r>
            <a:endParaRPr lang="en-US" sz="2600" b="1" dirty="0">
              <a:solidFill>
                <a:srgbClr val="00B0F0"/>
              </a:solidFill>
              <a:latin typeface="Comfortaa" pitchFamily="2" charset="0"/>
            </a:endParaRPr>
          </a:p>
          <a:p>
            <a:endParaRPr lang="en-US" sz="2600" dirty="0">
              <a:latin typeface="Comfortaa" pitchFamily="2" charset="0"/>
            </a:endParaRPr>
          </a:p>
          <a:p>
            <a:endParaRPr lang="en-GB" sz="2600" dirty="0">
              <a:latin typeface="Comfortaa" pitchFamily="2" charset="0"/>
            </a:endParaRPr>
          </a:p>
          <a:p>
            <a:endParaRPr lang="en-GB" sz="2600" dirty="0">
              <a:latin typeface="Comfortaa" pitchFamily="2" charset="0"/>
            </a:endParaRPr>
          </a:p>
          <a:p>
            <a:endParaRPr lang="en-GB" sz="2600" dirty="0">
              <a:latin typeface="Comfortaa" pitchFamily="2" charset="0"/>
            </a:endParaRPr>
          </a:p>
          <a:p>
            <a:endParaRPr lang="en-GB" sz="2600" dirty="0">
              <a:latin typeface="Comfortaa" pitchFamily="2" charset="0"/>
            </a:endParaRPr>
          </a:p>
          <a:p>
            <a:pPr>
              <a:spcBef>
                <a:spcPts val="1200"/>
              </a:spcBef>
            </a:pPr>
            <a:r>
              <a:rPr lang="bg-BG" sz="2600" dirty="0">
                <a:latin typeface="Comfortaa" pitchFamily="2" charset="0"/>
              </a:rPr>
              <a:t>Полиморфизъм</a:t>
            </a:r>
            <a:r>
              <a:rPr lang="en-US" sz="2600" dirty="0">
                <a:latin typeface="Comfortaa" pitchFamily="2" charset="0"/>
              </a:rPr>
              <a:t> </a:t>
            </a:r>
            <a:r>
              <a:rPr lang="bg-BG" sz="2600" dirty="0">
                <a:latin typeface="Comfortaa" pitchFamily="2" charset="0"/>
              </a:rPr>
              <a:t>по време на </a:t>
            </a:r>
            <a:r>
              <a:rPr lang="bg-BG" sz="2600" b="1" dirty="0">
                <a:solidFill>
                  <a:srgbClr val="00B0F0"/>
                </a:solidFill>
                <a:latin typeface="Comfortaa" pitchFamily="2" charset="0"/>
              </a:rPr>
              <a:t>компилиране</a:t>
            </a:r>
            <a:endParaRPr lang="en-US" sz="2600" b="1" dirty="0">
              <a:solidFill>
                <a:srgbClr val="00B0F0"/>
              </a:solidFill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413497"/>
            <a:ext cx="10308771" cy="934673"/>
          </a:xfrm>
        </p:spPr>
        <p:txBody>
          <a:bodyPr/>
          <a:lstStyle/>
          <a:p>
            <a:r>
              <a:rPr lang="bg-BG" noProof="1">
                <a:latin typeface="Comfortaa" pitchFamily="2" charset="0"/>
              </a:rPr>
              <a:t>Типове полиморфизъм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533400" y="1752601"/>
            <a:ext cx="8153400" cy="224676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Shape {}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Circle : Shape {}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static void main(String[] args) {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Shape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shape = new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Circle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()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533400" y="4681216"/>
            <a:ext cx="8153400" cy="181588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static void main(String[] args) {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int Sum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(int a, int b, int c)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double Sum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(Double a, Double b)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11" name="AutoShape 6"/>
          <p:cNvSpPr>
            <a:spLocks noChangeArrowheads="1"/>
          </p:cNvSpPr>
          <p:nvPr/>
        </p:nvSpPr>
        <p:spPr bwMode="auto">
          <a:xfrm>
            <a:off x="8473548" y="5057743"/>
            <a:ext cx="3185052" cy="1062828"/>
          </a:xfrm>
          <a:prstGeom prst="wedgeRoundRectCallout">
            <a:avLst>
              <a:gd name="adj1" fmla="val -89956"/>
              <a:gd name="adj2" fmla="val -11687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dirty="0">
                <a:solidFill>
                  <a:srgbClr val="FFFFFF"/>
                </a:solidFill>
                <a:latin typeface="Comfortaa" pitchFamily="2" charset="0"/>
              </a:rPr>
              <a:t>Презареждане на метод</a:t>
            </a:r>
            <a:endParaRPr lang="bg-BG" sz="28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auto">
          <a:xfrm>
            <a:off x="8473545" y="2196491"/>
            <a:ext cx="3185053" cy="1062828"/>
          </a:xfrm>
          <a:prstGeom prst="wedgeRoundRectCallout">
            <a:avLst>
              <a:gd name="adj1" fmla="val -77167"/>
              <a:gd name="adj2" fmla="val -25661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dirty="0">
                <a:solidFill>
                  <a:srgbClr val="FFFFFF"/>
                </a:solidFill>
                <a:latin typeface="Comfortaa" pitchFamily="2" charset="0"/>
              </a:rPr>
              <a:t>Презаписване на метод</a:t>
            </a:r>
            <a:endParaRPr lang="bg-BG" sz="28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38424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71946" y="1616801"/>
            <a:ext cx="10515600" cy="4351338"/>
          </a:xfrm>
        </p:spPr>
        <p:txBody>
          <a:bodyPr>
            <a:noAutofit/>
          </a:bodyPr>
          <a:lstStyle/>
          <a:p>
            <a:r>
              <a:rPr lang="bg-BG" sz="2400" dirty="0">
                <a:latin typeface="Comfortaa" pitchFamily="2" charset="0"/>
              </a:rPr>
              <a:t>Известен и като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статичен полиморфизъм</a:t>
            </a:r>
            <a:endParaRPr lang="en-US" sz="2400" b="1" dirty="0">
              <a:solidFill>
                <a:srgbClr val="00B0F0"/>
              </a:solidFill>
              <a:latin typeface="Comfortaa" pitchFamily="2" charset="0"/>
            </a:endParaRPr>
          </a:p>
          <a:p>
            <a:endParaRPr lang="en-US" sz="24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endParaRPr lang="en-US" sz="24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endParaRPr lang="bg-BG" sz="24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endParaRPr lang="en-US" sz="24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endParaRPr lang="en-US" sz="24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>
              <a:spcBef>
                <a:spcPts val="0"/>
              </a:spcBef>
            </a:pPr>
            <a:r>
              <a:rPr lang="bg-BG" sz="2400" dirty="0">
                <a:latin typeface="Comfortaa" pitchFamily="2" charset="0"/>
              </a:rPr>
              <a:t>Метод с едно и също име може да се различава по</a:t>
            </a:r>
            <a:r>
              <a:rPr lang="en-US" sz="2400" dirty="0">
                <a:latin typeface="Comfortaa" pitchFamily="2" charset="0"/>
              </a:rPr>
              <a:t>:</a:t>
            </a:r>
          </a:p>
          <a:p>
            <a:pPr lvl="1"/>
            <a:r>
              <a:rPr lang="bg-BG" sz="2000" dirty="0">
                <a:latin typeface="Comfortaa" pitchFamily="2" charset="0"/>
              </a:rPr>
              <a:t>Брой параметри</a:t>
            </a:r>
            <a:endParaRPr lang="en-US" sz="2000" dirty="0">
              <a:latin typeface="Comfortaa" pitchFamily="2" charset="0"/>
            </a:endParaRPr>
          </a:p>
          <a:p>
            <a:pPr lvl="1"/>
            <a:r>
              <a:rPr lang="bg-BG" sz="2000" dirty="0">
                <a:latin typeface="Comfortaa" pitchFamily="2" charset="0"/>
              </a:rPr>
              <a:t>Тип на параметрите</a:t>
            </a:r>
            <a:endParaRPr lang="en-US" sz="2000" dirty="0">
              <a:latin typeface="Comfortaa" pitchFamily="2" charset="0"/>
            </a:endParaRPr>
          </a:p>
          <a:p>
            <a:pPr lvl="1"/>
            <a:r>
              <a:rPr lang="bg-BG" sz="2000" dirty="0">
                <a:latin typeface="Comfortaa" pitchFamily="2" charset="0"/>
              </a:rPr>
              <a:t>Поредицата от типовете на параметрите</a:t>
            </a:r>
            <a:endParaRPr lang="en-US" sz="2000" dirty="0">
              <a:latin typeface="Comfortaa" pitchFamily="2" charset="0"/>
            </a:endParaRPr>
          </a:p>
          <a:p>
            <a:endParaRPr lang="bg-BG" sz="24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1946" y="626382"/>
            <a:ext cx="10515600" cy="1325563"/>
          </a:xfrm>
        </p:spPr>
        <p:txBody>
          <a:bodyPr>
            <a:normAutofit/>
          </a:bodyPr>
          <a:lstStyle/>
          <a:p>
            <a:r>
              <a:rPr lang="bg-BG" sz="3200" noProof="1">
                <a:latin typeface="Comfortaa" pitchFamily="2" charset="0"/>
              </a:rPr>
              <a:t>Полиморфизъм по време на компилиране</a:t>
            </a:r>
            <a:endParaRPr lang="en-US" sz="3200" dirty="0">
              <a:latin typeface="Comfortaa" pitchFamily="2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976746" y="2199480"/>
            <a:ext cx="9497291" cy="181588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static void Main() {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static int MyMethod(int a, int b) {}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static double MyMethod(double a, double b) {}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auto">
          <a:xfrm>
            <a:off x="8942670" y="1769006"/>
            <a:ext cx="2885153" cy="1062828"/>
          </a:xfrm>
          <a:prstGeom prst="wedgeRoundRectCallout">
            <a:avLst>
              <a:gd name="adj1" fmla="val -61716"/>
              <a:gd name="adj2" fmla="val 42269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400" dirty="0">
                <a:solidFill>
                  <a:schemeClr val="bg1"/>
                </a:solidFill>
                <a:latin typeface="Comfortaa" pitchFamily="2" charset="0"/>
              </a:rPr>
              <a:t>Презареждане на метод</a:t>
            </a:r>
          </a:p>
        </p:txBody>
      </p:sp>
    </p:spTree>
    <p:extLst>
      <p:ext uri="{BB962C8B-B14F-4D97-AF65-F5344CB8AC3E}">
        <p14:creationId xmlns:p14="http://schemas.microsoft.com/office/powerpoint/2010/main" val="3925873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idx="1"/>
          </p:nvPr>
        </p:nvSpPr>
        <p:spPr>
          <a:xfrm>
            <a:off x="685800" y="1126480"/>
            <a:ext cx="10744200" cy="650380"/>
          </a:xfrm>
        </p:spPr>
        <p:txBody>
          <a:bodyPr/>
          <a:lstStyle/>
          <a:p>
            <a:pPr marL="0" indent="0">
              <a:buNone/>
            </a:pPr>
            <a:r>
              <a:rPr lang="bg-BG" dirty="0">
                <a:latin typeface="Comfortaa" pitchFamily="2" charset="0"/>
              </a:rPr>
              <a:t>Използва се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презаписващ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метод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0" y="343515"/>
            <a:ext cx="10453255" cy="921207"/>
          </a:xfrm>
        </p:spPr>
        <p:txBody>
          <a:bodyPr>
            <a:noAutofit/>
          </a:bodyPr>
          <a:lstStyle/>
          <a:p>
            <a:r>
              <a:rPr lang="bg-BG" sz="3200" b="1" noProof="1">
                <a:latin typeface="Comfortaa" pitchFamily="2" charset="0"/>
              </a:rPr>
              <a:t>Полиморфизъм по време на изпълнение</a:t>
            </a:r>
            <a:r>
              <a:rPr lang="en-US" sz="3200" b="1" noProof="1">
                <a:latin typeface="Comfortaa" pitchFamily="2" charset="0"/>
              </a:rPr>
              <a:t> [1/2]</a:t>
            </a:r>
            <a:endParaRPr lang="en-US" sz="3200" b="1" dirty="0">
              <a:latin typeface="Comfortaa" pitchFamily="2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685800" y="1776860"/>
            <a:ext cx="10744200" cy="403187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fontAlgn="base"/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static void Main()</a:t>
            </a:r>
          </a:p>
          <a:p>
            <a:pPr fontAlgn="base"/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fontAlgn="base"/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Rectangle rect = new Rectangle(3.0, 4.0);</a:t>
            </a:r>
          </a:p>
          <a:p>
            <a:pPr fontAlgn="base"/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Rectangle square = new Square(4.0);</a:t>
            </a:r>
          </a:p>
          <a:p>
            <a:pPr fontAlgn="base"/>
            <a:endParaRPr lang="en-US" sz="32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fontAlgn="base"/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Console.WriteLine(rect.Area());</a:t>
            </a:r>
          </a:p>
          <a:p>
            <a:pPr fontAlgn="base"/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Console.WriteLine (square.Area());</a:t>
            </a:r>
          </a:p>
          <a:p>
            <a:pPr fontAlgn="base"/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14" name="AutoShape 6"/>
          <p:cNvSpPr>
            <a:spLocks noChangeArrowheads="1"/>
          </p:cNvSpPr>
          <p:nvPr/>
        </p:nvSpPr>
        <p:spPr bwMode="auto">
          <a:xfrm>
            <a:off x="8641022" y="5237234"/>
            <a:ext cx="3146332" cy="1143000"/>
          </a:xfrm>
          <a:prstGeom prst="wedgeRoundRectCallout">
            <a:avLst>
              <a:gd name="adj1" fmla="val -87359"/>
              <a:gd name="adj2" fmla="val -49260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3200" dirty="0">
                <a:solidFill>
                  <a:schemeClr val="bg1"/>
                </a:solidFill>
                <a:latin typeface="Comfortaa" pitchFamily="2" charset="0"/>
              </a:rPr>
              <a:t>Презапис на метод</a:t>
            </a:r>
          </a:p>
        </p:txBody>
      </p:sp>
    </p:spTree>
    <p:extLst>
      <p:ext uri="{BB962C8B-B14F-4D97-AF65-F5344CB8AC3E}">
        <p14:creationId xmlns:p14="http://schemas.microsoft.com/office/powerpoint/2010/main" val="3719163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799" y="1152911"/>
            <a:ext cx="10940144" cy="586824"/>
          </a:xfrm>
        </p:spPr>
        <p:txBody>
          <a:bodyPr/>
          <a:lstStyle/>
          <a:p>
            <a:pPr marL="0" indent="0">
              <a:buNone/>
            </a:pPr>
            <a:r>
              <a:rPr lang="bg-BG" dirty="0">
                <a:latin typeface="Comfortaa" pitchFamily="2" charset="0"/>
              </a:rPr>
              <a:t>Също известен като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динамичен полиморфизъм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86740" y="1788226"/>
            <a:ext cx="9420102" cy="455509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Rectangle {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public double Area() {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return this.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* this.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;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}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fontAlgn="base">
              <a:spcBef>
                <a:spcPts val="1200"/>
              </a:spcBef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Square : Rectangle {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public double Area() {</a:t>
            </a:r>
            <a:b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</a:b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return this.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* this.</a:t>
            </a:r>
            <a:r>
              <a:rPr lang="en-US" sz="28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;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}</a:t>
            </a:r>
          </a:p>
          <a:p>
            <a:pPr fontAlgn="base"/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auto">
          <a:xfrm>
            <a:off x="7650434" y="4569038"/>
            <a:ext cx="3754826" cy="1392376"/>
          </a:xfrm>
          <a:prstGeom prst="wedgeRoundRectCallout">
            <a:avLst>
              <a:gd name="adj1" fmla="val -103046"/>
              <a:gd name="adj2" fmla="val -32931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3200" dirty="0">
                <a:solidFill>
                  <a:schemeClr val="bg1"/>
                </a:solidFill>
                <a:latin typeface="Comfortaa" pitchFamily="2" charset="0"/>
              </a:rPr>
              <a:t>Презаписване на метод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BAE75CD5-9257-4D01-FEC8-7F143C6F1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43515"/>
            <a:ext cx="10453255" cy="921207"/>
          </a:xfrm>
        </p:spPr>
        <p:txBody>
          <a:bodyPr>
            <a:noAutofit/>
          </a:bodyPr>
          <a:lstStyle/>
          <a:p>
            <a:r>
              <a:rPr lang="bg-BG" sz="3200" b="1" noProof="1">
                <a:latin typeface="Comfortaa" pitchFamily="2" charset="0"/>
              </a:rPr>
              <a:t>Полиморфизъм по време на изпълнение</a:t>
            </a:r>
            <a:r>
              <a:rPr lang="en-US" sz="3200" b="1" noProof="1">
                <a:latin typeface="Comfortaa" pitchFamily="2" charset="0"/>
              </a:rPr>
              <a:t> [1/2]</a:t>
            </a:r>
            <a:endParaRPr lang="en-US" sz="3200" b="1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97184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</TotalTime>
  <Words>883</Words>
  <Application>Microsoft Office PowerPoint</Application>
  <PresentationFormat>Widescreen</PresentationFormat>
  <Paragraphs>150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Comfortaa</vt:lpstr>
      <vt:lpstr>Consolas</vt:lpstr>
      <vt:lpstr>Office Theme</vt:lpstr>
      <vt:lpstr>Полиморфизъм</vt:lpstr>
      <vt:lpstr>Съдържание</vt:lpstr>
      <vt:lpstr>Какво е полиморфизъм?</vt:lpstr>
      <vt:lpstr>Полиморфизъм в ООП</vt:lpstr>
      <vt:lpstr>Референтен тип и обектен тип</vt:lpstr>
      <vt:lpstr>Ключова дума is [1/2]</vt:lpstr>
      <vt:lpstr>Ключова дума is [2/2]</vt:lpstr>
      <vt:lpstr>Типове полиморфизъм</vt:lpstr>
      <vt:lpstr>Полиморфизъм по време на компилиране</vt:lpstr>
      <vt:lpstr>Полиморфизъм по време на изпълнение [1/2]</vt:lpstr>
      <vt:lpstr>Полиморфизъм по време на изпълнение [1/2]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11</cp:revision>
  <dcterms:created xsi:type="dcterms:W3CDTF">2022-08-09T09:25:46Z</dcterms:created>
  <dcterms:modified xsi:type="dcterms:W3CDTF">2022-09-14T15:48:04Z</dcterms:modified>
</cp:coreProperties>
</file>