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2"/>
  </p:notesMasterIdLst>
  <p:sldIdLst>
    <p:sldId id="258" r:id="rId2"/>
    <p:sldId id="608" r:id="rId3"/>
    <p:sldId id="614" r:id="rId4"/>
    <p:sldId id="625" r:id="rId5"/>
    <p:sldId id="626" r:id="rId6"/>
    <p:sldId id="627" r:id="rId7"/>
    <p:sldId id="628" r:id="rId8"/>
    <p:sldId id="629" r:id="rId9"/>
    <p:sldId id="624" r:id="rId10"/>
    <p:sldId id="572"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Въведение" id="{B53E63A6-15B2-40C3-A9DC-5006FD089CC5}">
          <p14:sldIdLst>
            <p14:sldId id="258"/>
          </p14:sldIdLst>
        </p14:section>
        <p14:section name="Съдържание" id="{0B0C01F3-1F60-4ADB-AC1E-9589654EAEF3}">
          <p14:sldIdLst>
            <p14:sldId id="608"/>
            <p14:sldId id="614"/>
            <p14:sldId id="625"/>
            <p14:sldId id="626"/>
            <p14:sldId id="627"/>
            <p14:sldId id="628"/>
            <p14:sldId id="629"/>
            <p14:sldId id="624"/>
          </p14:sldIdLst>
        </p14:section>
        <p14:section name="Заключение" id="{9315BEE7-605C-4839-996A-A4EEA70921D9}">
          <p14:sldIdLst>
            <p14:sldId id="5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8A51F5-6E34-4A9B-8787-8C29D4F40D1D}" v="1" dt="2022-08-10T06:34:56.1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4" autoAdjust="0"/>
    <p:restoredTop sz="94660"/>
  </p:normalViewPr>
  <p:slideViewPr>
    <p:cSldViewPr snapToGrid="0">
      <p:cViewPr varScale="1">
        <p:scale>
          <a:sx n="92" d="100"/>
          <a:sy n="92" d="100"/>
        </p:scale>
        <p:origin x="58"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Димитър Минчев" userId="6da192e4-d32c-454b-8615-bbadf07b6639" providerId="ADAL" clId="{508A51F5-6E34-4A9B-8787-8C29D4F40D1D}"/>
    <pc:docChg chg="addSld modSld">
      <pc:chgData name="Димитър Минчев" userId="6da192e4-d32c-454b-8615-bbadf07b6639" providerId="ADAL" clId="{508A51F5-6E34-4A9B-8787-8C29D4F40D1D}" dt="2022-08-10T06:34:56.108" v="0"/>
      <pc:docMkLst>
        <pc:docMk/>
      </pc:docMkLst>
      <pc:sldChg chg="add">
        <pc:chgData name="Димитър Минчев" userId="6da192e4-d32c-454b-8615-bbadf07b6639" providerId="ADAL" clId="{508A51F5-6E34-4A9B-8787-8C29D4F40D1D}" dt="2022-08-10T06:34:56.108" v="0"/>
        <pc:sldMkLst>
          <pc:docMk/>
          <pc:sldMk cId="2002111910" sldId="43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bg-B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A0D3FF-81AC-477B-919E-75762E6B2153}" type="datetimeFigureOut">
              <a:rPr lang="bg-BG" smtClean="0"/>
              <a:t>14.9.2022 г.</a:t>
            </a:fld>
            <a:endParaRPr lang="bg-B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bg-B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bg-B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8142EC-5991-4235-A99B-961F17902D60}" type="slidenum">
              <a:rPr lang="bg-BG" smtClean="0"/>
              <a:t>‹#›</a:t>
            </a:fld>
            <a:endParaRPr lang="bg-BG"/>
          </a:p>
        </p:txBody>
      </p:sp>
    </p:spTree>
    <p:extLst>
      <p:ext uri="{BB962C8B-B14F-4D97-AF65-F5344CB8AC3E}">
        <p14:creationId xmlns:p14="http://schemas.microsoft.com/office/powerpoint/2010/main" val="2837940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7.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8.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softuni.foundation/"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creativecommons.org/licenses/by-nc-sa/4.0/"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C7131C5E-1E6B-46FF-9756-44B6556E2A79}" type="slidenum">
              <a:rPr lang="en-US"/>
              <a:pPr/>
              <a:t>2</a:t>
            </a:fld>
            <a:r>
              <a:rPr lang="en-US" dirty="0"/>
              <a:t>##</a:t>
            </a:r>
          </a:p>
        </p:txBody>
      </p:sp>
      <p:sp>
        <p:nvSpPr>
          <p:cNvPr id="1234946" name="Rectangle 2"/>
          <p:cNvSpPr>
            <a:spLocks noGrp="1" noRot="1" noChangeAspect="1" noChangeArrowheads="1" noTextEdit="1"/>
          </p:cNvSpPr>
          <p:nvPr>
            <p:ph type="sldImg"/>
          </p:nvPr>
        </p:nvSpPr>
        <p:spPr>
          <a:xfrm>
            <a:off x="381000" y="685800"/>
            <a:ext cx="6096000" cy="3429000"/>
          </a:xfrm>
          <a:ln/>
        </p:spPr>
      </p:sp>
      <p:sp>
        <p:nvSpPr>
          <p:cNvPr id="1234947" name="Rectangle 3"/>
          <p:cNvSpPr>
            <a:spLocks noGrp="1" noChangeArrowheads="1"/>
          </p:cNvSpPr>
          <p:nvPr>
            <p:ph type="body" idx="1"/>
          </p:nvPr>
        </p:nvSpPr>
        <p:spPr/>
        <p:txBody>
          <a:bodyPr/>
          <a:lstStyle/>
          <a:p>
            <a:endParaRPr lang="bg-BG"/>
          </a:p>
        </p:txBody>
      </p:sp>
      <p:sp>
        <p:nvSpPr>
          <p:cNvPr id="6" name="Footer Placeholder">
            <a:extLst>
              <a:ext uri="{FF2B5EF4-FFF2-40B4-BE49-F238E27FC236}">
                <a16:creationId xmlns:a16="http://schemas.microsoft.com/office/drawing/2014/main" id="{6CF2DAEF-F466-49B4-B53F-F8A44FEA3308}"/>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15617457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3</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3</a:t>
            </a:fld>
            <a:r>
              <a:rPr lang="en-US" sz="1000" i="1" dirty="0"/>
              <a:t>##</a:t>
            </a:r>
            <a:endParaRPr lang="en-US" sz="1200" i="1" dirty="0"/>
          </a:p>
        </p:txBody>
      </p:sp>
      <p:sp>
        <p:nvSpPr>
          <p:cNvPr id="10" name="Footer Placeholder">
            <a:extLst>
              <a:ext uri="{FF2B5EF4-FFF2-40B4-BE49-F238E27FC236}">
                <a16:creationId xmlns:a16="http://schemas.microsoft.com/office/drawing/2014/main" id="{E05205BF-1DE9-47E1-87B2-E40E64BFDD8D}"/>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39716214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4</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4</a:t>
            </a:fld>
            <a:r>
              <a:rPr lang="en-US" sz="1000" i="1" dirty="0"/>
              <a:t>##</a:t>
            </a:r>
            <a:endParaRPr lang="en-US" sz="1200" i="1" dirty="0"/>
          </a:p>
        </p:txBody>
      </p:sp>
      <p:sp>
        <p:nvSpPr>
          <p:cNvPr id="10" name="Footer Placeholder">
            <a:extLst>
              <a:ext uri="{FF2B5EF4-FFF2-40B4-BE49-F238E27FC236}">
                <a16:creationId xmlns:a16="http://schemas.microsoft.com/office/drawing/2014/main" id="{946635F1-0697-4087-9BF4-242E17B4970B}"/>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36825284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5</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5</a:t>
            </a:fld>
            <a:r>
              <a:rPr lang="en-US" sz="1000" i="1" dirty="0"/>
              <a:t>##</a:t>
            </a:r>
            <a:endParaRPr lang="en-US" sz="1200" i="1" dirty="0"/>
          </a:p>
        </p:txBody>
      </p:sp>
      <p:sp>
        <p:nvSpPr>
          <p:cNvPr id="10" name="Footer Placeholder">
            <a:extLst>
              <a:ext uri="{FF2B5EF4-FFF2-40B4-BE49-F238E27FC236}">
                <a16:creationId xmlns:a16="http://schemas.microsoft.com/office/drawing/2014/main" id="{7DC1D1F4-8C66-456E-A8A4-71F3F43ABC99}"/>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30798823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6</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6</a:t>
            </a:fld>
            <a:r>
              <a:rPr lang="en-US" sz="1000" i="1" dirty="0"/>
              <a:t>##</a:t>
            </a:r>
            <a:endParaRPr lang="en-US" sz="1200" i="1" dirty="0"/>
          </a:p>
        </p:txBody>
      </p:sp>
      <p:sp>
        <p:nvSpPr>
          <p:cNvPr id="10" name="Footer Placeholder">
            <a:extLst>
              <a:ext uri="{FF2B5EF4-FFF2-40B4-BE49-F238E27FC236}">
                <a16:creationId xmlns:a16="http://schemas.microsoft.com/office/drawing/2014/main" id="{75688AF8-EC01-445A-9A95-96384BD80374}"/>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1630983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7</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7</a:t>
            </a:fld>
            <a:r>
              <a:rPr lang="en-US" sz="1000" i="1" dirty="0"/>
              <a:t>##</a:t>
            </a:r>
            <a:endParaRPr lang="en-US" sz="1200" i="1" dirty="0"/>
          </a:p>
        </p:txBody>
      </p:sp>
      <p:sp>
        <p:nvSpPr>
          <p:cNvPr id="10" name="Footer Placeholder">
            <a:extLst>
              <a:ext uri="{FF2B5EF4-FFF2-40B4-BE49-F238E27FC236}">
                <a16:creationId xmlns:a16="http://schemas.microsoft.com/office/drawing/2014/main" id="{9F95156E-8ED6-419F-BB53-6B1510516CA1}"/>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17543588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7"/>
          <p:cNvSpPr>
            <a:spLocks noGrp="1" noChangeArrowheads="1"/>
          </p:cNvSpPr>
          <p:nvPr>
            <p:ph type="sldNum" sz="quarter" idx="5"/>
          </p:nvPr>
        </p:nvSpPr>
        <p:spPr>
          <a:ln/>
        </p:spPr>
        <p:txBody>
          <a:bodyPr/>
          <a:lstStyle/>
          <a:p>
            <a:fld id="{332C4CEC-2DBE-4C38-BA31-7DE965C3FA11}" type="slidenum">
              <a:rPr lang="en-US"/>
              <a:pPr/>
              <a:t>8</a:t>
            </a:fld>
            <a:r>
              <a:rPr lang="en-US" dirty="0"/>
              <a:t>##</a:t>
            </a:r>
          </a:p>
        </p:txBody>
      </p:sp>
      <p:sp>
        <p:nvSpPr>
          <p:cNvPr id="54274" name="Slide Image Placeholder 1"/>
          <p:cNvSpPr>
            <a:spLocks noGrp="1" noRot="1" noChangeAspect="1" noTextEdit="1"/>
          </p:cNvSpPr>
          <p:nvPr>
            <p:ph type="sldImg"/>
          </p:nvPr>
        </p:nvSpPr>
        <p:spPr>
          <a:xfrm>
            <a:off x="381000" y="685800"/>
            <a:ext cx="6096000" cy="3429000"/>
          </a:xfrm>
          <a:ln/>
        </p:spPr>
      </p:sp>
      <p:sp>
        <p:nvSpPr>
          <p:cNvPr id="54275" name="Notes Placeholder 2"/>
          <p:cNvSpPr>
            <a:spLocks noGrp="1"/>
          </p:cNvSpPr>
          <p:nvPr>
            <p:ph type="body" idx="1"/>
          </p:nvPr>
        </p:nvSpPr>
        <p:spPr/>
        <p:txBody>
          <a:bodyPr/>
          <a:lstStyle/>
          <a:p>
            <a:pPr eaLnBrk="1" hangingPunct="1"/>
            <a:r>
              <a:rPr lang="en-US" dirty="0"/>
              <a:t>Extensibility / Polymorphism: New functionality may be easily plugged in without changing existing classes as long the new plug-in classes extend given base classes.</a:t>
            </a:r>
          </a:p>
          <a:p>
            <a:pPr eaLnBrk="1" hangingPunct="1"/>
            <a:endParaRPr lang="en-US" dirty="0"/>
          </a:p>
          <a:p>
            <a:pPr eaLnBrk="1" hangingPunct="1"/>
            <a:r>
              <a:rPr lang="en-US" dirty="0"/>
              <a:t>Reusability: For a set of similar applications a framework can be defined using a core set of classes that are to be extended by classes that fill in the application-dependent part.</a:t>
            </a:r>
          </a:p>
          <a:p>
            <a:pPr eaLnBrk="1" hangingPunct="1"/>
            <a:endParaRPr lang="en-US" dirty="0"/>
          </a:p>
          <a:p>
            <a:pPr eaLnBrk="1" hangingPunct="1"/>
            <a:r>
              <a:rPr lang="en-US" dirty="0"/>
              <a:t>Information Hiding: If a more general class using a simpler contract is sufficient, details from extending classes may be hidden to some of the client classes. This allows them to be more independent from possible changes and diminishes the load of contracts that must be understood by a reader of these client classes.</a:t>
            </a:r>
          </a:p>
        </p:txBody>
      </p:sp>
      <p:sp>
        <p:nvSpPr>
          <p:cNvPr id="54276" name="Header Placeholder 3"/>
          <p:cNvSpPr>
            <a:spLocks noGrp="1"/>
          </p:cNvSpPr>
          <p:nvPr>
            <p:ph type="hdr" sz="quarter"/>
          </p:nvPr>
        </p:nvSpPr>
        <p:spPr/>
        <p:txBody>
          <a:bodyPr/>
          <a:lstStyle/>
          <a:p>
            <a:r>
              <a:rPr lang="en-US" dirty="0"/>
              <a:t>*</a:t>
            </a:r>
          </a:p>
        </p:txBody>
      </p:sp>
      <p:sp>
        <p:nvSpPr>
          <p:cNvPr id="54277" name="Date Placeholder 4"/>
          <p:cNvSpPr>
            <a:spLocks noGrp="1"/>
          </p:cNvSpPr>
          <p:nvPr>
            <p:ph type="dt" sz="quarter" idx="1"/>
          </p:nvPr>
        </p:nvSpPr>
        <p:spPr/>
        <p:txBody>
          <a:bodyPr/>
          <a:lstStyle/>
          <a:p>
            <a:r>
              <a:rPr lang="en-US" dirty="0"/>
              <a:t>07/16/96</a:t>
            </a:r>
          </a:p>
        </p:txBody>
      </p:sp>
      <p:sp>
        <p:nvSpPr>
          <p:cNvPr id="54278" name="Footer Placeholder 5"/>
          <p:cNvSpPr txBox="1">
            <a:spLocks noGrp="1"/>
          </p:cNvSpPr>
          <p:nvPr/>
        </p:nvSpPr>
        <p:spPr bwMode="auto">
          <a:xfrm>
            <a:off x="1" y="8687297"/>
            <a:ext cx="2972004" cy="456703"/>
          </a:xfrm>
          <a:prstGeom prst="rect">
            <a:avLst/>
          </a:prstGeom>
          <a:noFill/>
          <a:ln w="9525">
            <a:noFill/>
            <a:miter lim="800000"/>
            <a:headEnd/>
            <a:tailEnd/>
          </a:ln>
        </p:spPr>
        <p:txBody>
          <a:bodyPr lIns="19047" tIns="0" rIns="19047" bIns="0" anchor="b"/>
          <a:lstStyle/>
          <a:p>
            <a:pPr defTabSz="914450"/>
            <a:r>
              <a:rPr lang="en-US" sz="1000" i="1" dirty="0"/>
              <a:t>(c) 2006 National Academy for Software Development - http://academy.devbg.org*</a:t>
            </a:r>
            <a:endParaRPr lang="en-US" sz="1200" i="1" dirty="0"/>
          </a:p>
        </p:txBody>
      </p:sp>
      <p:sp>
        <p:nvSpPr>
          <p:cNvPr id="54279" name="Slide Number Placeholder 6"/>
          <p:cNvSpPr txBox="1">
            <a:spLocks noGrp="1"/>
          </p:cNvSpPr>
          <p:nvPr/>
        </p:nvSpPr>
        <p:spPr bwMode="auto">
          <a:xfrm>
            <a:off x="3885996" y="8687297"/>
            <a:ext cx="2972004" cy="456703"/>
          </a:xfrm>
          <a:prstGeom prst="rect">
            <a:avLst/>
          </a:prstGeom>
          <a:noFill/>
          <a:ln w="9525">
            <a:noFill/>
            <a:miter lim="800000"/>
            <a:headEnd/>
            <a:tailEnd/>
          </a:ln>
        </p:spPr>
        <p:txBody>
          <a:bodyPr lIns="19047" tIns="0" rIns="19047" bIns="0" anchor="b"/>
          <a:lstStyle/>
          <a:p>
            <a:pPr algn="r" defTabSz="914450"/>
            <a:fld id="{1CAF241F-65C9-4E85-866D-33A924D9866A}" type="slidenum">
              <a:rPr lang="en-US" sz="1000" i="1"/>
              <a:pPr algn="r" defTabSz="914450"/>
              <a:t>8</a:t>
            </a:fld>
            <a:r>
              <a:rPr lang="en-US" sz="1000" i="1" dirty="0"/>
              <a:t>##</a:t>
            </a:r>
            <a:endParaRPr lang="en-US" sz="1200" i="1" dirty="0"/>
          </a:p>
        </p:txBody>
      </p:sp>
      <p:sp>
        <p:nvSpPr>
          <p:cNvPr id="10" name="Footer Placeholder">
            <a:extLst>
              <a:ext uri="{FF2B5EF4-FFF2-40B4-BE49-F238E27FC236}">
                <a16:creationId xmlns:a16="http://schemas.microsoft.com/office/drawing/2014/main" id="{17A0B1D0-2FA4-4325-B2E4-5B7CAD8ED498}"/>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5650985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a:extLst>
              <a:ext uri="{FF2B5EF4-FFF2-40B4-BE49-F238E27FC236}">
                <a16:creationId xmlns:a16="http://schemas.microsoft.com/office/drawing/2014/main" id="{D04F7FD1-19CB-4127-B5B1-3FAE567B0A60}"/>
              </a:ext>
            </a:extLst>
          </p:cNvPr>
          <p:cNvSpPr>
            <a:spLocks noGrp="1"/>
          </p:cNvSpPr>
          <p:nvPr>
            <p:ph type="ftr" sz="quarter" idx="4"/>
          </p:nvPr>
        </p:nvSpPr>
        <p:spPr>
          <a:xfrm>
            <a:off x="-1" y="8747999"/>
            <a:ext cx="6308999" cy="394413"/>
          </a:xfrm>
          <a:prstGeom prst="rect">
            <a:avLst/>
          </a:prstGeom>
        </p:spPr>
        <p:txBody>
          <a:bodyPr vert="horz" lIns="91440" tIns="45720" rIns="91440" bIns="45720" rtlCol="0" anchor="b"/>
          <a:lstStyle>
            <a:lvl1pPr algn="l">
              <a:defRPr sz="1000"/>
            </a:lvl1pPr>
          </a:lstStyle>
          <a:p>
            <a:r>
              <a:rPr lang="en-US" dirty="0"/>
              <a:t>Created by the </a:t>
            </a:r>
            <a:r>
              <a:rPr lang="en-US" b="1" dirty="0"/>
              <a:t>Software University Foundation</a:t>
            </a:r>
            <a:r>
              <a:rPr lang="en-US" dirty="0"/>
              <a:t> – </a:t>
            </a:r>
            <a:r>
              <a:rPr lang="en-US" u="sng" dirty="0">
                <a:hlinkClick r:id="rId3"/>
              </a:rPr>
              <a:t>https://softuni.foundation</a:t>
            </a:r>
            <a:endParaRPr lang="en-US" dirty="0"/>
          </a:p>
          <a:p>
            <a:r>
              <a:rPr lang="en-US" dirty="0"/>
              <a:t>This work is licensed under the </a:t>
            </a:r>
            <a:r>
              <a:rPr lang="en-US" u="sng" noProof="1">
                <a:hlinkClick r:id="rId4"/>
              </a:rPr>
              <a:t>Creative Commons Attribution-NonCommercial-ShareAlike</a:t>
            </a:r>
            <a:r>
              <a:rPr lang="en-US" noProof="1"/>
              <a:t> </a:t>
            </a:r>
            <a:r>
              <a:rPr lang="en-US" dirty="0"/>
              <a:t>license.</a:t>
            </a:r>
          </a:p>
        </p:txBody>
      </p:sp>
    </p:spTree>
    <p:extLst>
      <p:ext uri="{BB962C8B-B14F-4D97-AF65-F5344CB8AC3E}">
        <p14:creationId xmlns:p14="http://schemas.microsoft.com/office/powerpoint/2010/main" val="5837368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F069AEA-C8BE-4DD6-B9AB-21EA40DF5D87}" type="datetimeFigureOut">
              <a:rPr lang="bg-BG" smtClean="0"/>
              <a:t>14.9.2022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2171436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069AEA-C8BE-4DD6-B9AB-21EA40DF5D87}" type="datetimeFigureOut">
              <a:rPr lang="bg-BG" smtClean="0"/>
              <a:t>14.9.2022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10344373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069AEA-C8BE-4DD6-B9AB-21EA40DF5D87}" type="datetimeFigureOut">
              <a:rPr lang="bg-BG" smtClean="0"/>
              <a:t>14.9.2022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1040543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F069AEA-C8BE-4DD6-B9AB-21EA40DF5D87}" type="datetimeFigureOut">
              <a:rPr lang="bg-BG" smtClean="0"/>
              <a:t>14.9.2022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2329758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F069AEA-C8BE-4DD6-B9AB-21EA40DF5D87}" type="datetimeFigureOut">
              <a:rPr lang="bg-BG" smtClean="0"/>
              <a:t>14.9.2022 г.</a:t>
            </a:fld>
            <a:endParaRPr lang="bg-BG"/>
          </a:p>
        </p:txBody>
      </p:sp>
      <p:sp>
        <p:nvSpPr>
          <p:cNvPr id="8" name="Footer Placeholder 7"/>
          <p:cNvSpPr>
            <a:spLocks noGrp="1"/>
          </p:cNvSpPr>
          <p:nvPr>
            <p:ph type="ftr" sz="quarter" idx="11"/>
          </p:nvPr>
        </p:nvSpPr>
        <p:spPr/>
        <p:txBody>
          <a:bodyPr/>
          <a:lstStyle/>
          <a:p>
            <a:endParaRPr lang="bg-BG"/>
          </a:p>
        </p:txBody>
      </p:sp>
      <p:sp>
        <p:nvSpPr>
          <p:cNvPr id="9" name="Slide Number Placeholder 8"/>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961148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F069AEA-C8BE-4DD6-B9AB-21EA40DF5D87}" type="datetimeFigureOut">
              <a:rPr lang="bg-BG" smtClean="0"/>
              <a:t>14.9.2022 г.</a:t>
            </a:fld>
            <a:endParaRPr lang="bg-BG"/>
          </a:p>
        </p:txBody>
      </p:sp>
      <p:sp>
        <p:nvSpPr>
          <p:cNvPr id="4" name="Footer Placeholder 3"/>
          <p:cNvSpPr>
            <a:spLocks noGrp="1"/>
          </p:cNvSpPr>
          <p:nvPr>
            <p:ph type="ftr" sz="quarter" idx="11"/>
          </p:nvPr>
        </p:nvSpPr>
        <p:spPr/>
        <p:txBody>
          <a:bodyPr/>
          <a:lstStyle/>
          <a:p>
            <a:endParaRPr lang="bg-BG"/>
          </a:p>
        </p:txBody>
      </p:sp>
      <p:sp>
        <p:nvSpPr>
          <p:cNvPr id="5" name="Slide Number Placeholder 4"/>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2986021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069AEA-C8BE-4DD6-B9AB-21EA40DF5D87}" type="datetimeFigureOut">
              <a:rPr lang="bg-BG" smtClean="0"/>
              <a:t>14.9.2022 г.</a:t>
            </a:fld>
            <a:endParaRPr lang="bg-BG"/>
          </a:p>
        </p:txBody>
      </p:sp>
      <p:sp>
        <p:nvSpPr>
          <p:cNvPr id="3" name="Footer Placeholder 2"/>
          <p:cNvSpPr>
            <a:spLocks noGrp="1"/>
          </p:cNvSpPr>
          <p:nvPr>
            <p:ph type="ftr" sz="quarter" idx="11"/>
          </p:nvPr>
        </p:nvSpPr>
        <p:spPr/>
        <p:txBody>
          <a:bodyPr/>
          <a:lstStyle/>
          <a:p>
            <a:endParaRPr lang="bg-BG"/>
          </a:p>
        </p:txBody>
      </p:sp>
      <p:sp>
        <p:nvSpPr>
          <p:cNvPr id="4" name="Slide Number Placeholder 3"/>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3263839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069AEA-C8BE-4DD6-B9AB-21EA40DF5D87}" type="datetimeFigureOut">
              <a:rPr lang="bg-BG" smtClean="0"/>
              <a:t>14.9.2022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2223708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F069AEA-C8BE-4DD6-B9AB-21EA40DF5D87}" type="datetimeFigureOut">
              <a:rPr lang="bg-BG" smtClean="0"/>
              <a:t>14.9.2022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697053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069AEA-C8BE-4DD6-B9AB-21EA40DF5D87}" type="datetimeFigureOut">
              <a:rPr lang="bg-BG" smtClean="0"/>
              <a:t>14.9.2022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3528007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F069AEA-C8BE-4DD6-B9AB-21EA40DF5D87}" type="datetimeFigureOut">
              <a:rPr lang="bg-BG" smtClean="0"/>
              <a:t>14.9.2022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75B18CDA-8465-4F94-AC0C-B721D911091F}" type="slidenum">
              <a:rPr lang="bg-BG" smtClean="0"/>
              <a:t>‹#›</a:t>
            </a:fld>
            <a:endParaRPr lang="bg-BG"/>
          </a:p>
        </p:txBody>
      </p:sp>
    </p:spTree>
    <p:extLst>
      <p:ext uri="{BB962C8B-B14F-4D97-AF65-F5344CB8AC3E}">
        <p14:creationId xmlns:p14="http://schemas.microsoft.com/office/powerpoint/2010/main" val="2269803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069AEA-C8BE-4DD6-B9AB-21EA40DF5D87}" type="datetimeFigureOut">
              <a:rPr lang="bg-BG" smtClean="0"/>
              <a:t>14.9.2022 г.</a:t>
            </a:fld>
            <a:endParaRPr lang="bg-BG"/>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bg-BG"/>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B18CDA-8465-4F94-AC0C-B721D911091F}" type="slidenum">
              <a:rPr lang="bg-BG" smtClean="0"/>
              <a:t>‹#›</a:t>
            </a:fld>
            <a:endParaRPr lang="bg-BG"/>
          </a:p>
        </p:txBody>
      </p:sp>
    </p:spTree>
    <p:extLst>
      <p:ext uri="{BB962C8B-B14F-4D97-AF65-F5344CB8AC3E}">
        <p14:creationId xmlns:p14="http://schemas.microsoft.com/office/powerpoint/2010/main" val="205254280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www.mon.bg/"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s://creativecommons.org/licenses/by-nc-sa/4.0" TargetMode="External"/><Relationship Id="rId4" Type="http://schemas.openxmlformats.org/officeDocument/2006/relationships/hyperlink" Target="https://www.mon.b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A11B2B-6DC7-2642-A5E2-7E3177B71883}"/>
              </a:ext>
            </a:extLst>
          </p:cNvPr>
          <p:cNvSpPr>
            <a:spLocks noGrp="1"/>
          </p:cNvSpPr>
          <p:nvPr>
            <p:ph type="ctrTitle"/>
          </p:nvPr>
        </p:nvSpPr>
        <p:spPr>
          <a:xfrm>
            <a:off x="1524000" y="1924336"/>
            <a:ext cx="9144000" cy="2387600"/>
          </a:xfrm>
        </p:spPr>
        <p:txBody>
          <a:bodyPr>
            <a:normAutofit/>
          </a:bodyPr>
          <a:lstStyle/>
          <a:p>
            <a:r>
              <a:rPr lang="bg-BG" dirty="0">
                <a:latin typeface="Comfortaa" pitchFamily="2" charset="0"/>
              </a:rPr>
              <a:t>Полиморфизъм чрез интерфейси</a:t>
            </a:r>
          </a:p>
        </p:txBody>
      </p:sp>
      <p:sp>
        <p:nvSpPr>
          <p:cNvPr id="5" name="Subtitle 4">
            <a:extLst>
              <a:ext uri="{FF2B5EF4-FFF2-40B4-BE49-F238E27FC236}">
                <a16:creationId xmlns:a16="http://schemas.microsoft.com/office/drawing/2014/main" id="{FD72CEAD-2598-2D6F-7FF9-AF95330D8A09}"/>
              </a:ext>
            </a:extLst>
          </p:cNvPr>
          <p:cNvSpPr>
            <a:spLocks noGrp="1"/>
          </p:cNvSpPr>
          <p:nvPr>
            <p:ph type="subTitle" idx="1"/>
          </p:nvPr>
        </p:nvSpPr>
        <p:spPr>
          <a:xfrm>
            <a:off x="1524000" y="4404011"/>
            <a:ext cx="9144000" cy="1655762"/>
          </a:xfrm>
        </p:spPr>
        <p:txBody>
          <a:bodyPr/>
          <a:lstStyle/>
          <a:p>
            <a:r>
              <a:rPr lang="en-US" dirty="0">
                <a:latin typeface="Comfortaa" pitchFamily="2" charset="0"/>
              </a:rPr>
              <a:t>Interfaces</a:t>
            </a:r>
            <a:endParaRPr lang="bg-BG" dirty="0">
              <a:latin typeface="Comfortaa" pitchFamily="2" charset="0"/>
            </a:endParaRPr>
          </a:p>
        </p:txBody>
      </p:sp>
      <p:pic>
        <p:nvPicPr>
          <p:cNvPr id="6" name="Picture 3" descr="Icon&#10;&#10;Description automatically generated with medium confidence">
            <a:extLst>
              <a:ext uri="{FF2B5EF4-FFF2-40B4-BE49-F238E27FC236}">
                <a16:creationId xmlns:a16="http://schemas.microsoft.com/office/drawing/2014/main" id="{09547CF4-B25A-F864-DA65-5C7F1F83C4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352" y="83713"/>
            <a:ext cx="1575455" cy="1575458"/>
          </a:xfrm>
          <a:prstGeom prst="rect">
            <a:avLst/>
          </a:prstGeom>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A303128A-0EF3-84BD-F9ED-2E6316CD08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04792" y="83713"/>
            <a:ext cx="1699472" cy="141469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4EB993A-D432-5177-9922-4D00100F74D8}"/>
              </a:ext>
            </a:extLst>
          </p:cNvPr>
          <p:cNvSpPr txBox="1"/>
          <p:nvPr/>
        </p:nvSpPr>
        <p:spPr>
          <a:xfrm>
            <a:off x="1734047" y="365284"/>
            <a:ext cx="4729447" cy="923330"/>
          </a:xfrm>
          <a:prstGeom prst="rect">
            <a:avLst/>
          </a:prstGeom>
          <a:noFill/>
        </p:spPr>
        <p:txBody>
          <a:bodyPr wrap="square">
            <a:spAutoFit/>
          </a:bodyPr>
          <a:lstStyle/>
          <a:p>
            <a:pPr marL="0" marR="0">
              <a:spcBef>
                <a:spcPts val="0"/>
              </a:spcBef>
              <a:spcAft>
                <a:spcPts val="0"/>
              </a:spcAft>
            </a:pPr>
            <a:r>
              <a:rPr lang="bg-BG" dirty="0">
                <a:solidFill>
                  <a:schemeClr val="tx1"/>
                </a:solidFill>
                <a:effectLst/>
                <a:latin typeface="Comfortaa" pitchFamily="2" charset="0"/>
                <a:ea typeface="Times New Roman" panose="02020603050405020304" pitchFamily="18" charset="0"/>
                <a:cs typeface="Calibri" panose="020F0502020204030204" pitchFamily="34" charset="0"/>
              </a:rPr>
              <a:t>Национална програма </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a:p>
            <a:pPr marL="0" marR="0">
              <a:spcBef>
                <a:spcPts val="0"/>
              </a:spcBef>
              <a:spcAft>
                <a:spcPts val="0"/>
              </a:spcAft>
            </a:pPr>
            <a:r>
              <a:rPr lang="en-US" dirty="0">
                <a:solidFill>
                  <a:schemeClr val="tx1"/>
                </a:solidFill>
                <a:effectLst/>
                <a:latin typeface="Comfortaa" pitchFamily="2" charset="0"/>
                <a:ea typeface="Times New Roman" panose="02020603050405020304" pitchFamily="18" charset="0"/>
                <a:cs typeface="Calibri" panose="020F0502020204030204" pitchFamily="34" charset="0"/>
              </a:rPr>
              <a:t>"</a:t>
            </a:r>
            <a:r>
              <a:rPr lang="bg-BG" dirty="0">
                <a:solidFill>
                  <a:schemeClr val="tx1"/>
                </a:solidFill>
                <a:effectLst/>
                <a:latin typeface="Comfortaa" pitchFamily="2" charset="0"/>
                <a:ea typeface="Times New Roman" panose="02020603050405020304" pitchFamily="18" charset="0"/>
                <a:cs typeface="Calibri" panose="020F0502020204030204" pitchFamily="34" charset="0"/>
              </a:rPr>
              <a:t>Обучение за ИТ умения и кариера</a:t>
            </a:r>
            <a:r>
              <a:rPr lang="en-US" dirty="0">
                <a:solidFill>
                  <a:schemeClr val="tx1"/>
                </a:solidFill>
                <a:effectLst/>
                <a:latin typeface="Comfortaa" pitchFamily="2" charset="0"/>
                <a:ea typeface="Times New Roman" panose="02020603050405020304" pitchFamily="18" charset="0"/>
                <a:cs typeface="Calibri" panose="020F0502020204030204" pitchFamily="34" charset="0"/>
              </a:rPr>
              <a:t>"</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a:p>
            <a:pPr marL="0" marR="0">
              <a:spcBef>
                <a:spcPts val="0"/>
              </a:spcBef>
              <a:spcAft>
                <a:spcPts val="0"/>
              </a:spcAft>
              <a:tabLst>
                <a:tab pos="2865755" algn="ctr"/>
                <a:tab pos="5731510" algn="r"/>
              </a:tabLst>
            </a:pPr>
            <a:r>
              <a:rPr lang="bg-BG" u="sng" dirty="0">
                <a:latin typeface="Comfortaa" pitchFamily="2" charset="0"/>
                <a:ea typeface="Times New Roman" panose="02020603050405020304" pitchFamily="18" charset="0"/>
                <a:cs typeface="Calibri" panose="020F0502020204030204" pitchFamily="34" charset="0"/>
              </a:rPr>
              <a:t>https://it-kariera.mon.bg</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p:txBody>
      </p:sp>
      <p:sp>
        <p:nvSpPr>
          <p:cNvPr id="9" name="TextBox 8">
            <a:extLst>
              <a:ext uri="{FF2B5EF4-FFF2-40B4-BE49-F238E27FC236}">
                <a16:creationId xmlns:a16="http://schemas.microsoft.com/office/drawing/2014/main" id="{B522BFFF-21D1-37C4-D08A-94EDDBB11DD9}"/>
              </a:ext>
            </a:extLst>
          </p:cNvPr>
          <p:cNvSpPr txBox="1"/>
          <p:nvPr/>
        </p:nvSpPr>
        <p:spPr>
          <a:xfrm>
            <a:off x="6373448" y="365284"/>
            <a:ext cx="4017104" cy="923330"/>
          </a:xfrm>
          <a:prstGeom prst="rect">
            <a:avLst/>
          </a:prstGeom>
          <a:noFill/>
        </p:spPr>
        <p:txBody>
          <a:bodyPr wrap="square">
            <a:spAutoFit/>
          </a:bodyPr>
          <a:lstStyle/>
          <a:p>
            <a:pPr marL="0" marR="0" algn="r">
              <a:spcBef>
                <a:spcPts val="0"/>
              </a:spcBef>
              <a:spcAft>
                <a:spcPts val="0"/>
              </a:spcAft>
            </a:pPr>
            <a:r>
              <a:rPr lang="bg-BG" dirty="0">
                <a:solidFill>
                  <a:schemeClr val="tx1"/>
                </a:solidFill>
                <a:effectLst/>
                <a:latin typeface="Comfortaa" pitchFamily="2" charset="0"/>
                <a:ea typeface="Times New Roman" panose="02020603050405020304" pitchFamily="18" charset="0"/>
                <a:cs typeface="Calibri" panose="020F0502020204030204" pitchFamily="34" charset="0"/>
              </a:rPr>
              <a:t>Министерството на образованието и науката</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a:p>
            <a:pPr marL="0" marR="0" algn="r">
              <a:spcBef>
                <a:spcPts val="0"/>
              </a:spcBef>
              <a:spcAft>
                <a:spcPts val="0"/>
              </a:spcAft>
              <a:tabLst>
                <a:tab pos="2865755" algn="ctr"/>
                <a:tab pos="5731510" algn="r"/>
              </a:tabLst>
            </a:pPr>
            <a:r>
              <a:rPr lang="en-US" u="sng" dirty="0">
                <a:solidFill>
                  <a:schemeClr val="tx1"/>
                </a:solidFill>
                <a:effectLst/>
                <a:latin typeface="Comfortaa" pitchFamily="2" charset="0"/>
                <a:ea typeface="Times New Roman" panose="02020603050405020304" pitchFamily="18" charset="0"/>
                <a:cs typeface="Calibri" panose="020F0502020204030204" pitchFamily="34" charset="0"/>
                <a:hlinkClick r:id="rId4">
                  <a:extLst>
                    <a:ext uri="{A12FA001-AC4F-418D-AE19-62706E023703}">
                      <ahyp:hlinkClr xmlns:ahyp="http://schemas.microsoft.com/office/drawing/2018/hyperlinkcolor" val="tx"/>
                    </a:ext>
                  </a:extLst>
                </a:hlinkClick>
              </a:rPr>
              <a:t>https://www</a:t>
            </a:r>
            <a:r>
              <a:rPr lang="bg-BG" u="sng" dirty="0">
                <a:solidFill>
                  <a:schemeClr val="tx1"/>
                </a:solidFill>
                <a:effectLst/>
                <a:latin typeface="Comfortaa" pitchFamily="2" charset="0"/>
                <a:ea typeface="Times New Roman" panose="02020603050405020304" pitchFamily="18" charset="0"/>
                <a:cs typeface="Calibri" panose="020F0502020204030204" pitchFamily="34" charset="0"/>
              </a:rPr>
              <a:t>.</a:t>
            </a:r>
            <a:r>
              <a:rPr lang="en-US" u="sng" dirty="0">
                <a:solidFill>
                  <a:schemeClr val="tx1"/>
                </a:solidFill>
                <a:effectLst/>
                <a:latin typeface="Comfortaa" pitchFamily="2" charset="0"/>
                <a:ea typeface="Times New Roman" panose="02020603050405020304" pitchFamily="18" charset="0"/>
                <a:cs typeface="Calibri" panose="020F0502020204030204" pitchFamily="34" charset="0"/>
              </a:rPr>
              <a:t>mon.bg</a:t>
            </a:r>
            <a:endParaRPr lang="bg-BG" dirty="0">
              <a:latin typeface="Comfortaa" pitchFamily="2" charset="0"/>
            </a:endParaRPr>
          </a:p>
        </p:txBody>
      </p:sp>
    </p:spTree>
    <p:extLst>
      <p:ext uri="{BB962C8B-B14F-4D97-AF65-F5344CB8AC3E}">
        <p14:creationId xmlns:p14="http://schemas.microsoft.com/office/powerpoint/2010/main" val="23869597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3923" name="Rectangle 3"/>
          <p:cNvSpPr>
            <a:spLocks noGrp="1" noChangeArrowheads="1"/>
          </p:cNvSpPr>
          <p:nvPr>
            <p:ph idx="1"/>
          </p:nvPr>
        </p:nvSpPr>
        <p:spPr/>
        <p:txBody>
          <a:bodyPr>
            <a:normAutofit fontScale="92500"/>
          </a:bodyPr>
          <a:lstStyle/>
          <a:p>
            <a:pPr marL="0" indent="0">
              <a:lnSpc>
                <a:spcPct val="110000"/>
              </a:lnSpc>
              <a:buNone/>
            </a:pPr>
            <a:r>
              <a:rPr lang="bg-BG" dirty="0">
                <a:latin typeface="Comfortaa" pitchFamily="2" charset="0"/>
              </a:rPr>
              <a:t>Създайте интерфейс </a:t>
            </a:r>
            <a:r>
              <a:rPr lang="en-US" b="1" dirty="0" err="1">
                <a:solidFill>
                  <a:srgbClr val="00B0F0"/>
                </a:solidFill>
                <a:latin typeface="Comfortaa" pitchFamily="2" charset="0"/>
              </a:rPr>
              <a:t>IMachine</a:t>
            </a:r>
            <a:r>
              <a:rPr lang="en-US" dirty="0">
                <a:latin typeface="Comfortaa" pitchFamily="2" charset="0"/>
              </a:rPr>
              <a:t>,</a:t>
            </a:r>
            <a:r>
              <a:rPr lang="bg-BG" dirty="0">
                <a:latin typeface="Comfortaa" pitchFamily="2" charset="0"/>
              </a:rPr>
              <a:t> за машина, която трябва да има функционалност за пускане и спиране</a:t>
            </a:r>
            <a:r>
              <a:rPr lang="en-US" dirty="0">
                <a:latin typeface="Comfortaa" pitchFamily="2" charset="0"/>
              </a:rPr>
              <a:t>, </a:t>
            </a:r>
            <a:r>
              <a:rPr lang="bg-BG" dirty="0">
                <a:latin typeface="Comfortaa" pitchFamily="2" charset="0"/>
              </a:rPr>
              <a:t>добавете и свойство за вида на машината</a:t>
            </a:r>
            <a:r>
              <a:rPr lang="en-US" dirty="0">
                <a:latin typeface="Comfortaa" pitchFamily="2" charset="0"/>
              </a:rPr>
              <a:t>. </a:t>
            </a:r>
            <a:r>
              <a:rPr lang="bg-BG" dirty="0">
                <a:latin typeface="Comfortaa" pitchFamily="2" charset="0"/>
              </a:rPr>
              <a:t>Създайте класове </a:t>
            </a:r>
            <a:r>
              <a:rPr lang="en-US" b="1" dirty="0">
                <a:solidFill>
                  <a:srgbClr val="00B0F0"/>
                </a:solidFill>
                <a:latin typeface="Comfortaa" pitchFamily="2" charset="0"/>
              </a:rPr>
              <a:t>Car</a:t>
            </a:r>
            <a:r>
              <a:rPr lang="en-US" dirty="0">
                <a:latin typeface="Comfortaa" pitchFamily="2" charset="0"/>
              </a:rPr>
              <a:t>, </a:t>
            </a:r>
            <a:r>
              <a:rPr lang="en-US" b="1" dirty="0" err="1">
                <a:solidFill>
                  <a:srgbClr val="00B0F0"/>
                </a:solidFill>
                <a:latin typeface="Comfortaa" pitchFamily="2" charset="0"/>
              </a:rPr>
              <a:t>LawnMower</a:t>
            </a:r>
            <a:r>
              <a:rPr lang="en-US" dirty="0">
                <a:latin typeface="Comfortaa" pitchFamily="2" charset="0"/>
              </a:rPr>
              <a:t>, </a:t>
            </a:r>
            <a:r>
              <a:rPr lang="en-US" b="1" dirty="0">
                <a:solidFill>
                  <a:srgbClr val="00B0F0"/>
                </a:solidFill>
                <a:latin typeface="Comfortaa" pitchFamily="2" charset="0"/>
              </a:rPr>
              <a:t>Truck</a:t>
            </a:r>
            <a:r>
              <a:rPr lang="en-US" dirty="0">
                <a:latin typeface="Comfortaa" pitchFamily="2" charset="0"/>
              </a:rPr>
              <a:t>, </a:t>
            </a:r>
            <a:r>
              <a:rPr lang="en-US" b="1" dirty="0">
                <a:solidFill>
                  <a:srgbClr val="00B0F0"/>
                </a:solidFill>
                <a:latin typeface="Comfortaa" pitchFamily="2" charset="0"/>
              </a:rPr>
              <a:t>Airplane</a:t>
            </a:r>
            <a:r>
              <a:rPr lang="bg-BG" dirty="0">
                <a:latin typeface="Comfortaa" pitchFamily="2" charset="0"/>
              </a:rPr>
              <a:t>, които да имплементират интерфейса. Всеки от класовете трябва да има и конструктор, който задава вида на машината. Създайте клас </a:t>
            </a:r>
            <a:r>
              <a:rPr lang="en-US" b="1" dirty="0" err="1">
                <a:solidFill>
                  <a:srgbClr val="00B0F0"/>
                </a:solidFill>
                <a:latin typeface="Comfortaa" pitchFamily="2" charset="0"/>
              </a:rPr>
              <a:t>MachineOperator</a:t>
            </a:r>
            <a:r>
              <a:rPr lang="bg-BG" dirty="0">
                <a:latin typeface="Comfortaa" pitchFamily="2" charset="0"/>
              </a:rPr>
              <a:t>, чиято цел е да пуска и спира машина, която му се подава чрез конструктора</a:t>
            </a:r>
            <a:endParaRPr lang="en-US" dirty="0">
              <a:solidFill>
                <a:schemeClr val="tx2">
                  <a:lumMod val="75000"/>
                </a:schemeClr>
              </a:solidFill>
              <a:latin typeface="Comfortaa" pitchFamily="2" charset="0"/>
            </a:endParaRPr>
          </a:p>
        </p:txBody>
      </p:sp>
      <p:sp>
        <p:nvSpPr>
          <p:cNvPr id="1233922" name="Rectangle 2"/>
          <p:cNvSpPr>
            <a:spLocks noGrp="1" noChangeArrowheads="1"/>
          </p:cNvSpPr>
          <p:nvPr>
            <p:ph type="title"/>
          </p:nvPr>
        </p:nvSpPr>
        <p:spPr/>
        <p:txBody>
          <a:bodyPr/>
          <a:lstStyle/>
          <a:p>
            <a:r>
              <a:rPr lang="bg-BG" dirty="0">
                <a:latin typeface="Comfortaa" pitchFamily="2" charset="0"/>
              </a:rPr>
              <a:t>Задача: Машина</a:t>
            </a:r>
          </a:p>
        </p:txBody>
      </p:sp>
    </p:spTree>
    <p:extLst>
      <p:ext uri="{BB962C8B-B14F-4D97-AF65-F5344CB8AC3E}">
        <p14:creationId xmlns:p14="http://schemas.microsoft.com/office/powerpoint/2010/main" val="1809093797"/>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a:spLocks noGrp="1"/>
          </p:cNvSpPr>
          <p:nvPr>
            <p:ph idx="1"/>
          </p:nvPr>
        </p:nvSpPr>
        <p:spPr>
          <a:xfrm>
            <a:off x="685799" y="1442160"/>
            <a:ext cx="10554196" cy="982972"/>
          </a:xfrm>
          <a:prstGeom prst="rect">
            <a:avLst/>
          </a:prstGeom>
        </p:spPr>
        <p:txBody>
          <a:bodyPr>
            <a:normAutofit/>
          </a:bodyPr>
          <a:lstStyle/>
          <a:p>
            <a:pPr marL="0" indent="0">
              <a:buNone/>
            </a:pPr>
            <a:r>
              <a:rPr lang="bg-BG" noProof="1">
                <a:latin typeface="Comfortaa" pitchFamily="2" charset="0"/>
              </a:rPr>
              <a:t>Нека да създадем </a:t>
            </a:r>
            <a:r>
              <a:rPr lang="bg-BG" b="1" noProof="1">
                <a:solidFill>
                  <a:srgbClr val="00B0F0"/>
                </a:solidFill>
                <a:latin typeface="Comfortaa" pitchFamily="2" charset="0"/>
              </a:rPr>
              <a:t>интерфейса</a:t>
            </a:r>
            <a:r>
              <a:rPr lang="bg-BG" noProof="1">
                <a:latin typeface="Comfortaa" pitchFamily="2" charset="0"/>
              </a:rPr>
              <a:t> за машина и да заложим методите за пускане и спиране</a:t>
            </a:r>
            <a:endParaRPr lang="en-US" noProof="1">
              <a:latin typeface="Comfortaa" pitchFamily="2" charset="0"/>
            </a:endParaRPr>
          </a:p>
        </p:txBody>
      </p:sp>
      <p:sp>
        <p:nvSpPr>
          <p:cNvPr id="2" name="Title 1"/>
          <p:cNvSpPr>
            <a:spLocks noGrp="1"/>
          </p:cNvSpPr>
          <p:nvPr>
            <p:ph type="title"/>
          </p:nvPr>
        </p:nvSpPr>
        <p:spPr>
          <a:xfrm>
            <a:off x="685799" y="334497"/>
            <a:ext cx="10767951" cy="982972"/>
          </a:xfrm>
          <a:prstGeom prst="rect">
            <a:avLst/>
          </a:prstGeom>
        </p:spPr>
        <p:txBody>
          <a:bodyPr anchor="ctr" anchorCtr="0"/>
          <a:lstStyle/>
          <a:p>
            <a:pPr>
              <a:lnSpc>
                <a:spcPts val="4000"/>
              </a:lnSpc>
              <a:defRPr/>
            </a:pPr>
            <a:r>
              <a:rPr lang="bg-BG" dirty="0">
                <a:latin typeface="Comfortaa" pitchFamily="2" charset="0"/>
              </a:rPr>
              <a:t>Решение: Машина </a:t>
            </a:r>
            <a:r>
              <a:rPr lang="en-US" dirty="0">
                <a:latin typeface="Comfortaa" pitchFamily="2" charset="0"/>
              </a:rPr>
              <a:t>[1/6]</a:t>
            </a:r>
            <a:endParaRPr lang="bg-BG" sz="4000" dirty="0">
              <a:latin typeface="Comfortaa" pitchFamily="2" charset="0"/>
            </a:endParaRPr>
          </a:p>
        </p:txBody>
      </p:sp>
      <p:sp>
        <p:nvSpPr>
          <p:cNvPr id="7" name="Text Placeholder 5"/>
          <p:cNvSpPr txBox="1">
            <a:spLocks/>
          </p:cNvSpPr>
          <p:nvPr/>
        </p:nvSpPr>
        <p:spPr>
          <a:xfrm>
            <a:off x="685799" y="2728361"/>
            <a:ext cx="10693778" cy="3100061"/>
          </a:xfrm>
          <a:prstGeom prst="rect">
            <a:avLst/>
          </a:prstGeom>
          <a:ln/>
        </p:spPr>
        <p:style>
          <a:lnRef idx="2">
            <a:schemeClr val="dk1">
              <a:shade val="50000"/>
            </a:schemeClr>
          </a:lnRef>
          <a:fillRef idx="1">
            <a:schemeClr val="dk1"/>
          </a:fillRef>
          <a:effectRef idx="0">
            <a:schemeClr val="dk1"/>
          </a:effectRef>
          <a:fontRef idx="minor">
            <a:schemeClr val="lt1"/>
          </a:fontRef>
        </p:style>
        <p:txBody>
          <a:bodyPr vert="horz" wrap="square" lIns="144000" tIns="72000" rIns="144000" bIns="72000"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r>
              <a:rPr lang="en-US" sz="3200" dirty="0">
                <a:solidFill>
                  <a:srgbClr val="00B0F0"/>
                </a:solidFill>
                <a:effectLst/>
              </a:rPr>
              <a:t>interface</a:t>
            </a:r>
            <a:r>
              <a:rPr lang="en-US" sz="3200" dirty="0">
                <a:solidFill>
                  <a:schemeClr val="bg1"/>
                </a:solidFill>
                <a:effectLst/>
              </a:rPr>
              <a:t> </a:t>
            </a:r>
            <a:r>
              <a:rPr lang="en-US" sz="3200" dirty="0" err="1">
                <a:solidFill>
                  <a:schemeClr val="bg1"/>
                </a:solidFill>
                <a:effectLst/>
              </a:rPr>
              <a:t>IMachine</a:t>
            </a:r>
            <a:endParaRPr lang="en-US" sz="3200" dirty="0">
              <a:solidFill>
                <a:schemeClr val="bg1"/>
              </a:solidFill>
              <a:effectLst/>
            </a:endParaRPr>
          </a:p>
          <a:p>
            <a:r>
              <a:rPr lang="en-US" sz="3200" dirty="0">
                <a:solidFill>
                  <a:schemeClr val="bg1"/>
                </a:solidFill>
                <a:effectLst/>
              </a:rPr>
              <a:t>{</a:t>
            </a:r>
            <a:endParaRPr lang="bg-BG" sz="3200" dirty="0">
              <a:solidFill>
                <a:schemeClr val="bg1"/>
              </a:solidFill>
              <a:effectLst/>
            </a:endParaRPr>
          </a:p>
          <a:p>
            <a:r>
              <a:rPr lang="bg-BG" sz="3200" dirty="0">
                <a:solidFill>
                  <a:schemeClr val="bg1"/>
                </a:solidFill>
                <a:effectLst/>
              </a:rPr>
              <a:t>  </a:t>
            </a:r>
            <a:r>
              <a:rPr lang="en-US" sz="3200" dirty="0">
                <a:solidFill>
                  <a:schemeClr val="bg1"/>
                </a:solidFill>
                <a:effectLst/>
              </a:rPr>
              <a:t>string </a:t>
            </a:r>
            <a:r>
              <a:rPr lang="en-US" sz="3200" dirty="0" err="1">
                <a:solidFill>
                  <a:schemeClr val="bg1"/>
                </a:solidFill>
                <a:effectLst/>
              </a:rPr>
              <a:t>MachineType</a:t>
            </a:r>
            <a:r>
              <a:rPr lang="en-US" sz="3200" dirty="0">
                <a:solidFill>
                  <a:schemeClr val="bg1"/>
                </a:solidFill>
                <a:effectLst/>
              </a:rPr>
              <a:t> { get; set; }</a:t>
            </a:r>
          </a:p>
          <a:p>
            <a:r>
              <a:rPr lang="bg-BG" sz="3200" dirty="0">
                <a:solidFill>
                  <a:schemeClr val="bg1"/>
                </a:solidFill>
                <a:effectLst/>
              </a:rPr>
              <a:t>  </a:t>
            </a:r>
            <a:r>
              <a:rPr lang="en-US" sz="3200" dirty="0" err="1">
                <a:solidFill>
                  <a:schemeClr val="bg1"/>
                </a:solidFill>
                <a:effectLst/>
              </a:rPr>
              <a:t>bool</a:t>
            </a:r>
            <a:r>
              <a:rPr lang="en-US" sz="3200" dirty="0">
                <a:solidFill>
                  <a:schemeClr val="bg1"/>
                </a:solidFill>
                <a:effectLst/>
              </a:rPr>
              <a:t> Start();</a:t>
            </a:r>
          </a:p>
          <a:p>
            <a:r>
              <a:rPr lang="bg-BG" sz="3200" dirty="0">
                <a:solidFill>
                  <a:schemeClr val="bg1"/>
                </a:solidFill>
                <a:effectLst/>
              </a:rPr>
              <a:t>  </a:t>
            </a:r>
            <a:r>
              <a:rPr lang="en-US" sz="3200" dirty="0" err="1">
                <a:solidFill>
                  <a:schemeClr val="bg1"/>
                </a:solidFill>
                <a:effectLst/>
              </a:rPr>
              <a:t>bool</a:t>
            </a:r>
            <a:r>
              <a:rPr lang="en-US" sz="3200" dirty="0">
                <a:solidFill>
                  <a:schemeClr val="bg1"/>
                </a:solidFill>
                <a:effectLst/>
              </a:rPr>
              <a:t> Stop();</a:t>
            </a:r>
          </a:p>
          <a:p>
            <a:r>
              <a:rPr lang="en-US" sz="3200" dirty="0">
                <a:solidFill>
                  <a:schemeClr val="bg1"/>
                </a:solidFill>
                <a:effectLst/>
              </a:rPr>
              <a:t>}</a:t>
            </a:r>
          </a:p>
        </p:txBody>
      </p:sp>
    </p:spTree>
    <p:extLst>
      <p:ext uri="{BB962C8B-B14F-4D97-AF65-F5344CB8AC3E}">
        <p14:creationId xmlns:p14="http://schemas.microsoft.com/office/powerpoint/2010/main" val="207053275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a:spLocks noGrp="1"/>
          </p:cNvSpPr>
          <p:nvPr>
            <p:ph idx="1"/>
          </p:nvPr>
        </p:nvSpPr>
        <p:spPr>
          <a:xfrm>
            <a:off x="738250" y="1167034"/>
            <a:ext cx="10472041" cy="585567"/>
          </a:xfrm>
          <a:prstGeom prst="rect">
            <a:avLst/>
          </a:prstGeom>
        </p:spPr>
        <p:txBody>
          <a:bodyPr>
            <a:normAutofit/>
          </a:bodyPr>
          <a:lstStyle/>
          <a:p>
            <a:pPr marL="0" indent="0">
              <a:buNone/>
            </a:pPr>
            <a:r>
              <a:rPr lang="bg-BG" sz="2400" noProof="1">
                <a:latin typeface="Comfortaa" pitchFamily="2" charset="0"/>
              </a:rPr>
              <a:t>Нека да създадем класа </a:t>
            </a:r>
            <a:r>
              <a:rPr lang="en-US" sz="2400" b="1" noProof="1">
                <a:solidFill>
                  <a:srgbClr val="00B0F0"/>
                </a:solidFill>
                <a:latin typeface="Comfortaa" pitchFamily="2" charset="0"/>
              </a:rPr>
              <a:t>Car</a:t>
            </a:r>
            <a:r>
              <a:rPr lang="en-US" sz="2400" noProof="1">
                <a:latin typeface="Comfortaa" pitchFamily="2" charset="0"/>
              </a:rPr>
              <a:t>, </a:t>
            </a:r>
            <a:r>
              <a:rPr lang="bg-BG" sz="2400" noProof="1">
                <a:latin typeface="Comfortaa" pitchFamily="2" charset="0"/>
              </a:rPr>
              <a:t>имплементиращ интерфейса</a:t>
            </a:r>
            <a:endParaRPr lang="en-US" sz="2400" noProof="1">
              <a:latin typeface="Comfortaa" pitchFamily="2" charset="0"/>
            </a:endParaRPr>
          </a:p>
        </p:txBody>
      </p:sp>
      <p:sp>
        <p:nvSpPr>
          <p:cNvPr id="7" name="Text Placeholder 5"/>
          <p:cNvSpPr txBox="1">
            <a:spLocks/>
          </p:cNvSpPr>
          <p:nvPr/>
        </p:nvSpPr>
        <p:spPr>
          <a:xfrm>
            <a:off x="853045" y="1735779"/>
            <a:ext cx="10472041" cy="4762055"/>
          </a:xfrm>
          <a:prstGeom prst="rect">
            <a:avLst/>
          </a:prstGeom>
          <a:ln/>
        </p:spPr>
        <p:style>
          <a:lnRef idx="2">
            <a:schemeClr val="dk1">
              <a:shade val="50000"/>
            </a:schemeClr>
          </a:lnRef>
          <a:fillRef idx="1">
            <a:schemeClr val="dk1"/>
          </a:fillRef>
          <a:effectRef idx="0">
            <a:schemeClr val="dk1"/>
          </a:effectRef>
          <a:fontRef idx="minor">
            <a:schemeClr val="lt1"/>
          </a:fontRef>
        </p:style>
        <p:txBody>
          <a:bodyPr vert="horz" wrap="square" lIns="144000" tIns="72000" rIns="144000" bIns="72000"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r>
              <a:rPr lang="en-US" sz="2500" dirty="0">
                <a:solidFill>
                  <a:schemeClr val="bg1"/>
                </a:solidFill>
                <a:effectLst/>
              </a:rPr>
              <a:t>public string </a:t>
            </a:r>
            <a:r>
              <a:rPr lang="en-US" sz="2500" dirty="0" err="1">
                <a:solidFill>
                  <a:schemeClr val="bg1"/>
                </a:solidFill>
                <a:effectLst/>
              </a:rPr>
              <a:t>MachineType</a:t>
            </a:r>
            <a:r>
              <a:rPr lang="en-US" sz="2500" dirty="0">
                <a:solidFill>
                  <a:schemeClr val="bg1"/>
                </a:solidFill>
                <a:effectLst/>
              </a:rPr>
              <a:t> { get; set; }</a:t>
            </a:r>
          </a:p>
          <a:p>
            <a:r>
              <a:rPr lang="en-US" sz="2500" dirty="0">
                <a:solidFill>
                  <a:schemeClr val="bg1"/>
                </a:solidFill>
                <a:effectLst/>
              </a:rPr>
              <a:t>public Car() {</a:t>
            </a:r>
          </a:p>
          <a:p>
            <a:r>
              <a:rPr lang="en-US" sz="2500" dirty="0">
                <a:solidFill>
                  <a:schemeClr val="bg1"/>
                </a:solidFill>
                <a:effectLst/>
              </a:rPr>
              <a:t>  </a:t>
            </a:r>
            <a:r>
              <a:rPr lang="en-US" sz="2500" dirty="0" err="1">
                <a:solidFill>
                  <a:schemeClr val="bg1"/>
                </a:solidFill>
                <a:effectLst/>
              </a:rPr>
              <a:t>this.MachineType</a:t>
            </a:r>
            <a:r>
              <a:rPr lang="en-US" sz="2500" dirty="0">
                <a:solidFill>
                  <a:schemeClr val="bg1"/>
                </a:solidFill>
                <a:effectLst/>
              </a:rPr>
              <a:t> = "Car";</a:t>
            </a:r>
          </a:p>
          <a:p>
            <a:r>
              <a:rPr lang="en-US" sz="2500" dirty="0">
                <a:solidFill>
                  <a:schemeClr val="bg1"/>
                </a:solidFill>
                <a:effectLst/>
              </a:rPr>
              <a:t>}</a:t>
            </a:r>
          </a:p>
          <a:p>
            <a:r>
              <a:rPr lang="en-US" sz="2500" dirty="0">
                <a:solidFill>
                  <a:schemeClr val="bg1"/>
                </a:solidFill>
                <a:effectLst/>
              </a:rPr>
              <a:t>public </a:t>
            </a:r>
            <a:r>
              <a:rPr lang="en-US" sz="2500" dirty="0" err="1">
                <a:solidFill>
                  <a:schemeClr val="bg1"/>
                </a:solidFill>
                <a:effectLst/>
              </a:rPr>
              <a:t>bool</a:t>
            </a:r>
            <a:r>
              <a:rPr lang="en-US" sz="2500" dirty="0">
                <a:solidFill>
                  <a:schemeClr val="bg1"/>
                </a:solidFill>
                <a:effectLst/>
              </a:rPr>
              <a:t> Start() {</a:t>
            </a:r>
          </a:p>
          <a:p>
            <a:r>
              <a:rPr lang="en-US" sz="2500" dirty="0">
                <a:solidFill>
                  <a:schemeClr val="bg1"/>
                </a:solidFill>
                <a:effectLst/>
              </a:rPr>
              <a:t>  </a:t>
            </a:r>
            <a:r>
              <a:rPr lang="en-US" sz="2500" dirty="0" err="1">
                <a:solidFill>
                  <a:schemeClr val="bg1"/>
                </a:solidFill>
                <a:effectLst/>
              </a:rPr>
              <a:t>Console.WriteLine</a:t>
            </a:r>
            <a:r>
              <a:rPr lang="en-US" sz="2500" dirty="0">
                <a:solidFill>
                  <a:schemeClr val="bg1"/>
                </a:solidFill>
                <a:effectLst/>
              </a:rPr>
              <a:t>("Car starting...");</a:t>
            </a:r>
          </a:p>
          <a:p>
            <a:r>
              <a:rPr lang="en-US" sz="2500" dirty="0">
                <a:solidFill>
                  <a:schemeClr val="bg1"/>
                </a:solidFill>
                <a:effectLst/>
              </a:rPr>
              <a:t>  return true;</a:t>
            </a:r>
          </a:p>
          <a:p>
            <a:r>
              <a:rPr lang="en-US" sz="2500" dirty="0">
                <a:solidFill>
                  <a:schemeClr val="bg1"/>
                </a:solidFill>
                <a:effectLst/>
              </a:rPr>
              <a:t>}</a:t>
            </a:r>
          </a:p>
          <a:p>
            <a:r>
              <a:rPr lang="en-US" sz="2500" dirty="0">
                <a:solidFill>
                  <a:schemeClr val="bg1"/>
                </a:solidFill>
                <a:effectLst/>
              </a:rPr>
              <a:t>public </a:t>
            </a:r>
            <a:r>
              <a:rPr lang="en-US" sz="2500" dirty="0" err="1">
                <a:solidFill>
                  <a:schemeClr val="bg1"/>
                </a:solidFill>
                <a:effectLst/>
              </a:rPr>
              <a:t>bool</a:t>
            </a:r>
            <a:r>
              <a:rPr lang="en-US" sz="2500" dirty="0">
                <a:solidFill>
                  <a:schemeClr val="bg1"/>
                </a:solidFill>
                <a:effectLst/>
              </a:rPr>
              <a:t> Stop() {</a:t>
            </a:r>
          </a:p>
          <a:p>
            <a:r>
              <a:rPr lang="en-US" sz="2500" dirty="0">
                <a:solidFill>
                  <a:schemeClr val="bg1"/>
                </a:solidFill>
                <a:effectLst/>
              </a:rPr>
              <a:t>  </a:t>
            </a:r>
            <a:r>
              <a:rPr lang="en-US" sz="2500" dirty="0" err="1">
                <a:solidFill>
                  <a:schemeClr val="bg1"/>
                </a:solidFill>
                <a:effectLst/>
              </a:rPr>
              <a:t>Console.WriteLine</a:t>
            </a:r>
            <a:r>
              <a:rPr lang="en-US" sz="2500" dirty="0">
                <a:solidFill>
                  <a:schemeClr val="bg1"/>
                </a:solidFill>
                <a:effectLst/>
              </a:rPr>
              <a:t>("Car stopping...");</a:t>
            </a:r>
          </a:p>
          <a:p>
            <a:r>
              <a:rPr lang="en-US" sz="2500" dirty="0">
                <a:solidFill>
                  <a:schemeClr val="bg1"/>
                </a:solidFill>
                <a:effectLst/>
              </a:rPr>
              <a:t>  return true;</a:t>
            </a:r>
          </a:p>
          <a:p>
            <a:r>
              <a:rPr lang="en-US" sz="2500" dirty="0">
                <a:solidFill>
                  <a:schemeClr val="bg1"/>
                </a:solidFill>
                <a:effectLst/>
              </a:rPr>
              <a:t>}</a:t>
            </a:r>
          </a:p>
        </p:txBody>
      </p:sp>
      <p:sp>
        <p:nvSpPr>
          <p:cNvPr id="5" name="Title 1">
            <a:extLst>
              <a:ext uri="{FF2B5EF4-FFF2-40B4-BE49-F238E27FC236}">
                <a16:creationId xmlns:a16="http://schemas.microsoft.com/office/drawing/2014/main" id="{17753F41-4879-640D-3EB2-2A38B144DBA8}"/>
              </a:ext>
            </a:extLst>
          </p:cNvPr>
          <p:cNvSpPr>
            <a:spLocks noGrp="1"/>
          </p:cNvSpPr>
          <p:nvPr>
            <p:ph type="title"/>
          </p:nvPr>
        </p:nvSpPr>
        <p:spPr>
          <a:xfrm>
            <a:off x="685799" y="334497"/>
            <a:ext cx="10767951" cy="982972"/>
          </a:xfrm>
          <a:prstGeom prst="rect">
            <a:avLst/>
          </a:prstGeom>
        </p:spPr>
        <p:txBody>
          <a:bodyPr anchor="ctr" anchorCtr="0"/>
          <a:lstStyle/>
          <a:p>
            <a:pPr>
              <a:lnSpc>
                <a:spcPts val="4000"/>
              </a:lnSpc>
              <a:defRPr/>
            </a:pPr>
            <a:r>
              <a:rPr lang="bg-BG" dirty="0">
                <a:latin typeface="Comfortaa" pitchFamily="2" charset="0"/>
              </a:rPr>
              <a:t>Решение: Машина </a:t>
            </a:r>
            <a:r>
              <a:rPr lang="en-US" dirty="0">
                <a:latin typeface="Comfortaa" pitchFamily="2" charset="0"/>
              </a:rPr>
              <a:t>[2/6]</a:t>
            </a:r>
            <a:endParaRPr lang="bg-BG" sz="4000" dirty="0">
              <a:latin typeface="Comfortaa" pitchFamily="2" charset="0"/>
            </a:endParaRPr>
          </a:p>
        </p:txBody>
      </p:sp>
    </p:spTree>
    <p:extLst>
      <p:ext uri="{BB962C8B-B14F-4D97-AF65-F5344CB8AC3E}">
        <p14:creationId xmlns:p14="http://schemas.microsoft.com/office/powerpoint/2010/main" val="286896339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a:spLocks noGrp="1"/>
          </p:cNvSpPr>
          <p:nvPr>
            <p:ph idx="1"/>
          </p:nvPr>
        </p:nvSpPr>
        <p:spPr>
          <a:xfrm>
            <a:off x="795646" y="2256312"/>
            <a:ext cx="10289970" cy="3877292"/>
          </a:xfrm>
          <a:prstGeom prst="rect">
            <a:avLst/>
          </a:prstGeom>
        </p:spPr>
        <p:txBody>
          <a:bodyPr>
            <a:normAutofit/>
          </a:bodyPr>
          <a:lstStyle/>
          <a:p>
            <a:r>
              <a:rPr lang="bg-BG" sz="3600" noProof="1">
                <a:latin typeface="Comfortaa" pitchFamily="2" charset="0"/>
              </a:rPr>
              <a:t>Останалите класове – </a:t>
            </a:r>
            <a:r>
              <a:rPr lang="en-US" sz="3600" b="1" noProof="1">
                <a:solidFill>
                  <a:srgbClr val="00B0F0"/>
                </a:solidFill>
                <a:latin typeface="Comfortaa" pitchFamily="2" charset="0"/>
              </a:rPr>
              <a:t>Truck</a:t>
            </a:r>
            <a:r>
              <a:rPr lang="en-US" sz="3600" noProof="1">
                <a:latin typeface="Comfortaa" pitchFamily="2" charset="0"/>
              </a:rPr>
              <a:t>, </a:t>
            </a:r>
            <a:r>
              <a:rPr lang="en-US" sz="3600" b="1" noProof="1">
                <a:solidFill>
                  <a:srgbClr val="00B0F0"/>
                </a:solidFill>
                <a:latin typeface="Comfortaa" pitchFamily="2" charset="0"/>
              </a:rPr>
              <a:t>Airplane</a:t>
            </a:r>
            <a:r>
              <a:rPr lang="en-US" sz="3600" noProof="1">
                <a:latin typeface="Comfortaa" pitchFamily="2" charset="0"/>
              </a:rPr>
              <a:t>, </a:t>
            </a:r>
            <a:r>
              <a:rPr lang="en-US" sz="3600" b="1" noProof="1">
                <a:solidFill>
                  <a:srgbClr val="00B0F0"/>
                </a:solidFill>
                <a:latin typeface="Comfortaa" pitchFamily="2" charset="0"/>
              </a:rPr>
              <a:t>LawnMower</a:t>
            </a:r>
            <a:r>
              <a:rPr lang="en-US" sz="3600" noProof="1">
                <a:latin typeface="Comfortaa" pitchFamily="2" charset="0"/>
              </a:rPr>
              <a:t>, </a:t>
            </a:r>
            <a:r>
              <a:rPr lang="bg-BG" sz="3600" noProof="1">
                <a:latin typeface="Comfortaa" pitchFamily="2" charset="0"/>
              </a:rPr>
              <a:t>имат напълно аналогична имплементация</a:t>
            </a:r>
            <a:r>
              <a:rPr lang="en-US" sz="3600" noProof="1">
                <a:latin typeface="Comfortaa" pitchFamily="2" charset="0"/>
              </a:rPr>
              <a:t> </a:t>
            </a:r>
            <a:r>
              <a:rPr lang="bg-BG" sz="3600" noProof="1">
                <a:latin typeface="Comfortaa" pitchFamily="2" charset="0"/>
              </a:rPr>
              <a:t>с тази на </a:t>
            </a:r>
            <a:r>
              <a:rPr lang="en-US" sz="3600" b="1" noProof="1">
                <a:solidFill>
                  <a:srgbClr val="00B0F0"/>
                </a:solidFill>
                <a:latin typeface="Comfortaa" pitchFamily="2" charset="0"/>
              </a:rPr>
              <a:t>Car</a:t>
            </a:r>
          </a:p>
          <a:p>
            <a:r>
              <a:rPr lang="bg-BG" sz="3600" noProof="1">
                <a:latin typeface="Comfortaa" pitchFamily="2" charset="0"/>
              </a:rPr>
              <a:t>Следва дефиниране на класа за </a:t>
            </a:r>
            <a:r>
              <a:rPr lang="en-US" sz="3600" b="1" noProof="1">
                <a:solidFill>
                  <a:srgbClr val="00B0F0"/>
                </a:solidFill>
                <a:latin typeface="Comfortaa" pitchFamily="2" charset="0"/>
              </a:rPr>
              <a:t>MachineOperator</a:t>
            </a:r>
            <a:r>
              <a:rPr lang="en-US" sz="3600" noProof="1">
                <a:latin typeface="Comfortaa" pitchFamily="2" charset="0"/>
              </a:rPr>
              <a:t> </a:t>
            </a:r>
          </a:p>
        </p:txBody>
      </p:sp>
      <p:sp>
        <p:nvSpPr>
          <p:cNvPr id="6" name="Slide Number Placeholder">
            <a:extLst>
              <a:ext uri="{FF2B5EF4-FFF2-40B4-BE49-F238E27FC236}">
                <a16:creationId xmlns:a16="http://schemas.microsoft.com/office/drawing/2014/main" id="{1AE1B55C-476F-4672-9EFB-303258DE4C89}"/>
              </a:ext>
            </a:extLst>
          </p:cNvPr>
          <p:cNvSpPr>
            <a:spLocks noGrp="1"/>
          </p:cNvSpPr>
          <p:nvPr>
            <p:ph type="sldNum" sz="quarter" idx="4"/>
          </p:nvPr>
        </p:nvSpPr>
        <p:spPr>
          <a:xfrm>
            <a:off x="11566412" y="6525002"/>
            <a:ext cx="428822" cy="196477"/>
          </a:xfrm>
          <a:prstGeom prst="rect">
            <a:avLst/>
          </a:prstGeom>
        </p:spPr>
        <p:txBody>
          <a:bodyPr vert="horz" lIns="36000" tIns="36000" rIns="36000" bIns="36000" rtlCol="0" anchor="ctr"/>
          <a:lstStyle>
            <a:defPPr>
              <a:defRPr lang="en-US"/>
            </a:defPPr>
            <a:lvl1pPr marL="0" algn="r" defTabSz="1218987" rtl="0" eaLnBrk="1" latinLnBrk="0" hangingPunct="1">
              <a:defRPr sz="1000" kern="1200">
                <a:solidFill>
                  <a:schemeClr val="tx1">
                    <a:tint val="75000"/>
                  </a:schemeClr>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fld id="{C014DD1E-5D91-48A3-AD6D-45FBA980D106}" type="slidenum">
              <a:rPr lang="en-US" smtClean="0">
                <a:solidFill>
                  <a:prstClr val="white">
                    <a:tint val="75000"/>
                  </a:prstClr>
                </a:solidFill>
              </a:rPr>
              <a:pPr/>
              <a:t>5</a:t>
            </a:fld>
            <a:endParaRPr lang="en-US" dirty="0">
              <a:solidFill>
                <a:prstClr val="white">
                  <a:tint val="75000"/>
                </a:prstClr>
              </a:solidFill>
            </a:endParaRPr>
          </a:p>
        </p:txBody>
      </p:sp>
      <p:sp>
        <p:nvSpPr>
          <p:cNvPr id="5" name="Title 1">
            <a:extLst>
              <a:ext uri="{FF2B5EF4-FFF2-40B4-BE49-F238E27FC236}">
                <a16:creationId xmlns:a16="http://schemas.microsoft.com/office/drawing/2014/main" id="{7D18A5D6-F26C-8225-9E83-ACDBCBEFBAD3}"/>
              </a:ext>
            </a:extLst>
          </p:cNvPr>
          <p:cNvSpPr>
            <a:spLocks noGrp="1"/>
          </p:cNvSpPr>
          <p:nvPr>
            <p:ph type="title"/>
          </p:nvPr>
        </p:nvSpPr>
        <p:spPr>
          <a:xfrm>
            <a:off x="685799" y="334497"/>
            <a:ext cx="10767951" cy="982972"/>
          </a:xfrm>
          <a:prstGeom prst="rect">
            <a:avLst/>
          </a:prstGeom>
        </p:spPr>
        <p:txBody>
          <a:bodyPr anchor="ctr" anchorCtr="0"/>
          <a:lstStyle/>
          <a:p>
            <a:pPr>
              <a:lnSpc>
                <a:spcPts val="4000"/>
              </a:lnSpc>
              <a:defRPr/>
            </a:pPr>
            <a:r>
              <a:rPr lang="bg-BG" dirty="0">
                <a:latin typeface="Comfortaa" pitchFamily="2" charset="0"/>
              </a:rPr>
              <a:t>Решение: Машина </a:t>
            </a:r>
            <a:r>
              <a:rPr lang="en-US" dirty="0">
                <a:latin typeface="Comfortaa" pitchFamily="2" charset="0"/>
              </a:rPr>
              <a:t>[3/6]</a:t>
            </a:r>
            <a:endParaRPr lang="bg-BG" sz="4000" dirty="0">
              <a:latin typeface="Comfortaa" pitchFamily="2" charset="0"/>
            </a:endParaRPr>
          </a:p>
        </p:txBody>
      </p:sp>
    </p:spTree>
    <p:extLst>
      <p:ext uri="{BB962C8B-B14F-4D97-AF65-F5344CB8AC3E}">
        <p14:creationId xmlns:p14="http://schemas.microsoft.com/office/powerpoint/2010/main" val="399459052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a:spLocks noGrp="1"/>
          </p:cNvSpPr>
          <p:nvPr>
            <p:ph idx="1"/>
          </p:nvPr>
        </p:nvSpPr>
        <p:spPr>
          <a:xfrm>
            <a:off x="738250" y="1168732"/>
            <a:ext cx="10145469" cy="642255"/>
          </a:xfrm>
          <a:prstGeom prst="rect">
            <a:avLst/>
          </a:prstGeom>
        </p:spPr>
        <p:txBody>
          <a:bodyPr>
            <a:normAutofit/>
          </a:bodyPr>
          <a:lstStyle/>
          <a:p>
            <a:pPr marL="0" indent="0">
              <a:buNone/>
            </a:pPr>
            <a:r>
              <a:rPr lang="bg-BG" noProof="1">
                <a:latin typeface="Comfortaa" pitchFamily="2" charset="0"/>
              </a:rPr>
              <a:t>Нека да създадем класа </a:t>
            </a:r>
            <a:r>
              <a:rPr lang="en-US" b="1" noProof="1">
                <a:solidFill>
                  <a:srgbClr val="00B0F0"/>
                </a:solidFill>
                <a:latin typeface="Comfortaa" pitchFamily="2" charset="0"/>
              </a:rPr>
              <a:t>MachineOperator</a:t>
            </a:r>
          </a:p>
        </p:txBody>
      </p:sp>
      <p:sp>
        <p:nvSpPr>
          <p:cNvPr id="7" name="Text Placeholder 5"/>
          <p:cNvSpPr txBox="1">
            <a:spLocks/>
          </p:cNvSpPr>
          <p:nvPr/>
        </p:nvSpPr>
        <p:spPr>
          <a:xfrm>
            <a:off x="852548" y="1810987"/>
            <a:ext cx="10434451" cy="4546611"/>
          </a:xfrm>
          <a:prstGeom prst="rect">
            <a:avLst/>
          </a:prstGeom>
          <a:ln/>
        </p:spPr>
        <p:style>
          <a:lnRef idx="2">
            <a:schemeClr val="dk1">
              <a:shade val="50000"/>
            </a:schemeClr>
          </a:lnRef>
          <a:fillRef idx="1">
            <a:schemeClr val="dk1"/>
          </a:fillRef>
          <a:effectRef idx="0">
            <a:schemeClr val="dk1"/>
          </a:effectRef>
          <a:fontRef idx="minor">
            <a:schemeClr val="lt1"/>
          </a:fontRef>
        </p:style>
        <p:txBody>
          <a:bodyPr vert="horz" wrap="square" lIns="144000" tIns="72000" rIns="144000" bIns="72000"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r>
              <a:rPr lang="en-US" sz="2600" dirty="0">
                <a:solidFill>
                  <a:schemeClr val="bg1"/>
                </a:solidFill>
                <a:effectLst/>
              </a:rPr>
              <a:t>private </a:t>
            </a:r>
            <a:r>
              <a:rPr lang="en-US" sz="2600" dirty="0" err="1">
                <a:solidFill>
                  <a:schemeClr val="bg1"/>
                </a:solidFill>
                <a:effectLst/>
              </a:rPr>
              <a:t>IMachine</a:t>
            </a:r>
            <a:r>
              <a:rPr lang="en-US" sz="2600" dirty="0">
                <a:solidFill>
                  <a:schemeClr val="bg1"/>
                </a:solidFill>
                <a:effectLst/>
              </a:rPr>
              <a:t> entity;</a:t>
            </a:r>
          </a:p>
          <a:p>
            <a:r>
              <a:rPr lang="en-US" sz="2600" dirty="0">
                <a:solidFill>
                  <a:schemeClr val="bg1"/>
                </a:solidFill>
                <a:effectLst/>
              </a:rPr>
              <a:t>public </a:t>
            </a:r>
            <a:r>
              <a:rPr lang="en-US" sz="2600" dirty="0" err="1">
                <a:solidFill>
                  <a:schemeClr val="bg1"/>
                </a:solidFill>
                <a:effectLst/>
              </a:rPr>
              <a:t>IMachine</a:t>
            </a:r>
            <a:r>
              <a:rPr lang="en-US" sz="2600" dirty="0">
                <a:solidFill>
                  <a:schemeClr val="bg1"/>
                </a:solidFill>
                <a:effectLst/>
              </a:rPr>
              <a:t> Entity { get { return </a:t>
            </a:r>
            <a:r>
              <a:rPr lang="en-US" sz="2600" dirty="0" err="1">
                <a:solidFill>
                  <a:schemeClr val="bg1"/>
                </a:solidFill>
                <a:effectLst/>
              </a:rPr>
              <a:t>this.value</a:t>
            </a:r>
            <a:r>
              <a:rPr lang="en-US" sz="2600" dirty="0">
                <a:solidFill>
                  <a:schemeClr val="bg1"/>
                </a:solidFill>
                <a:effectLst/>
              </a:rPr>
              <a:t>; }</a:t>
            </a:r>
          </a:p>
          <a:p>
            <a:r>
              <a:rPr lang="en-US" sz="2600" dirty="0">
                <a:solidFill>
                  <a:schemeClr val="bg1"/>
                </a:solidFill>
                <a:effectLst/>
              </a:rPr>
              <a:t>  set {</a:t>
            </a:r>
          </a:p>
          <a:p>
            <a:r>
              <a:rPr lang="en-US" sz="2600" dirty="0">
                <a:solidFill>
                  <a:schemeClr val="bg1"/>
                </a:solidFill>
                <a:effectLst/>
              </a:rPr>
              <a:t>    </a:t>
            </a:r>
            <a:r>
              <a:rPr lang="en-US" sz="2600" dirty="0" err="1">
                <a:solidFill>
                  <a:schemeClr val="bg1"/>
                </a:solidFill>
                <a:effectLst/>
              </a:rPr>
              <a:t>this.entity</a:t>
            </a:r>
            <a:r>
              <a:rPr lang="en-US" sz="2600" dirty="0">
                <a:solidFill>
                  <a:schemeClr val="bg1"/>
                </a:solidFill>
                <a:effectLst/>
              </a:rPr>
              <a:t> = value;</a:t>
            </a:r>
          </a:p>
          <a:p>
            <a:r>
              <a:rPr lang="en-US" sz="2600" dirty="0">
                <a:solidFill>
                  <a:schemeClr val="bg1"/>
                </a:solidFill>
                <a:effectLst/>
              </a:rPr>
              <a:t>    </a:t>
            </a:r>
            <a:r>
              <a:rPr lang="en-US" sz="2600" dirty="0" err="1">
                <a:solidFill>
                  <a:schemeClr val="bg1"/>
                </a:solidFill>
                <a:effectLst/>
              </a:rPr>
              <a:t>Console.WriteLine</a:t>
            </a:r>
            <a:r>
              <a:rPr lang="en-US" sz="2600" dirty="0">
                <a:solidFill>
                  <a:schemeClr val="bg1"/>
                </a:solidFill>
                <a:effectLst/>
              </a:rPr>
              <a:t>("Machine operator is operating: "+</a:t>
            </a:r>
            <a:r>
              <a:rPr lang="en-US" sz="2600" dirty="0" err="1">
                <a:solidFill>
                  <a:schemeClr val="bg1"/>
                </a:solidFill>
                <a:effectLst/>
              </a:rPr>
              <a:t>value.MachineType</a:t>
            </a:r>
            <a:r>
              <a:rPr lang="en-US" sz="2600" dirty="0">
                <a:solidFill>
                  <a:schemeClr val="bg1"/>
                </a:solidFill>
                <a:effectLst/>
              </a:rPr>
              <a:t>);</a:t>
            </a:r>
          </a:p>
          <a:p>
            <a:r>
              <a:rPr lang="en-US" sz="2600" dirty="0">
                <a:solidFill>
                  <a:schemeClr val="bg1"/>
                </a:solidFill>
                <a:effectLst/>
              </a:rPr>
              <a:t>  }</a:t>
            </a:r>
          </a:p>
          <a:p>
            <a:r>
              <a:rPr lang="en-US" sz="2600" dirty="0">
                <a:solidFill>
                  <a:schemeClr val="bg1"/>
                </a:solidFill>
                <a:effectLst/>
              </a:rPr>
              <a:t>}</a:t>
            </a:r>
          </a:p>
          <a:p>
            <a:r>
              <a:rPr lang="en-US" sz="2600" dirty="0">
                <a:solidFill>
                  <a:schemeClr val="bg1"/>
                </a:solidFill>
                <a:effectLst/>
              </a:rPr>
              <a:t>public </a:t>
            </a:r>
            <a:r>
              <a:rPr lang="en-US" sz="2600" dirty="0" err="1">
                <a:solidFill>
                  <a:schemeClr val="bg1"/>
                </a:solidFill>
                <a:effectLst/>
              </a:rPr>
              <a:t>MachineOperator</a:t>
            </a:r>
            <a:r>
              <a:rPr lang="en-US" sz="2600" dirty="0">
                <a:solidFill>
                  <a:schemeClr val="bg1"/>
                </a:solidFill>
                <a:effectLst/>
              </a:rPr>
              <a:t>(</a:t>
            </a:r>
            <a:r>
              <a:rPr lang="en-US" sz="2600" dirty="0" err="1">
                <a:solidFill>
                  <a:schemeClr val="bg1"/>
                </a:solidFill>
                <a:effectLst/>
              </a:rPr>
              <a:t>IMachine</a:t>
            </a:r>
            <a:r>
              <a:rPr lang="en-US" sz="2600" dirty="0">
                <a:solidFill>
                  <a:schemeClr val="bg1"/>
                </a:solidFill>
                <a:effectLst/>
              </a:rPr>
              <a:t> entity){</a:t>
            </a:r>
          </a:p>
          <a:p>
            <a:r>
              <a:rPr lang="en-US" sz="2600" dirty="0">
                <a:solidFill>
                  <a:schemeClr val="bg1"/>
                </a:solidFill>
                <a:effectLst/>
              </a:rPr>
              <a:t>  </a:t>
            </a:r>
            <a:r>
              <a:rPr lang="en-US" sz="2600" dirty="0" err="1">
                <a:solidFill>
                  <a:schemeClr val="bg1"/>
                </a:solidFill>
                <a:effectLst/>
              </a:rPr>
              <a:t>this.Entity</a:t>
            </a:r>
            <a:r>
              <a:rPr lang="en-US" sz="2600" dirty="0">
                <a:solidFill>
                  <a:schemeClr val="bg1"/>
                </a:solidFill>
                <a:effectLst/>
              </a:rPr>
              <a:t> = entity;</a:t>
            </a:r>
          </a:p>
          <a:p>
            <a:r>
              <a:rPr lang="en-US" sz="2600" dirty="0">
                <a:solidFill>
                  <a:schemeClr val="bg1"/>
                </a:solidFill>
                <a:effectLst/>
              </a:rPr>
              <a:t>}</a:t>
            </a:r>
          </a:p>
        </p:txBody>
      </p:sp>
      <p:sp>
        <p:nvSpPr>
          <p:cNvPr id="5" name="Title 1">
            <a:extLst>
              <a:ext uri="{FF2B5EF4-FFF2-40B4-BE49-F238E27FC236}">
                <a16:creationId xmlns:a16="http://schemas.microsoft.com/office/drawing/2014/main" id="{74126004-FE82-1A44-9218-0D57AD2F52E6}"/>
              </a:ext>
            </a:extLst>
          </p:cNvPr>
          <p:cNvSpPr>
            <a:spLocks noGrp="1"/>
          </p:cNvSpPr>
          <p:nvPr>
            <p:ph type="title"/>
          </p:nvPr>
        </p:nvSpPr>
        <p:spPr>
          <a:xfrm>
            <a:off x="685799" y="334497"/>
            <a:ext cx="10767951" cy="982972"/>
          </a:xfrm>
          <a:prstGeom prst="rect">
            <a:avLst/>
          </a:prstGeom>
        </p:spPr>
        <p:txBody>
          <a:bodyPr anchor="ctr" anchorCtr="0"/>
          <a:lstStyle/>
          <a:p>
            <a:pPr>
              <a:lnSpc>
                <a:spcPts val="4000"/>
              </a:lnSpc>
              <a:defRPr/>
            </a:pPr>
            <a:r>
              <a:rPr lang="bg-BG" dirty="0">
                <a:latin typeface="Comfortaa" pitchFamily="2" charset="0"/>
              </a:rPr>
              <a:t>Решение: Машина </a:t>
            </a:r>
            <a:r>
              <a:rPr lang="en-US" dirty="0">
                <a:latin typeface="Comfortaa" pitchFamily="2" charset="0"/>
              </a:rPr>
              <a:t>[4/6]</a:t>
            </a:r>
            <a:endParaRPr lang="bg-BG" sz="4000" dirty="0">
              <a:latin typeface="Comfortaa" pitchFamily="2" charset="0"/>
            </a:endParaRPr>
          </a:p>
        </p:txBody>
      </p:sp>
    </p:spTree>
    <p:extLst>
      <p:ext uri="{BB962C8B-B14F-4D97-AF65-F5344CB8AC3E}">
        <p14:creationId xmlns:p14="http://schemas.microsoft.com/office/powerpoint/2010/main" val="339539348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a:spLocks noGrp="1"/>
          </p:cNvSpPr>
          <p:nvPr>
            <p:ph idx="1"/>
          </p:nvPr>
        </p:nvSpPr>
        <p:spPr>
          <a:xfrm>
            <a:off x="728354" y="1412336"/>
            <a:ext cx="10541329" cy="579939"/>
          </a:xfrm>
          <a:prstGeom prst="rect">
            <a:avLst/>
          </a:prstGeom>
        </p:spPr>
        <p:txBody>
          <a:bodyPr>
            <a:normAutofit/>
          </a:bodyPr>
          <a:lstStyle/>
          <a:p>
            <a:pPr marL="0" indent="0">
              <a:buNone/>
            </a:pPr>
            <a:r>
              <a:rPr lang="en-US" noProof="1">
                <a:latin typeface="Comfortaa" pitchFamily="2" charset="0"/>
              </a:rPr>
              <a:t>A </a:t>
            </a:r>
            <a:r>
              <a:rPr lang="bg-BG" noProof="1">
                <a:latin typeface="Comfortaa" pitchFamily="2" charset="0"/>
              </a:rPr>
              <a:t>сега да добавим методи </a:t>
            </a:r>
            <a:r>
              <a:rPr lang="en-US" b="1" noProof="1">
                <a:solidFill>
                  <a:srgbClr val="00B0F0"/>
                </a:solidFill>
                <a:latin typeface="Comfortaa" pitchFamily="2" charset="0"/>
              </a:rPr>
              <a:t>Start() </a:t>
            </a:r>
            <a:r>
              <a:rPr lang="bg-BG" noProof="1">
                <a:latin typeface="Comfortaa" pitchFamily="2" charset="0"/>
              </a:rPr>
              <a:t>и </a:t>
            </a:r>
            <a:r>
              <a:rPr lang="en-US" b="1" noProof="1">
                <a:solidFill>
                  <a:srgbClr val="00B0F0"/>
                </a:solidFill>
                <a:latin typeface="Comfortaa" pitchFamily="2" charset="0"/>
              </a:rPr>
              <a:t>Stop()</a:t>
            </a:r>
            <a:r>
              <a:rPr lang="en-US" noProof="1">
                <a:latin typeface="Comfortaa" pitchFamily="2" charset="0"/>
              </a:rPr>
              <a:t>:</a:t>
            </a:r>
          </a:p>
        </p:txBody>
      </p:sp>
      <p:sp>
        <p:nvSpPr>
          <p:cNvPr id="7" name="Text Placeholder 5"/>
          <p:cNvSpPr txBox="1">
            <a:spLocks/>
          </p:cNvSpPr>
          <p:nvPr/>
        </p:nvSpPr>
        <p:spPr>
          <a:xfrm>
            <a:off x="799109" y="2217906"/>
            <a:ext cx="10541329" cy="3161617"/>
          </a:xfrm>
          <a:prstGeom prst="rect">
            <a:avLst/>
          </a:prstGeom>
          <a:ln/>
        </p:spPr>
        <p:style>
          <a:lnRef idx="2">
            <a:schemeClr val="dk1">
              <a:shade val="50000"/>
            </a:schemeClr>
          </a:lnRef>
          <a:fillRef idx="1">
            <a:schemeClr val="dk1"/>
          </a:fillRef>
          <a:effectRef idx="0">
            <a:schemeClr val="dk1"/>
          </a:effectRef>
          <a:fontRef idx="minor">
            <a:schemeClr val="lt1"/>
          </a:fontRef>
        </p:style>
        <p:txBody>
          <a:bodyPr vert="horz" wrap="square" lIns="144000" tIns="72000" rIns="144000" bIns="72000"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r>
              <a:rPr lang="en-US" sz="2800" dirty="0">
                <a:solidFill>
                  <a:schemeClr val="bg1"/>
                </a:solidFill>
                <a:effectLst/>
              </a:rPr>
              <a:t>public </a:t>
            </a:r>
            <a:r>
              <a:rPr lang="en-US" sz="2800" dirty="0" err="1">
                <a:solidFill>
                  <a:schemeClr val="bg1"/>
                </a:solidFill>
                <a:effectLst/>
              </a:rPr>
              <a:t>bool</a:t>
            </a:r>
            <a:r>
              <a:rPr lang="en-US" sz="2800" dirty="0">
                <a:solidFill>
                  <a:schemeClr val="bg1"/>
                </a:solidFill>
                <a:effectLst/>
              </a:rPr>
              <a:t> Start() {</a:t>
            </a:r>
          </a:p>
          <a:p>
            <a:r>
              <a:rPr lang="en-US" sz="2800" dirty="0">
                <a:solidFill>
                  <a:schemeClr val="bg1"/>
                </a:solidFill>
                <a:effectLst/>
              </a:rPr>
              <a:t>  return </a:t>
            </a:r>
            <a:r>
              <a:rPr lang="en-US" sz="2800" dirty="0" err="1">
                <a:solidFill>
                  <a:schemeClr val="bg1"/>
                </a:solidFill>
                <a:effectLst/>
              </a:rPr>
              <a:t>Entity.Start</a:t>
            </a:r>
            <a:r>
              <a:rPr lang="en-US" sz="2800" dirty="0">
                <a:solidFill>
                  <a:schemeClr val="bg1"/>
                </a:solidFill>
                <a:effectLst/>
              </a:rPr>
              <a:t>();</a:t>
            </a:r>
          </a:p>
          <a:p>
            <a:r>
              <a:rPr lang="en-US" sz="2800" dirty="0">
                <a:solidFill>
                  <a:schemeClr val="bg1"/>
                </a:solidFill>
                <a:effectLst/>
              </a:rPr>
              <a:t>}</a:t>
            </a:r>
          </a:p>
          <a:p>
            <a:endParaRPr lang="en-US" sz="2800" dirty="0">
              <a:solidFill>
                <a:schemeClr val="bg1"/>
              </a:solidFill>
              <a:effectLst/>
            </a:endParaRPr>
          </a:p>
          <a:p>
            <a:r>
              <a:rPr lang="en-US" sz="2800" dirty="0">
                <a:solidFill>
                  <a:schemeClr val="bg1"/>
                </a:solidFill>
                <a:effectLst/>
              </a:rPr>
              <a:t>public </a:t>
            </a:r>
            <a:r>
              <a:rPr lang="en-US" sz="2800" dirty="0" err="1">
                <a:solidFill>
                  <a:schemeClr val="bg1"/>
                </a:solidFill>
                <a:effectLst/>
              </a:rPr>
              <a:t>bool</a:t>
            </a:r>
            <a:r>
              <a:rPr lang="en-US" sz="2800" dirty="0">
                <a:solidFill>
                  <a:schemeClr val="bg1"/>
                </a:solidFill>
                <a:effectLst/>
              </a:rPr>
              <a:t> Stop() {</a:t>
            </a:r>
          </a:p>
          <a:p>
            <a:r>
              <a:rPr lang="en-US" sz="2800" dirty="0">
                <a:solidFill>
                  <a:schemeClr val="bg1"/>
                </a:solidFill>
                <a:effectLst/>
              </a:rPr>
              <a:t>  return </a:t>
            </a:r>
            <a:r>
              <a:rPr lang="en-US" sz="2800" dirty="0" err="1">
                <a:solidFill>
                  <a:schemeClr val="bg1"/>
                </a:solidFill>
                <a:effectLst/>
              </a:rPr>
              <a:t>Entity.Stop</a:t>
            </a:r>
            <a:r>
              <a:rPr lang="en-US" sz="2800" dirty="0">
                <a:solidFill>
                  <a:schemeClr val="bg1"/>
                </a:solidFill>
                <a:effectLst/>
              </a:rPr>
              <a:t>();</a:t>
            </a:r>
          </a:p>
          <a:p>
            <a:r>
              <a:rPr lang="en-US" sz="2800" dirty="0">
                <a:solidFill>
                  <a:schemeClr val="bg1"/>
                </a:solidFill>
                <a:effectLst/>
              </a:rPr>
              <a:t>}</a:t>
            </a:r>
            <a:endParaRPr lang="en-US" sz="2600" dirty="0">
              <a:solidFill>
                <a:schemeClr val="bg1"/>
              </a:solidFill>
              <a:effectLst/>
            </a:endParaRPr>
          </a:p>
        </p:txBody>
      </p:sp>
      <p:sp>
        <p:nvSpPr>
          <p:cNvPr id="5" name="Title 1">
            <a:extLst>
              <a:ext uri="{FF2B5EF4-FFF2-40B4-BE49-F238E27FC236}">
                <a16:creationId xmlns:a16="http://schemas.microsoft.com/office/drawing/2014/main" id="{E7C15D9F-92C5-5827-F965-0BFEA44C2EE3}"/>
              </a:ext>
            </a:extLst>
          </p:cNvPr>
          <p:cNvSpPr>
            <a:spLocks noGrp="1"/>
          </p:cNvSpPr>
          <p:nvPr>
            <p:ph type="title"/>
          </p:nvPr>
        </p:nvSpPr>
        <p:spPr>
          <a:xfrm>
            <a:off x="685799" y="334497"/>
            <a:ext cx="10767951" cy="982972"/>
          </a:xfrm>
          <a:prstGeom prst="rect">
            <a:avLst/>
          </a:prstGeom>
        </p:spPr>
        <p:txBody>
          <a:bodyPr anchor="ctr" anchorCtr="0"/>
          <a:lstStyle/>
          <a:p>
            <a:pPr>
              <a:lnSpc>
                <a:spcPts val="4000"/>
              </a:lnSpc>
              <a:defRPr/>
            </a:pPr>
            <a:r>
              <a:rPr lang="bg-BG" dirty="0">
                <a:latin typeface="Comfortaa" pitchFamily="2" charset="0"/>
              </a:rPr>
              <a:t>Решение: Машина </a:t>
            </a:r>
            <a:r>
              <a:rPr lang="en-US" dirty="0">
                <a:latin typeface="Comfortaa" pitchFamily="2" charset="0"/>
              </a:rPr>
              <a:t>[5/6]</a:t>
            </a:r>
            <a:endParaRPr lang="bg-BG" sz="4000" dirty="0">
              <a:latin typeface="Comfortaa" pitchFamily="2" charset="0"/>
            </a:endParaRPr>
          </a:p>
        </p:txBody>
      </p:sp>
    </p:spTree>
    <p:extLst>
      <p:ext uri="{BB962C8B-B14F-4D97-AF65-F5344CB8AC3E}">
        <p14:creationId xmlns:p14="http://schemas.microsoft.com/office/powerpoint/2010/main" val="275515725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a:spLocks noGrp="1"/>
          </p:cNvSpPr>
          <p:nvPr>
            <p:ph idx="1"/>
          </p:nvPr>
        </p:nvSpPr>
        <p:spPr>
          <a:xfrm>
            <a:off x="609601" y="1228108"/>
            <a:ext cx="10882199" cy="982972"/>
          </a:xfrm>
          <a:prstGeom prst="rect">
            <a:avLst/>
          </a:prstGeom>
        </p:spPr>
        <p:txBody>
          <a:bodyPr>
            <a:normAutofit/>
          </a:bodyPr>
          <a:lstStyle/>
          <a:p>
            <a:pPr marL="0" indent="0">
              <a:buNone/>
            </a:pPr>
            <a:r>
              <a:rPr lang="bg-BG" noProof="1">
                <a:latin typeface="Comfortaa" pitchFamily="2" charset="0"/>
              </a:rPr>
              <a:t>В </a:t>
            </a:r>
            <a:r>
              <a:rPr lang="en-US" noProof="1">
                <a:latin typeface="Comfortaa" pitchFamily="2" charset="0"/>
              </a:rPr>
              <a:t>Program.cs </a:t>
            </a:r>
            <a:r>
              <a:rPr lang="bg-BG" noProof="1">
                <a:latin typeface="Comfortaa" pitchFamily="2" charset="0"/>
              </a:rPr>
              <a:t>създаваме по един обект от всяка машина и един обект от </a:t>
            </a:r>
            <a:r>
              <a:rPr lang="en-US" b="1" noProof="1">
                <a:solidFill>
                  <a:srgbClr val="00B0F0"/>
                </a:solidFill>
                <a:latin typeface="Comfortaa" pitchFamily="2" charset="0"/>
              </a:rPr>
              <a:t>MachineOperator</a:t>
            </a:r>
          </a:p>
        </p:txBody>
      </p:sp>
      <p:sp>
        <p:nvSpPr>
          <p:cNvPr id="7" name="Text Placeholder 5"/>
          <p:cNvSpPr txBox="1">
            <a:spLocks/>
          </p:cNvSpPr>
          <p:nvPr/>
        </p:nvSpPr>
        <p:spPr>
          <a:xfrm>
            <a:off x="700201" y="2211080"/>
            <a:ext cx="10791600" cy="4208057"/>
          </a:xfrm>
          <a:prstGeom prst="rect">
            <a:avLst/>
          </a:prstGeom>
          <a:ln/>
        </p:spPr>
        <p:style>
          <a:lnRef idx="2">
            <a:schemeClr val="dk1">
              <a:shade val="50000"/>
            </a:schemeClr>
          </a:lnRef>
          <a:fillRef idx="1">
            <a:schemeClr val="dk1"/>
          </a:fillRef>
          <a:effectRef idx="0">
            <a:schemeClr val="dk1"/>
          </a:effectRef>
          <a:fontRef idx="minor">
            <a:schemeClr val="lt1"/>
          </a:fontRef>
        </p:style>
        <p:txBody>
          <a:bodyPr vert="horz" wrap="square" lIns="144000" tIns="72000" rIns="144000" bIns="72000" rtlCol="0">
            <a:spAutoFit/>
          </a:bodyPr>
          <a:lstStyle>
            <a:lvl1pPr indent="0">
              <a:lnSpc>
                <a:spcPct val="100000"/>
              </a:lnSpc>
              <a:spcBef>
                <a:spcPts val="0"/>
              </a:spcBef>
              <a:spcAft>
                <a:spcPts val="0"/>
              </a:spcAft>
              <a:buClr>
                <a:srgbClr val="F2B254"/>
              </a:buClr>
              <a:buSzPct val="100000"/>
              <a:buFont typeface="Wingdings" panose="05000000000000000000" pitchFamily="2" charset="2"/>
              <a:buNone/>
              <a:defRPr lang="en-US" b="1" noProof="1" smtClean="0">
                <a:solidFill>
                  <a:srgbClr val="FBEEDC"/>
                </a:solidFill>
                <a:effectLst>
                  <a:outerShdw blurRad="38100" dist="38100" dir="2700000" algn="tl">
                    <a:srgbClr val="000000">
                      <a:alpha val="43137"/>
                    </a:srgbClr>
                  </a:outerShdw>
                </a:effectLst>
                <a:latin typeface="Consolas" pitchFamily="49" charset="0"/>
                <a:cs typeface="Consolas" pitchFamily="49" charset="0"/>
              </a:defRPr>
            </a:lvl1pPr>
            <a:lvl2pPr indent="-231606">
              <a:lnSpc>
                <a:spcPct val="105000"/>
              </a:lnSpc>
              <a:spcBef>
                <a:spcPts val="600"/>
              </a:spcBef>
              <a:spcAft>
                <a:spcPts val="600"/>
              </a:spcAft>
              <a:buClr>
                <a:schemeClr val="accent1"/>
              </a:buClr>
              <a:buSzPct val="80000"/>
              <a:buFont typeface="Wingdings" panose="05000000000000000000" pitchFamily="2" charset="2"/>
              <a:buChar char="§"/>
              <a:defRPr sz="3200" b="0"/>
            </a:lvl2pPr>
            <a:lvl3pPr marL="914240" indent="-231606">
              <a:lnSpc>
                <a:spcPct val="105000"/>
              </a:lnSpc>
              <a:spcBef>
                <a:spcPts val="600"/>
              </a:spcBef>
              <a:spcAft>
                <a:spcPts val="600"/>
              </a:spcAft>
              <a:buClr>
                <a:srgbClr val="EF9A1D"/>
              </a:buClr>
              <a:buSzPct val="80000"/>
              <a:buFont typeface="Wingdings" panose="05000000000000000000" pitchFamily="2" charset="2"/>
              <a:buChar char="§"/>
              <a:defRPr sz="3000" b="0"/>
            </a:lvl3pPr>
            <a:lvl4pPr marL="1218987" indent="-231606">
              <a:lnSpc>
                <a:spcPct val="105000"/>
              </a:lnSpc>
              <a:spcBef>
                <a:spcPts val="600"/>
              </a:spcBef>
              <a:spcAft>
                <a:spcPts val="600"/>
              </a:spcAft>
              <a:buClr>
                <a:srgbClr val="ED9411"/>
              </a:buClr>
              <a:buSzPct val="80000"/>
              <a:buFont typeface="Wingdings" panose="05000000000000000000" pitchFamily="2" charset="2"/>
              <a:buChar char="§"/>
              <a:defRPr sz="2800" b="0"/>
            </a:lvl4pPr>
            <a:lvl5pPr marL="1523733" indent="-231606">
              <a:lnSpc>
                <a:spcPct val="105000"/>
              </a:lnSpc>
              <a:spcBef>
                <a:spcPts val="600"/>
              </a:spcBef>
              <a:spcAft>
                <a:spcPts val="600"/>
              </a:spcAft>
              <a:buClr>
                <a:srgbClr val="E28D10"/>
              </a:buClr>
              <a:buSzPct val="80000"/>
              <a:buFont typeface="Wingdings" panose="05000000000000000000" pitchFamily="2" charset="2"/>
              <a:buChar char="§"/>
              <a:defRPr sz="2600" b="0"/>
            </a:lvl5pPr>
            <a:lvl6pPr marL="1828480" indent="-231606">
              <a:lnSpc>
                <a:spcPct val="90000"/>
              </a:lnSpc>
              <a:spcBef>
                <a:spcPts val="800"/>
              </a:spcBef>
              <a:buClr>
                <a:schemeClr val="accent1"/>
              </a:buClr>
              <a:buSzPct val="80000"/>
              <a:buFont typeface="Arial" pitchFamily="34" charset="0"/>
              <a:buChar char="•"/>
              <a:defRPr sz="2000"/>
            </a:lvl6pPr>
            <a:lvl7pPr marL="2133227" indent="-231606">
              <a:lnSpc>
                <a:spcPct val="90000"/>
              </a:lnSpc>
              <a:spcBef>
                <a:spcPts val="800"/>
              </a:spcBef>
              <a:buClr>
                <a:schemeClr val="accent1"/>
              </a:buClr>
              <a:buSzPct val="80000"/>
              <a:buFont typeface="Arial" pitchFamily="34" charset="0"/>
              <a:buChar char="•"/>
              <a:defRPr sz="2000"/>
            </a:lvl7pPr>
            <a:lvl8pPr marL="2437972" indent="-231606">
              <a:lnSpc>
                <a:spcPct val="90000"/>
              </a:lnSpc>
              <a:spcBef>
                <a:spcPts val="800"/>
              </a:spcBef>
              <a:buClr>
                <a:schemeClr val="accent1"/>
              </a:buClr>
              <a:buSzPct val="80000"/>
              <a:buFont typeface="Arial" pitchFamily="34" charset="0"/>
              <a:buChar char="•"/>
              <a:defRPr sz="2000" baseline="0"/>
            </a:lvl8pPr>
            <a:lvl9pPr marL="2742720" indent="-231606">
              <a:lnSpc>
                <a:spcPct val="90000"/>
              </a:lnSpc>
              <a:spcBef>
                <a:spcPts val="800"/>
              </a:spcBef>
              <a:buClr>
                <a:schemeClr val="accent1"/>
              </a:buClr>
              <a:buSzPct val="80000"/>
              <a:buFont typeface="Arial" pitchFamily="34" charset="0"/>
              <a:buChar char="•"/>
              <a:defRPr sz="2000" baseline="0"/>
            </a:lvl9pPr>
          </a:lstStyle>
          <a:p>
            <a:r>
              <a:rPr lang="en-US" sz="2200" dirty="0">
                <a:solidFill>
                  <a:schemeClr val="bg1"/>
                </a:solidFill>
                <a:effectLst/>
              </a:rPr>
              <a:t>Car </a:t>
            </a:r>
            <a:r>
              <a:rPr lang="en-US" sz="2200" dirty="0" err="1">
                <a:solidFill>
                  <a:schemeClr val="bg1"/>
                </a:solidFill>
                <a:effectLst/>
              </a:rPr>
              <a:t>car</a:t>
            </a:r>
            <a:r>
              <a:rPr lang="en-US" sz="2200" dirty="0">
                <a:solidFill>
                  <a:schemeClr val="bg1"/>
                </a:solidFill>
                <a:effectLst/>
              </a:rPr>
              <a:t> = new Car();</a:t>
            </a:r>
          </a:p>
          <a:p>
            <a:r>
              <a:rPr lang="en-US" sz="2200" dirty="0" err="1">
                <a:solidFill>
                  <a:schemeClr val="bg1"/>
                </a:solidFill>
                <a:effectLst/>
              </a:rPr>
              <a:t>LawnMower</a:t>
            </a:r>
            <a:r>
              <a:rPr lang="en-US" sz="2200" dirty="0">
                <a:solidFill>
                  <a:schemeClr val="bg1"/>
                </a:solidFill>
                <a:effectLst/>
              </a:rPr>
              <a:t> </a:t>
            </a:r>
            <a:r>
              <a:rPr lang="en-US" sz="2200" dirty="0" err="1">
                <a:solidFill>
                  <a:schemeClr val="bg1"/>
                </a:solidFill>
                <a:effectLst/>
              </a:rPr>
              <a:t>lawnMower</a:t>
            </a:r>
            <a:r>
              <a:rPr lang="en-US" sz="2200" dirty="0">
                <a:solidFill>
                  <a:schemeClr val="bg1"/>
                </a:solidFill>
                <a:effectLst/>
              </a:rPr>
              <a:t> = new </a:t>
            </a:r>
            <a:r>
              <a:rPr lang="en-US" sz="2200" dirty="0" err="1">
                <a:solidFill>
                  <a:schemeClr val="bg1"/>
                </a:solidFill>
                <a:effectLst/>
              </a:rPr>
              <a:t>LawnMower</a:t>
            </a:r>
            <a:r>
              <a:rPr lang="en-US" sz="2200" dirty="0">
                <a:solidFill>
                  <a:schemeClr val="bg1"/>
                </a:solidFill>
                <a:effectLst/>
              </a:rPr>
              <a:t>();</a:t>
            </a:r>
          </a:p>
          <a:p>
            <a:r>
              <a:rPr lang="en-US" sz="2200" dirty="0">
                <a:solidFill>
                  <a:schemeClr val="bg1"/>
                </a:solidFill>
                <a:effectLst/>
              </a:rPr>
              <a:t>Airplane </a:t>
            </a:r>
            <a:r>
              <a:rPr lang="en-US" sz="2200" dirty="0" err="1">
                <a:solidFill>
                  <a:schemeClr val="bg1"/>
                </a:solidFill>
                <a:effectLst/>
              </a:rPr>
              <a:t>airplane</a:t>
            </a:r>
            <a:r>
              <a:rPr lang="en-US" sz="2200" dirty="0">
                <a:solidFill>
                  <a:schemeClr val="bg1"/>
                </a:solidFill>
                <a:effectLst/>
              </a:rPr>
              <a:t> = new Airplane();</a:t>
            </a:r>
          </a:p>
          <a:p>
            <a:r>
              <a:rPr lang="en-US" sz="2200" dirty="0">
                <a:solidFill>
                  <a:schemeClr val="bg1"/>
                </a:solidFill>
                <a:effectLst/>
              </a:rPr>
              <a:t>Truck </a:t>
            </a:r>
            <a:r>
              <a:rPr lang="en-US" sz="2200" dirty="0" err="1">
                <a:solidFill>
                  <a:schemeClr val="bg1"/>
                </a:solidFill>
                <a:effectLst/>
              </a:rPr>
              <a:t>truck</a:t>
            </a:r>
            <a:r>
              <a:rPr lang="en-US" sz="2200" dirty="0">
                <a:solidFill>
                  <a:schemeClr val="bg1"/>
                </a:solidFill>
                <a:effectLst/>
              </a:rPr>
              <a:t> = new Truck();</a:t>
            </a:r>
          </a:p>
          <a:p>
            <a:endParaRPr lang="en-US" sz="2200" dirty="0">
              <a:solidFill>
                <a:schemeClr val="bg1"/>
              </a:solidFill>
              <a:effectLst/>
            </a:endParaRPr>
          </a:p>
          <a:p>
            <a:r>
              <a:rPr lang="en-US" sz="2200" dirty="0" err="1">
                <a:solidFill>
                  <a:schemeClr val="bg1"/>
                </a:solidFill>
                <a:effectLst/>
              </a:rPr>
              <a:t>MachineOperator</a:t>
            </a:r>
            <a:r>
              <a:rPr lang="en-US" sz="2200" dirty="0">
                <a:solidFill>
                  <a:schemeClr val="bg1"/>
                </a:solidFill>
                <a:effectLst/>
              </a:rPr>
              <a:t> </a:t>
            </a:r>
            <a:r>
              <a:rPr lang="en-US" sz="2200" dirty="0" err="1">
                <a:solidFill>
                  <a:schemeClr val="bg1"/>
                </a:solidFill>
                <a:effectLst/>
              </a:rPr>
              <a:t>mo</a:t>
            </a:r>
            <a:r>
              <a:rPr lang="en-US" sz="2200" dirty="0">
                <a:solidFill>
                  <a:schemeClr val="bg1"/>
                </a:solidFill>
                <a:effectLst/>
              </a:rPr>
              <a:t> = new </a:t>
            </a:r>
            <a:r>
              <a:rPr lang="en-US" sz="2200" dirty="0" err="1">
                <a:solidFill>
                  <a:schemeClr val="bg1"/>
                </a:solidFill>
                <a:effectLst/>
              </a:rPr>
              <a:t>MachineOperator</a:t>
            </a:r>
            <a:r>
              <a:rPr lang="en-US" sz="2200" dirty="0">
                <a:solidFill>
                  <a:schemeClr val="bg1"/>
                </a:solidFill>
                <a:effectLst/>
              </a:rPr>
              <a:t>(car);</a:t>
            </a:r>
          </a:p>
          <a:p>
            <a:r>
              <a:rPr lang="en-US" sz="2200" dirty="0" err="1">
                <a:solidFill>
                  <a:schemeClr val="bg1"/>
                </a:solidFill>
                <a:effectLst/>
              </a:rPr>
              <a:t>mo.Start</a:t>
            </a:r>
            <a:r>
              <a:rPr lang="en-US" sz="2200" dirty="0">
                <a:solidFill>
                  <a:schemeClr val="bg1"/>
                </a:solidFill>
                <a:effectLst/>
              </a:rPr>
              <a:t>();</a:t>
            </a:r>
            <a:r>
              <a:rPr lang="bg-BG" sz="2200" dirty="0">
                <a:solidFill>
                  <a:schemeClr val="bg1"/>
                </a:solidFill>
                <a:effectLst/>
              </a:rPr>
              <a:t> //пускаме машината</a:t>
            </a:r>
            <a:endParaRPr lang="en-US" sz="2200" dirty="0">
              <a:solidFill>
                <a:schemeClr val="bg1"/>
              </a:solidFill>
              <a:effectLst/>
            </a:endParaRPr>
          </a:p>
          <a:p>
            <a:r>
              <a:rPr lang="en-US" sz="2200" dirty="0" err="1">
                <a:solidFill>
                  <a:schemeClr val="bg1"/>
                </a:solidFill>
                <a:effectLst/>
              </a:rPr>
              <a:t>mo.Stop</a:t>
            </a:r>
            <a:r>
              <a:rPr lang="en-US" sz="2200" dirty="0">
                <a:solidFill>
                  <a:schemeClr val="bg1"/>
                </a:solidFill>
                <a:effectLst/>
              </a:rPr>
              <a:t>();</a:t>
            </a:r>
            <a:r>
              <a:rPr lang="bg-BG" sz="2200" dirty="0">
                <a:solidFill>
                  <a:schemeClr val="bg1"/>
                </a:solidFill>
                <a:effectLst/>
              </a:rPr>
              <a:t> //спираме машината</a:t>
            </a:r>
            <a:endParaRPr lang="en-US" sz="2200" dirty="0">
              <a:solidFill>
                <a:schemeClr val="bg1"/>
              </a:solidFill>
              <a:effectLst/>
            </a:endParaRPr>
          </a:p>
          <a:p>
            <a:r>
              <a:rPr lang="en-US" sz="2200" dirty="0" err="1">
                <a:solidFill>
                  <a:schemeClr val="bg1"/>
                </a:solidFill>
                <a:effectLst/>
              </a:rPr>
              <a:t>mo.Entity</a:t>
            </a:r>
            <a:r>
              <a:rPr lang="en-US" sz="2200" dirty="0">
                <a:solidFill>
                  <a:schemeClr val="bg1"/>
                </a:solidFill>
                <a:effectLst/>
              </a:rPr>
              <a:t> = </a:t>
            </a:r>
            <a:r>
              <a:rPr lang="en-US" sz="2200" dirty="0" err="1">
                <a:solidFill>
                  <a:schemeClr val="bg1"/>
                </a:solidFill>
                <a:effectLst/>
              </a:rPr>
              <a:t>lawnMower</a:t>
            </a:r>
            <a:r>
              <a:rPr lang="en-US" sz="2200" dirty="0">
                <a:solidFill>
                  <a:schemeClr val="bg1"/>
                </a:solidFill>
                <a:effectLst/>
              </a:rPr>
              <a:t>;</a:t>
            </a:r>
            <a:r>
              <a:rPr lang="bg-BG" sz="2200" dirty="0">
                <a:solidFill>
                  <a:schemeClr val="bg1"/>
                </a:solidFill>
                <a:effectLst/>
              </a:rPr>
              <a:t> //сменяме машината</a:t>
            </a:r>
            <a:endParaRPr lang="en-US" sz="2200" dirty="0">
              <a:solidFill>
                <a:schemeClr val="bg1"/>
              </a:solidFill>
              <a:effectLst/>
            </a:endParaRPr>
          </a:p>
          <a:p>
            <a:r>
              <a:rPr lang="en-US" sz="2200" dirty="0" err="1">
                <a:solidFill>
                  <a:schemeClr val="bg1"/>
                </a:solidFill>
                <a:effectLst/>
              </a:rPr>
              <a:t>mo.Start</a:t>
            </a:r>
            <a:r>
              <a:rPr lang="en-US" sz="2200" dirty="0">
                <a:solidFill>
                  <a:schemeClr val="bg1"/>
                </a:solidFill>
                <a:effectLst/>
              </a:rPr>
              <a:t>();</a:t>
            </a:r>
          </a:p>
          <a:p>
            <a:r>
              <a:rPr lang="en-US" sz="2200" dirty="0" err="1">
                <a:solidFill>
                  <a:schemeClr val="bg1"/>
                </a:solidFill>
                <a:effectLst/>
              </a:rPr>
              <a:t>mo.Stop</a:t>
            </a:r>
            <a:r>
              <a:rPr lang="en-US" sz="2200" dirty="0">
                <a:solidFill>
                  <a:schemeClr val="bg1"/>
                </a:solidFill>
                <a:effectLst/>
              </a:rPr>
              <a:t>();</a:t>
            </a:r>
          </a:p>
          <a:p>
            <a:r>
              <a:rPr lang="en-US" sz="2200" dirty="0">
                <a:solidFill>
                  <a:schemeClr val="bg1"/>
                </a:solidFill>
                <a:effectLst/>
              </a:rPr>
              <a:t>// TODO: </a:t>
            </a:r>
            <a:r>
              <a:rPr lang="bg-BG" sz="2200" dirty="0">
                <a:solidFill>
                  <a:schemeClr val="bg1"/>
                </a:solidFill>
                <a:effectLst/>
              </a:rPr>
              <a:t>аналогично можем да сменим машината с другите</a:t>
            </a:r>
            <a:endParaRPr lang="en-US" sz="2200" dirty="0">
              <a:solidFill>
                <a:schemeClr val="bg1"/>
              </a:solidFill>
              <a:effectLst/>
            </a:endParaRPr>
          </a:p>
        </p:txBody>
      </p:sp>
      <p:sp>
        <p:nvSpPr>
          <p:cNvPr id="6" name="Slide Number Placeholder">
            <a:extLst>
              <a:ext uri="{FF2B5EF4-FFF2-40B4-BE49-F238E27FC236}">
                <a16:creationId xmlns:a16="http://schemas.microsoft.com/office/drawing/2014/main" id="{34F7E779-07F1-42BF-A7B5-25604E957A44}"/>
              </a:ext>
            </a:extLst>
          </p:cNvPr>
          <p:cNvSpPr>
            <a:spLocks noGrp="1"/>
          </p:cNvSpPr>
          <p:nvPr>
            <p:ph type="sldNum" sz="quarter" idx="4"/>
          </p:nvPr>
        </p:nvSpPr>
        <p:spPr>
          <a:xfrm>
            <a:off x="11566412" y="6525002"/>
            <a:ext cx="428822" cy="196477"/>
          </a:xfrm>
          <a:prstGeom prst="rect">
            <a:avLst/>
          </a:prstGeom>
        </p:spPr>
        <p:txBody>
          <a:bodyPr vert="horz" lIns="36000" tIns="36000" rIns="36000" bIns="36000" rtlCol="0" anchor="ctr"/>
          <a:lstStyle>
            <a:defPPr>
              <a:defRPr lang="en-US"/>
            </a:defPPr>
            <a:lvl1pPr marL="0" algn="r" defTabSz="1218987" rtl="0" eaLnBrk="1" latinLnBrk="0" hangingPunct="1">
              <a:defRPr sz="1000" kern="1200">
                <a:solidFill>
                  <a:schemeClr val="tx1">
                    <a:tint val="75000"/>
                  </a:schemeClr>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a:lstStyle>
          <a:p>
            <a:fld id="{C014DD1E-5D91-48A3-AD6D-45FBA980D106}" type="slidenum">
              <a:rPr lang="en-US" smtClean="0">
                <a:solidFill>
                  <a:prstClr val="white">
                    <a:tint val="75000"/>
                  </a:prstClr>
                </a:solidFill>
              </a:rPr>
              <a:pPr/>
              <a:t>8</a:t>
            </a:fld>
            <a:endParaRPr lang="en-US" dirty="0">
              <a:solidFill>
                <a:prstClr val="white">
                  <a:tint val="75000"/>
                </a:prstClr>
              </a:solidFill>
            </a:endParaRPr>
          </a:p>
        </p:txBody>
      </p:sp>
      <p:sp>
        <p:nvSpPr>
          <p:cNvPr id="5" name="Title 1">
            <a:extLst>
              <a:ext uri="{FF2B5EF4-FFF2-40B4-BE49-F238E27FC236}">
                <a16:creationId xmlns:a16="http://schemas.microsoft.com/office/drawing/2014/main" id="{31A8DC38-DB14-34E2-F805-8197D168A24B}"/>
              </a:ext>
            </a:extLst>
          </p:cNvPr>
          <p:cNvSpPr>
            <a:spLocks noGrp="1"/>
          </p:cNvSpPr>
          <p:nvPr>
            <p:ph type="title"/>
          </p:nvPr>
        </p:nvSpPr>
        <p:spPr>
          <a:xfrm>
            <a:off x="685799" y="334497"/>
            <a:ext cx="10767951" cy="982972"/>
          </a:xfrm>
          <a:prstGeom prst="rect">
            <a:avLst/>
          </a:prstGeom>
        </p:spPr>
        <p:txBody>
          <a:bodyPr anchor="ctr" anchorCtr="0"/>
          <a:lstStyle/>
          <a:p>
            <a:pPr>
              <a:lnSpc>
                <a:spcPts val="4000"/>
              </a:lnSpc>
              <a:defRPr/>
            </a:pPr>
            <a:r>
              <a:rPr lang="bg-BG" dirty="0">
                <a:latin typeface="Comfortaa" pitchFamily="2" charset="0"/>
              </a:rPr>
              <a:t>Решение: Машина </a:t>
            </a:r>
            <a:r>
              <a:rPr lang="en-US" dirty="0">
                <a:latin typeface="Comfortaa" pitchFamily="2" charset="0"/>
              </a:rPr>
              <a:t>[6/6]</a:t>
            </a:r>
            <a:endParaRPr lang="bg-BG" sz="4000" dirty="0">
              <a:latin typeface="Comfortaa" pitchFamily="2" charset="0"/>
            </a:endParaRPr>
          </a:p>
        </p:txBody>
      </p:sp>
    </p:spTree>
    <p:extLst>
      <p:ext uri="{BB962C8B-B14F-4D97-AF65-F5344CB8AC3E}">
        <p14:creationId xmlns:p14="http://schemas.microsoft.com/office/powerpoint/2010/main" val="169580866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590510"/>
            <a:ext cx="10673921" cy="4857792"/>
          </a:xfrm>
        </p:spPr>
        <p:txBody>
          <a:bodyPr>
            <a:noAutofit/>
          </a:bodyPr>
          <a:lstStyle/>
          <a:p>
            <a:pPr marL="358775" indent="-358775">
              <a:lnSpc>
                <a:spcPct val="110000"/>
              </a:lnSpc>
            </a:pPr>
            <a:r>
              <a:rPr lang="bg-BG" sz="3200" dirty="0">
                <a:latin typeface="Comfortaa" pitchFamily="2" charset="0"/>
              </a:rPr>
              <a:t>Интерфейсите ни позволяват да постигнем</a:t>
            </a:r>
            <a:r>
              <a:rPr lang="en-US" sz="3200" dirty="0">
                <a:latin typeface="Comfortaa" pitchFamily="2" charset="0"/>
              </a:rPr>
              <a:t> </a:t>
            </a:r>
            <a:r>
              <a:rPr lang="bg-BG" sz="3200" dirty="0" err="1">
                <a:latin typeface="Comfortaa" pitchFamily="2" charset="0"/>
              </a:rPr>
              <a:t>полиморфистично</a:t>
            </a:r>
            <a:r>
              <a:rPr lang="bg-BG" sz="3200" dirty="0">
                <a:latin typeface="Comfortaa" pitchFamily="2" charset="0"/>
              </a:rPr>
              <a:t> поведение, което да не</a:t>
            </a:r>
            <a:r>
              <a:rPr lang="en-US" sz="3200" dirty="0">
                <a:latin typeface="Comfortaa" pitchFamily="2" charset="0"/>
              </a:rPr>
              <a:t> </a:t>
            </a:r>
            <a:r>
              <a:rPr lang="bg-BG" sz="3200" dirty="0">
                <a:latin typeface="Comfortaa" pitchFamily="2" charset="0"/>
              </a:rPr>
              <a:t>зависи от кода и да е лесно за промяна.</a:t>
            </a:r>
          </a:p>
          <a:p>
            <a:pPr marL="358775" indent="-358775">
              <a:lnSpc>
                <a:spcPct val="110000"/>
              </a:lnSpc>
            </a:pPr>
            <a:r>
              <a:rPr lang="bg-BG" sz="3200" dirty="0">
                <a:latin typeface="Comfortaa" pitchFamily="2" charset="0"/>
              </a:rPr>
              <a:t>Можем с лекота да добавим още машини</a:t>
            </a:r>
            <a:br>
              <a:rPr lang="bg-BG" sz="3200" dirty="0">
                <a:latin typeface="Comfortaa" pitchFamily="2" charset="0"/>
              </a:rPr>
            </a:br>
            <a:r>
              <a:rPr lang="bg-BG" sz="3200" dirty="0">
                <a:latin typeface="Comfortaa" pitchFamily="2" charset="0"/>
              </a:rPr>
              <a:t>без да счупим кода</a:t>
            </a:r>
            <a:r>
              <a:rPr lang="en-US" sz="3200" dirty="0">
                <a:latin typeface="Comfortaa" pitchFamily="2" charset="0"/>
              </a:rPr>
              <a:t>, </a:t>
            </a:r>
            <a:r>
              <a:rPr lang="bg-BG" sz="3200" dirty="0">
                <a:latin typeface="Comfortaa" pitchFamily="2" charset="0"/>
              </a:rPr>
              <a:t>като отразим и спецификите</a:t>
            </a:r>
            <a:r>
              <a:rPr lang="en-US" sz="3200" dirty="0">
                <a:latin typeface="Comfortaa" pitchFamily="2" charset="0"/>
              </a:rPr>
              <a:t> </a:t>
            </a:r>
            <a:r>
              <a:rPr lang="bg-BG" sz="3200" dirty="0">
                <a:latin typeface="Comfortaa" pitchFamily="2" charset="0"/>
              </a:rPr>
              <a:t>на всяка една от тях</a:t>
            </a:r>
            <a:br>
              <a:rPr lang="bg-BG" sz="3200" dirty="0">
                <a:latin typeface="Comfortaa" pitchFamily="2" charset="0"/>
              </a:rPr>
            </a:br>
            <a:endParaRPr lang="bg-BG" sz="3200" dirty="0">
              <a:solidFill>
                <a:schemeClr val="tx2">
                  <a:lumMod val="75000"/>
                </a:schemeClr>
              </a:solidFill>
              <a:latin typeface="Comfortaa" pitchFamily="2" charset="0"/>
            </a:endParaRPr>
          </a:p>
        </p:txBody>
      </p:sp>
      <p:sp>
        <p:nvSpPr>
          <p:cNvPr id="4" name="Title 3"/>
          <p:cNvSpPr>
            <a:spLocks noGrp="1"/>
          </p:cNvSpPr>
          <p:nvPr>
            <p:ph type="title"/>
          </p:nvPr>
        </p:nvSpPr>
        <p:spPr/>
        <p:txBody>
          <a:bodyPr>
            <a:normAutofit/>
          </a:bodyPr>
          <a:lstStyle/>
          <a:p>
            <a:r>
              <a:rPr lang="bg-BG" dirty="0">
                <a:latin typeface="Comfortaa" pitchFamily="2" charset="0"/>
              </a:rPr>
              <a:t>Какво научихме от тази задача</a:t>
            </a:r>
            <a:endParaRPr lang="en-US" dirty="0">
              <a:latin typeface="Comfortaa" pitchFamily="2" charset="0"/>
            </a:endParaRPr>
          </a:p>
        </p:txBody>
      </p:sp>
    </p:spTree>
    <p:extLst>
      <p:ext uri="{BB962C8B-B14F-4D97-AF65-F5344CB8AC3E}">
        <p14:creationId xmlns:p14="http://schemas.microsoft.com/office/powerpoint/2010/main" val="3064621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descr="Icon&#10;&#10;Description automatically generated with medium confidence">
            <a:extLst>
              <a:ext uri="{FF2B5EF4-FFF2-40B4-BE49-F238E27FC236}">
                <a16:creationId xmlns:a16="http://schemas.microsoft.com/office/drawing/2014/main" id="{09547CF4-B25A-F864-DA65-5C7F1F83C4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352" y="83713"/>
            <a:ext cx="1575455" cy="1575458"/>
          </a:xfrm>
          <a:prstGeom prst="rect">
            <a:avLst/>
          </a:prstGeom>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A303128A-0EF3-84BD-F9ED-2E6316CD08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04792" y="83713"/>
            <a:ext cx="1699472" cy="141469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4EB993A-D432-5177-9922-4D00100F74D8}"/>
              </a:ext>
            </a:extLst>
          </p:cNvPr>
          <p:cNvSpPr txBox="1"/>
          <p:nvPr/>
        </p:nvSpPr>
        <p:spPr>
          <a:xfrm>
            <a:off x="1734047" y="365284"/>
            <a:ext cx="4729447" cy="923330"/>
          </a:xfrm>
          <a:prstGeom prst="rect">
            <a:avLst/>
          </a:prstGeom>
          <a:noFill/>
        </p:spPr>
        <p:txBody>
          <a:bodyPr wrap="square">
            <a:spAutoFit/>
          </a:bodyPr>
          <a:lstStyle/>
          <a:p>
            <a:pPr marL="0" marR="0">
              <a:spcBef>
                <a:spcPts val="0"/>
              </a:spcBef>
              <a:spcAft>
                <a:spcPts val="0"/>
              </a:spcAft>
            </a:pPr>
            <a:r>
              <a:rPr lang="bg-BG" dirty="0">
                <a:solidFill>
                  <a:schemeClr val="tx1"/>
                </a:solidFill>
                <a:effectLst/>
                <a:latin typeface="Comfortaa" pitchFamily="2" charset="0"/>
                <a:ea typeface="Times New Roman" panose="02020603050405020304" pitchFamily="18" charset="0"/>
                <a:cs typeface="Calibri" panose="020F0502020204030204" pitchFamily="34" charset="0"/>
              </a:rPr>
              <a:t>Национална програма </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a:p>
            <a:pPr marL="0" marR="0">
              <a:spcBef>
                <a:spcPts val="0"/>
              </a:spcBef>
              <a:spcAft>
                <a:spcPts val="0"/>
              </a:spcAft>
            </a:pPr>
            <a:r>
              <a:rPr lang="en-US" dirty="0">
                <a:solidFill>
                  <a:schemeClr val="tx1"/>
                </a:solidFill>
                <a:effectLst/>
                <a:latin typeface="Comfortaa" pitchFamily="2" charset="0"/>
                <a:ea typeface="Times New Roman" panose="02020603050405020304" pitchFamily="18" charset="0"/>
                <a:cs typeface="Calibri" panose="020F0502020204030204" pitchFamily="34" charset="0"/>
              </a:rPr>
              <a:t>"</a:t>
            </a:r>
            <a:r>
              <a:rPr lang="bg-BG" dirty="0">
                <a:solidFill>
                  <a:schemeClr val="tx1"/>
                </a:solidFill>
                <a:effectLst/>
                <a:latin typeface="Comfortaa" pitchFamily="2" charset="0"/>
                <a:ea typeface="Times New Roman" panose="02020603050405020304" pitchFamily="18" charset="0"/>
                <a:cs typeface="Calibri" panose="020F0502020204030204" pitchFamily="34" charset="0"/>
              </a:rPr>
              <a:t>Обучение за ИТ умения и кариера</a:t>
            </a:r>
            <a:r>
              <a:rPr lang="en-US" dirty="0">
                <a:solidFill>
                  <a:schemeClr val="tx1"/>
                </a:solidFill>
                <a:effectLst/>
                <a:latin typeface="Comfortaa" pitchFamily="2" charset="0"/>
                <a:ea typeface="Times New Roman" panose="02020603050405020304" pitchFamily="18" charset="0"/>
                <a:cs typeface="Calibri" panose="020F0502020204030204" pitchFamily="34" charset="0"/>
              </a:rPr>
              <a:t>"</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a:p>
            <a:pPr marL="0" marR="0">
              <a:spcBef>
                <a:spcPts val="0"/>
              </a:spcBef>
              <a:spcAft>
                <a:spcPts val="0"/>
              </a:spcAft>
              <a:tabLst>
                <a:tab pos="2865755" algn="ctr"/>
                <a:tab pos="5731510" algn="r"/>
              </a:tabLst>
            </a:pPr>
            <a:r>
              <a:rPr lang="bg-BG" u="sng" dirty="0">
                <a:latin typeface="Comfortaa" pitchFamily="2" charset="0"/>
                <a:ea typeface="Times New Roman" panose="02020603050405020304" pitchFamily="18" charset="0"/>
                <a:cs typeface="Calibri" panose="020F0502020204030204" pitchFamily="34" charset="0"/>
              </a:rPr>
              <a:t>https://it-kariera.mon.bg</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p:txBody>
      </p:sp>
      <p:sp>
        <p:nvSpPr>
          <p:cNvPr id="9" name="TextBox 8">
            <a:extLst>
              <a:ext uri="{FF2B5EF4-FFF2-40B4-BE49-F238E27FC236}">
                <a16:creationId xmlns:a16="http://schemas.microsoft.com/office/drawing/2014/main" id="{B522BFFF-21D1-37C4-D08A-94EDDBB11DD9}"/>
              </a:ext>
            </a:extLst>
          </p:cNvPr>
          <p:cNvSpPr txBox="1"/>
          <p:nvPr/>
        </p:nvSpPr>
        <p:spPr>
          <a:xfrm>
            <a:off x="6373448" y="365284"/>
            <a:ext cx="4017104" cy="923330"/>
          </a:xfrm>
          <a:prstGeom prst="rect">
            <a:avLst/>
          </a:prstGeom>
          <a:noFill/>
        </p:spPr>
        <p:txBody>
          <a:bodyPr wrap="square">
            <a:spAutoFit/>
          </a:bodyPr>
          <a:lstStyle/>
          <a:p>
            <a:pPr marL="0" marR="0" algn="r">
              <a:spcBef>
                <a:spcPts val="0"/>
              </a:spcBef>
              <a:spcAft>
                <a:spcPts val="0"/>
              </a:spcAft>
            </a:pPr>
            <a:r>
              <a:rPr lang="bg-BG" dirty="0">
                <a:solidFill>
                  <a:schemeClr val="tx1"/>
                </a:solidFill>
                <a:effectLst/>
                <a:latin typeface="Comfortaa" pitchFamily="2" charset="0"/>
                <a:ea typeface="Times New Roman" panose="02020603050405020304" pitchFamily="18" charset="0"/>
                <a:cs typeface="Calibri" panose="020F0502020204030204" pitchFamily="34" charset="0"/>
              </a:rPr>
              <a:t>Министерството на образованието и науката</a:t>
            </a:r>
            <a:endParaRPr lang="bg-BG" dirty="0">
              <a:solidFill>
                <a:schemeClr val="tx1"/>
              </a:solidFill>
              <a:effectLst/>
              <a:latin typeface="Comfortaa" pitchFamily="2" charset="0"/>
              <a:ea typeface="Times New Roman" panose="02020603050405020304" pitchFamily="18" charset="0"/>
              <a:cs typeface="Arial" panose="020B0604020202020204" pitchFamily="34" charset="0"/>
            </a:endParaRPr>
          </a:p>
          <a:p>
            <a:pPr marL="0" marR="0" algn="r">
              <a:spcBef>
                <a:spcPts val="0"/>
              </a:spcBef>
              <a:spcAft>
                <a:spcPts val="0"/>
              </a:spcAft>
              <a:tabLst>
                <a:tab pos="2865755" algn="ctr"/>
                <a:tab pos="5731510" algn="r"/>
              </a:tabLst>
            </a:pPr>
            <a:r>
              <a:rPr lang="en-US" u="sng" dirty="0">
                <a:solidFill>
                  <a:schemeClr val="tx1"/>
                </a:solidFill>
                <a:effectLst/>
                <a:latin typeface="Comfortaa" pitchFamily="2" charset="0"/>
                <a:ea typeface="Times New Roman" panose="02020603050405020304" pitchFamily="18" charset="0"/>
                <a:cs typeface="Calibri" panose="020F0502020204030204" pitchFamily="34" charset="0"/>
                <a:hlinkClick r:id="rId4">
                  <a:extLst>
                    <a:ext uri="{A12FA001-AC4F-418D-AE19-62706E023703}">
                      <ahyp:hlinkClr xmlns:ahyp="http://schemas.microsoft.com/office/drawing/2018/hyperlinkcolor" val="tx"/>
                    </a:ext>
                  </a:extLst>
                </a:hlinkClick>
              </a:rPr>
              <a:t>https://www</a:t>
            </a:r>
            <a:r>
              <a:rPr lang="bg-BG" u="sng" dirty="0">
                <a:solidFill>
                  <a:schemeClr val="tx1"/>
                </a:solidFill>
                <a:effectLst/>
                <a:latin typeface="Comfortaa" pitchFamily="2" charset="0"/>
                <a:ea typeface="Times New Roman" panose="02020603050405020304" pitchFamily="18" charset="0"/>
                <a:cs typeface="Calibri" panose="020F0502020204030204" pitchFamily="34" charset="0"/>
              </a:rPr>
              <a:t>.</a:t>
            </a:r>
            <a:r>
              <a:rPr lang="en-US" u="sng" dirty="0">
                <a:solidFill>
                  <a:schemeClr val="tx1"/>
                </a:solidFill>
                <a:effectLst/>
                <a:latin typeface="Comfortaa" pitchFamily="2" charset="0"/>
                <a:ea typeface="Times New Roman" panose="02020603050405020304" pitchFamily="18" charset="0"/>
                <a:cs typeface="Calibri" panose="020F0502020204030204" pitchFamily="34" charset="0"/>
              </a:rPr>
              <a:t>mon.bg</a:t>
            </a:r>
            <a:endParaRPr lang="bg-BG" dirty="0">
              <a:latin typeface="Comfortaa" pitchFamily="2" charset="0"/>
            </a:endParaRPr>
          </a:p>
        </p:txBody>
      </p:sp>
      <p:pic>
        <p:nvPicPr>
          <p:cNvPr id="2" name="Logo CC-BY-NC-SA">
            <a:hlinkClick r:id="rId5"/>
            <a:extLst>
              <a:ext uri="{FF2B5EF4-FFF2-40B4-BE49-F238E27FC236}">
                <a16:creationId xmlns:a16="http://schemas.microsoft.com/office/drawing/2014/main" id="{39F87C09-7AAD-A59F-33F5-8BECE165CB0C}"/>
              </a:ext>
            </a:extLst>
          </p:cNvPr>
          <p:cNvPicPr>
            <a:picLocks noChangeAspect="1"/>
          </p:cNvPicPr>
          <p:nvPr/>
        </p:nvPicPr>
        <p:blipFill>
          <a:blip r:embed="rId6"/>
          <a:stretch>
            <a:fillRect/>
          </a:stretch>
        </p:blipFill>
        <p:spPr>
          <a:xfrm>
            <a:off x="4087447" y="2650021"/>
            <a:ext cx="4017104" cy="1440815"/>
          </a:xfrm>
          <a:prstGeom prst="rect">
            <a:avLst/>
          </a:prstGeom>
        </p:spPr>
      </p:pic>
      <p:sp>
        <p:nvSpPr>
          <p:cNvPr id="12" name="TextBox 11">
            <a:extLst>
              <a:ext uri="{FF2B5EF4-FFF2-40B4-BE49-F238E27FC236}">
                <a16:creationId xmlns:a16="http://schemas.microsoft.com/office/drawing/2014/main" id="{ADBEA407-2EEF-D82D-ADB6-D20902F79FA2}"/>
              </a:ext>
            </a:extLst>
          </p:cNvPr>
          <p:cNvSpPr txBox="1"/>
          <p:nvPr/>
        </p:nvSpPr>
        <p:spPr>
          <a:xfrm>
            <a:off x="262246" y="5452243"/>
            <a:ext cx="11667507" cy="1200329"/>
          </a:xfrm>
          <a:prstGeom prst="rect">
            <a:avLst/>
          </a:prstGeom>
          <a:noFill/>
        </p:spPr>
        <p:txBody>
          <a:bodyPr wrap="square">
            <a:spAutoFit/>
          </a:bodyPr>
          <a:lstStyle/>
          <a:p>
            <a:pPr algn="ctr"/>
            <a:r>
              <a:rPr lang="bg-BG" sz="1800" dirty="0">
                <a:latin typeface="Comfortaa" pitchFamily="2" charset="0"/>
              </a:rPr>
              <a:t>Документът е разработен за нуждите на Национална програма "Обучение за ИТ умения и кариера" на Министерството на образованието и науката (МОН)</a:t>
            </a:r>
            <a:r>
              <a:rPr lang="en-US" sz="1800" dirty="0">
                <a:latin typeface="Comfortaa" pitchFamily="2" charset="0"/>
              </a:rPr>
              <a:t> </a:t>
            </a:r>
            <a:r>
              <a:rPr lang="bg-BG" sz="1800" dirty="0">
                <a:latin typeface="Comfortaa" pitchFamily="2" charset="0"/>
              </a:rPr>
              <a:t>и се разпространява под свободен лиценз CC-BY-NC-SA (</a:t>
            </a:r>
            <a:r>
              <a:rPr lang="bg-BG" sz="1800" dirty="0" err="1">
                <a:latin typeface="Comfortaa" pitchFamily="2" charset="0"/>
              </a:rPr>
              <a:t>Creative</a:t>
            </a:r>
            <a:r>
              <a:rPr lang="bg-BG" sz="1800" dirty="0">
                <a:latin typeface="Comfortaa" pitchFamily="2" charset="0"/>
              </a:rPr>
              <a:t> </a:t>
            </a:r>
            <a:r>
              <a:rPr lang="bg-BG" sz="1800" dirty="0" err="1">
                <a:latin typeface="Comfortaa" pitchFamily="2" charset="0"/>
              </a:rPr>
              <a:t>Commons</a:t>
            </a:r>
            <a:r>
              <a:rPr lang="bg-BG" sz="1800" dirty="0">
                <a:latin typeface="Comfortaa" pitchFamily="2" charset="0"/>
              </a:rPr>
              <a:t> </a:t>
            </a:r>
            <a:r>
              <a:rPr lang="bg-BG" sz="1800" dirty="0" err="1">
                <a:latin typeface="Comfortaa" pitchFamily="2" charset="0"/>
              </a:rPr>
              <a:t>Attribution-Non-Commercial-Share-Alike</a:t>
            </a:r>
            <a:r>
              <a:rPr lang="bg-BG" sz="1800" dirty="0">
                <a:latin typeface="Comfortaa" pitchFamily="2" charset="0"/>
              </a:rPr>
              <a:t> 4.0 International).</a:t>
            </a:r>
            <a:endParaRPr lang="bg-BG" dirty="0"/>
          </a:p>
        </p:txBody>
      </p:sp>
    </p:spTree>
    <p:extLst>
      <p:ext uri="{BB962C8B-B14F-4D97-AF65-F5344CB8AC3E}">
        <p14:creationId xmlns:p14="http://schemas.microsoft.com/office/powerpoint/2010/main" val="124134467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92</TotalTime>
  <Words>1601</Words>
  <Application>Microsoft Office PowerPoint</Application>
  <PresentationFormat>Widescreen</PresentationFormat>
  <Paragraphs>157</Paragraphs>
  <Slides>10</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Calibri Light</vt:lpstr>
      <vt:lpstr>Comfortaa</vt:lpstr>
      <vt:lpstr>Consolas</vt:lpstr>
      <vt:lpstr>Wingdings</vt:lpstr>
      <vt:lpstr>Office Theme</vt:lpstr>
      <vt:lpstr>Полиморфизъм чрез интерфейси</vt:lpstr>
      <vt:lpstr>Задача: Машина</vt:lpstr>
      <vt:lpstr>Решение: Машина [1/6]</vt:lpstr>
      <vt:lpstr>Решение: Машина [2/6]</vt:lpstr>
      <vt:lpstr>Решение: Машина [3/6]</vt:lpstr>
      <vt:lpstr>Решение: Машина [4/6]</vt:lpstr>
      <vt:lpstr>Решение: Машина [5/6]</vt:lpstr>
      <vt:lpstr>Решение: Машина [6/6]</vt:lpstr>
      <vt:lpstr>Какво научихме от тази задача</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Димитър Минчев</dc:creator>
  <cp:lastModifiedBy>Димитър Минчев</cp:lastModifiedBy>
  <cp:revision>11</cp:revision>
  <dcterms:created xsi:type="dcterms:W3CDTF">2022-08-09T09:25:46Z</dcterms:created>
  <dcterms:modified xsi:type="dcterms:W3CDTF">2022-09-14T15:47:26Z</dcterms:modified>
</cp:coreProperties>
</file>