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6"/>
  </p:notesMasterIdLst>
  <p:sldIdLst>
    <p:sldId id="258" r:id="rId2"/>
    <p:sldId id="571" r:id="rId3"/>
    <p:sldId id="608" r:id="rId4"/>
    <p:sldId id="625" r:id="rId5"/>
    <p:sldId id="626" r:id="rId6"/>
    <p:sldId id="627" r:id="rId7"/>
    <p:sldId id="634" r:id="rId8"/>
    <p:sldId id="630" r:id="rId9"/>
    <p:sldId id="631" r:id="rId10"/>
    <p:sldId id="632" r:id="rId11"/>
    <p:sldId id="633" r:id="rId12"/>
    <p:sldId id="623" r:id="rId13"/>
    <p:sldId id="624" r:id="rId14"/>
    <p:sldId id="5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ъведение" id="{B53E63A6-15B2-40C3-A9DC-5006FD089CC5}">
          <p14:sldIdLst>
            <p14:sldId id="258"/>
          </p14:sldIdLst>
        </p14:section>
        <p14:section name="Съдържание" id="{0B0C01F3-1F60-4ADB-AC1E-9589654EAEF3}">
          <p14:sldIdLst>
            <p14:sldId id="571"/>
            <p14:sldId id="608"/>
            <p14:sldId id="625"/>
            <p14:sldId id="626"/>
            <p14:sldId id="627"/>
            <p14:sldId id="634"/>
            <p14:sldId id="630"/>
            <p14:sldId id="631"/>
            <p14:sldId id="632"/>
            <p14:sldId id="633"/>
            <p14:sldId id="623"/>
            <p14:sldId id="624"/>
          </p14:sldIdLst>
        </p14:section>
        <p14:section name="Заключение" id="{9315BEE7-605C-4839-996A-A4EEA70921D9}">
          <p14:sldIdLst>
            <p14:sldId id="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A51F5-6E34-4A9B-8787-8C29D4F40D1D}" v="1" dt="2022-08-10T06:34:56.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4660"/>
  </p:normalViewPr>
  <p:slideViewPr>
    <p:cSldViewPr snapToGrid="0">
      <p:cViewPr varScale="1">
        <p:scale>
          <a:sx n="92" d="100"/>
          <a:sy n="92" d="100"/>
        </p:scale>
        <p:origin x="5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Димитър Минчев" userId="6da192e4-d32c-454b-8615-bbadf07b6639" providerId="ADAL" clId="{508A51F5-6E34-4A9B-8787-8C29D4F40D1D}"/>
    <pc:docChg chg="addSld modSld">
      <pc:chgData name="Димитър Минчев" userId="6da192e4-d32c-454b-8615-bbadf07b6639" providerId="ADAL" clId="{508A51F5-6E34-4A9B-8787-8C29D4F40D1D}" dt="2022-08-10T06:34:56.108" v="0"/>
      <pc:docMkLst>
        <pc:docMk/>
      </pc:docMkLst>
      <pc:sldChg chg="add">
        <pc:chgData name="Димитър Минчев" userId="6da192e4-d32c-454b-8615-bbadf07b6639" providerId="ADAL" clId="{508A51F5-6E34-4A9B-8787-8C29D4F40D1D}" dt="2022-08-10T06:34:56.108" v="0"/>
        <pc:sldMkLst>
          <pc:docMk/>
          <pc:sldMk cId="2002111910" sldId="4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0D3FF-81AC-477B-919E-75762E6B2153}" type="datetimeFigureOut">
              <a:rPr lang="bg-BG" smtClean="0"/>
              <a:t>14.9.2022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142EC-5991-4235-A99B-961F17902D60}" type="slidenum">
              <a:rPr lang="bg-BG" smtClean="0"/>
              <a:t>‹#›</a:t>
            </a:fld>
            <a:endParaRPr lang="bg-BG"/>
          </a:p>
        </p:txBody>
      </p:sp>
    </p:spTree>
    <p:extLst>
      <p:ext uri="{BB962C8B-B14F-4D97-AF65-F5344CB8AC3E}">
        <p14:creationId xmlns:p14="http://schemas.microsoft.com/office/powerpoint/2010/main" val="283794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Rot="1" noChangeAspect="1" noChangeArrowheads="1" noTextEdit="1"/>
          </p:cNvSpPr>
          <p:nvPr>
            <p:ph type="sldImg"/>
          </p:nvPr>
        </p:nvSpPr>
        <p:spPr>
          <a:ln/>
        </p:spPr>
      </p:sp>
      <p:sp>
        <p:nvSpPr>
          <p:cNvPr id="445443" name="Rectangle 3"/>
          <p:cNvSpPr>
            <a:spLocks noGrp="1" noChangeArrowheads="1"/>
          </p:cNvSpPr>
          <p:nvPr>
            <p:ph type="body" idx="1"/>
          </p:nvPr>
        </p:nvSpPr>
        <p:spPr/>
        <p:txBody>
          <a:bodyPr/>
          <a:lstStyle/>
          <a:p>
            <a:endParaRPr lang="bg-BG"/>
          </a:p>
        </p:txBody>
      </p:sp>
      <p:sp>
        <p:nvSpPr>
          <p:cNvPr id="4" name="Footer Placeholder">
            <a:extLst>
              <a:ext uri="{FF2B5EF4-FFF2-40B4-BE49-F238E27FC236}">
                <a16:creationId xmlns:a16="http://schemas.microsoft.com/office/drawing/2014/main" id="{63859A9D-F78F-4026-854D-DBFD00DF27F4}"/>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278863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C7131C5E-1E6B-46FF-9756-44B6556E2A79}" type="slidenum">
              <a:rPr lang="en-US"/>
              <a:pPr/>
              <a:t>3</a:t>
            </a:fld>
            <a:r>
              <a:rPr lang="en-US" dirty="0"/>
              <a:t>##</a:t>
            </a:r>
          </a:p>
        </p:txBody>
      </p:sp>
      <p:sp>
        <p:nvSpPr>
          <p:cNvPr id="1234946" name="Rectangle 2"/>
          <p:cNvSpPr>
            <a:spLocks noGrp="1" noRot="1" noChangeAspect="1" noChangeArrowheads="1" noTextEdit="1"/>
          </p:cNvSpPr>
          <p:nvPr>
            <p:ph type="sldImg"/>
          </p:nvPr>
        </p:nvSpPr>
        <p:spPr>
          <a:xfrm>
            <a:off x="381000" y="685800"/>
            <a:ext cx="6096000" cy="3429000"/>
          </a:xfrm>
          <a:ln/>
        </p:spPr>
      </p:sp>
      <p:sp>
        <p:nvSpPr>
          <p:cNvPr id="1234947" name="Rectangle 3"/>
          <p:cNvSpPr>
            <a:spLocks noGrp="1" noChangeArrowheads="1"/>
          </p:cNvSpPr>
          <p:nvPr>
            <p:ph type="body" idx="1"/>
          </p:nvPr>
        </p:nvSpPr>
        <p:spPr/>
        <p:txBody>
          <a:bodyPr/>
          <a:lstStyle/>
          <a:p>
            <a:endParaRPr lang="bg-BG"/>
          </a:p>
        </p:txBody>
      </p:sp>
      <p:sp>
        <p:nvSpPr>
          <p:cNvPr id="6" name="Footer Placeholder">
            <a:extLst>
              <a:ext uri="{FF2B5EF4-FFF2-40B4-BE49-F238E27FC236}">
                <a16:creationId xmlns:a16="http://schemas.microsoft.com/office/drawing/2014/main" id="{3D9B72DE-9999-419D-91E2-3F93DEC7CC9B}"/>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9533022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4</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4</a:t>
            </a:fld>
            <a:r>
              <a:rPr lang="en-US" sz="1000" i="1" dirty="0"/>
              <a:t>##</a:t>
            </a:r>
            <a:endParaRPr lang="en-US" sz="1200" i="1" dirty="0"/>
          </a:p>
        </p:txBody>
      </p:sp>
      <p:sp>
        <p:nvSpPr>
          <p:cNvPr id="10" name="Footer Placeholder">
            <a:extLst>
              <a:ext uri="{FF2B5EF4-FFF2-40B4-BE49-F238E27FC236}">
                <a16:creationId xmlns:a16="http://schemas.microsoft.com/office/drawing/2014/main" id="{EDD2CCDF-683D-42C6-9E45-0C61639120F4}"/>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707750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5</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5</a:t>
            </a:fld>
            <a:r>
              <a:rPr lang="en-US" sz="1000" i="1" dirty="0"/>
              <a:t>##</a:t>
            </a:r>
            <a:endParaRPr lang="en-US" sz="1200" i="1" dirty="0"/>
          </a:p>
        </p:txBody>
      </p:sp>
      <p:sp>
        <p:nvSpPr>
          <p:cNvPr id="10" name="Footer Placeholder">
            <a:extLst>
              <a:ext uri="{FF2B5EF4-FFF2-40B4-BE49-F238E27FC236}">
                <a16:creationId xmlns:a16="http://schemas.microsoft.com/office/drawing/2014/main" id="{F02E8342-1A91-4BCF-AA64-EF08389B3F2A}"/>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792273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lumMod val="40000"/>
                    <a:lumOff val="60000"/>
                  </a:schemeClr>
                </a:solidFill>
              </a:rPr>
              <a:t>To pass more specific object to method</a:t>
            </a:r>
            <a:endParaRPr lang="bg-BG" dirty="0">
              <a:solidFill>
                <a:schemeClr val="tx1">
                  <a:lumMod val="40000"/>
                  <a:lumOff val="60000"/>
                </a:schemeClr>
              </a:solidFill>
            </a:endParaRPr>
          </a:p>
        </p:txBody>
      </p:sp>
      <p:sp>
        <p:nvSpPr>
          <p:cNvPr id="5" name="Slide Number Placeholder 4"/>
          <p:cNvSpPr>
            <a:spLocks noGrp="1"/>
          </p:cNvSpPr>
          <p:nvPr>
            <p:ph type="sldNum" sz="quarter" idx="11"/>
          </p:nvPr>
        </p:nvSpPr>
        <p:spPr/>
        <p:txBody>
          <a:bodyPr/>
          <a:lstStyle/>
          <a:p>
            <a:fld id="{3EBA5BD7-F043-4D1B-AA17-CD412FC534DE}" type="slidenum">
              <a:rPr lang="en-US" smtClean="0"/>
              <a:pPr/>
              <a:t>6</a:t>
            </a:fld>
            <a:endParaRPr lang="en-US" dirty="0"/>
          </a:p>
        </p:txBody>
      </p:sp>
      <p:sp>
        <p:nvSpPr>
          <p:cNvPr id="6" name="Footer Placeholder">
            <a:extLst>
              <a:ext uri="{FF2B5EF4-FFF2-40B4-BE49-F238E27FC236}">
                <a16:creationId xmlns:a16="http://schemas.microsoft.com/office/drawing/2014/main" id="{FFE27B66-E6CC-40C9-A511-09796280161C}"/>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538043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C7131C5E-1E6B-46FF-9756-44B6556E2A79}" type="slidenum">
              <a:rPr lang="en-US"/>
              <a:pPr/>
              <a:t>7</a:t>
            </a:fld>
            <a:r>
              <a:rPr lang="en-US" dirty="0"/>
              <a:t>##</a:t>
            </a:r>
          </a:p>
        </p:txBody>
      </p:sp>
      <p:sp>
        <p:nvSpPr>
          <p:cNvPr id="1234946" name="Rectangle 2"/>
          <p:cNvSpPr>
            <a:spLocks noGrp="1" noRot="1" noChangeAspect="1" noChangeArrowheads="1" noTextEdit="1"/>
          </p:cNvSpPr>
          <p:nvPr>
            <p:ph type="sldImg"/>
          </p:nvPr>
        </p:nvSpPr>
        <p:spPr>
          <a:xfrm>
            <a:off x="381000" y="685800"/>
            <a:ext cx="6096000" cy="3429000"/>
          </a:xfrm>
          <a:ln/>
        </p:spPr>
      </p:sp>
      <p:sp>
        <p:nvSpPr>
          <p:cNvPr id="1234947" name="Rectangle 3"/>
          <p:cNvSpPr>
            <a:spLocks noGrp="1" noChangeArrowheads="1"/>
          </p:cNvSpPr>
          <p:nvPr>
            <p:ph type="body" idx="1"/>
          </p:nvPr>
        </p:nvSpPr>
        <p:spPr/>
        <p:txBody>
          <a:bodyPr/>
          <a:lstStyle/>
          <a:p>
            <a:endParaRPr lang="bg-BG"/>
          </a:p>
        </p:txBody>
      </p:sp>
      <p:sp>
        <p:nvSpPr>
          <p:cNvPr id="6" name="Footer Placeholder">
            <a:extLst>
              <a:ext uri="{FF2B5EF4-FFF2-40B4-BE49-F238E27FC236}">
                <a16:creationId xmlns:a16="http://schemas.microsoft.com/office/drawing/2014/main" id="{DBB04DB7-3790-41F0-A7E9-48D6EE66B95F}"/>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772519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8</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8</a:t>
            </a:fld>
            <a:r>
              <a:rPr lang="en-US" sz="1000" i="1" dirty="0"/>
              <a:t>##</a:t>
            </a:r>
            <a:endParaRPr lang="en-US" sz="1200" i="1" dirty="0"/>
          </a:p>
        </p:txBody>
      </p:sp>
      <p:sp>
        <p:nvSpPr>
          <p:cNvPr id="10" name="Footer Placeholder">
            <a:extLst>
              <a:ext uri="{FF2B5EF4-FFF2-40B4-BE49-F238E27FC236}">
                <a16:creationId xmlns:a16="http://schemas.microsoft.com/office/drawing/2014/main" id="{73403FE1-CFC5-46C6-A9DA-73B3F4F2B08B}"/>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4040779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9</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9</a:t>
            </a:fld>
            <a:r>
              <a:rPr lang="en-US" sz="1000" i="1" dirty="0"/>
              <a:t>##</a:t>
            </a:r>
            <a:endParaRPr lang="en-US" sz="1200" i="1" dirty="0"/>
          </a:p>
        </p:txBody>
      </p:sp>
      <p:sp>
        <p:nvSpPr>
          <p:cNvPr id="10" name="Footer Placeholder">
            <a:extLst>
              <a:ext uri="{FF2B5EF4-FFF2-40B4-BE49-F238E27FC236}">
                <a16:creationId xmlns:a16="http://schemas.microsoft.com/office/drawing/2014/main" id="{53A1F26A-6055-4B38-8678-5F12CF5BE608}"/>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700574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10</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10</a:t>
            </a:fld>
            <a:r>
              <a:rPr lang="en-US" sz="1000" i="1" dirty="0"/>
              <a:t>##</a:t>
            </a:r>
            <a:endParaRPr lang="en-US" sz="1200" i="1" dirty="0"/>
          </a:p>
        </p:txBody>
      </p:sp>
      <p:sp>
        <p:nvSpPr>
          <p:cNvPr id="10" name="Footer Placeholder">
            <a:extLst>
              <a:ext uri="{FF2B5EF4-FFF2-40B4-BE49-F238E27FC236}">
                <a16:creationId xmlns:a16="http://schemas.microsoft.com/office/drawing/2014/main" id="{287196A5-D6D8-41FA-AA85-E3857E199C87}"/>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582892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1218987" rtl="0" eaLnBrk="1" fontAlgn="auto" latinLnBrk="0" hangingPunct="1">
              <a:lnSpc>
                <a:spcPct val="100000"/>
              </a:lnSpc>
              <a:spcBef>
                <a:spcPts val="0"/>
              </a:spcBef>
              <a:spcAft>
                <a:spcPts val="0"/>
              </a:spcAft>
              <a:buClrTx/>
              <a:buSzTx/>
              <a:buFontTx/>
              <a:buNone/>
              <a:tabLst/>
              <a:defRPr/>
            </a:pPr>
            <a:r>
              <a:rPr lang="en-US" dirty="0">
                <a:solidFill>
                  <a:schemeClr val="tx1">
                    <a:lumMod val="40000"/>
                    <a:lumOff val="60000"/>
                  </a:schemeClr>
                </a:solidFill>
              </a:rPr>
              <a:t>To pass more specific object to method</a:t>
            </a:r>
            <a:endParaRPr lang="bg-BG" dirty="0">
              <a:solidFill>
                <a:schemeClr val="tx1">
                  <a:lumMod val="40000"/>
                  <a:lumOff val="60000"/>
                </a:schemeClr>
              </a:solidFill>
            </a:endParaRPr>
          </a:p>
        </p:txBody>
      </p:sp>
      <p:sp>
        <p:nvSpPr>
          <p:cNvPr id="5" name="Slide Number Placeholder 4"/>
          <p:cNvSpPr>
            <a:spLocks noGrp="1"/>
          </p:cNvSpPr>
          <p:nvPr>
            <p:ph type="sldNum" sz="quarter" idx="11"/>
          </p:nvPr>
        </p:nvSpPr>
        <p:spPr/>
        <p:txBody>
          <a:bodyPr/>
          <a:lstStyle/>
          <a:p>
            <a:fld id="{3EBA5BD7-F043-4D1B-AA17-CD412FC534DE}" type="slidenum">
              <a:rPr lang="en-US" smtClean="0"/>
              <a:pPr/>
              <a:t>11</a:t>
            </a:fld>
            <a:endParaRPr lang="en-US" dirty="0"/>
          </a:p>
        </p:txBody>
      </p:sp>
      <p:sp>
        <p:nvSpPr>
          <p:cNvPr id="6" name="Footer Placeholder">
            <a:extLst>
              <a:ext uri="{FF2B5EF4-FFF2-40B4-BE49-F238E27FC236}">
                <a16:creationId xmlns:a16="http://schemas.microsoft.com/office/drawing/2014/main" id="{630480DD-84F0-4E13-B425-827648F2C0AE}"/>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22471954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EBA5BD7-F043-4D1B-AA17-CD412FC534DE}" type="slidenum">
              <a:rPr lang="en-US" smtClean="0"/>
              <a:pPr/>
              <a:t>12</a:t>
            </a:fld>
            <a:endParaRPr lang="en-US" dirty="0"/>
          </a:p>
        </p:txBody>
      </p:sp>
      <p:sp>
        <p:nvSpPr>
          <p:cNvPr id="6" name="Footer Placeholder">
            <a:extLst>
              <a:ext uri="{FF2B5EF4-FFF2-40B4-BE49-F238E27FC236}">
                <a16:creationId xmlns:a16="http://schemas.microsoft.com/office/drawing/2014/main" id="{4AE1705F-46DB-4649-A58F-1A4F58C9D632}"/>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156164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a:extLst>
              <a:ext uri="{FF2B5EF4-FFF2-40B4-BE49-F238E27FC236}">
                <a16:creationId xmlns:a16="http://schemas.microsoft.com/office/drawing/2014/main" id="{C4FF6EC8-87AB-48E7-8ABB-3651DD34FF35}"/>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53776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171436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34437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40543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329758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069AEA-C8BE-4DD6-B9AB-21EA40DF5D87}" type="datetimeFigureOut">
              <a:rPr lang="bg-BG" smtClean="0"/>
              <a:t>14.9.2022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961148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069AEA-C8BE-4DD6-B9AB-21EA40DF5D87}" type="datetimeFigureOut">
              <a:rPr lang="bg-BG" smtClean="0"/>
              <a:t>14.9.2022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98602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069AEA-C8BE-4DD6-B9AB-21EA40DF5D87}" type="datetimeFigureOut">
              <a:rPr lang="bg-BG" smtClean="0"/>
              <a:t>14.9.2022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263839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2370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697053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52800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69803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69AEA-C8BE-4DD6-B9AB-21EA40DF5D87}" type="datetimeFigureOut">
              <a:rPr lang="bg-BG" smtClean="0"/>
              <a:t>14.9.2022 г.</a:t>
            </a:fld>
            <a:endParaRPr lang="bg-B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g-B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18CDA-8465-4F94-AC0C-B721D911091F}" type="slidenum">
              <a:rPr lang="bg-BG" smtClean="0"/>
              <a:t>‹#›</a:t>
            </a:fld>
            <a:endParaRPr lang="bg-BG"/>
          </a:p>
        </p:txBody>
      </p:sp>
    </p:spTree>
    <p:extLst>
      <p:ext uri="{BB962C8B-B14F-4D97-AF65-F5344CB8AC3E}">
        <p14:creationId xmlns:p14="http://schemas.microsoft.com/office/powerpoint/2010/main" val="205254280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mon.b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hyperlink" Target="https://creativecommons.org/licenses/by-nc-sa/4.0" TargetMode="External"/><Relationship Id="rId4" Type="http://schemas.openxmlformats.org/officeDocument/2006/relationships/hyperlink" Target="https://www.mon.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11B2B-6DC7-2642-A5E2-7E3177B71883}"/>
              </a:ext>
            </a:extLst>
          </p:cNvPr>
          <p:cNvSpPr>
            <a:spLocks noGrp="1"/>
          </p:cNvSpPr>
          <p:nvPr>
            <p:ph type="ctrTitle"/>
          </p:nvPr>
        </p:nvSpPr>
        <p:spPr>
          <a:xfrm>
            <a:off x="694944" y="2779541"/>
            <a:ext cx="11094720" cy="2387600"/>
          </a:xfrm>
        </p:spPr>
        <p:txBody>
          <a:bodyPr>
            <a:normAutofit/>
          </a:bodyPr>
          <a:lstStyle/>
          <a:p>
            <a:r>
              <a:rPr lang="ru-RU" sz="5400" dirty="0" err="1">
                <a:latin typeface="Comfortaa" pitchFamily="2" charset="0"/>
              </a:rPr>
              <a:t>Презареждане</a:t>
            </a:r>
            <a:r>
              <a:rPr lang="ru-RU" sz="5400" dirty="0">
                <a:latin typeface="Comfortaa" pitchFamily="2" charset="0"/>
              </a:rPr>
              <a:t> и </a:t>
            </a:r>
            <a:r>
              <a:rPr lang="ru-RU" sz="5400" dirty="0" err="1">
                <a:latin typeface="Comfortaa" pitchFamily="2" charset="0"/>
              </a:rPr>
              <a:t>презаписване</a:t>
            </a:r>
            <a:r>
              <a:rPr lang="ru-RU" sz="5400" dirty="0">
                <a:latin typeface="Comfortaa" pitchFamily="2" charset="0"/>
              </a:rPr>
              <a:t> на </a:t>
            </a:r>
            <a:r>
              <a:rPr lang="ru-RU" sz="5400" dirty="0" err="1">
                <a:latin typeface="Comfortaa" pitchFamily="2" charset="0"/>
              </a:rPr>
              <a:t>методи</a:t>
            </a:r>
            <a:endParaRPr lang="bg-BG" sz="5400" dirty="0">
              <a:latin typeface="Comfortaa" pitchFamily="2" charset="0"/>
            </a:endParaRPr>
          </a:p>
        </p:txBody>
      </p:sp>
      <p:sp>
        <p:nvSpPr>
          <p:cNvPr id="5" name="Subtitle 4">
            <a:extLst>
              <a:ext uri="{FF2B5EF4-FFF2-40B4-BE49-F238E27FC236}">
                <a16:creationId xmlns:a16="http://schemas.microsoft.com/office/drawing/2014/main" id="{FD72CEAD-2598-2D6F-7FF9-AF95330D8A09}"/>
              </a:ext>
            </a:extLst>
          </p:cNvPr>
          <p:cNvSpPr>
            <a:spLocks noGrp="1"/>
          </p:cNvSpPr>
          <p:nvPr>
            <p:ph type="subTitle" idx="1"/>
          </p:nvPr>
        </p:nvSpPr>
        <p:spPr>
          <a:xfrm>
            <a:off x="1524000" y="5327903"/>
            <a:ext cx="9144000" cy="731869"/>
          </a:xfrm>
        </p:spPr>
        <p:txBody>
          <a:bodyPr/>
          <a:lstStyle/>
          <a:p>
            <a:r>
              <a:rPr lang="en-US" dirty="0">
                <a:latin typeface="Comfortaa" pitchFamily="2" charset="0"/>
              </a:rPr>
              <a:t>Overloading &amp; Overriding</a:t>
            </a:r>
            <a:endParaRPr lang="bg-BG" dirty="0">
              <a:latin typeface="Comfortaa" pitchFamily="2" charset="0"/>
            </a:endParaRPr>
          </a:p>
        </p:txBody>
      </p:sp>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spTree>
    <p:extLst>
      <p:ext uri="{BB962C8B-B14F-4D97-AF65-F5344CB8AC3E}">
        <p14:creationId xmlns:p14="http://schemas.microsoft.com/office/powerpoint/2010/main" val="238695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a:xfrm>
            <a:off x="1240364" y="1001277"/>
            <a:ext cx="9825841" cy="1110780"/>
          </a:xfrm>
        </p:spPr>
        <p:txBody>
          <a:bodyPr>
            <a:normAutofit/>
          </a:bodyPr>
          <a:lstStyle/>
          <a:p>
            <a:r>
              <a:rPr lang="bg-BG" dirty="0">
                <a:latin typeface="Comfortaa" pitchFamily="2" charset="0"/>
              </a:rPr>
              <a:t>Съдържание</a:t>
            </a:r>
          </a:p>
        </p:txBody>
      </p:sp>
      <p:sp>
        <p:nvSpPr>
          <p:cNvPr id="8" name="Rectangle 3"/>
          <p:cNvSpPr>
            <a:spLocks noGrp="1" noChangeArrowheads="1"/>
          </p:cNvSpPr>
          <p:nvPr>
            <p:ph idx="4294967295"/>
          </p:nvPr>
        </p:nvSpPr>
        <p:spPr>
          <a:xfrm>
            <a:off x="1241962" y="2152404"/>
            <a:ext cx="9825841" cy="3837733"/>
          </a:xfrm>
        </p:spPr>
        <p:txBody>
          <a:bodyPr>
            <a:normAutofit/>
          </a:bodyPr>
          <a:lstStyle/>
          <a:p>
            <a:pPr marL="442913" indent="-442913">
              <a:lnSpc>
                <a:spcPct val="100000"/>
              </a:lnSpc>
              <a:spcBef>
                <a:spcPts val="500"/>
              </a:spcBef>
              <a:buFontTx/>
              <a:buAutoNum type="arabicPeriod"/>
            </a:pPr>
            <a:r>
              <a:rPr lang="bg-BG" dirty="0">
                <a:latin typeface="Comfortaa" pitchFamily="2" charset="0"/>
              </a:rPr>
              <a:t>Презареждане</a:t>
            </a:r>
            <a:endParaRPr lang="en-US" dirty="0">
              <a:latin typeface="Comfortaa" pitchFamily="2" charset="0"/>
            </a:endParaRPr>
          </a:p>
          <a:p>
            <a:pPr marL="442913" indent="-442913">
              <a:lnSpc>
                <a:spcPct val="100000"/>
              </a:lnSpc>
              <a:spcBef>
                <a:spcPts val="500"/>
              </a:spcBef>
              <a:buFontTx/>
              <a:buAutoNum type="arabicPeriod"/>
            </a:pPr>
            <a:r>
              <a:rPr lang="bg-BG" dirty="0">
                <a:latin typeface="Comfortaa" pitchFamily="2" charset="0"/>
              </a:rPr>
              <a:t>Презаписване</a:t>
            </a:r>
            <a:endParaRPr lang="en-US" dirty="0">
              <a:latin typeface="Comfortaa" pitchFamily="2" charset="0"/>
            </a:endParaRPr>
          </a:p>
        </p:txBody>
      </p:sp>
    </p:spTree>
    <p:extLst>
      <p:ext uri="{BB962C8B-B14F-4D97-AF65-F5344CB8AC3E}">
        <p14:creationId xmlns:p14="http://schemas.microsoft.com/office/powerpoint/2010/main" val="1217305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3923" name="Rectangle 3"/>
          <p:cNvSpPr>
            <a:spLocks noGrp="1" noChangeArrowheads="1"/>
          </p:cNvSpPr>
          <p:nvPr>
            <p:ph idx="1"/>
          </p:nvPr>
        </p:nvSpPr>
        <p:spPr>
          <a:xfrm>
            <a:off x="838200" y="2021568"/>
            <a:ext cx="10515600" cy="3767653"/>
          </a:xfrm>
        </p:spPr>
        <p:txBody>
          <a:bodyPr>
            <a:normAutofit/>
          </a:bodyPr>
          <a:lstStyle/>
          <a:p>
            <a:pPr>
              <a:lnSpc>
                <a:spcPct val="110000"/>
              </a:lnSpc>
            </a:pPr>
            <a:r>
              <a:rPr lang="bg-BG" b="1" dirty="0">
                <a:solidFill>
                  <a:srgbClr val="00B0F0"/>
                </a:solidFill>
                <a:latin typeface="Comfortaa" pitchFamily="2" charset="0"/>
              </a:rPr>
              <a:t>Презареждане (</a:t>
            </a:r>
            <a:r>
              <a:rPr lang="en-US" b="1" dirty="0">
                <a:solidFill>
                  <a:srgbClr val="00B0F0"/>
                </a:solidFill>
                <a:latin typeface="Comfortaa" pitchFamily="2" charset="0"/>
              </a:rPr>
              <a:t>overloading)</a:t>
            </a:r>
            <a:r>
              <a:rPr lang="bg-BG" b="1" dirty="0">
                <a:solidFill>
                  <a:srgbClr val="00B0F0"/>
                </a:solidFill>
                <a:latin typeface="Comfortaa" pitchFamily="2" charset="0"/>
              </a:rPr>
              <a:t> </a:t>
            </a:r>
            <a:r>
              <a:rPr lang="en-US" dirty="0">
                <a:latin typeface="Comfortaa" pitchFamily="2" charset="0"/>
              </a:rPr>
              <a:t>– </a:t>
            </a:r>
            <a:r>
              <a:rPr lang="bg-BG" dirty="0">
                <a:latin typeface="Comfortaa" pitchFamily="2" charset="0"/>
              </a:rPr>
              <a:t>методи с едно и също име, но различни сигнатури.</a:t>
            </a:r>
          </a:p>
          <a:p>
            <a:pPr>
              <a:lnSpc>
                <a:spcPct val="110000"/>
              </a:lnSpc>
            </a:pPr>
            <a:r>
              <a:rPr lang="bg-BG" dirty="0">
                <a:latin typeface="Comfortaa" pitchFamily="2" charset="0"/>
              </a:rPr>
              <a:t>При </a:t>
            </a:r>
            <a:r>
              <a:rPr lang="bg-BG" b="1" dirty="0">
                <a:solidFill>
                  <a:srgbClr val="00B0F0"/>
                </a:solidFill>
                <a:latin typeface="Comfortaa" pitchFamily="2" charset="0"/>
              </a:rPr>
              <a:t>компилиране</a:t>
            </a:r>
            <a:r>
              <a:rPr lang="bg-BG" dirty="0">
                <a:latin typeface="Comfortaa" pitchFamily="2" charset="0"/>
              </a:rPr>
              <a:t>, според подадените </a:t>
            </a:r>
            <a:r>
              <a:rPr lang="bg-BG" dirty="0">
                <a:solidFill>
                  <a:schemeClr val="tx2">
                    <a:lumMod val="75000"/>
                  </a:schemeClr>
                </a:solidFill>
                <a:latin typeface="Comfortaa" pitchFamily="2" charset="0"/>
              </a:rPr>
              <a:t>параметри</a:t>
            </a:r>
            <a:r>
              <a:rPr lang="bg-BG" dirty="0">
                <a:latin typeface="Comfortaa" pitchFamily="2" charset="0"/>
              </a:rPr>
              <a:t> компилатора определя кой метод точно ще изпълни</a:t>
            </a:r>
            <a:endParaRPr lang="en-US" dirty="0">
              <a:latin typeface="Comfortaa" pitchFamily="2" charset="0"/>
            </a:endParaRPr>
          </a:p>
        </p:txBody>
      </p:sp>
      <p:sp>
        <p:nvSpPr>
          <p:cNvPr id="1233922" name="Rectangle 2"/>
          <p:cNvSpPr>
            <a:spLocks noGrp="1" noChangeArrowheads="1"/>
          </p:cNvSpPr>
          <p:nvPr>
            <p:ph type="title"/>
          </p:nvPr>
        </p:nvSpPr>
        <p:spPr>
          <a:xfrm>
            <a:off x="838200" y="709510"/>
            <a:ext cx="10515600" cy="1147753"/>
          </a:xfrm>
        </p:spPr>
        <p:txBody>
          <a:bodyPr/>
          <a:lstStyle/>
          <a:p>
            <a:r>
              <a:rPr lang="bg-BG" dirty="0">
                <a:latin typeface="Comfortaa" pitchFamily="2" charset="0"/>
              </a:rPr>
              <a:t>Презареждане на методи</a:t>
            </a:r>
          </a:p>
        </p:txBody>
      </p:sp>
    </p:spTree>
    <p:extLst>
      <p:ext uri="{BB962C8B-B14F-4D97-AF65-F5344CB8AC3E}">
        <p14:creationId xmlns:p14="http://schemas.microsoft.com/office/powerpoint/2010/main" val="63115632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9471" y="822325"/>
            <a:ext cx="8184300" cy="1214675"/>
          </a:xfrm>
          <a:prstGeom prst="rect">
            <a:avLst/>
          </a:prstGeom>
        </p:spPr>
        <p:txBody>
          <a:bodyPr anchor="ctr" anchorCtr="0"/>
          <a:lstStyle/>
          <a:p>
            <a:pPr>
              <a:lnSpc>
                <a:spcPts val="4000"/>
              </a:lnSpc>
              <a:defRPr/>
            </a:pPr>
            <a:r>
              <a:rPr lang="bg-BG" sz="4000" dirty="0">
                <a:latin typeface="Comfortaa" pitchFamily="2" charset="0"/>
              </a:rPr>
              <a:t>Задача</a:t>
            </a:r>
            <a:r>
              <a:rPr lang="en-US" sz="4000" dirty="0">
                <a:latin typeface="Comfortaa" pitchFamily="2" charset="0"/>
              </a:rPr>
              <a:t>: </a:t>
            </a:r>
            <a:r>
              <a:rPr lang="en-US" dirty="0" err="1">
                <a:latin typeface="Comfortaa" pitchFamily="2" charset="0"/>
              </a:rPr>
              <a:t>MathOperation</a:t>
            </a:r>
            <a:endParaRPr lang="bg-BG" sz="4000" dirty="0">
              <a:latin typeface="Comfortaa" pitchFamily="2" charset="0"/>
            </a:endParaRPr>
          </a:p>
        </p:txBody>
      </p:sp>
      <p:sp>
        <p:nvSpPr>
          <p:cNvPr id="18" name="Rectangle 4"/>
          <p:cNvSpPr>
            <a:spLocks noChangeArrowheads="1"/>
          </p:cNvSpPr>
          <p:nvPr/>
        </p:nvSpPr>
        <p:spPr bwMode="auto">
          <a:xfrm>
            <a:off x="1849471" y="2116704"/>
            <a:ext cx="8184300" cy="47705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gn="ctr" eaLnBrk="0" hangingPunct="0">
              <a:lnSpc>
                <a:spcPts val="3000"/>
              </a:lnSpc>
              <a:buClr>
                <a:schemeClr val="accent5">
                  <a:lumMod val="40000"/>
                  <a:lumOff val="60000"/>
                </a:schemeClr>
              </a:buClr>
              <a:buSzPct val="70000"/>
            </a:pPr>
            <a:r>
              <a:rPr lang="en-US" sz="2800" b="1" noProof="1">
                <a:latin typeface="Consolas" panose="020B0609020204030204" pitchFamily="49" charset="0"/>
              </a:rPr>
              <a:t>MathOperation</a:t>
            </a:r>
          </a:p>
        </p:txBody>
      </p:sp>
      <p:sp>
        <p:nvSpPr>
          <p:cNvPr id="19" name="Rectangle 18"/>
          <p:cNvSpPr>
            <a:spLocks noChangeArrowheads="1"/>
          </p:cNvSpPr>
          <p:nvPr/>
        </p:nvSpPr>
        <p:spPr bwMode="auto">
          <a:xfrm>
            <a:off x="1849471" y="2593759"/>
            <a:ext cx="8184300" cy="1246495"/>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+Add(int, int): int</a:t>
            </a:r>
          </a:p>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+Add(double, double, double): double</a:t>
            </a:r>
          </a:p>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+Add(decimal, decimal, decimal): decimal</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9471" y="4264242"/>
            <a:ext cx="8253854" cy="1771433"/>
          </a:xfrm>
          <a:prstGeom prst="rect">
            <a:avLst/>
          </a:prstGeom>
        </p:spPr>
      </p:pic>
    </p:spTree>
    <p:extLst>
      <p:ext uri="{BB962C8B-B14F-4D97-AF65-F5344CB8AC3E}">
        <p14:creationId xmlns:p14="http://schemas.microsoft.com/office/powerpoint/2010/main" val="5400594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020" y="279071"/>
            <a:ext cx="10527475" cy="811616"/>
          </a:xfrm>
          <a:prstGeom prst="rect">
            <a:avLst/>
          </a:prstGeom>
        </p:spPr>
        <p:txBody>
          <a:bodyPr anchor="ctr" anchorCtr="0"/>
          <a:lstStyle/>
          <a:p>
            <a:pPr>
              <a:lnSpc>
                <a:spcPts val="4000"/>
              </a:lnSpc>
              <a:defRPr/>
            </a:pPr>
            <a:r>
              <a:rPr lang="bg-BG" sz="4000" dirty="0">
                <a:latin typeface="Comfortaa" pitchFamily="2" charset="0"/>
              </a:rPr>
              <a:t>Решение</a:t>
            </a:r>
            <a:r>
              <a:rPr lang="en-US" sz="4000" dirty="0">
                <a:latin typeface="Comfortaa" pitchFamily="2" charset="0"/>
              </a:rPr>
              <a:t>: </a:t>
            </a:r>
            <a:r>
              <a:rPr lang="en-US" dirty="0" err="1">
                <a:latin typeface="Comfortaa" pitchFamily="2" charset="0"/>
              </a:rPr>
              <a:t>MathOperation</a:t>
            </a:r>
            <a:endParaRPr lang="bg-BG" sz="4000" dirty="0">
              <a:latin typeface="Comfortaa" pitchFamily="2" charset="0"/>
            </a:endParaRPr>
          </a:p>
        </p:txBody>
      </p:sp>
      <p:sp>
        <p:nvSpPr>
          <p:cNvPr id="11" name="Text Placeholder 5"/>
          <p:cNvSpPr txBox="1">
            <a:spLocks/>
          </p:cNvSpPr>
          <p:nvPr/>
        </p:nvSpPr>
        <p:spPr>
          <a:xfrm>
            <a:off x="760020" y="1090686"/>
            <a:ext cx="10527475" cy="5316053"/>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800" dirty="0">
                <a:solidFill>
                  <a:schemeClr val="bg1"/>
                </a:solidFill>
                <a:effectLst/>
              </a:rPr>
              <a:t>public int Add(int a, int b)</a:t>
            </a:r>
          </a:p>
          <a:p>
            <a:r>
              <a:rPr lang="en-US" sz="2800" dirty="0">
                <a:solidFill>
                  <a:schemeClr val="bg1"/>
                </a:solidFill>
                <a:effectLst/>
              </a:rPr>
              <a:t>{</a:t>
            </a:r>
          </a:p>
          <a:p>
            <a:r>
              <a:rPr lang="en-US" sz="2800" dirty="0">
                <a:solidFill>
                  <a:schemeClr val="bg1"/>
                </a:solidFill>
                <a:effectLst/>
              </a:rPr>
              <a:t>  return a + b;</a:t>
            </a:r>
          </a:p>
          <a:p>
            <a:r>
              <a:rPr lang="en-US" sz="2800" dirty="0">
                <a:solidFill>
                  <a:schemeClr val="bg1"/>
                </a:solidFill>
                <a:effectLst/>
              </a:rPr>
              <a:t>}</a:t>
            </a:r>
          </a:p>
          <a:p>
            <a:r>
              <a:rPr lang="en-US" sz="2800" dirty="0">
                <a:solidFill>
                  <a:schemeClr val="bg1"/>
                </a:solidFill>
                <a:effectLst/>
              </a:rPr>
              <a:t>public double Add(double a, double b, double c)</a:t>
            </a:r>
          </a:p>
          <a:p>
            <a:r>
              <a:rPr lang="en-US" sz="2800" dirty="0">
                <a:solidFill>
                  <a:schemeClr val="bg1"/>
                </a:solidFill>
                <a:effectLst/>
              </a:rPr>
              <a:t>{</a:t>
            </a:r>
          </a:p>
          <a:p>
            <a:r>
              <a:rPr lang="en-US" sz="2800" dirty="0">
                <a:solidFill>
                  <a:schemeClr val="bg1"/>
                </a:solidFill>
                <a:effectLst/>
              </a:rPr>
              <a:t>  return a + b + c;</a:t>
            </a:r>
          </a:p>
          <a:p>
            <a:r>
              <a:rPr lang="en-US" sz="2800" dirty="0">
                <a:solidFill>
                  <a:schemeClr val="bg1"/>
                </a:solidFill>
                <a:effectLst/>
              </a:rPr>
              <a:t>}</a:t>
            </a:r>
          </a:p>
          <a:p>
            <a:r>
              <a:rPr lang="en-US" sz="2800" dirty="0">
                <a:solidFill>
                  <a:schemeClr val="bg1"/>
                </a:solidFill>
                <a:effectLst/>
              </a:rPr>
              <a:t>public decimal Add(decimal a, decimal b, decimal c)</a:t>
            </a:r>
          </a:p>
          <a:p>
            <a:r>
              <a:rPr lang="en-US" sz="2800" dirty="0">
                <a:solidFill>
                  <a:schemeClr val="bg1"/>
                </a:solidFill>
                <a:effectLst/>
              </a:rPr>
              <a:t>{</a:t>
            </a:r>
          </a:p>
          <a:p>
            <a:r>
              <a:rPr lang="en-US" sz="2800" dirty="0">
                <a:solidFill>
                  <a:schemeClr val="bg1"/>
                </a:solidFill>
                <a:effectLst/>
              </a:rPr>
              <a:t>  return a + b + c;</a:t>
            </a:r>
          </a:p>
          <a:p>
            <a:r>
              <a:rPr lang="en-US" sz="2800" dirty="0">
                <a:solidFill>
                  <a:schemeClr val="bg1"/>
                </a:solidFill>
                <a:effectLst/>
              </a:rPr>
              <a:t>}</a:t>
            </a:r>
            <a:endParaRPr lang="en-US" sz="3200" dirty="0">
              <a:solidFill>
                <a:schemeClr val="bg1"/>
              </a:solidFill>
              <a:effectLst/>
            </a:endParaRPr>
          </a:p>
        </p:txBody>
      </p:sp>
    </p:spTree>
    <p:extLst>
      <p:ext uri="{BB962C8B-B14F-4D97-AF65-F5344CB8AC3E}">
        <p14:creationId xmlns:p14="http://schemas.microsoft.com/office/powerpoint/2010/main" val="296938109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spcBef>
                <a:spcPts val="1800"/>
              </a:spcBef>
            </a:pPr>
            <a:r>
              <a:rPr lang="bg-BG" b="1" dirty="0">
                <a:solidFill>
                  <a:srgbClr val="00B0F0"/>
                </a:solidFill>
                <a:latin typeface="Comfortaa" pitchFamily="2" charset="0"/>
              </a:rPr>
              <a:t>Презареждането</a:t>
            </a:r>
            <a:r>
              <a:rPr lang="en-US" dirty="0">
                <a:latin typeface="Comfortaa" pitchFamily="2" charset="0"/>
              </a:rPr>
              <a:t> </a:t>
            </a:r>
            <a:r>
              <a:rPr lang="bg-BG" dirty="0">
                <a:latin typeface="Comfortaa" pitchFamily="2" charset="0"/>
              </a:rPr>
              <a:t>може да се случи в </a:t>
            </a:r>
            <a:r>
              <a:rPr lang="bg-BG" b="1" dirty="0">
                <a:solidFill>
                  <a:srgbClr val="00B0F0"/>
                </a:solidFill>
                <a:latin typeface="Comfortaa" pitchFamily="2" charset="0"/>
              </a:rPr>
              <a:t>същия клас</a:t>
            </a:r>
            <a:r>
              <a:rPr lang="en-US" b="1" dirty="0">
                <a:solidFill>
                  <a:srgbClr val="00B0F0"/>
                </a:solidFill>
                <a:latin typeface="Comfortaa" pitchFamily="2" charset="0"/>
              </a:rPr>
              <a:t> </a:t>
            </a:r>
            <a:r>
              <a:rPr lang="bg-BG" dirty="0">
                <a:latin typeface="Comfortaa" pitchFamily="2" charset="0"/>
              </a:rPr>
              <a:t>или в него</a:t>
            </a:r>
            <a:r>
              <a:rPr lang="en-US" dirty="0">
                <a:latin typeface="Comfortaa" pitchFamily="2" charset="0"/>
              </a:rPr>
              <a:t> </a:t>
            </a:r>
            <a:r>
              <a:rPr lang="bg-BG" dirty="0">
                <a:solidFill>
                  <a:schemeClr val="tx2">
                    <a:lumMod val="75000"/>
                  </a:schemeClr>
                </a:solidFill>
                <a:latin typeface="Comfortaa" pitchFamily="2" charset="0"/>
              </a:rPr>
              <a:t>подклас</a:t>
            </a:r>
            <a:r>
              <a:rPr lang="en-US" dirty="0">
                <a:solidFill>
                  <a:schemeClr val="tx2">
                    <a:lumMod val="75000"/>
                  </a:schemeClr>
                </a:solidFill>
                <a:latin typeface="Comfortaa" pitchFamily="2" charset="0"/>
              </a:rPr>
              <a:t>.</a:t>
            </a:r>
          </a:p>
          <a:p>
            <a:pPr>
              <a:spcBef>
                <a:spcPts val="1800"/>
              </a:spcBef>
            </a:pPr>
            <a:r>
              <a:rPr lang="bg-BG" b="1" dirty="0">
                <a:solidFill>
                  <a:srgbClr val="00B0F0"/>
                </a:solidFill>
                <a:latin typeface="Comfortaa" pitchFamily="2" charset="0"/>
              </a:rPr>
              <a:t>Конструкторите</a:t>
            </a:r>
            <a:r>
              <a:rPr lang="en-US" dirty="0">
                <a:latin typeface="Comfortaa" pitchFamily="2" charset="0"/>
              </a:rPr>
              <a:t> </a:t>
            </a:r>
            <a:r>
              <a:rPr lang="bg-BG" dirty="0">
                <a:latin typeface="Comfortaa" pitchFamily="2" charset="0"/>
              </a:rPr>
              <a:t>могат да бъдат</a:t>
            </a:r>
            <a:r>
              <a:rPr lang="en-US" dirty="0">
                <a:latin typeface="Comfortaa" pitchFamily="2" charset="0"/>
              </a:rPr>
              <a:t> </a:t>
            </a:r>
            <a:r>
              <a:rPr lang="bg-BG" b="1" dirty="0">
                <a:solidFill>
                  <a:srgbClr val="00B0F0"/>
                </a:solidFill>
                <a:latin typeface="Comfortaa" pitchFamily="2" charset="0"/>
              </a:rPr>
              <a:t>презаредени</a:t>
            </a:r>
            <a:endParaRPr lang="en-US" b="1" dirty="0">
              <a:solidFill>
                <a:srgbClr val="00B0F0"/>
              </a:solidFill>
              <a:latin typeface="Comfortaa" pitchFamily="2" charset="0"/>
            </a:endParaRPr>
          </a:p>
          <a:p>
            <a:pPr>
              <a:spcBef>
                <a:spcPts val="1800"/>
              </a:spcBef>
            </a:pPr>
            <a:r>
              <a:rPr lang="bg-BG" dirty="0">
                <a:latin typeface="Comfortaa" pitchFamily="2" charset="0"/>
              </a:rPr>
              <a:t>Презаредените методи трябва да имат различни един от друг</a:t>
            </a:r>
            <a:r>
              <a:rPr lang="en-US" dirty="0">
                <a:latin typeface="Comfortaa" pitchFamily="2" charset="0"/>
              </a:rPr>
              <a:t> </a:t>
            </a:r>
            <a:r>
              <a:rPr lang="bg-BG" b="1" dirty="0">
                <a:solidFill>
                  <a:srgbClr val="00B0F0"/>
                </a:solidFill>
                <a:latin typeface="Comfortaa" pitchFamily="2" charset="0"/>
              </a:rPr>
              <a:t>параметри</a:t>
            </a:r>
            <a:r>
              <a:rPr lang="en-US" dirty="0">
                <a:solidFill>
                  <a:schemeClr val="tx2">
                    <a:lumMod val="75000"/>
                  </a:schemeClr>
                </a:solidFill>
                <a:latin typeface="Comfortaa" pitchFamily="2" charset="0"/>
              </a:rPr>
              <a:t>.</a:t>
            </a:r>
          </a:p>
          <a:p>
            <a:pPr>
              <a:spcBef>
                <a:spcPts val="1800"/>
              </a:spcBef>
            </a:pPr>
            <a:r>
              <a:rPr lang="bg-BG" dirty="0">
                <a:latin typeface="Comfortaa" pitchFamily="2" charset="0"/>
              </a:rPr>
              <a:t>Презаредените методи винаги трябва да бъдат част от съшия клас</a:t>
            </a:r>
            <a:r>
              <a:rPr lang="en-US" dirty="0">
                <a:latin typeface="Comfortaa" pitchFamily="2" charset="0"/>
              </a:rPr>
              <a:t> (</a:t>
            </a:r>
            <a:r>
              <a:rPr lang="bg-BG" dirty="0">
                <a:latin typeface="Comfortaa" pitchFamily="2" charset="0"/>
              </a:rPr>
              <a:t>подклас</a:t>
            </a:r>
            <a:r>
              <a:rPr lang="en-US" dirty="0">
                <a:latin typeface="Comfortaa" pitchFamily="2" charset="0"/>
              </a:rPr>
              <a:t>), </a:t>
            </a:r>
            <a:r>
              <a:rPr lang="bg-BG" dirty="0">
                <a:latin typeface="Comfortaa" pitchFamily="2" charset="0"/>
              </a:rPr>
              <a:t>с </a:t>
            </a:r>
            <a:r>
              <a:rPr lang="bg-BG" b="1" dirty="0">
                <a:solidFill>
                  <a:srgbClr val="00B0F0"/>
                </a:solidFill>
                <a:latin typeface="Comfortaa" pitchFamily="2" charset="0"/>
              </a:rPr>
              <a:t>едно и също име</a:t>
            </a:r>
            <a:r>
              <a:rPr lang="bg-BG" dirty="0">
                <a:latin typeface="Comfortaa" pitchFamily="2" charset="0"/>
              </a:rPr>
              <a:t>, но с</a:t>
            </a:r>
            <a:r>
              <a:rPr lang="en-US" dirty="0">
                <a:latin typeface="Comfortaa" pitchFamily="2" charset="0"/>
              </a:rPr>
              <a:t> </a:t>
            </a:r>
            <a:r>
              <a:rPr lang="bg-BG" b="1" dirty="0">
                <a:solidFill>
                  <a:srgbClr val="00B0F0"/>
                </a:solidFill>
                <a:latin typeface="Comfortaa" pitchFamily="2" charset="0"/>
              </a:rPr>
              <a:t>различни параметри</a:t>
            </a:r>
            <a:r>
              <a:rPr lang="bg-BG" dirty="0">
                <a:solidFill>
                  <a:schemeClr val="tx2">
                    <a:lumMod val="75000"/>
                  </a:schemeClr>
                </a:solidFill>
                <a:latin typeface="Comfortaa" pitchFamily="2" charset="0"/>
              </a:rPr>
              <a:t>.</a:t>
            </a:r>
            <a:endParaRPr lang="en-US" dirty="0">
              <a:solidFill>
                <a:schemeClr val="tx2">
                  <a:lumMod val="75000"/>
                </a:schemeClr>
              </a:solidFill>
              <a:latin typeface="Comfortaa" pitchFamily="2" charset="0"/>
            </a:endParaRPr>
          </a:p>
          <a:p>
            <a:pPr>
              <a:spcBef>
                <a:spcPts val="1800"/>
              </a:spcBef>
            </a:pPr>
            <a:r>
              <a:rPr lang="bg-BG" dirty="0">
                <a:latin typeface="Comfortaa" pitchFamily="2" charset="0"/>
              </a:rPr>
              <a:t>Могат да имат </a:t>
            </a:r>
            <a:r>
              <a:rPr lang="bg-BG" b="1" dirty="0">
                <a:solidFill>
                  <a:srgbClr val="00B0F0"/>
                </a:solidFill>
                <a:latin typeface="Comfortaa" pitchFamily="2" charset="0"/>
              </a:rPr>
              <a:t>едни и същи</a:t>
            </a:r>
            <a:r>
              <a:rPr lang="en-US" b="1" dirty="0">
                <a:solidFill>
                  <a:srgbClr val="00B0F0"/>
                </a:solidFill>
                <a:latin typeface="Comfortaa" pitchFamily="2" charset="0"/>
              </a:rPr>
              <a:t> </a:t>
            </a:r>
            <a:r>
              <a:rPr lang="bg-BG" dirty="0">
                <a:latin typeface="Comfortaa" pitchFamily="2" charset="0"/>
              </a:rPr>
              <a:t>или</a:t>
            </a:r>
            <a:r>
              <a:rPr lang="en-US" dirty="0">
                <a:latin typeface="Comfortaa" pitchFamily="2" charset="0"/>
              </a:rPr>
              <a:t> </a:t>
            </a:r>
            <a:r>
              <a:rPr lang="bg-BG" b="1" dirty="0">
                <a:solidFill>
                  <a:srgbClr val="00B0F0"/>
                </a:solidFill>
                <a:latin typeface="Comfortaa" pitchFamily="2" charset="0"/>
              </a:rPr>
              <a:t>различни типове на връщана стойност</a:t>
            </a:r>
            <a:r>
              <a:rPr lang="en-US" dirty="0">
                <a:solidFill>
                  <a:schemeClr val="tx2">
                    <a:lumMod val="75000"/>
                  </a:schemeClr>
                </a:solidFill>
                <a:latin typeface="Comfortaa" pitchFamily="2" charset="0"/>
              </a:rPr>
              <a:t>.</a:t>
            </a:r>
          </a:p>
        </p:txBody>
      </p:sp>
      <p:sp>
        <p:nvSpPr>
          <p:cNvPr id="4" name="Title 3"/>
          <p:cNvSpPr>
            <a:spLocks noGrp="1"/>
          </p:cNvSpPr>
          <p:nvPr>
            <p:ph type="title"/>
          </p:nvPr>
        </p:nvSpPr>
        <p:spPr/>
        <p:txBody>
          <a:bodyPr>
            <a:normAutofit/>
          </a:bodyPr>
          <a:lstStyle/>
          <a:p>
            <a:r>
              <a:rPr lang="bg-BG" sz="3600" b="1" noProof="1">
                <a:latin typeface="Comfortaa" pitchFamily="2" charset="0"/>
              </a:rPr>
              <a:t>Правила за презареждане на методи</a:t>
            </a:r>
            <a:endParaRPr lang="en-US" sz="3600" b="1" dirty="0">
              <a:latin typeface="Comfortaa" pitchFamily="2" charset="0"/>
            </a:endParaRPr>
          </a:p>
        </p:txBody>
      </p:sp>
    </p:spTree>
    <p:extLst>
      <p:ext uri="{BB962C8B-B14F-4D97-AF65-F5344CB8AC3E}">
        <p14:creationId xmlns:p14="http://schemas.microsoft.com/office/powerpoint/2010/main" val="4047229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3923" name="Rectangle 3"/>
          <p:cNvSpPr>
            <a:spLocks noGrp="1" noChangeArrowheads="1"/>
          </p:cNvSpPr>
          <p:nvPr>
            <p:ph idx="1"/>
          </p:nvPr>
        </p:nvSpPr>
        <p:spPr/>
        <p:txBody>
          <a:bodyPr>
            <a:normAutofit/>
          </a:bodyPr>
          <a:lstStyle/>
          <a:p>
            <a:pPr>
              <a:lnSpc>
                <a:spcPct val="110000"/>
              </a:lnSpc>
            </a:pPr>
            <a:r>
              <a:rPr lang="bg-BG" b="1" dirty="0">
                <a:solidFill>
                  <a:srgbClr val="00B0F0"/>
                </a:solidFill>
                <a:latin typeface="Comfortaa" pitchFamily="2" charset="0"/>
              </a:rPr>
              <a:t>Презаписване на метод (</a:t>
            </a:r>
            <a:r>
              <a:rPr lang="en-US" b="1" dirty="0">
                <a:solidFill>
                  <a:srgbClr val="00B0F0"/>
                </a:solidFill>
                <a:latin typeface="Comfortaa" pitchFamily="2" charset="0"/>
              </a:rPr>
              <a:t>overriding)</a:t>
            </a:r>
            <a:r>
              <a:rPr lang="bg-BG" b="1" dirty="0">
                <a:solidFill>
                  <a:srgbClr val="00B0F0"/>
                </a:solidFill>
                <a:latin typeface="Comfortaa" pitchFamily="2" charset="0"/>
              </a:rPr>
              <a:t> </a:t>
            </a:r>
            <a:r>
              <a:rPr lang="en-US" dirty="0">
                <a:latin typeface="Comfortaa" pitchFamily="2" charset="0"/>
              </a:rPr>
              <a:t>–</a:t>
            </a:r>
            <a:r>
              <a:rPr lang="bg-BG" dirty="0">
                <a:latin typeface="Comfortaa" pitchFamily="2" charset="0"/>
              </a:rPr>
              <a:t> създаване на метод със същото име и сигнатура в подклас</a:t>
            </a:r>
            <a:r>
              <a:rPr lang="en-US" dirty="0">
                <a:latin typeface="Comfortaa" pitchFamily="2" charset="0"/>
              </a:rPr>
              <a:t> </a:t>
            </a:r>
            <a:endParaRPr lang="bg-BG" dirty="0">
              <a:latin typeface="Comfortaa" pitchFamily="2" charset="0"/>
            </a:endParaRPr>
          </a:p>
          <a:p>
            <a:pPr>
              <a:lnSpc>
                <a:spcPct val="110000"/>
              </a:lnSpc>
            </a:pPr>
            <a:r>
              <a:rPr lang="bg-BG" dirty="0">
                <a:latin typeface="Comfortaa" pitchFamily="2" charset="0"/>
              </a:rPr>
              <a:t>В </a:t>
            </a:r>
            <a:r>
              <a:rPr lang="en-US" dirty="0">
                <a:latin typeface="Comfortaa" pitchFamily="2" charset="0"/>
              </a:rPr>
              <a:t>C#</a:t>
            </a:r>
            <a:r>
              <a:rPr lang="bg-BG" dirty="0">
                <a:latin typeface="Comfortaa" pitchFamily="2" charset="0"/>
              </a:rPr>
              <a:t>, за да позволим даден метод да бъде презаписан поставяме ключовата дума </a:t>
            </a:r>
            <a:r>
              <a:rPr lang="en-US" b="1" dirty="0">
                <a:solidFill>
                  <a:srgbClr val="00B0F0"/>
                </a:solidFill>
                <a:latin typeface="Comfortaa" pitchFamily="2" charset="0"/>
              </a:rPr>
              <a:t>virtual</a:t>
            </a:r>
            <a:r>
              <a:rPr lang="bg-BG" dirty="0">
                <a:latin typeface="Comfortaa" pitchFamily="2" charset="0"/>
              </a:rPr>
              <a:t> пред него.</a:t>
            </a:r>
          </a:p>
          <a:p>
            <a:pPr>
              <a:lnSpc>
                <a:spcPct val="110000"/>
              </a:lnSpc>
            </a:pPr>
            <a:r>
              <a:rPr lang="bg-BG" dirty="0">
                <a:latin typeface="Comfortaa" pitchFamily="2" charset="0"/>
              </a:rPr>
              <a:t>За да окажем, че даден метод в подкласа</a:t>
            </a:r>
            <a:r>
              <a:rPr lang="en-US" dirty="0">
                <a:latin typeface="Comfortaa" pitchFamily="2" charset="0"/>
              </a:rPr>
              <a:t>,</a:t>
            </a:r>
            <a:r>
              <a:rPr lang="bg-BG" dirty="0">
                <a:latin typeface="Comfortaa" pitchFamily="2" charset="0"/>
              </a:rPr>
              <a:t> презаписва метод от базовия клас, поставяме ключовата дума </a:t>
            </a:r>
            <a:r>
              <a:rPr lang="en-US" b="1" dirty="0">
                <a:solidFill>
                  <a:srgbClr val="00B0F0"/>
                </a:solidFill>
                <a:latin typeface="Comfortaa" pitchFamily="2" charset="0"/>
              </a:rPr>
              <a:t>overrides</a:t>
            </a:r>
          </a:p>
        </p:txBody>
      </p:sp>
      <p:sp>
        <p:nvSpPr>
          <p:cNvPr id="1233922" name="Rectangle 2"/>
          <p:cNvSpPr>
            <a:spLocks noGrp="1" noChangeArrowheads="1"/>
          </p:cNvSpPr>
          <p:nvPr>
            <p:ph type="title"/>
          </p:nvPr>
        </p:nvSpPr>
        <p:spPr/>
        <p:txBody>
          <a:bodyPr/>
          <a:lstStyle/>
          <a:p>
            <a:r>
              <a:rPr lang="bg-BG" dirty="0">
                <a:latin typeface="Comfortaa" pitchFamily="2" charset="0"/>
              </a:rPr>
              <a:t>Презаписване на методи</a:t>
            </a:r>
          </a:p>
        </p:txBody>
      </p:sp>
    </p:spTree>
    <p:extLst>
      <p:ext uri="{BB962C8B-B14F-4D97-AF65-F5344CB8AC3E}">
        <p14:creationId xmlns:p14="http://schemas.microsoft.com/office/powerpoint/2010/main" val="218429134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nchor="ctr" anchorCtr="0"/>
          <a:lstStyle/>
          <a:p>
            <a:pPr>
              <a:lnSpc>
                <a:spcPts val="4000"/>
              </a:lnSpc>
              <a:defRPr/>
            </a:pPr>
            <a:r>
              <a:rPr lang="bg-BG" dirty="0">
                <a:latin typeface="Comfortaa" pitchFamily="2" charset="0"/>
              </a:rPr>
              <a:t>Задача: Животни</a:t>
            </a:r>
            <a:endParaRPr lang="bg-BG" sz="4000" dirty="0">
              <a:latin typeface="Comfortaa" pitchFamily="2" charset="0"/>
            </a:endParaRPr>
          </a:p>
        </p:txBody>
      </p:sp>
      <p:sp>
        <p:nvSpPr>
          <p:cNvPr id="18" name="Rectangle 4"/>
          <p:cNvSpPr>
            <a:spLocks noChangeArrowheads="1"/>
          </p:cNvSpPr>
          <p:nvPr/>
        </p:nvSpPr>
        <p:spPr bwMode="auto">
          <a:xfrm>
            <a:off x="3619500" y="1927285"/>
            <a:ext cx="4953000" cy="47705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gn="ctr" eaLnBrk="0" hangingPunct="0">
              <a:lnSpc>
                <a:spcPts val="3000"/>
              </a:lnSpc>
              <a:buClr>
                <a:schemeClr val="accent5">
                  <a:lumMod val="40000"/>
                  <a:lumOff val="60000"/>
                </a:schemeClr>
              </a:buClr>
              <a:buSzPct val="70000"/>
            </a:pPr>
            <a:r>
              <a:rPr lang="en-US" sz="2800" b="1" noProof="1">
                <a:latin typeface="Consolas" panose="020B0609020204030204" pitchFamily="49" charset="0"/>
              </a:rPr>
              <a:t>Animal</a:t>
            </a:r>
          </a:p>
        </p:txBody>
      </p:sp>
      <p:sp>
        <p:nvSpPr>
          <p:cNvPr id="19" name="Rectangle 18"/>
          <p:cNvSpPr>
            <a:spLocks noChangeArrowheads="1"/>
          </p:cNvSpPr>
          <p:nvPr/>
        </p:nvSpPr>
        <p:spPr bwMode="auto">
          <a:xfrm>
            <a:off x="3619500" y="2404339"/>
            <a:ext cx="4953000" cy="86177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-string name</a:t>
            </a:r>
          </a:p>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-string favouriteFood</a:t>
            </a:r>
          </a:p>
        </p:txBody>
      </p:sp>
      <p:sp>
        <p:nvSpPr>
          <p:cNvPr id="10" name="Rectangle 9"/>
          <p:cNvSpPr>
            <a:spLocks noChangeArrowheads="1"/>
          </p:cNvSpPr>
          <p:nvPr/>
        </p:nvSpPr>
        <p:spPr bwMode="auto">
          <a:xfrm>
            <a:off x="3617912" y="3252416"/>
            <a:ext cx="4953000" cy="47705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+ExplainMyself():string</a:t>
            </a:r>
          </a:p>
        </p:txBody>
      </p:sp>
      <p:sp>
        <p:nvSpPr>
          <p:cNvPr id="11" name="Rectangle 4"/>
          <p:cNvSpPr>
            <a:spLocks noChangeArrowheads="1"/>
          </p:cNvSpPr>
          <p:nvPr/>
        </p:nvSpPr>
        <p:spPr bwMode="auto">
          <a:xfrm>
            <a:off x="838200" y="4739244"/>
            <a:ext cx="4953000" cy="47705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gn="ctr" eaLnBrk="0" hangingPunct="0">
              <a:lnSpc>
                <a:spcPts val="3000"/>
              </a:lnSpc>
              <a:buClr>
                <a:schemeClr val="accent5">
                  <a:lumMod val="40000"/>
                  <a:lumOff val="60000"/>
                </a:schemeClr>
              </a:buClr>
              <a:buSzPct val="70000"/>
            </a:pPr>
            <a:r>
              <a:rPr lang="en-US" sz="2800" b="1" noProof="1">
                <a:latin typeface="Consolas" panose="020B0609020204030204" pitchFamily="49" charset="0"/>
              </a:rPr>
              <a:t>Cat</a:t>
            </a:r>
          </a:p>
        </p:txBody>
      </p:sp>
      <p:sp>
        <p:nvSpPr>
          <p:cNvPr id="14" name="Rectangle 13"/>
          <p:cNvSpPr>
            <a:spLocks noChangeArrowheads="1"/>
          </p:cNvSpPr>
          <p:nvPr/>
        </p:nvSpPr>
        <p:spPr bwMode="auto">
          <a:xfrm>
            <a:off x="838200" y="5251540"/>
            <a:ext cx="4953000" cy="47705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a:t>
            </a:r>
            <a:r>
              <a:rPr lang="en-US" sz="2800" b="1" dirty="0">
                <a:latin typeface="Consolas" panose="020B0609020204030204" pitchFamily="49" charset="0"/>
              </a:rPr>
              <a:t> </a:t>
            </a:r>
            <a:r>
              <a:rPr lang="en-US" sz="2800" b="1" noProof="1">
                <a:latin typeface="Consolas" panose="020B0609020204030204" pitchFamily="49" charset="0"/>
              </a:rPr>
              <a:t>ExplainMyself():string</a:t>
            </a:r>
          </a:p>
        </p:txBody>
      </p:sp>
      <p:cxnSp>
        <p:nvCxnSpPr>
          <p:cNvPr id="6" name="Straight Arrow Connector 5"/>
          <p:cNvCxnSpPr/>
          <p:nvPr/>
        </p:nvCxnSpPr>
        <p:spPr>
          <a:xfrm flipV="1">
            <a:off x="4953000" y="3729470"/>
            <a:ext cx="0" cy="1009774"/>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4"/>
          <p:cNvSpPr>
            <a:spLocks noChangeArrowheads="1"/>
          </p:cNvSpPr>
          <p:nvPr/>
        </p:nvSpPr>
        <p:spPr bwMode="auto">
          <a:xfrm>
            <a:off x="6477000" y="4739244"/>
            <a:ext cx="4953000" cy="47705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gn="ctr" eaLnBrk="0" hangingPunct="0">
              <a:lnSpc>
                <a:spcPts val="3000"/>
              </a:lnSpc>
              <a:buClr>
                <a:schemeClr val="accent5">
                  <a:lumMod val="40000"/>
                  <a:lumOff val="60000"/>
                </a:schemeClr>
              </a:buClr>
              <a:buSzPct val="70000"/>
            </a:pPr>
            <a:r>
              <a:rPr lang="en-US" sz="2800" b="1" noProof="1">
                <a:latin typeface="Consolas" panose="020B0609020204030204" pitchFamily="49" charset="0"/>
              </a:rPr>
              <a:t>Dog</a:t>
            </a:r>
          </a:p>
        </p:txBody>
      </p:sp>
      <p:sp>
        <p:nvSpPr>
          <p:cNvPr id="15" name="Rectangle 14"/>
          <p:cNvSpPr>
            <a:spLocks noChangeArrowheads="1"/>
          </p:cNvSpPr>
          <p:nvPr/>
        </p:nvSpPr>
        <p:spPr bwMode="auto">
          <a:xfrm>
            <a:off x="6477000" y="5251540"/>
            <a:ext cx="4953000" cy="477054"/>
          </a:xfrm>
          <a:prstGeom prst="rect">
            <a:avLst/>
          </a:prstGeom>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eaLnBrk="0" hangingPunct="0">
              <a:lnSpc>
                <a:spcPts val="3000"/>
              </a:lnSpc>
              <a:buClr>
                <a:schemeClr val="accent5">
                  <a:lumMod val="40000"/>
                  <a:lumOff val="60000"/>
                </a:schemeClr>
              </a:buClr>
              <a:buSzPct val="70000"/>
            </a:pPr>
            <a:r>
              <a:rPr lang="en-US" sz="2800" b="1" noProof="1">
                <a:latin typeface="Consolas" panose="020B0609020204030204" pitchFamily="49" charset="0"/>
              </a:rPr>
              <a:t>+</a:t>
            </a:r>
            <a:r>
              <a:rPr lang="en-US" sz="2800" b="1" dirty="0">
                <a:latin typeface="Consolas" panose="020B0609020204030204" pitchFamily="49" charset="0"/>
              </a:rPr>
              <a:t> </a:t>
            </a:r>
            <a:r>
              <a:rPr lang="en-US" sz="2800" b="1" noProof="1">
                <a:latin typeface="Consolas" panose="020B0609020204030204" pitchFamily="49" charset="0"/>
              </a:rPr>
              <a:t>ExplainMyself():string</a:t>
            </a:r>
          </a:p>
        </p:txBody>
      </p:sp>
      <p:cxnSp>
        <p:nvCxnSpPr>
          <p:cNvPr id="16" name="Straight Arrow Connector 15"/>
          <p:cNvCxnSpPr/>
          <p:nvPr/>
        </p:nvCxnSpPr>
        <p:spPr>
          <a:xfrm flipV="1">
            <a:off x="7467600" y="3729470"/>
            <a:ext cx="0" cy="1009774"/>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348824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801" y="667945"/>
            <a:ext cx="11182398" cy="1006475"/>
          </a:xfrm>
          <a:prstGeom prst="rect">
            <a:avLst/>
          </a:prstGeom>
        </p:spPr>
        <p:txBody>
          <a:bodyPr anchor="ctr" anchorCtr="0"/>
          <a:lstStyle/>
          <a:p>
            <a:pPr>
              <a:lnSpc>
                <a:spcPts val="4000"/>
              </a:lnSpc>
              <a:defRPr/>
            </a:pPr>
            <a:r>
              <a:rPr lang="bg-BG" sz="4000" dirty="0">
                <a:latin typeface="Comfortaa" pitchFamily="2" charset="0"/>
              </a:rPr>
              <a:t>Решение</a:t>
            </a:r>
            <a:r>
              <a:rPr lang="en-US" sz="4000" dirty="0">
                <a:latin typeface="Comfortaa" pitchFamily="2" charset="0"/>
              </a:rPr>
              <a:t>: </a:t>
            </a:r>
            <a:r>
              <a:rPr lang="bg-BG" sz="4000" dirty="0">
                <a:latin typeface="Comfortaa" pitchFamily="2" charset="0"/>
              </a:rPr>
              <a:t>Животни</a:t>
            </a:r>
            <a:r>
              <a:rPr lang="en-US" sz="4000" dirty="0">
                <a:latin typeface="Comfortaa" pitchFamily="2" charset="0"/>
              </a:rPr>
              <a:t> [1/2]</a:t>
            </a:r>
            <a:endParaRPr lang="bg-BG" sz="4000" dirty="0">
              <a:latin typeface="Comfortaa" pitchFamily="2" charset="0"/>
            </a:endParaRPr>
          </a:p>
        </p:txBody>
      </p:sp>
      <p:sp>
        <p:nvSpPr>
          <p:cNvPr id="11" name="Text Placeholder 5"/>
          <p:cNvSpPr txBox="1">
            <a:spLocks/>
          </p:cNvSpPr>
          <p:nvPr/>
        </p:nvSpPr>
        <p:spPr>
          <a:xfrm>
            <a:off x="504801" y="1674420"/>
            <a:ext cx="11182398" cy="4454278"/>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800" dirty="0">
                <a:solidFill>
                  <a:schemeClr val="bg1"/>
                </a:solidFill>
                <a:effectLst/>
              </a:rPr>
              <a:t>public class Animal</a:t>
            </a:r>
          </a:p>
          <a:p>
            <a:r>
              <a:rPr lang="en-US" sz="2800" dirty="0">
                <a:solidFill>
                  <a:schemeClr val="bg1"/>
                </a:solidFill>
                <a:effectLst/>
              </a:rPr>
              <a:t>{</a:t>
            </a:r>
          </a:p>
          <a:p>
            <a:r>
              <a:rPr lang="en-US" sz="2800" dirty="0">
                <a:solidFill>
                  <a:schemeClr val="bg1"/>
                </a:solidFill>
                <a:effectLst/>
              </a:rPr>
              <a:t>  public string Name { get; protected set; }</a:t>
            </a:r>
          </a:p>
          <a:p>
            <a:r>
              <a:rPr lang="en-US" sz="2800" dirty="0">
                <a:solidFill>
                  <a:schemeClr val="bg1"/>
                </a:solidFill>
                <a:effectLst/>
              </a:rPr>
              <a:t>  public string </a:t>
            </a:r>
            <a:r>
              <a:rPr lang="en-US" sz="2800" dirty="0" err="1">
                <a:solidFill>
                  <a:schemeClr val="bg1"/>
                </a:solidFill>
                <a:effectLst/>
              </a:rPr>
              <a:t>FavouriteFood</a:t>
            </a:r>
            <a:r>
              <a:rPr lang="en-US" sz="2800" dirty="0">
                <a:solidFill>
                  <a:schemeClr val="bg1"/>
                </a:solidFill>
                <a:effectLst/>
              </a:rPr>
              <a:t> { get; protected set; }</a:t>
            </a:r>
          </a:p>
          <a:p>
            <a:r>
              <a:rPr lang="en-US" sz="2800" dirty="0">
                <a:solidFill>
                  <a:schemeClr val="bg1"/>
                </a:solidFill>
                <a:effectLst/>
              </a:rPr>
              <a:t>  public virtual string </a:t>
            </a:r>
            <a:r>
              <a:rPr lang="en-US" sz="2800" dirty="0" err="1">
                <a:solidFill>
                  <a:schemeClr val="bg1"/>
                </a:solidFill>
                <a:effectLst/>
              </a:rPr>
              <a:t>ExplainMyself</a:t>
            </a:r>
            <a:r>
              <a:rPr lang="en-US" sz="2800" dirty="0">
                <a:solidFill>
                  <a:schemeClr val="bg1"/>
                </a:solidFill>
                <a:effectLst/>
              </a:rPr>
              <a:t>()</a:t>
            </a:r>
          </a:p>
          <a:p>
            <a:r>
              <a:rPr lang="en-US" sz="2800" dirty="0">
                <a:solidFill>
                  <a:schemeClr val="bg1"/>
                </a:solidFill>
                <a:effectLst/>
              </a:rPr>
              <a:t>  {</a:t>
            </a:r>
          </a:p>
          <a:p>
            <a:r>
              <a:rPr lang="en-US" sz="2800" dirty="0">
                <a:solidFill>
                  <a:schemeClr val="bg1"/>
                </a:solidFill>
                <a:effectLst/>
              </a:rPr>
              <a:t>    return $"I am {</a:t>
            </a:r>
            <a:r>
              <a:rPr lang="en-US" sz="2800" dirty="0" err="1">
                <a:solidFill>
                  <a:schemeClr val="bg1"/>
                </a:solidFill>
                <a:effectLst/>
              </a:rPr>
              <a:t>this.Name</a:t>
            </a:r>
            <a:r>
              <a:rPr lang="en-US" sz="2800" dirty="0">
                <a:solidFill>
                  <a:schemeClr val="bg1"/>
                </a:solidFill>
                <a:effectLst/>
              </a:rPr>
              <a:t>} and my </a:t>
            </a:r>
            <a:r>
              <a:rPr lang="en-US" sz="2800" dirty="0" err="1">
                <a:solidFill>
                  <a:schemeClr val="bg1"/>
                </a:solidFill>
                <a:effectLst/>
              </a:rPr>
              <a:t>fovourite</a:t>
            </a:r>
            <a:r>
              <a:rPr lang="en-US" sz="2800" dirty="0">
                <a:solidFill>
                  <a:schemeClr val="bg1"/>
                </a:solidFill>
                <a:effectLst/>
              </a:rPr>
              <a:t> food is     </a:t>
            </a:r>
          </a:p>
          <a:p>
            <a:r>
              <a:rPr lang="en-US" sz="2800" dirty="0">
                <a:solidFill>
                  <a:schemeClr val="bg1"/>
                </a:solidFill>
                <a:effectLst/>
              </a:rPr>
              <a:t>    </a:t>
            </a:r>
            <a:r>
              <a:rPr lang="bg-BG" sz="2800" dirty="0">
                <a:solidFill>
                  <a:schemeClr val="bg1"/>
                </a:solidFill>
                <a:effectLst/>
              </a:rPr>
              <a:t>  </a:t>
            </a:r>
            <a:r>
              <a:rPr lang="en-US" sz="2800" dirty="0">
                <a:solidFill>
                  <a:schemeClr val="bg1"/>
                </a:solidFill>
                <a:effectLst/>
              </a:rPr>
              <a:t>{</a:t>
            </a:r>
            <a:r>
              <a:rPr lang="en-US" sz="2800" dirty="0" err="1">
                <a:solidFill>
                  <a:schemeClr val="bg1"/>
                </a:solidFill>
                <a:effectLst/>
              </a:rPr>
              <a:t>this.FavouriteFood</a:t>
            </a:r>
            <a:r>
              <a:rPr lang="en-US" sz="2800" dirty="0">
                <a:solidFill>
                  <a:schemeClr val="bg1"/>
                </a:solidFill>
                <a:effectLst/>
              </a:rPr>
              <a:t>}";</a:t>
            </a:r>
          </a:p>
          <a:p>
            <a:r>
              <a:rPr lang="en-US" sz="2800" dirty="0">
                <a:solidFill>
                  <a:schemeClr val="bg1"/>
                </a:solidFill>
                <a:effectLst/>
              </a:rPr>
              <a:t>  }</a:t>
            </a:r>
          </a:p>
          <a:p>
            <a:r>
              <a:rPr lang="en-US" sz="2800" dirty="0">
                <a:solidFill>
                  <a:schemeClr val="bg1"/>
                </a:solidFill>
                <a:effectLst/>
              </a:rPr>
              <a:t>}</a:t>
            </a:r>
          </a:p>
        </p:txBody>
      </p:sp>
    </p:spTree>
    <p:extLst>
      <p:ext uri="{BB962C8B-B14F-4D97-AF65-F5344CB8AC3E}">
        <p14:creationId xmlns:p14="http://schemas.microsoft.com/office/powerpoint/2010/main" val="87753726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5"/>
          <p:cNvSpPr txBox="1">
            <a:spLocks/>
          </p:cNvSpPr>
          <p:nvPr/>
        </p:nvSpPr>
        <p:spPr>
          <a:xfrm>
            <a:off x="587928" y="1578281"/>
            <a:ext cx="10854393" cy="4946721"/>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400" dirty="0">
                <a:solidFill>
                  <a:schemeClr val="bg1"/>
                </a:solidFill>
                <a:effectLst/>
              </a:rPr>
              <a:t>public class Dog : Animal</a:t>
            </a:r>
          </a:p>
          <a:p>
            <a:r>
              <a:rPr lang="en-US" sz="2400" dirty="0">
                <a:solidFill>
                  <a:schemeClr val="bg1"/>
                </a:solidFill>
                <a:effectLst/>
              </a:rPr>
              <a:t>{</a:t>
            </a:r>
          </a:p>
          <a:p>
            <a:r>
              <a:rPr lang="en-US" sz="2400" dirty="0">
                <a:solidFill>
                  <a:schemeClr val="bg1"/>
                </a:solidFill>
                <a:effectLst/>
              </a:rPr>
              <a:t>  public Dog(string name, string favouriteFood)</a:t>
            </a:r>
          </a:p>
          <a:p>
            <a:r>
              <a:rPr lang="en-US" sz="2400" dirty="0">
                <a:solidFill>
                  <a:schemeClr val="bg1"/>
                </a:solidFill>
                <a:effectLst/>
              </a:rPr>
              <a:t>  {</a:t>
            </a:r>
          </a:p>
          <a:p>
            <a:r>
              <a:rPr lang="en-US" sz="2400" dirty="0">
                <a:solidFill>
                  <a:schemeClr val="bg1"/>
                </a:solidFill>
                <a:effectLst/>
              </a:rPr>
              <a:t>    this.Name = name;</a:t>
            </a:r>
          </a:p>
          <a:p>
            <a:r>
              <a:rPr lang="en-US" sz="2400" dirty="0">
                <a:solidFill>
                  <a:schemeClr val="bg1"/>
                </a:solidFill>
                <a:effectLst/>
              </a:rPr>
              <a:t>    this.FavouriteFood = favouriteFood;</a:t>
            </a:r>
          </a:p>
          <a:p>
            <a:r>
              <a:rPr lang="en-US" sz="2400" dirty="0">
                <a:solidFill>
                  <a:schemeClr val="bg1"/>
                </a:solidFill>
                <a:effectLst/>
              </a:rPr>
              <a:t>  }</a:t>
            </a:r>
          </a:p>
          <a:p>
            <a:r>
              <a:rPr lang="en-US" sz="2400" dirty="0">
                <a:solidFill>
                  <a:schemeClr val="bg1"/>
                </a:solidFill>
                <a:effectLst/>
              </a:rPr>
              <a:t>  public override string ExplainMyself()</a:t>
            </a:r>
          </a:p>
          <a:p>
            <a:r>
              <a:rPr lang="en-US" sz="2400" dirty="0">
                <a:solidFill>
                  <a:schemeClr val="bg1"/>
                </a:solidFill>
                <a:effectLst/>
              </a:rPr>
              <a:t>  {</a:t>
            </a:r>
          </a:p>
          <a:p>
            <a:r>
              <a:rPr lang="en-US" sz="2400" dirty="0">
                <a:solidFill>
                  <a:schemeClr val="bg1"/>
                </a:solidFill>
                <a:effectLst/>
              </a:rPr>
              <a:t>    return base.ExplainMyself() + Environment.NewLine + </a:t>
            </a:r>
          </a:p>
          <a:p>
            <a:r>
              <a:rPr lang="en-US" sz="2400" dirty="0">
                <a:solidFill>
                  <a:schemeClr val="bg1"/>
                </a:solidFill>
                <a:effectLst/>
              </a:rPr>
              <a:t>    </a:t>
            </a:r>
            <a:r>
              <a:rPr lang="bg-BG" sz="2400" dirty="0">
                <a:solidFill>
                  <a:schemeClr val="bg1"/>
                </a:solidFill>
                <a:effectLst/>
              </a:rPr>
              <a:t>  </a:t>
            </a:r>
            <a:r>
              <a:rPr lang="en-US" sz="2400" dirty="0">
                <a:solidFill>
                  <a:schemeClr val="bg1"/>
                </a:solidFill>
                <a:effectLst/>
              </a:rPr>
              <a:t>"DJAAF";</a:t>
            </a:r>
          </a:p>
          <a:p>
            <a:r>
              <a:rPr lang="en-US" sz="2400" dirty="0">
                <a:solidFill>
                  <a:schemeClr val="bg1"/>
                </a:solidFill>
                <a:effectLst/>
              </a:rPr>
              <a:t>  }</a:t>
            </a:r>
          </a:p>
          <a:p>
            <a:r>
              <a:rPr lang="en-US" sz="2400" dirty="0">
                <a:solidFill>
                  <a:schemeClr val="bg1"/>
                </a:solidFill>
                <a:effectLst/>
              </a:rPr>
              <a:t>}</a:t>
            </a:r>
          </a:p>
        </p:txBody>
      </p:sp>
      <p:sp>
        <p:nvSpPr>
          <p:cNvPr id="5" name="Title 1">
            <a:extLst>
              <a:ext uri="{FF2B5EF4-FFF2-40B4-BE49-F238E27FC236}">
                <a16:creationId xmlns:a16="http://schemas.microsoft.com/office/drawing/2014/main" id="{CBCCEC9D-B73D-82FC-9C46-081293E1A026}"/>
              </a:ext>
            </a:extLst>
          </p:cNvPr>
          <p:cNvSpPr>
            <a:spLocks noGrp="1"/>
          </p:cNvSpPr>
          <p:nvPr>
            <p:ph type="title"/>
          </p:nvPr>
        </p:nvSpPr>
        <p:spPr>
          <a:xfrm>
            <a:off x="504801" y="667945"/>
            <a:ext cx="11182398" cy="1006475"/>
          </a:xfrm>
          <a:prstGeom prst="rect">
            <a:avLst/>
          </a:prstGeom>
        </p:spPr>
        <p:txBody>
          <a:bodyPr anchor="ctr" anchorCtr="0"/>
          <a:lstStyle/>
          <a:p>
            <a:pPr>
              <a:lnSpc>
                <a:spcPts val="4000"/>
              </a:lnSpc>
              <a:defRPr/>
            </a:pPr>
            <a:r>
              <a:rPr lang="bg-BG" sz="4000" dirty="0">
                <a:latin typeface="Comfortaa" pitchFamily="2" charset="0"/>
              </a:rPr>
              <a:t>Решение</a:t>
            </a:r>
            <a:r>
              <a:rPr lang="en-US" sz="4000" dirty="0">
                <a:latin typeface="Comfortaa" pitchFamily="2" charset="0"/>
              </a:rPr>
              <a:t>: </a:t>
            </a:r>
            <a:r>
              <a:rPr lang="bg-BG" sz="4000" dirty="0">
                <a:latin typeface="Comfortaa" pitchFamily="2" charset="0"/>
              </a:rPr>
              <a:t>Животни</a:t>
            </a:r>
            <a:r>
              <a:rPr lang="en-US" sz="4000" dirty="0">
                <a:latin typeface="Comfortaa" pitchFamily="2" charset="0"/>
              </a:rPr>
              <a:t> [1/2]</a:t>
            </a:r>
            <a:endParaRPr lang="bg-BG" sz="4000" dirty="0">
              <a:latin typeface="Comfortaa" pitchFamily="2" charset="0"/>
            </a:endParaRPr>
          </a:p>
        </p:txBody>
      </p:sp>
    </p:spTree>
    <p:extLst>
      <p:ext uri="{BB962C8B-B14F-4D97-AF65-F5344CB8AC3E}">
        <p14:creationId xmlns:p14="http://schemas.microsoft.com/office/powerpoint/2010/main" val="104398794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spcBef>
                <a:spcPts val="1200"/>
              </a:spcBef>
            </a:pPr>
            <a:r>
              <a:rPr lang="bg-BG" b="1" dirty="0">
                <a:solidFill>
                  <a:srgbClr val="00B0F0"/>
                </a:solidFill>
                <a:latin typeface="Comfortaa" pitchFamily="2" charset="0"/>
              </a:rPr>
              <a:t>Презаписването</a:t>
            </a:r>
            <a:r>
              <a:rPr lang="bg-BG" dirty="0">
                <a:solidFill>
                  <a:schemeClr val="tx2">
                    <a:lumMod val="75000"/>
                  </a:schemeClr>
                </a:solidFill>
                <a:latin typeface="Comfortaa" pitchFamily="2" charset="0"/>
              </a:rPr>
              <a:t> </a:t>
            </a:r>
            <a:r>
              <a:rPr lang="bg-BG" dirty="0">
                <a:latin typeface="Comfortaa" pitchFamily="2" charset="0"/>
              </a:rPr>
              <a:t>може да се случи в </a:t>
            </a:r>
            <a:r>
              <a:rPr lang="bg-BG" b="1" dirty="0">
                <a:solidFill>
                  <a:srgbClr val="00B0F0"/>
                </a:solidFill>
                <a:latin typeface="Comfortaa" pitchFamily="2" charset="0"/>
              </a:rPr>
              <a:t>подкласовете</a:t>
            </a:r>
            <a:r>
              <a:rPr lang="en-US" dirty="0">
                <a:solidFill>
                  <a:schemeClr val="tx2">
                    <a:lumMod val="75000"/>
                  </a:schemeClr>
                </a:solidFill>
                <a:latin typeface="Comfortaa" pitchFamily="2" charset="0"/>
              </a:rPr>
              <a:t>.</a:t>
            </a:r>
          </a:p>
          <a:p>
            <a:pPr>
              <a:spcBef>
                <a:spcPts val="1200"/>
              </a:spcBef>
            </a:pPr>
            <a:r>
              <a:rPr lang="bg-BG" b="1" dirty="0">
                <a:solidFill>
                  <a:srgbClr val="00B0F0"/>
                </a:solidFill>
                <a:latin typeface="Comfortaa" pitchFamily="2" charset="0"/>
              </a:rPr>
              <a:t>Параметрите</a:t>
            </a:r>
            <a:r>
              <a:rPr lang="bg-BG" dirty="0">
                <a:solidFill>
                  <a:schemeClr val="tx2">
                    <a:lumMod val="75000"/>
                  </a:schemeClr>
                </a:solidFill>
                <a:latin typeface="Comfortaa" pitchFamily="2" charset="0"/>
              </a:rPr>
              <a:t> </a:t>
            </a:r>
            <a:r>
              <a:rPr lang="bg-BG" dirty="0">
                <a:latin typeface="Comfortaa" pitchFamily="2" charset="0"/>
              </a:rPr>
              <a:t>трябва да са</a:t>
            </a:r>
            <a:r>
              <a:rPr lang="en-US" dirty="0">
                <a:latin typeface="Comfortaa" pitchFamily="2" charset="0"/>
              </a:rPr>
              <a:t> </a:t>
            </a:r>
            <a:r>
              <a:rPr lang="bg-BG" b="1" dirty="0">
                <a:solidFill>
                  <a:srgbClr val="00B0F0"/>
                </a:solidFill>
                <a:latin typeface="Comfortaa" pitchFamily="2" charset="0"/>
              </a:rPr>
              <a:t>същите</a:t>
            </a:r>
            <a:r>
              <a:rPr lang="en-US" dirty="0">
                <a:latin typeface="Comfortaa" pitchFamily="2" charset="0"/>
              </a:rPr>
              <a:t> </a:t>
            </a:r>
            <a:r>
              <a:rPr lang="bg-BG" dirty="0">
                <a:latin typeface="Comfortaa" pitchFamily="2" charset="0"/>
              </a:rPr>
              <a:t>като тези на</a:t>
            </a:r>
            <a:r>
              <a:rPr lang="en-US" dirty="0">
                <a:latin typeface="Comfortaa" pitchFamily="2" charset="0"/>
              </a:rPr>
              <a:t> </a:t>
            </a:r>
            <a:r>
              <a:rPr lang="bg-BG" b="1" dirty="0">
                <a:solidFill>
                  <a:srgbClr val="00B0F0"/>
                </a:solidFill>
                <a:latin typeface="Comfortaa" pitchFamily="2" charset="0"/>
              </a:rPr>
              <a:t>родителския метод</a:t>
            </a:r>
            <a:endParaRPr lang="en-US" b="1" dirty="0">
              <a:solidFill>
                <a:srgbClr val="00B0F0"/>
              </a:solidFill>
              <a:latin typeface="Comfortaa" pitchFamily="2" charset="0"/>
            </a:endParaRPr>
          </a:p>
          <a:p>
            <a:pPr>
              <a:spcBef>
                <a:spcPts val="1200"/>
              </a:spcBef>
            </a:pPr>
            <a:r>
              <a:rPr lang="bg-BG" dirty="0">
                <a:latin typeface="Comfortaa" pitchFamily="2" charset="0"/>
              </a:rPr>
              <a:t>Презаписващият метод трябва да има </a:t>
            </a:r>
            <a:r>
              <a:rPr lang="bg-BG" b="1" dirty="0">
                <a:solidFill>
                  <a:srgbClr val="00B0F0"/>
                </a:solidFill>
                <a:latin typeface="Comfortaa" pitchFamily="2" charset="0"/>
              </a:rPr>
              <a:t>същия тип на връщана стойност</a:t>
            </a:r>
            <a:endParaRPr lang="en-US" b="1" dirty="0">
              <a:solidFill>
                <a:srgbClr val="00B0F0"/>
              </a:solidFill>
              <a:latin typeface="Comfortaa" pitchFamily="2" charset="0"/>
            </a:endParaRPr>
          </a:p>
          <a:p>
            <a:pPr>
              <a:spcBef>
                <a:spcPts val="1200"/>
              </a:spcBef>
            </a:pPr>
            <a:r>
              <a:rPr lang="bg-BG" b="1" dirty="0">
                <a:solidFill>
                  <a:srgbClr val="00B0F0"/>
                </a:solidFill>
                <a:latin typeface="Comfortaa" pitchFamily="2" charset="0"/>
              </a:rPr>
              <a:t>Модификатора за достъп </a:t>
            </a:r>
            <a:r>
              <a:rPr lang="bg-BG" dirty="0">
                <a:latin typeface="Comfortaa" pitchFamily="2" charset="0"/>
              </a:rPr>
              <a:t>не може да бъде </a:t>
            </a:r>
            <a:r>
              <a:rPr lang="bg-BG" b="1" dirty="0">
                <a:solidFill>
                  <a:srgbClr val="00B0F0"/>
                </a:solidFill>
                <a:latin typeface="Comfortaa" pitchFamily="2" charset="0"/>
              </a:rPr>
              <a:t>по-ограничаващ</a:t>
            </a:r>
            <a:endParaRPr lang="en-US" b="1" dirty="0">
              <a:solidFill>
                <a:srgbClr val="00B0F0"/>
              </a:solidFill>
              <a:latin typeface="Comfortaa" pitchFamily="2" charset="0"/>
            </a:endParaRPr>
          </a:p>
          <a:p>
            <a:pPr>
              <a:spcBef>
                <a:spcPts val="1200"/>
              </a:spcBef>
            </a:pPr>
            <a:r>
              <a:rPr lang="en-US" dirty="0">
                <a:latin typeface="Comfortaa" pitchFamily="2" charset="0"/>
              </a:rPr>
              <a:t>M</a:t>
            </a:r>
            <a:r>
              <a:rPr lang="bg-BG" dirty="0">
                <a:latin typeface="Comfortaa" pitchFamily="2" charset="0"/>
              </a:rPr>
              <a:t>етоди дефинирани като</a:t>
            </a:r>
            <a:r>
              <a:rPr lang="en-US" dirty="0">
                <a:latin typeface="Comfortaa" pitchFamily="2" charset="0"/>
              </a:rPr>
              <a:t> </a:t>
            </a:r>
            <a:r>
              <a:rPr lang="en-US" b="1" dirty="0">
                <a:solidFill>
                  <a:srgbClr val="00B0F0"/>
                </a:solidFill>
                <a:latin typeface="Comfortaa" pitchFamily="2" charset="0"/>
              </a:rPr>
              <a:t>private </a:t>
            </a:r>
            <a:r>
              <a:rPr lang="bg-BG" b="1" dirty="0">
                <a:solidFill>
                  <a:srgbClr val="00B0F0"/>
                </a:solidFill>
                <a:latin typeface="Comfortaa" pitchFamily="2" charset="0"/>
              </a:rPr>
              <a:t>и</a:t>
            </a:r>
            <a:r>
              <a:rPr lang="en-US" b="1" dirty="0">
                <a:solidFill>
                  <a:srgbClr val="00B0F0"/>
                </a:solidFill>
                <a:latin typeface="Comfortaa" pitchFamily="2" charset="0"/>
              </a:rPr>
              <a:t> static</a:t>
            </a:r>
            <a:r>
              <a:rPr lang="bg-BG" b="1" dirty="0">
                <a:solidFill>
                  <a:srgbClr val="00B0F0"/>
                </a:solidFill>
                <a:latin typeface="Comfortaa" pitchFamily="2" charset="0"/>
              </a:rPr>
              <a:t> НЕ</a:t>
            </a:r>
            <a:r>
              <a:rPr lang="en-US" b="1" dirty="0">
                <a:solidFill>
                  <a:srgbClr val="00B0F0"/>
                </a:solidFill>
                <a:latin typeface="Comfortaa" pitchFamily="2" charset="0"/>
              </a:rPr>
              <a:t> </a:t>
            </a:r>
            <a:r>
              <a:rPr lang="bg-BG" dirty="0">
                <a:latin typeface="Comfortaa" pitchFamily="2" charset="0"/>
              </a:rPr>
              <a:t>могат да бъдат презаписани</a:t>
            </a:r>
            <a:endParaRPr lang="en-US" dirty="0">
              <a:latin typeface="Comfortaa" pitchFamily="2" charset="0"/>
            </a:endParaRPr>
          </a:p>
          <a:p>
            <a:pPr>
              <a:spcBef>
                <a:spcPts val="1200"/>
              </a:spcBef>
            </a:pPr>
            <a:r>
              <a:rPr lang="bg-BG" dirty="0">
                <a:latin typeface="Comfortaa" pitchFamily="2" charset="0"/>
              </a:rPr>
              <a:t>Презаписващият метод </a:t>
            </a:r>
            <a:r>
              <a:rPr lang="bg-BG" b="1" dirty="0">
                <a:solidFill>
                  <a:srgbClr val="00B0F0"/>
                </a:solidFill>
                <a:latin typeface="Comfortaa" pitchFamily="2" charset="0"/>
              </a:rPr>
              <a:t>не трябва</a:t>
            </a:r>
            <a:r>
              <a:rPr lang="en-US" b="1" dirty="0">
                <a:solidFill>
                  <a:srgbClr val="00B0F0"/>
                </a:solidFill>
                <a:latin typeface="Comfortaa" pitchFamily="2" charset="0"/>
              </a:rPr>
              <a:t> </a:t>
            </a:r>
            <a:r>
              <a:rPr lang="bg-BG" dirty="0">
                <a:latin typeface="Comfortaa" pitchFamily="2" charset="0"/>
              </a:rPr>
              <a:t>да хвърля нови или по-широко</a:t>
            </a:r>
            <a:r>
              <a:rPr lang="en-US" dirty="0">
                <a:latin typeface="Comfortaa" pitchFamily="2" charset="0"/>
              </a:rPr>
              <a:t> </a:t>
            </a:r>
            <a:r>
              <a:rPr lang="bg-BG" b="1" dirty="0">
                <a:solidFill>
                  <a:srgbClr val="00B0F0"/>
                </a:solidFill>
                <a:latin typeface="Comfortaa" pitchFamily="2" charset="0"/>
              </a:rPr>
              <a:t>проверяеми изключения</a:t>
            </a:r>
            <a:r>
              <a:rPr lang="en-US" dirty="0">
                <a:solidFill>
                  <a:schemeClr val="tx2">
                    <a:lumMod val="75000"/>
                  </a:schemeClr>
                </a:solidFill>
                <a:latin typeface="Comfortaa" pitchFamily="2" charset="0"/>
              </a:rPr>
              <a:t>.</a:t>
            </a:r>
          </a:p>
        </p:txBody>
      </p:sp>
      <p:sp>
        <p:nvSpPr>
          <p:cNvPr id="4" name="Title 3"/>
          <p:cNvSpPr>
            <a:spLocks noGrp="1"/>
          </p:cNvSpPr>
          <p:nvPr>
            <p:ph type="title"/>
          </p:nvPr>
        </p:nvSpPr>
        <p:spPr/>
        <p:txBody>
          <a:bodyPr>
            <a:normAutofit/>
          </a:bodyPr>
          <a:lstStyle/>
          <a:p>
            <a:r>
              <a:rPr lang="bg-BG" sz="3600" b="1" noProof="1">
                <a:latin typeface="Comfortaa" pitchFamily="2" charset="0"/>
              </a:rPr>
              <a:t>Правила за презаписване на методи</a:t>
            </a:r>
            <a:endParaRPr lang="en-US" sz="3600" b="1" dirty="0">
              <a:latin typeface="Comfortaa" pitchFamily="2" charset="0"/>
            </a:endParaRPr>
          </a:p>
        </p:txBody>
      </p:sp>
      <p:sp>
        <p:nvSpPr>
          <p:cNvPr id="5" name="Slide Number Placeholder">
            <a:extLst>
              <a:ext uri="{FF2B5EF4-FFF2-40B4-BE49-F238E27FC236}">
                <a16:creationId xmlns:a16="http://schemas.microsoft.com/office/drawing/2014/main" id="{EC40C984-052A-4A2B-B005-7AC63E6DFF63}"/>
              </a:ext>
            </a:extLst>
          </p:cNvPr>
          <p:cNvSpPr>
            <a:spLocks noGrp="1"/>
          </p:cNvSpPr>
          <p:nvPr>
            <p:ph type="sldNum" sz="quarter" idx="4"/>
          </p:nvPr>
        </p:nvSpPr>
        <p:spPr>
          <a:xfrm>
            <a:off x="11566412" y="6525002"/>
            <a:ext cx="428822" cy="196477"/>
          </a:xfrm>
          <a:prstGeom prst="rect">
            <a:avLst/>
          </a:prstGeom>
        </p:spPr>
        <p:txBody>
          <a:bodyPr vert="horz" lIns="36000" tIns="36000" rIns="36000" bIns="36000" rtlCol="0" anchor="ctr"/>
          <a:lstStyle>
            <a:defPPr>
              <a:defRPr lang="en-US"/>
            </a:defPPr>
            <a:lvl1pPr marL="0" algn="r" defTabSz="1218987" rtl="0" eaLnBrk="1" latinLnBrk="0" hangingPunct="1">
              <a:defRPr sz="1000" kern="1200">
                <a:solidFill>
                  <a:schemeClr val="tx1">
                    <a:tint val="75000"/>
                  </a:schemeClr>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fld id="{C014DD1E-5D91-48A3-AD6D-45FBA980D106}" type="slidenum">
              <a:rPr lang="en-US" smtClean="0">
                <a:solidFill>
                  <a:prstClr val="white">
                    <a:tint val="75000"/>
                  </a:prstClr>
                </a:solidFill>
              </a:rPr>
              <a:pPr/>
              <a:t>11</a:t>
            </a:fld>
            <a:endParaRPr lang="en-US" dirty="0">
              <a:solidFill>
                <a:prstClr val="white">
                  <a:tint val="75000"/>
                </a:prstClr>
              </a:solidFill>
            </a:endParaRPr>
          </a:p>
        </p:txBody>
      </p:sp>
    </p:spTree>
    <p:extLst>
      <p:ext uri="{BB962C8B-B14F-4D97-AF65-F5344CB8AC3E}">
        <p14:creationId xmlns:p14="http://schemas.microsoft.com/office/powerpoint/2010/main" val="2485667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672" y="5011646"/>
            <a:ext cx="9806728" cy="774883"/>
          </a:xfrm>
        </p:spPr>
        <p:txBody>
          <a:bodyPr>
            <a:normAutofit fontScale="90000"/>
          </a:bodyPr>
          <a:lstStyle/>
          <a:p>
            <a:pPr>
              <a:lnSpc>
                <a:spcPts val="5400"/>
              </a:lnSpc>
            </a:pPr>
            <a:r>
              <a:rPr lang="bg-BG" dirty="0">
                <a:latin typeface="Comfortaa" pitchFamily="2" charset="0"/>
              </a:rPr>
              <a:t>Презареждане и презаписване</a:t>
            </a:r>
            <a:endParaRPr lang="en-US" dirty="0">
              <a:latin typeface="Comfortaa" pitchFamily="2" charset="0"/>
            </a:endParaRPr>
          </a:p>
        </p:txBody>
      </p:sp>
      <p:sp>
        <p:nvSpPr>
          <p:cNvPr id="3" name="Subtitle 2"/>
          <p:cNvSpPr>
            <a:spLocks noGrp="1"/>
          </p:cNvSpPr>
          <p:nvPr>
            <p:ph type="body" idx="1"/>
          </p:nvPr>
        </p:nvSpPr>
        <p:spPr>
          <a:xfrm>
            <a:off x="1013672" y="5831062"/>
            <a:ext cx="9806728" cy="719034"/>
          </a:xfrm>
        </p:spPr>
        <p:txBody>
          <a:bodyPr/>
          <a:lstStyle/>
          <a:p>
            <a:r>
              <a:rPr lang="bg-BG" dirty="0">
                <a:latin typeface="Comfortaa" pitchFamily="2" charset="0"/>
              </a:rPr>
              <a:t>Лаб</a:t>
            </a:r>
            <a:endParaRPr lang="en-US" dirty="0">
              <a:latin typeface="Comfortaa" pitchFamily="2" charset="0"/>
            </a:endParaRPr>
          </a:p>
        </p:txBody>
      </p:sp>
      <p:sp>
        <p:nvSpPr>
          <p:cNvPr id="5" name="Slide Number Placeholder">
            <a:extLst>
              <a:ext uri="{FF2B5EF4-FFF2-40B4-BE49-F238E27FC236}">
                <a16:creationId xmlns:a16="http://schemas.microsoft.com/office/drawing/2014/main" id="{F6A8C41A-1C89-4AD4-9AA4-CB2052BA9291}"/>
              </a:ext>
            </a:extLst>
          </p:cNvPr>
          <p:cNvSpPr txBox="1">
            <a:spLocks/>
          </p:cNvSpPr>
          <p:nvPr/>
        </p:nvSpPr>
        <p:spPr>
          <a:xfrm>
            <a:off x="11568000" y="6525003"/>
            <a:ext cx="428822" cy="196477"/>
          </a:xfrm>
          <a:prstGeom prst="rect">
            <a:avLst/>
          </a:prstGeom>
        </p:spPr>
        <p:txBody>
          <a:bodyPr vert="horz" lIns="36000" tIns="36000" rIns="36000" bIns="36000" rtlCol="0" anchor="ctr"/>
          <a:lstStyle>
            <a:defPPr>
              <a:defRPr lang="en-US"/>
            </a:defPPr>
            <a:lvl1pPr marL="0" algn="r" defTabSz="1218987" rtl="0" eaLnBrk="1" latinLnBrk="0" hangingPunct="1">
              <a:defRPr sz="1000" kern="1200">
                <a:solidFill>
                  <a:schemeClr val="tx1">
                    <a:tint val="75000"/>
                  </a:schemeClr>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fld id="{C014DD1E-5D91-48A3-AD6D-45FBA980D106}" type="slidenum">
              <a:rPr lang="en-US">
                <a:solidFill>
                  <a:prstClr val="white">
                    <a:tint val="75000"/>
                  </a:prstClr>
                </a:solidFill>
              </a:rPr>
              <a:pPr/>
              <a:t>12</a:t>
            </a:fld>
            <a:endParaRPr lang="en-US" dirty="0">
              <a:solidFill>
                <a:prstClr val="white">
                  <a:tint val="75000"/>
                </a:prstClr>
              </a:solidFill>
            </a:endParaRPr>
          </a:p>
        </p:txBody>
      </p:sp>
      <p:pic>
        <p:nvPicPr>
          <p:cNvPr id="7" name="Picture 6">
            <a:extLst>
              <a:ext uri="{FF2B5EF4-FFF2-40B4-BE49-F238E27FC236}">
                <a16:creationId xmlns:a16="http://schemas.microsoft.com/office/drawing/2014/main" id="{C293EC84-FFC6-367D-E78D-7F7CD6F0FE80}"/>
              </a:ext>
            </a:extLst>
          </p:cNvPr>
          <p:cNvPicPr>
            <a:picLocks noChangeAspect="1"/>
          </p:cNvPicPr>
          <p:nvPr/>
        </p:nvPicPr>
        <p:blipFill>
          <a:blip r:embed="rId3"/>
          <a:stretch>
            <a:fillRect/>
          </a:stretch>
        </p:blipFill>
        <p:spPr>
          <a:xfrm>
            <a:off x="3234741" y="697498"/>
            <a:ext cx="5364590" cy="3407532"/>
          </a:xfrm>
          <a:prstGeom prst="rect">
            <a:avLst/>
          </a:prstGeom>
        </p:spPr>
      </p:pic>
    </p:spTree>
    <p:extLst>
      <p:ext uri="{BB962C8B-B14F-4D97-AF65-F5344CB8AC3E}">
        <p14:creationId xmlns:p14="http://schemas.microsoft.com/office/powerpoint/2010/main" val="578147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96100" y="1905001"/>
            <a:ext cx="10399800" cy="4106679"/>
          </a:xfrm>
        </p:spPr>
        <p:txBody>
          <a:bodyPr>
            <a:noAutofit/>
          </a:bodyPr>
          <a:lstStyle/>
          <a:p>
            <a:pPr>
              <a:lnSpc>
                <a:spcPct val="100000"/>
              </a:lnSpc>
              <a:spcBef>
                <a:spcPts val="0"/>
              </a:spcBef>
            </a:pPr>
            <a:r>
              <a:rPr lang="bg-BG" sz="3200" dirty="0">
                <a:latin typeface="Comfortaa" pitchFamily="2" charset="0"/>
              </a:rPr>
              <a:t>Какво е полиморфизъм?</a:t>
            </a:r>
            <a:endParaRPr lang="en-US" sz="3200" dirty="0">
              <a:latin typeface="Comfortaa" pitchFamily="2" charset="0"/>
            </a:endParaRPr>
          </a:p>
          <a:p>
            <a:pPr>
              <a:lnSpc>
                <a:spcPct val="100000"/>
              </a:lnSpc>
              <a:spcBef>
                <a:spcPts val="0"/>
              </a:spcBef>
            </a:pPr>
            <a:r>
              <a:rPr lang="bg-BG" sz="3200" dirty="0">
                <a:latin typeface="Comfortaa" pitchFamily="2" charset="0"/>
              </a:rPr>
              <a:t>Видове полиморфизъм</a:t>
            </a:r>
            <a:endParaRPr lang="en-US" sz="3200" dirty="0">
              <a:latin typeface="Comfortaa" pitchFamily="2" charset="0"/>
            </a:endParaRPr>
          </a:p>
          <a:p>
            <a:pPr lvl="1">
              <a:lnSpc>
                <a:spcPct val="100000"/>
              </a:lnSpc>
              <a:spcBef>
                <a:spcPts val="0"/>
              </a:spcBef>
            </a:pPr>
            <a:r>
              <a:rPr lang="bg-BG" sz="3200" dirty="0">
                <a:latin typeface="Comfortaa" pitchFamily="2" charset="0"/>
              </a:rPr>
              <a:t>Статичен (по време на компилиране)</a:t>
            </a:r>
            <a:endParaRPr lang="en-US" sz="3200" dirty="0">
              <a:latin typeface="Comfortaa" pitchFamily="2" charset="0"/>
            </a:endParaRPr>
          </a:p>
          <a:p>
            <a:pPr lvl="1">
              <a:lnSpc>
                <a:spcPct val="100000"/>
              </a:lnSpc>
              <a:spcBef>
                <a:spcPts val="0"/>
              </a:spcBef>
            </a:pPr>
            <a:r>
              <a:rPr lang="bg-BG" sz="3200" dirty="0">
                <a:latin typeface="Comfortaa" pitchFamily="2" charset="0"/>
              </a:rPr>
              <a:t>Динамичен (по време на изпълнение)</a:t>
            </a:r>
            <a:endParaRPr lang="en-US" sz="3200" dirty="0">
              <a:latin typeface="Comfortaa" pitchFamily="2" charset="0"/>
            </a:endParaRPr>
          </a:p>
          <a:p>
            <a:pPr>
              <a:lnSpc>
                <a:spcPct val="100000"/>
              </a:lnSpc>
              <a:spcBef>
                <a:spcPts val="0"/>
              </a:spcBef>
            </a:pPr>
            <a:r>
              <a:rPr lang="bg-BG" sz="3200" dirty="0">
                <a:latin typeface="Comfortaa" pitchFamily="2" charset="0"/>
              </a:rPr>
              <a:t>Презареждане на методи</a:t>
            </a:r>
            <a:endParaRPr lang="en-US" sz="3200" dirty="0">
              <a:latin typeface="Comfortaa" pitchFamily="2" charset="0"/>
            </a:endParaRPr>
          </a:p>
          <a:p>
            <a:pPr>
              <a:lnSpc>
                <a:spcPct val="100000"/>
              </a:lnSpc>
              <a:spcBef>
                <a:spcPts val="0"/>
              </a:spcBef>
            </a:pPr>
            <a:r>
              <a:rPr lang="bg-BG" sz="3200" dirty="0">
                <a:latin typeface="Comfortaa" pitchFamily="2" charset="0"/>
              </a:rPr>
              <a:t>Презаписване на методи</a:t>
            </a:r>
            <a:endParaRPr lang="en-US" sz="3200" dirty="0">
              <a:latin typeface="Comfortaa" pitchFamily="2" charset="0"/>
            </a:endParaRPr>
          </a:p>
          <a:p>
            <a:pPr marL="0" indent="0">
              <a:lnSpc>
                <a:spcPct val="110000"/>
              </a:lnSpc>
              <a:buNone/>
            </a:pPr>
            <a:endParaRPr lang="bg-BG" sz="3200" dirty="0">
              <a:solidFill>
                <a:schemeClr val="tx2">
                  <a:lumMod val="75000"/>
                </a:schemeClr>
              </a:solidFill>
              <a:latin typeface="Comfortaa" pitchFamily="2" charset="0"/>
            </a:endParaRPr>
          </a:p>
        </p:txBody>
      </p:sp>
      <p:sp>
        <p:nvSpPr>
          <p:cNvPr id="4" name="Title 3"/>
          <p:cNvSpPr>
            <a:spLocks noGrp="1"/>
          </p:cNvSpPr>
          <p:nvPr>
            <p:ph type="title"/>
          </p:nvPr>
        </p:nvSpPr>
        <p:spPr>
          <a:xfrm>
            <a:off x="894503" y="794220"/>
            <a:ext cx="10399801" cy="1110780"/>
          </a:xfrm>
        </p:spPr>
        <p:txBody>
          <a:bodyPr>
            <a:normAutofit/>
          </a:bodyPr>
          <a:lstStyle/>
          <a:p>
            <a:r>
              <a:rPr lang="bg-BG" dirty="0">
                <a:latin typeface="Comfortaa" pitchFamily="2" charset="0"/>
              </a:rPr>
              <a:t>Какво научихме днес?</a:t>
            </a:r>
            <a:endParaRPr lang="en-US" dirty="0">
              <a:latin typeface="Comfortaa" pitchFamily="2" charset="0"/>
            </a:endParaRPr>
          </a:p>
        </p:txBody>
      </p:sp>
    </p:spTree>
    <p:extLst>
      <p:ext uri="{BB962C8B-B14F-4D97-AF65-F5344CB8AC3E}">
        <p14:creationId xmlns:p14="http://schemas.microsoft.com/office/powerpoint/2010/main" val="4000785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pic>
        <p:nvPicPr>
          <p:cNvPr id="2" name="Logo CC-BY-NC-SA">
            <a:hlinkClick r:id="rId5"/>
            <a:extLst>
              <a:ext uri="{FF2B5EF4-FFF2-40B4-BE49-F238E27FC236}">
                <a16:creationId xmlns:a16="http://schemas.microsoft.com/office/drawing/2014/main" id="{39F87C09-7AAD-A59F-33F5-8BECE165CB0C}"/>
              </a:ext>
            </a:extLst>
          </p:cNvPr>
          <p:cNvPicPr>
            <a:picLocks noChangeAspect="1"/>
          </p:cNvPicPr>
          <p:nvPr/>
        </p:nvPicPr>
        <p:blipFill>
          <a:blip r:embed="rId6"/>
          <a:stretch>
            <a:fillRect/>
          </a:stretch>
        </p:blipFill>
        <p:spPr>
          <a:xfrm>
            <a:off x="4087447" y="2650021"/>
            <a:ext cx="4017104" cy="1440815"/>
          </a:xfrm>
          <a:prstGeom prst="rect">
            <a:avLst/>
          </a:prstGeom>
        </p:spPr>
      </p:pic>
      <p:sp>
        <p:nvSpPr>
          <p:cNvPr id="12" name="TextBox 11">
            <a:extLst>
              <a:ext uri="{FF2B5EF4-FFF2-40B4-BE49-F238E27FC236}">
                <a16:creationId xmlns:a16="http://schemas.microsoft.com/office/drawing/2014/main" id="{ADBEA407-2EEF-D82D-ADB6-D20902F79FA2}"/>
              </a:ext>
            </a:extLst>
          </p:cNvPr>
          <p:cNvSpPr txBox="1"/>
          <p:nvPr/>
        </p:nvSpPr>
        <p:spPr>
          <a:xfrm>
            <a:off x="262246" y="5452243"/>
            <a:ext cx="11667507" cy="1200329"/>
          </a:xfrm>
          <a:prstGeom prst="rect">
            <a:avLst/>
          </a:prstGeom>
          <a:noFill/>
        </p:spPr>
        <p:txBody>
          <a:bodyPr wrap="square">
            <a:spAutoFit/>
          </a:bodyPr>
          <a:lstStyle/>
          <a:p>
            <a:pPr algn="ctr"/>
            <a:r>
              <a:rPr lang="bg-BG" sz="1800" dirty="0">
                <a:latin typeface="Comfortaa" pitchFamily="2" charset="0"/>
              </a:rPr>
              <a:t>Документът е разработен за нуждите на Национална програма "Обучение за ИТ умения и кариера" на Министерството на образованието и науката (МОН)</a:t>
            </a:r>
            <a:r>
              <a:rPr lang="en-US" sz="1800" dirty="0">
                <a:latin typeface="Comfortaa" pitchFamily="2" charset="0"/>
              </a:rPr>
              <a:t> </a:t>
            </a:r>
            <a:r>
              <a:rPr lang="bg-BG" sz="1800" dirty="0">
                <a:latin typeface="Comfortaa" pitchFamily="2" charset="0"/>
              </a:rPr>
              <a:t>и се разпространява под свободен лиценз CC-BY-NC-SA (</a:t>
            </a:r>
            <a:r>
              <a:rPr lang="bg-BG" sz="1800" dirty="0" err="1">
                <a:latin typeface="Comfortaa" pitchFamily="2" charset="0"/>
              </a:rPr>
              <a:t>Creative</a:t>
            </a:r>
            <a:r>
              <a:rPr lang="bg-BG" sz="1800" dirty="0">
                <a:latin typeface="Comfortaa" pitchFamily="2" charset="0"/>
              </a:rPr>
              <a:t> </a:t>
            </a:r>
            <a:r>
              <a:rPr lang="bg-BG" sz="1800" dirty="0" err="1">
                <a:latin typeface="Comfortaa" pitchFamily="2" charset="0"/>
              </a:rPr>
              <a:t>Commons</a:t>
            </a:r>
            <a:r>
              <a:rPr lang="bg-BG" sz="1800" dirty="0">
                <a:latin typeface="Comfortaa" pitchFamily="2" charset="0"/>
              </a:rPr>
              <a:t> </a:t>
            </a:r>
            <a:r>
              <a:rPr lang="bg-BG" sz="1800" dirty="0" err="1">
                <a:latin typeface="Comfortaa" pitchFamily="2" charset="0"/>
              </a:rPr>
              <a:t>Attribution-Non-Commercial-Share-Alike</a:t>
            </a:r>
            <a:r>
              <a:rPr lang="bg-BG" sz="1800" dirty="0">
                <a:latin typeface="Comfortaa" pitchFamily="2" charset="0"/>
              </a:rPr>
              <a:t> 4.0 International).</a:t>
            </a:r>
            <a:endParaRPr lang="bg-BG" dirty="0"/>
          </a:p>
        </p:txBody>
      </p:sp>
    </p:spTree>
    <p:extLst>
      <p:ext uri="{BB962C8B-B14F-4D97-AF65-F5344CB8AC3E}">
        <p14:creationId xmlns:p14="http://schemas.microsoft.com/office/powerpoint/2010/main" val="12413446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TotalTime>
  <Words>1621</Words>
  <Application>Microsoft Office PowerPoint</Application>
  <PresentationFormat>Widescreen</PresentationFormat>
  <Paragraphs>180</Paragraphs>
  <Slides>14</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Comfortaa</vt:lpstr>
      <vt:lpstr>Consolas</vt:lpstr>
      <vt:lpstr>Wingdings</vt:lpstr>
      <vt:lpstr>Office Theme</vt:lpstr>
      <vt:lpstr>Презареждане и презаписване на методи</vt:lpstr>
      <vt:lpstr>Съдържание</vt:lpstr>
      <vt:lpstr>Презареждане на методи</vt:lpstr>
      <vt:lpstr>Задача: MathOperation</vt:lpstr>
      <vt:lpstr>Решение: MathOperation</vt:lpstr>
      <vt:lpstr>Правила за презареждане на методи</vt:lpstr>
      <vt:lpstr>Презаписване на методи</vt:lpstr>
      <vt:lpstr>Задача: Животни</vt:lpstr>
      <vt:lpstr>Решение: Животни [1/2]</vt:lpstr>
      <vt:lpstr>Решение: Животни [1/2]</vt:lpstr>
      <vt:lpstr>Правила за презаписване на методи</vt:lpstr>
      <vt:lpstr>Презареждане и презаписване</vt:lpstr>
      <vt:lpstr>Какво научихме днес?</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Димитър Минчев</dc:creator>
  <cp:lastModifiedBy>Димитър Минчев</cp:lastModifiedBy>
  <cp:revision>12</cp:revision>
  <dcterms:created xsi:type="dcterms:W3CDTF">2022-08-09T09:25:46Z</dcterms:created>
  <dcterms:modified xsi:type="dcterms:W3CDTF">2022-09-14T15:48:21Z</dcterms:modified>
</cp:coreProperties>
</file>