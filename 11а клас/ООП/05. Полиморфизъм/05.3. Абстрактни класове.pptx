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
  </p:notesMasterIdLst>
  <p:sldIdLst>
    <p:sldId id="258" r:id="rId2"/>
    <p:sldId id="626" r:id="rId3"/>
    <p:sldId id="627" r:id="rId4"/>
    <p:sldId id="628" r:id="rId5"/>
    <p:sldId id="629" r:id="rId6"/>
    <p:sldId id="630" r:id="rId7"/>
    <p:sldId id="631" r:id="rId8"/>
    <p:sldId id="632" r:id="rId9"/>
    <p:sldId id="633" r:id="rId10"/>
    <p:sldId id="639" r:id="rId11"/>
    <p:sldId id="5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B53E63A6-15B2-40C3-A9DC-5006FD089CC5}">
          <p14:sldIdLst>
            <p14:sldId id="258"/>
          </p14:sldIdLst>
        </p14:section>
        <p14:section name="Съдържание" id="{0B0C01F3-1F60-4ADB-AC1E-9589654EAEF3}">
          <p14:sldIdLst>
            <p14:sldId id="626"/>
            <p14:sldId id="627"/>
            <p14:sldId id="628"/>
            <p14:sldId id="629"/>
            <p14:sldId id="630"/>
            <p14:sldId id="631"/>
            <p14:sldId id="632"/>
            <p14:sldId id="633"/>
            <p14:sldId id="639"/>
          </p14:sldIdLst>
        </p14:section>
        <p14:section name="Заключение" id="{9315BEE7-605C-4839-996A-A4EEA70921D9}">
          <p14:sldIdLst>
            <p14:sldId id="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A51F5-6E34-4A9B-8787-8C29D4F40D1D}" v="1" dt="2022-08-10T06:34:5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92" d="100"/>
          <a:sy n="92" d="100"/>
        </p:scale>
        <p:origin x="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имитър Минчев" userId="6da192e4-d32c-454b-8615-bbadf07b6639" providerId="ADAL" clId="{508A51F5-6E34-4A9B-8787-8C29D4F40D1D}"/>
    <pc:docChg chg="addSld modSld">
      <pc:chgData name="Димитър Минчев" userId="6da192e4-d32c-454b-8615-bbadf07b6639" providerId="ADAL" clId="{508A51F5-6E34-4A9B-8787-8C29D4F40D1D}" dt="2022-08-10T06:34:56.108" v="0"/>
      <pc:docMkLst>
        <pc:docMk/>
      </pc:docMkLst>
      <pc:sldChg chg="add">
        <pc:chgData name="Димитър Минчев" userId="6da192e4-d32c-454b-8615-bbadf07b6639" providerId="ADAL" clId="{508A51F5-6E34-4A9B-8787-8C29D4F40D1D}" dt="2022-08-10T06:34:56.108" v="0"/>
        <pc:sldMkLst>
          <pc:docMk/>
          <pc:sldMk cId="2002111910"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D3FF-81AC-477B-919E-75762E6B2153}" type="datetimeFigureOut">
              <a:rPr lang="bg-BG" smtClean="0"/>
              <a:t>14.9.2022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142EC-5991-4235-A99B-961F17902D60}" type="slidenum">
              <a:rPr lang="bg-BG" smtClean="0"/>
              <a:t>‹#›</a:t>
            </a:fld>
            <a:endParaRPr lang="bg-BG"/>
          </a:p>
        </p:txBody>
      </p:sp>
    </p:spTree>
    <p:extLst>
      <p:ext uri="{BB962C8B-B14F-4D97-AF65-F5344CB8AC3E}">
        <p14:creationId xmlns:p14="http://schemas.microsoft.com/office/powerpoint/2010/main" val="283794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lumMod val="40000"/>
                    <a:lumOff val="60000"/>
                  </a:schemeClr>
                </a:solidFill>
              </a:rPr>
              <a:t>But they can be </a:t>
            </a:r>
            <a:r>
              <a:rPr lang="en-US" dirty="0" err="1">
                <a:solidFill>
                  <a:schemeClr val="tx1">
                    <a:lumMod val="40000"/>
                    <a:lumOff val="60000"/>
                  </a:schemeClr>
                </a:solidFill>
              </a:rPr>
              <a:t>subclassed</a:t>
            </a:r>
            <a:r>
              <a:rPr lang="en-US" dirty="0">
                <a:solidFill>
                  <a:schemeClr val="tx1">
                    <a:lumMod val="40000"/>
                    <a:lumOff val="60000"/>
                  </a:schemeClr>
                </a:solidFill>
              </a:rPr>
              <a:t>.</a:t>
            </a:r>
            <a:endParaRPr lang="bg-BG"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3</a:t>
            </a:fld>
            <a:endParaRPr lang="en-US" dirty="0"/>
          </a:p>
        </p:txBody>
      </p:sp>
      <p:sp>
        <p:nvSpPr>
          <p:cNvPr id="6" name="Footer Placeholder">
            <a:extLst>
              <a:ext uri="{FF2B5EF4-FFF2-40B4-BE49-F238E27FC236}">
                <a16:creationId xmlns:a16="http://schemas.microsoft.com/office/drawing/2014/main" id="{7E39D2EB-FFDA-4F6D-A1AC-B8A42E9479EE}"/>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27965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4</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4</a:t>
            </a:fld>
            <a:r>
              <a:rPr lang="en-US" sz="1000" i="1" dirty="0"/>
              <a:t>##</a:t>
            </a:r>
            <a:endParaRPr lang="en-US" sz="1200" i="1" dirty="0"/>
          </a:p>
        </p:txBody>
      </p:sp>
      <p:sp>
        <p:nvSpPr>
          <p:cNvPr id="10" name="Footer Placeholder">
            <a:extLst>
              <a:ext uri="{FF2B5EF4-FFF2-40B4-BE49-F238E27FC236}">
                <a16:creationId xmlns:a16="http://schemas.microsoft.com/office/drawing/2014/main" id="{32CC0565-19BB-48B6-8975-D46B19DE4C8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645310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5</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5</a:t>
            </a:fld>
            <a:r>
              <a:rPr lang="en-US" sz="1000" i="1" dirty="0"/>
              <a:t>##</a:t>
            </a:r>
            <a:endParaRPr lang="en-US" sz="1200" i="1" dirty="0"/>
          </a:p>
        </p:txBody>
      </p:sp>
      <p:sp>
        <p:nvSpPr>
          <p:cNvPr id="10" name="Footer Placeholder">
            <a:extLst>
              <a:ext uri="{FF2B5EF4-FFF2-40B4-BE49-F238E27FC236}">
                <a16:creationId xmlns:a16="http://schemas.microsoft.com/office/drawing/2014/main" id="{4C35D723-6F09-4942-896B-41C4D30635D9}"/>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469486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6</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6</a:t>
            </a:fld>
            <a:r>
              <a:rPr lang="en-US" sz="1000" i="1" dirty="0"/>
              <a:t>##</a:t>
            </a:r>
            <a:endParaRPr lang="en-US" sz="1200" i="1" dirty="0"/>
          </a:p>
        </p:txBody>
      </p:sp>
      <p:sp>
        <p:nvSpPr>
          <p:cNvPr id="10" name="Footer Placeholder">
            <a:extLst>
              <a:ext uri="{FF2B5EF4-FFF2-40B4-BE49-F238E27FC236}">
                <a16:creationId xmlns:a16="http://schemas.microsoft.com/office/drawing/2014/main" id="{7F85006B-6D0F-4181-8430-8076DDD8DC53}"/>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062737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7</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7</a:t>
            </a:fld>
            <a:r>
              <a:rPr lang="en-US" sz="1000" i="1" dirty="0"/>
              <a:t>##</a:t>
            </a:r>
            <a:endParaRPr lang="en-US" sz="1200" i="1" dirty="0"/>
          </a:p>
        </p:txBody>
      </p:sp>
      <p:sp>
        <p:nvSpPr>
          <p:cNvPr id="10" name="Footer Placeholder">
            <a:extLst>
              <a:ext uri="{FF2B5EF4-FFF2-40B4-BE49-F238E27FC236}">
                <a16:creationId xmlns:a16="http://schemas.microsoft.com/office/drawing/2014/main" id="{CE231BB2-F0F1-4552-B1D9-33B719ADBBDF}"/>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51448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dirty="0"/>
              <a:t>*</a:t>
            </a:r>
          </a:p>
        </p:txBody>
      </p:sp>
      <p:sp>
        <p:nvSpPr>
          <p:cNvPr id="6" name="Rectangle 7"/>
          <p:cNvSpPr>
            <a:spLocks noGrp="1" noChangeArrowheads="1"/>
          </p:cNvSpPr>
          <p:nvPr>
            <p:ph type="sldNum" sz="quarter" idx="5"/>
          </p:nvPr>
        </p:nvSpPr>
        <p:spPr>
          <a:ln/>
        </p:spPr>
        <p:txBody>
          <a:bodyPr/>
          <a:lstStyle/>
          <a:p>
            <a:fld id="{7BE65B3B-E6E2-4525-8F2E-49AC8F612DB9}" type="slidenum">
              <a:rPr lang="en-US"/>
              <a:pPr/>
              <a:t>10</a:t>
            </a:fld>
            <a:r>
              <a:rPr lang="en-US" dirty="0"/>
              <a:t>##</a:t>
            </a:r>
          </a:p>
        </p:txBody>
      </p:sp>
      <p:sp>
        <p:nvSpPr>
          <p:cNvPr id="435202" name="Rectangle 2"/>
          <p:cNvSpPr>
            <a:spLocks noGrp="1" noRot="1" noChangeAspect="1" noChangeArrowheads="1" noTextEdit="1"/>
          </p:cNvSpPr>
          <p:nvPr>
            <p:ph type="sldImg"/>
          </p:nvPr>
        </p:nvSpPr>
        <p:spPr>
          <a:ln/>
        </p:spPr>
      </p:sp>
      <p:sp>
        <p:nvSpPr>
          <p:cNvPr id="435203" name="Rectangle 3"/>
          <p:cNvSpPr>
            <a:spLocks noGrp="1" noChangeArrowheads="1"/>
          </p:cNvSpPr>
          <p:nvPr>
            <p:ph type="body" idx="1"/>
          </p:nvPr>
        </p:nvSpPr>
        <p:spPr/>
        <p:txBody>
          <a:bodyPr/>
          <a:lstStyle/>
          <a:p>
            <a:endParaRPr lang="bg-BG" dirty="0"/>
          </a:p>
        </p:txBody>
      </p:sp>
      <p:sp>
        <p:nvSpPr>
          <p:cNvPr id="7" name="Footer Placeholder">
            <a:extLst>
              <a:ext uri="{FF2B5EF4-FFF2-40B4-BE49-F238E27FC236}">
                <a16:creationId xmlns:a16="http://schemas.microsoft.com/office/drawing/2014/main" id="{CF69C214-D7B3-4052-BBFB-ED3F5B01B677}"/>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544649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1714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3443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4054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32975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69AEA-C8BE-4DD6-B9AB-21EA40DF5D87}" type="datetimeFigureOut">
              <a:rPr lang="bg-BG" smtClean="0"/>
              <a:t>14.9.2022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96114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69AEA-C8BE-4DD6-B9AB-21EA40DF5D87}" type="datetimeFigureOut">
              <a:rPr lang="bg-BG" smtClean="0"/>
              <a:t>14.9.2022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98602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69AEA-C8BE-4DD6-B9AB-21EA40DF5D87}" type="datetimeFigureOut">
              <a:rPr lang="bg-BG" smtClean="0"/>
              <a:t>14.9.2022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26383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237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69705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5280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69803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69AEA-C8BE-4DD6-B9AB-21EA40DF5D87}" type="datetimeFigureOut">
              <a:rPr lang="bg-BG" smtClean="0"/>
              <a:t>14.9.2022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18CDA-8465-4F94-AC0C-B721D911091F}" type="slidenum">
              <a:rPr lang="bg-BG" smtClean="0"/>
              <a:t>‹#›</a:t>
            </a:fld>
            <a:endParaRPr lang="bg-BG"/>
          </a:p>
        </p:txBody>
      </p:sp>
    </p:spTree>
    <p:extLst>
      <p:ext uri="{BB962C8B-B14F-4D97-AF65-F5344CB8AC3E}">
        <p14:creationId xmlns:p14="http://schemas.microsoft.com/office/powerpoint/2010/main" val="20525428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mon.b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creativecommons.org/licenses/by-nc-sa/4.0" TargetMode="External"/><Relationship Id="rId4" Type="http://schemas.openxmlformats.org/officeDocument/2006/relationships/hyperlink" Target="https://www.mon.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11B2B-6DC7-2642-A5E2-7E3177B71883}"/>
              </a:ext>
            </a:extLst>
          </p:cNvPr>
          <p:cNvSpPr>
            <a:spLocks noGrp="1"/>
          </p:cNvSpPr>
          <p:nvPr>
            <p:ph type="ctrTitle"/>
          </p:nvPr>
        </p:nvSpPr>
        <p:spPr>
          <a:xfrm>
            <a:off x="1524000" y="1924336"/>
            <a:ext cx="9144000" cy="2387600"/>
          </a:xfrm>
        </p:spPr>
        <p:txBody>
          <a:bodyPr>
            <a:normAutofit/>
          </a:bodyPr>
          <a:lstStyle/>
          <a:p>
            <a:r>
              <a:rPr lang="bg-BG" sz="5400" dirty="0">
                <a:latin typeface="Comfortaa" pitchFamily="2" charset="0"/>
              </a:rPr>
              <a:t>Абстрактни класове</a:t>
            </a:r>
          </a:p>
        </p:txBody>
      </p:sp>
      <p:sp>
        <p:nvSpPr>
          <p:cNvPr id="5" name="Subtitle 4">
            <a:extLst>
              <a:ext uri="{FF2B5EF4-FFF2-40B4-BE49-F238E27FC236}">
                <a16:creationId xmlns:a16="http://schemas.microsoft.com/office/drawing/2014/main" id="{FD72CEAD-2598-2D6F-7FF9-AF95330D8A09}"/>
              </a:ext>
            </a:extLst>
          </p:cNvPr>
          <p:cNvSpPr>
            <a:spLocks noGrp="1"/>
          </p:cNvSpPr>
          <p:nvPr>
            <p:ph type="subTitle" idx="1"/>
          </p:nvPr>
        </p:nvSpPr>
        <p:spPr>
          <a:xfrm>
            <a:off x="1524000" y="4404011"/>
            <a:ext cx="9144000" cy="1655762"/>
          </a:xfrm>
        </p:spPr>
        <p:txBody>
          <a:bodyPr/>
          <a:lstStyle/>
          <a:p>
            <a:r>
              <a:rPr lang="en-US" dirty="0">
                <a:latin typeface="Comfortaa" pitchFamily="2" charset="0"/>
              </a:rPr>
              <a:t>Abstract classes</a:t>
            </a:r>
            <a:endParaRPr lang="bg-BG" dirty="0">
              <a:latin typeface="Comfortaa" pitchFamily="2" charset="0"/>
            </a:endParaRPr>
          </a:p>
        </p:txBody>
      </p:sp>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spTree>
    <p:extLst>
      <p:ext uri="{BB962C8B-B14F-4D97-AF65-F5344CB8AC3E}">
        <p14:creationId xmlns:p14="http://schemas.microsoft.com/office/powerpoint/2010/main" val="238695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1332799"/>
            <a:ext cx="10782397" cy="5258005"/>
          </a:xfrm>
        </p:spPr>
        <p:txBody>
          <a:bodyPr>
            <a:normAutofit/>
          </a:bodyPr>
          <a:lstStyle/>
          <a:p>
            <a:r>
              <a:rPr lang="bg-BG" sz="2400" dirty="0">
                <a:latin typeface="Comfortaa" pitchFamily="2" charset="0"/>
              </a:rPr>
              <a:t>Абстрактните класове </a:t>
            </a:r>
            <a:r>
              <a:rPr lang="bg-BG" sz="2400" b="1" dirty="0">
                <a:solidFill>
                  <a:srgbClr val="00B0F0"/>
                </a:solidFill>
                <a:latin typeface="Comfortaa" pitchFamily="2" charset="0"/>
              </a:rPr>
              <a:t>НЕ МОГАТ </a:t>
            </a:r>
            <a:r>
              <a:rPr lang="bg-BG" sz="2400" dirty="0">
                <a:solidFill>
                  <a:schemeClr val="tx2">
                    <a:lumMod val="75000"/>
                  </a:schemeClr>
                </a:solidFill>
                <a:latin typeface="Comfortaa" pitchFamily="2" charset="0"/>
              </a:rPr>
              <a:t>да бъдат </a:t>
            </a:r>
            <a:r>
              <a:rPr lang="bg-BG" sz="2400" dirty="0" err="1">
                <a:solidFill>
                  <a:schemeClr val="tx2">
                    <a:lumMod val="75000"/>
                  </a:schemeClr>
                </a:solidFill>
                <a:latin typeface="Comfortaa" pitchFamily="2" charset="0"/>
              </a:rPr>
              <a:t>инстанцирани</a:t>
            </a:r>
            <a:endParaRPr lang="en-US" sz="2400" dirty="0">
              <a:solidFill>
                <a:schemeClr val="tx2">
                  <a:lumMod val="75000"/>
                </a:schemeClr>
              </a:solidFill>
              <a:latin typeface="Comfortaa" pitchFamily="2" charset="0"/>
            </a:endParaRPr>
          </a:p>
          <a:p>
            <a:endParaRPr lang="en-US" sz="2400" dirty="0">
              <a:solidFill>
                <a:schemeClr val="tx2">
                  <a:lumMod val="75000"/>
                </a:schemeClr>
              </a:solidFill>
              <a:latin typeface="Comfortaa" pitchFamily="2" charset="0"/>
            </a:endParaRPr>
          </a:p>
          <a:p>
            <a:endParaRPr lang="en-US" sz="2400" dirty="0">
              <a:latin typeface="Comfortaa" pitchFamily="2" charset="0"/>
            </a:endParaRPr>
          </a:p>
          <a:p>
            <a:endParaRPr lang="en-US" sz="2400" dirty="0">
              <a:latin typeface="Comfortaa" pitchFamily="2" charset="0"/>
            </a:endParaRPr>
          </a:p>
          <a:p>
            <a:endParaRPr lang="en-US" sz="2400" dirty="0">
              <a:latin typeface="Comfortaa" pitchFamily="2" charset="0"/>
            </a:endParaRPr>
          </a:p>
          <a:p>
            <a:endParaRPr lang="bg-BG" sz="2400" dirty="0">
              <a:solidFill>
                <a:schemeClr val="tx2">
                  <a:lumMod val="75000"/>
                </a:schemeClr>
              </a:solidFill>
              <a:latin typeface="Comfortaa" pitchFamily="2" charset="0"/>
            </a:endParaRPr>
          </a:p>
          <a:p>
            <a:r>
              <a:rPr lang="bg-BG" sz="2400" b="1" dirty="0">
                <a:solidFill>
                  <a:srgbClr val="00B0F0"/>
                </a:solidFill>
                <a:latin typeface="Comfortaa" pitchFamily="2" charset="0"/>
              </a:rPr>
              <a:t>Абстрактният</a:t>
            </a:r>
            <a:r>
              <a:rPr lang="bg-BG" sz="2400" dirty="0">
                <a:solidFill>
                  <a:schemeClr val="tx2">
                    <a:lumMod val="75000"/>
                  </a:schemeClr>
                </a:solidFill>
                <a:latin typeface="Comfortaa" pitchFamily="2" charset="0"/>
              </a:rPr>
              <a:t> </a:t>
            </a:r>
            <a:r>
              <a:rPr lang="bg-BG" sz="2400" dirty="0">
                <a:latin typeface="Comfortaa" pitchFamily="2" charset="0"/>
              </a:rPr>
              <a:t>клас</a:t>
            </a:r>
            <a:r>
              <a:rPr lang="en-US" sz="2400" dirty="0">
                <a:latin typeface="Comfortaa" pitchFamily="2" charset="0"/>
              </a:rPr>
              <a:t> </a:t>
            </a:r>
            <a:r>
              <a:rPr lang="bg-BG" sz="2400" b="1" dirty="0">
                <a:solidFill>
                  <a:srgbClr val="00B0F0"/>
                </a:solidFill>
                <a:latin typeface="Comfortaa" pitchFamily="2" charset="0"/>
              </a:rPr>
              <a:t>може</a:t>
            </a:r>
            <a:r>
              <a:rPr lang="bg-BG" sz="2400" dirty="0">
                <a:solidFill>
                  <a:schemeClr val="tx2">
                    <a:lumMod val="75000"/>
                  </a:schemeClr>
                </a:solidFill>
                <a:latin typeface="Comfortaa" pitchFamily="2" charset="0"/>
              </a:rPr>
              <a:t> </a:t>
            </a:r>
            <a:r>
              <a:rPr lang="bg-BG" sz="2400" dirty="0">
                <a:latin typeface="Comfortaa" pitchFamily="2" charset="0"/>
              </a:rPr>
              <a:t>да включва абстрактни</a:t>
            </a:r>
            <a:r>
              <a:rPr lang="en-US" sz="2400" dirty="0">
                <a:latin typeface="Comfortaa" pitchFamily="2" charset="0"/>
              </a:rPr>
              <a:t> </a:t>
            </a:r>
            <a:r>
              <a:rPr lang="bg-BG" sz="2400" b="1" dirty="0">
                <a:solidFill>
                  <a:srgbClr val="00B0F0"/>
                </a:solidFill>
                <a:latin typeface="Comfortaa" pitchFamily="2" charset="0"/>
              </a:rPr>
              <a:t>методи</a:t>
            </a:r>
            <a:r>
              <a:rPr lang="bg-BG" sz="2400" dirty="0">
                <a:latin typeface="Comfortaa" pitchFamily="2" charset="0"/>
              </a:rPr>
              <a:t>, а може и да не включва такива.</a:t>
            </a:r>
            <a:endParaRPr lang="en-US" sz="2400" dirty="0">
              <a:solidFill>
                <a:schemeClr val="tx2">
                  <a:lumMod val="75000"/>
                </a:schemeClr>
              </a:solidFill>
              <a:latin typeface="Comfortaa" pitchFamily="2" charset="0"/>
            </a:endParaRPr>
          </a:p>
          <a:p>
            <a:r>
              <a:rPr lang="bg-BG" sz="2400" dirty="0">
                <a:latin typeface="Comfortaa" pitchFamily="2" charset="0"/>
              </a:rPr>
              <a:t>Ако клас има</a:t>
            </a:r>
            <a:r>
              <a:rPr lang="en-US" sz="2400" dirty="0">
                <a:latin typeface="Comfortaa" pitchFamily="2" charset="0"/>
              </a:rPr>
              <a:t> </a:t>
            </a:r>
            <a:r>
              <a:rPr lang="bg-BG" sz="2400" b="1" dirty="0">
                <a:solidFill>
                  <a:srgbClr val="00B0F0"/>
                </a:solidFill>
                <a:latin typeface="Comfortaa" pitchFamily="2" charset="0"/>
              </a:rPr>
              <a:t>поне един абстрактен метод</a:t>
            </a:r>
            <a:r>
              <a:rPr lang="en-US" sz="2400" dirty="0">
                <a:latin typeface="Comfortaa" pitchFamily="2" charset="0"/>
              </a:rPr>
              <a:t>, </a:t>
            </a:r>
            <a:r>
              <a:rPr lang="bg-BG" sz="2400" dirty="0">
                <a:latin typeface="Comfortaa" pitchFamily="2" charset="0"/>
              </a:rPr>
              <a:t>той трябва да бъде деклариран като </a:t>
            </a:r>
            <a:r>
              <a:rPr lang="bg-BG" sz="2400" b="1" dirty="0">
                <a:solidFill>
                  <a:srgbClr val="00B0F0"/>
                </a:solidFill>
                <a:latin typeface="Comfortaa" pitchFamily="2" charset="0"/>
              </a:rPr>
              <a:t>абстрактен</a:t>
            </a:r>
            <a:endParaRPr lang="en-US" sz="2400" b="1" dirty="0">
              <a:solidFill>
                <a:srgbClr val="00B0F0"/>
              </a:solidFill>
              <a:latin typeface="Comfortaa" pitchFamily="2" charset="0"/>
            </a:endParaRPr>
          </a:p>
          <a:p>
            <a:r>
              <a:rPr lang="bg-BG" sz="2400" dirty="0">
                <a:latin typeface="Comfortaa" pitchFamily="2" charset="0"/>
              </a:rPr>
              <a:t>За да използвате</a:t>
            </a:r>
            <a:r>
              <a:rPr lang="en-US" sz="2400" dirty="0">
                <a:latin typeface="Comfortaa" pitchFamily="2" charset="0"/>
              </a:rPr>
              <a:t> </a:t>
            </a:r>
            <a:r>
              <a:rPr lang="bg-BG" sz="2400" b="1" dirty="0">
                <a:solidFill>
                  <a:srgbClr val="00B0F0"/>
                </a:solidFill>
                <a:latin typeface="Comfortaa" pitchFamily="2" charset="0"/>
              </a:rPr>
              <a:t>абстрактен клас</a:t>
            </a:r>
            <a:r>
              <a:rPr lang="bg-BG" sz="2400" dirty="0">
                <a:latin typeface="Comfortaa" pitchFamily="2" charset="0"/>
              </a:rPr>
              <a:t>, трябва да го</a:t>
            </a:r>
            <a:r>
              <a:rPr lang="en-US" sz="2400" dirty="0">
                <a:latin typeface="Comfortaa" pitchFamily="2" charset="0"/>
              </a:rPr>
              <a:t> </a:t>
            </a:r>
            <a:r>
              <a:rPr lang="bg-BG" sz="2400" b="1" dirty="0">
                <a:solidFill>
                  <a:srgbClr val="00B0F0"/>
                </a:solidFill>
                <a:latin typeface="Comfortaa" pitchFamily="2" charset="0"/>
              </a:rPr>
              <a:t>наследите</a:t>
            </a:r>
            <a:endParaRPr lang="en-US" sz="2400" b="1" dirty="0">
              <a:solidFill>
                <a:srgbClr val="00B0F0"/>
              </a:solidFill>
              <a:latin typeface="Comfortaa" pitchFamily="2" charset="0"/>
            </a:endParaRPr>
          </a:p>
        </p:txBody>
      </p:sp>
      <p:sp>
        <p:nvSpPr>
          <p:cNvPr id="4" name="Title 3"/>
          <p:cNvSpPr>
            <a:spLocks noGrp="1"/>
          </p:cNvSpPr>
          <p:nvPr>
            <p:ph type="title"/>
          </p:nvPr>
        </p:nvSpPr>
        <p:spPr>
          <a:xfrm>
            <a:off x="838200" y="365126"/>
            <a:ext cx="10515600" cy="1101478"/>
          </a:xfrm>
        </p:spPr>
        <p:txBody>
          <a:bodyPr/>
          <a:lstStyle/>
          <a:p>
            <a:r>
              <a:rPr lang="bg-BG" noProof="1">
                <a:latin typeface="Comfortaa" pitchFamily="2" charset="0"/>
              </a:rPr>
              <a:t>Абстрактни класове</a:t>
            </a:r>
            <a:endParaRPr lang="en-US" dirty="0">
              <a:latin typeface="Comfortaa" pitchFamily="2" charset="0"/>
            </a:endParaRPr>
          </a:p>
        </p:txBody>
      </p:sp>
      <p:sp>
        <p:nvSpPr>
          <p:cNvPr id="8" name="Text Placeholder 5"/>
          <p:cNvSpPr txBox="1">
            <a:spLocks/>
          </p:cNvSpPr>
          <p:nvPr/>
        </p:nvSpPr>
        <p:spPr>
          <a:xfrm>
            <a:off x="856211" y="1868520"/>
            <a:ext cx="10479577" cy="2022843"/>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a:t>
            </a:r>
            <a:r>
              <a:rPr lang="en-US" sz="2800" dirty="0">
                <a:solidFill>
                  <a:srgbClr val="00B0F0"/>
                </a:solidFill>
                <a:effectLst/>
              </a:rPr>
              <a:t>abstract</a:t>
            </a:r>
            <a:r>
              <a:rPr lang="en-US" sz="2800" dirty="0">
                <a:solidFill>
                  <a:schemeClr val="bg1"/>
                </a:solidFill>
                <a:effectLst/>
              </a:rPr>
              <a:t> class Shape {} </a:t>
            </a:r>
          </a:p>
          <a:p>
            <a:r>
              <a:rPr lang="en-US" sz="2800" dirty="0">
                <a:solidFill>
                  <a:schemeClr val="bg1"/>
                </a:solidFill>
                <a:effectLst/>
              </a:rPr>
              <a:t>public class Circle : Shape {}</a:t>
            </a:r>
          </a:p>
          <a:p>
            <a:pPr>
              <a:spcBef>
                <a:spcPts val="1200"/>
              </a:spcBef>
            </a:pPr>
            <a:r>
              <a:rPr lang="en-US" sz="2800" dirty="0">
                <a:solidFill>
                  <a:srgbClr val="00B0F0"/>
                </a:solidFill>
                <a:effectLst/>
              </a:rPr>
              <a:t>Shape</a:t>
            </a:r>
            <a:r>
              <a:rPr lang="en-US" sz="2800" dirty="0">
                <a:solidFill>
                  <a:schemeClr val="bg1"/>
                </a:solidFill>
                <a:effectLst/>
              </a:rPr>
              <a:t> shape = new </a:t>
            </a:r>
            <a:r>
              <a:rPr lang="en-US" sz="2800" dirty="0">
                <a:solidFill>
                  <a:srgbClr val="00B0F0"/>
                </a:solidFill>
                <a:effectLst/>
              </a:rPr>
              <a:t>Shape</a:t>
            </a:r>
            <a:r>
              <a:rPr lang="en-US" sz="2800" dirty="0">
                <a:solidFill>
                  <a:schemeClr val="bg1"/>
                </a:solidFill>
                <a:effectLst/>
              </a:rPr>
              <a:t>(); // </a:t>
            </a:r>
            <a:r>
              <a:rPr lang="bg-BG" sz="2800" dirty="0">
                <a:solidFill>
                  <a:schemeClr val="bg1"/>
                </a:solidFill>
                <a:effectLst/>
              </a:rPr>
              <a:t>Грешка при компилиране</a:t>
            </a:r>
            <a:endParaRPr lang="en-US" sz="2800" dirty="0">
              <a:solidFill>
                <a:schemeClr val="bg1"/>
              </a:solidFill>
              <a:effectLst/>
            </a:endParaRPr>
          </a:p>
          <a:p>
            <a:r>
              <a:rPr lang="en-US" sz="2800" dirty="0">
                <a:solidFill>
                  <a:srgbClr val="00B0F0"/>
                </a:solidFill>
                <a:effectLst/>
              </a:rPr>
              <a:t>Shape</a:t>
            </a:r>
            <a:r>
              <a:rPr lang="en-US" sz="2800" dirty="0">
                <a:solidFill>
                  <a:schemeClr val="bg1"/>
                </a:solidFill>
                <a:effectLst/>
              </a:rPr>
              <a:t> circle = new </a:t>
            </a:r>
            <a:r>
              <a:rPr lang="en-US" sz="2800" dirty="0">
                <a:solidFill>
                  <a:srgbClr val="00B0F0"/>
                </a:solidFill>
                <a:effectLst/>
              </a:rPr>
              <a:t>Circle</a:t>
            </a:r>
            <a:r>
              <a:rPr lang="en-US" sz="2800" dirty="0">
                <a:solidFill>
                  <a:schemeClr val="bg1"/>
                </a:solidFill>
                <a:effectLst/>
              </a:rPr>
              <a:t>(); // </a:t>
            </a:r>
            <a:r>
              <a:rPr lang="bg-BG" sz="2800" dirty="0">
                <a:solidFill>
                  <a:schemeClr val="bg1"/>
                </a:solidFill>
                <a:effectLst/>
              </a:rPr>
              <a:t>полиморфизъм</a:t>
            </a:r>
            <a:endParaRPr lang="en-US" sz="2800" dirty="0">
              <a:solidFill>
                <a:schemeClr val="bg1"/>
              </a:solidFill>
              <a:effectLst/>
            </a:endParaRPr>
          </a:p>
        </p:txBody>
      </p:sp>
    </p:spTree>
    <p:extLst>
      <p:ext uri="{BB962C8B-B14F-4D97-AF65-F5344CB8AC3E}">
        <p14:creationId xmlns:p14="http://schemas.microsoft.com/office/powerpoint/2010/main" val="1379731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385948"/>
            <a:ext cx="10591800" cy="762373"/>
          </a:xfrm>
        </p:spPr>
        <p:txBody>
          <a:bodyPr/>
          <a:lstStyle/>
          <a:p>
            <a:r>
              <a:rPr lang="bg-BG" noProof="1">
                <a:latin typeface="Comfortaa" pitchFamily="2" charset="0"/>
              </a:rPr>
              <a:t>Елементи на абстрактния клас</a:t>
            </a:r>
            <a:endParaRPr lang="en-US" dirty="0">
              <a:latin typeface="Comfortaa" pitchFamily="2" charset="0"/>
            </a:endParaRPr>
          </a:p>
        </p:txBody>
      </p:sp>
      <p:sp>
        <p:nvSpPr>
          <p:cNvPr id="5" name="Rectangle 4"/>
          <p:cNvSpPr>
            <a:spLocks noChangeArrowheads="1"/>
          </p:cNvSpPr>
          <p:nvPr/>
        </p:nvSpPr>
        <p:spPr bwMode="auto">
          <a:xfrm>
            <a:off x="609600" y="1273739"/>
            <a:ext cx="10591800" cy="3970318"/>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fontAlgn="base"/>
            <a:r>
              <a:rPr lang="en-US" sz="2800" b="1" noProof="1">
                <a:solidFill>
                  <a:schemeClr val="bg1"/>
                </a:solidFill>
                <a:latin typeface="Consolas" pitchFamily="49" charset="0"/>
                <a:cs typeface="Consolas" pitchFamily="49" charset="0"/>
              </a:rPr>
              <a:t>public </a:t>
            </a:r>
            <a:r>
              <a:rPr lang="en-US" sz="2800" b="1" noProof="1">
                <a:solidFill>
                  <a:srgbClr val="00B0F0"/>
                </a:solidFill>
                <a:latin typeface="Consolas" pitchFamily="49" charset="0"/>
                <a:cs typeface="Consolas" pitchFamily="49" charset="0"/>
              </a:rPr>
              <a:t>abstract</a:t>
            </a:r>
            <a:r>
              <a:rPr lang="en-US" sz="2800" b="1" noProof="1">
                <a:solidFill>
                  <a:schemeClr val="bg1"/>
                </a:solidFill>
                <a:latin typeface="Consolas" pitchFamily="49" charset="0"/>
                <a:cs typeface="Consolas" pitchFamily="49" charset="0"/>
              </a:rPr>
              <a:t> class Shape</a:t>
            </a:r>
          </a:p>
          <a:p>
            <a:pPr fontAlgn="base"/>
            <a:r>
              <a:rPr lang="en-US" sz="2800" b="1" noProof="1">
                <a:solidFill>
                  <a:schemeClr val="bg1"/>
                </a:solidFill>
                <a:latin typeface="Consolas" pitchFamily="49" charset="0"/>
                <a:cs typeface="Consolas" pitchFamily="49" charset="0"/>
              </a:rPr>
              <a:t>{</a:t>
            </a:r>
          </a:p>
          <a:p>
            <a:pPr fontAlgn="base"/>
            <a:r>
              <a:rPr lang="en-US" sz="2800" b="1" noProof="1">
                <a:solidFill>
                  <a:schemeClr val="bg1"/>
                </a:solidFill>
                <a:latin typeface="Consolas" pitchFamily="49" charset="0"/>
                <a:cs typeface="Consolas" pitchFamily="49" charset="0"/>
              </a:rPr>
              <a:t>  </a:t>
            </a:r>
            <a:r>
              <a:rPr lang="en-US" sz="2800" b="1" noProof="1">
                <a:solidFill>
                  <a:srgbClr val="00B0F0"/>
                </a:solidFill>
                <a:latin typeface="Consolas" pitchFamily="49" charset="0"/>
                <a:cs typeface="Consolas" pitchFamily="49" charset="0"/>
              </a:rPr>
              <a:t>private Point</a:t>
            </a:r>
            <a:r>
              <a:rPr lang="en-US" sz="2800" b="1" noProof="1">
                <a:solidFill>
                  <a:schemeClr val="bg1"/>
                </a:solidFill>
                <a:latin typeface="Consolas" pitchFamily="49" charset="0"/>
                <a:cs typeface="Consolas" pitchFamily="49" charset="0"/>
              </a:rPr>
              <a:t> startPoint;</a:t>
            </a:r>
          </a:p>
          <a:p>
            <a:pPr fontAlgn="base"/>
            <a:r>
              <a:rPr lang="en-US" sz="2800" b="1" noProof="1">
                <a:solidFill>
                  <a:schemeClr val="bg1"/>
                </a:solidFill>
                <a:latin typeface="Consolas" pitchFamily="49" charset="0"/>
                <a:cs typeface="Consolas" pitchFamily="49" charset="0"/>
              </a:rPr>
              <a:t>  </a:t>
            </a:r>
            <a:r>
              <a:rPr lang="en-US" sz="2800" b="1" noProof="1">
                <a:solidFill>
                  <a:srgbClr val="00B0F0"/>
                </a:solidFill>
                <a:latin typeface="Consolas" pitchFamily="49" charset="0"/>
                <a:cs typeface="Consolas" pitchFamily="49" charset="0"/>
              </a:rPr>
              <a:t>protected Shape</a:t>
            </a:r>
            <a:r>
              <a:rPr lang="en-US" sz="2800" b="1" noProof="1">
                <a:solidFill>
                  <a:schemeClr val="bg1"/>
                </a:solidFill>
                <a:latin typeface="Consolas" pitchFamily="49" charset="0"/>
                <a:cs typeface="Consolas" pitchFamily="49" charset="0"/>
              </a:rPr>
              <a:t>(Point startPoint) {</a:t>
            </a:r>
          </a:p>
          <a:p>
            <a:pPr fontAlgn="base"/>
            <a:r>
              <a:rPr lang="en-US" sz="2800" b="1" noProof="1">
                <a:solidFill>
                  <a:schemeClr val="bg1"/>
                </a:solidFill>
                <a:latin typeface="Consolas" pitchFamily="49" charset="0"/>
                <a:cs typeface="Consolas" pitchFamily="49" charset="0"/>
              </a:rPr>
              <a:t>    this.startPoint = startPoint;</a:t>
            </a:r>
          </a:p>
          <a:p>
            <a:pPr fontAlgn="base"/>
            <a:r>
              <a:rPr lang="en-US" sz="2800" b="1" noProof="1">
                <a:solidFill>
                  <a:schemeClr val="bg1"/>
                </a:solidFill>
                <a:latin typeface="Consolas" pitchFamily="49" charset="0"/>
                <a:cs typeface="Consolas" pitchFamily="49" charset="0"/>
              </a:rPr>
              <a:t>  }</a:t>
            </a:r>
          </a:p>
          <a:p>
            <a:pPr fontAlgn="base"/>
            <a:r>
              <a:rPr lang="en-US" sz="2800" b="1" noProof="1">
                <a:solidFill>
                  <a:schemeClr val="bg1"/>
                </a:solidFill>
                <a:latin typeface="Consolas" pitchFamily="49" charset="0"/>
                <a:cs typeface="Consolas" pitchFamily="49" charset="0"/>
              </a:rPr>
              <a:t>  </a:t>
            </a:r>
            <a:r>
              <a:rPr lang="en-US" sz="2800" b="1" noProof="1">
                <a:solidFill>
                  <a:srgbClr val="00B0F0"/>
                </a:solidFill>
                <a:latin typeface="Consolas" pitchFamily="49" charset="0"/>
                <a:cs typeface="Consolas" pitchFamily="49" charset="0"/>
              </a:rPr>
              <a:t>public StartPoint</a:t>
            </a:r>
            <a:r>
              <a:rPr lang="en-US" sz="2800" b="1" noProof="1">
                <a:solidFill>
                  <a:schemeClr val="bg1"/>
                </a:solidFill>
                <a:latin typeface="Consolas" pitchFamily="49" charset="0"/>
                <a:cs typeface="Consolas" pitchFamily="49" charset="0"/>
              </a:rPr>
              <a:t> { return this.startPoint; }</a:t>
            </a:r>
          </a:p>
          <a:p>
            <a:pPr fontAlgn="base"/>
            <a:r>
              <a:rPr lang="en-US" sz="2800" b="1" noProof="1">
                <a:solidFill>
                  <a:schemeClr val="bg1"/>
                </a:solidFill>
                <a:latin typeface="Consolas" pitchFamily="49" charset="0"/>
                <a:cs typeface="Consolas" pitchFamily="49" charset="0"/>
              </a:rPr>
              <a:t>  public </a:t>
            </a:r>
            <a:r>
              <a:rPr lang="en-US" sz="2800" b="1" noProof="1">
                <a:solidFill>
                  <a:srgbClr val="00B0F0"/>
                </a:solidFill>
                <a:latin typeface="Consolas" pitchFamily="49" charset="0"/>
                <a:cs typeface="Consolas" pitchFamily="49" charset="0"/>
              </a:rPr>
              <a:t>abstract</a:t>
            </a:r>
            <a:r>
              <a:rPr lang="en-US" sz="2800" b="1" noProof="1">
                <a:solidFill>
                  <a:schemeClr val="bg1"/>
                </a:solidFill>
                <a:latin typeface="Consolas" pitchFamily="49" charset="0"/>
                <a:cs typeface="Consolas" pitchFamily="49" charset="0"/>
              </a:rPr>
              <a:t> void Draw();</a:t>
            </a:r>
          </a:p>
          <a:p>
            <a:pPr fontAlgn="base"/>
            <a:r>
              <a:rPr lang="en-US" sz="2800" b="1" noProof="1">
                <a:solidFill>
                  <a:schemeClr val="bg1"/>
                </a:solidFill>
                <a:latin typeface="Consolas" pitchFamily="49" charset="0"/>
                <a:cs typeface="Consolas" pitchFamily="49" charset="0"/>
              </a:rPr>
              <a:t>}</a:t>
            </a:r>
          </a:p>
        </p:txBody>
      </p:sp>
      <p:sp>
        <p:nvSpPr>
          <p:cNvPr id="9" name="AutoShape 6"/>
          <p:cNvSpPr>
            <a:spLocks noChangeArrowheads="1"/>
          </p:cNvSpPr>
          <p:nvPr/>
        </p:nvSpPr>
        <p:spPr bwMode="auto">
          <a:xfrm>
            <a:off x="7437423" y="1056257"/>
            <a:ext cx="4343400" cy="685800"/>
          </a:xfrm>
          <a:prstGeom prst="wedgeRoundRectCallout">
            <a:avLst>
              <a:gd name="adj1" fmla="val -80607"/>
              <a:gd name="adj2" fmla="val 134208"/>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Може да има</a:t>
            </a:r>
            <a:r>
              <a:rPr lang="bg-BG" sz="2000" dirty="0">
                <a:solidFill>
                  <a:srgbClr val="FFFFFF"/>
                </a:solidFill>
                <a:latin typeface="Comfortaa" pitchFamily="2" charset="0"/>
              </a:rPr>
              <a:t> </a:t>
            </a:r>
            <a:r>
              <a:rPr lang="bg-BG" sz="2000" dirty="0">
                <a:solidFill>
                  <a:schemeClr val="tx1"/>
                </a:solidFill>
                <a:latin typeface="Comfortaa" pitchFamily="2" charset="0"/>
              </a:rPr>
              <a:t>полета</a:t>
            </a:r>
          </a:p>
        </p:txBody>
      </p:sp>
      <p:sp>
        <p:nvSpPr>
          <p:cNvPr id="10" name="AutoShape 6"/>
          <p:cNvSpPr>
            <a:spLocks noChangeArrowheads="1"/>
          </p:cNvSpPr>
          <p:nvPr/>
        </p:nvSpPr>
        <p:spPr bwMode="auto">
          <a:xfrm>
            <a:off x="8634491" y="2048967"/>
            <a:ext cx="3146332" cy="940557"/>
          </a:xfrm>
          <a:prstGeom prst="wedgeRoundRectCallout">
            <a:avLst>
              <a:gd name="adj1" fmla="val -69903"/>
              <a:gd name="adj2" fmla="val 32228"/>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Може да има</a:t>
            </a:r>
            <a:r>
              <a:rPr lang="bg-BG" sz="2000" dirty="0">
                <a:solidFill>
                  <a:srgbClr val="FFFFFF"/>
                </a:solidFill>
                <a:latin typeface="Comfortaa" pitchFamily="2" charset="0"/>
              </a:rPr>
              <a:t> </a:t>
            </a:r>
            <a:r>
              <a:rPr lang="bg-BG" sz="2000" dirty="0">
                <a:solidFill>
                  <a:schemeClr val="tx1"/>
                </a:solidFill>
                <a:latin typeface="Comfortaa" pitchFamily="2" charset="0"/>
              </a:rPr>
              <a:t>конструктор</a:t>
            </a:r>
          </a:p>
        </p:txBody>
      </p:sp>
      <p:sp>
        <p:nvSpPr>
          <p:cNvPr id="11" name="AutoShape 6"/>
          <p:cNvSpPr>
            <a:spLocks noChangeArrowheads="1"/>
          </p:cNvSpPr>
          <p:nvPr/>
        </p:nvSpPr>
        <p:spPr bwMode="auto">
          <a:xfrm>
            <a:off x="8634491" y="4683799"/>
            <a:ext cx="3146332" cy="1731764"/>
          </a:xfrm>
          <a:prstGeom prst="wedgeRoundRectCallout">
            <a:avLst>
              <a:gd name="adj1" fmla="val -108834"/>
              <a:gd name="adj2" fmla="val -66161"/>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Може да има</a:t>
            </a:r>
            <a:r>
              <a:rPr lang="en-US" sz="2000" dirty="0">
                <a:solidFill>
                  <a:schemeClr val="bg1"/>
                </a:solidFill>
                <a:latin typeface="Comfortaa" pitchFamily="2" charset="0"/>
              </a:rPr>
              <a:t> </a:t>
            </a:r>
            <a:r>
              <a:rPr lang="bg-BG" sz="2000" dirty="0">
                <a:solidFill>
                  <a:schemeClr val="tx1"/>
                </a:solidFill>
                <a:latin typeface="Comfortaa" pitchFamily="2" charset="0"/>
              </a:rPr>
              <a:t>методи</a:t>
            </a:r>
            <a:r>
              <a:rPr lang="en-US" sz="2000" dirty="0">
                <a:solidFill>
                  <a:srgbClr val="FFFFFF"/>
                </a:solidFill>
                <a:latin typeface="Comfortaa" pitchFamily="2" charset="0"/>
              </a:rPr>
              <a:t> </a:t>
            </a:r>
            <a:r>
              <a:rPr lang="bg-BG" sz="2000" dirty="0">
                <a:solidFill>
                  <a:schemeClr val="bg1"/>
                </a:solidFill>
                <a:latin typeface="Comfortaa" pitchFamily="2" charset="0"/>
              </a:rPr>
              <a:t>с код в тях</a:t>
            </a:r>
          </a:p>
        </p:txBody>
      </p:sp>
      <p:sp>
        <p:nvSpPr>
          <p:cNvPr id="12" name="AutoShape 6"/>
          <p:cNvSpPr>
            <a:spLocks noChangeArrowheads="1"/>
          </p:cNvSpPr>
          <p:nvPr/>
        </p:nvSpPr>
        <p:spPr bwMode="auto">
          <a:xfrm>
            <a:off x="758042" y="5369475"/>
            <a:ext cx="6869066" cy="972244"/>
          </a:xfrm>
          <a:prstGeom prst="wedgeRoundRectCallout">
            <a:avLst>
              <a:gd name="adj1" fmla="val -19370"/>
              <a:gd name="adj2" fmla="val -95642"/>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000" dirty="0">
                <a:solidFill>
                  <a:schemeClr val="bg1"/>
                </a:solidFill>
                <a:latin typeface="Comfortaa" pitchFamily="2" charset="0"/>
              </a:rPr>
              <a:t>Всеки абстрактен метод</a:t>
            </a:r>
            <a:r>
              <a:rPr lang="bg-BG" sz="2000" dirty="0">
                <a:solidFill>
                  <a:srgbClr val="FFFFFF"/>
                </a:solidFill>
                <a:latin typeface="Comfortaa" pitchFamily="2" charset="0"/>
              </a:rPr>
              <a:t> </a:t>
            </a:r>
            <a:r>
              <a:rPr lang="bg-BG" sz="2000" dirty="0">
                <a:solidFill>
                  <a:schemeClr val="tx1"/>
                </a:solidFill>
                <a:latin typeface="Comfortaa" pitchFamily="2" charset="0"/>
              </a:rPr>
              <a:t>ТРЯБВА</a:t>
            </a:r>
            <a:r>
              <a:rPr lang="en-US" sz="2000" dirty="0">
                <a:solidFill>
                  <a:srgbClr val="FFFFFF"/>
                </a:solidFill>
                <a:latin typeface="Comfortaa" pitchFamily="2" charset="0"/>
              </a:rPr>
              <a:t> </a:t>
            </a:r>
            <a:r>
              <a:rPr lang="bg-BG" sz="2000" dirty="0">
                <a:solidFill>
                  <a:schemeClr val="bg1"/>
                </a:solidFill>
                <a:latin typeface="Comfortaa" pitchFamily="2" charset="0"/>
              </a:rPr>
              <a:t>да</a:t>
            </a:r>
            <a:r>
              <a:rPr lang="en-US" sz="2000" dirty="0">
                <a:solidFill>
                  <a:srgbClr val="FFFFFF"/>
                </a:solidFill>
                <a:latin typeface="Comfortaa" pitchFamily="2" charset="0"/>
              </a:rPr>
              <a:t> </a:t>
            </a:r>
            <a:r>
              <a:rPr lang="bg-BG" sz="2000" dirty="0">
                <a:solidFill>
                  <a:schemeClr val="tx1"/>
                </a:solidFill>
                <a:latin typeface="Comfortaa" pitchFamily="2" charset="0"/>
              </a:rPr>
              <a:t>се</a:t>
            </a:r>
            <a:r>
              <a:rPr lang="bg-BG" sz="2000" dirty="0">
                <a:solidFill>
                  <a:schemeClr val="tx2">
                    <a:lumMod val="75000"/>
                  </a:schemeClr>
                </a:solidFill>
                <a:latin typeface="Comfortaa" pitchFamily="2" charset="0"/>
              </a:rPr>
              <a:t> </a:t>
            </a:r>
            <a:r>
              <a:rPr lang="bg-BG" sz="2000" dirty="0">
                <a:solidFill>
                  <a:schemeClr val="tx1"/>
                </a:solidFill>
                <a:latin typeface="Comfortaa" pitchFamily="2" charset="0"/>
              </a:rPr>
              <a:t>имплементира</a:t>
            </a:r>
            <a:r>
              <a:rPr lang="en-US" sz="2000" dirty="0">
                <a:solidFill>
                  <a:schemeClr val="tx2">
                    <a:lumMod val="75000"/>
                  </a:schemeClr>
                </a:solidFill>
                <a:latin typeface="Comfortaa" pitchFamily="2" charset="0"/>
              </a:rPr>
              <a:t> </a:t>
            </a:r>
            <a:r>
              <a:rPr lang="bg-BG" sz="2000" dirty="0">
                <a:solidFill>
                  <a:schemeClr val="bg1"/>
                </a:solidFill>
                <a:latin typeface="Comfortaa" pitchFamily="2" charset="0"/>
              </a:rPr>
              <a:t>от подкласовете</a:t>
            </a:r>
            <a:endParaRPr lang="en-US" sz="2000" noProof="1">
              <a:solidFill>
                <a:schemeClr val="bg1"/>
              </a:solidFill>
              <a:latin typeface="Comfortaa" pitchFamily="2" charset="0"/>
            </a:endParaRPr>
          </a:p>
        </p:txBody>
      </p:sp>
    </p:spTree>
    <p:extLst>
      <p:ext uri="{BB962C8B-B14F-4D97-AF65-F5344CB8AC3E}">
        <p14:creationId xmlns:p14="http://schemas.microsoft.com/office/powerpoint/2010/main" val="65094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ent Arrow 8"/>
          <p:cNvSpPr/>
          <p:nvPr/>
        </p:nvSpPr>
        <p:spPr>
          <a:xfrm rot="5400000">
            <a:off x="8259812" y="1885193"/>
            <a:ext cx="1808703" cy="2477242"/>
          </a:xfrm>
          <a:prstGeom prst="ben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sz="2800">
              <a:solidFill>
                <a:schemeClr val="tx1"/>
              </a:solidFill>
            </a:endParaRPr>
          </a:p>
        </p:txBody>
      </p:sp>
      <p:sp>
        <p:nvSpPr>
          <p:cNvPr id="28" name="Bent Arrow 27"/>
          <p:cNvSpPr/>
          <p:nvPr/>
        </p:nvSpPr>
        <p:spPr>
          <a:xfrm rot="16200000" flipH="1">
            <a:off x="1570292" y="1886985"/>
            <a:ext cx="1808703" cy="2477242"/>
          </a:xfrm>
          <a:prstGeom prst="ben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sz="2800">
              <a:solidFill>
                <a:schemeClr val="tx1"/>
              </a:solidFill>
            </a:endParaRPr>
          </a:p>
        </p:txBody>
      </p:sp>
      <p:sp>
        <p:nvSpPr>
          <p:cNvPr id="2" name="Title 1"/>
          <p:cNvSpPr>
            <a:spLocks noGrp="1"/>
          </p:cNvSpPr>
          <p:nvPr>
            <p:ph type="title"/>
          </p:nvPr>
        </p:nvSpPr>
        <p:spPr>
          <a:xfrm>
            <a:off x="599703" y="175649"/>
            <a:ext cx="11162805" cy="976787"/>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Фигури</a:t>
            </a:r>
            <a:r>
              <a:rPr lang="en-US" sz="4000" dirty="0">
                <a:latin typeface="Comfortaa" pitchFamily="2" charset="0"/>
              </a:rPr>
              <a:t> [1/4]</a:t>
            </a:r>
            <a:endParaRPr lang="bg-BG" sz="4000" dirty="0">
              <a:latin typeface="Comfortaa" pitchFamily="2" charset="0"/>
            </a:endParaRPr>
          </a:p>
        </p:txBody>
      </p:sp>
      <p:sp>
        <p:nvSpPr>
          <p:cNvPr id="18" name="Rectangle 4"/>
          <p:cNvSpPr>
            <a:spLocks noChangeArrowheads="1"/>
          </p:cNvSpPr>
          <p:nvPr/>
        </p:nvSpPr>
        <p:spPr bwMode="auto">
          <a:xfrm>
            <a:off x="3205348" y="1501112"/>
            <a:ext cx="5424600" cy="460062"/>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400" b="1" noProof="1">
                <a:latin typeface="Consolas" panose="020B0609020204030204" pitchFamily="49" charset="0"/>
              </a:rPr>
              <a:t>Shape</a:t>
            </a:r>
          </a:p>
        </p:txBody>
      </p:sp>
      <p:sp>
        <p:nvSpPr>
          <p:cNvPr id="19" name="Rectangle 18"/>
          <p:cNvSpPr>
            <a:spLocks noChangeArrowheads="1"/>
          </p:cNvSpPr>
          <p:nvPr/>
        </p:nvSpPr>
        <p:spPr bwMode="auto">
          <a:xfrm>
            <a:off x="3205348" y="1974725"/>
            <a:ext cx="5424600" cy="84478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-double perimeter</a:t>
            </a:r>
          </a:p>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-double area</a:t>
            </a:r>
          </a:p>
        </p:txBody>
      </p:sp>
      <p:sp>
        <p:nvSpPr>
          <p:cNvPr id="10" name="Rectangle 9"/>
          <p:cNvSpPr>
            <a:spLocks noChangeArrowheads="1"/>
          </p:cNvSpPr>
          <p:nvPr/>
        </p:nvSpPr>
        <p:spPr bwMode="auto">
          <a:xfrm>
            <a:off x="3205348" y="2836499"/>
            <a:ext cx="5424600" cy="84478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+CalculatePerimeter</a:t>
            </a:r>
          </a:p>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+CalculateArea</a:t>
            </a:r>
          </a:p>
        </p:txBody>
      </p:sp>
      <p:sp>
        <p:nvSpPr>
          <p:cNvPr id="12" name="Rectangle 4"/>
          <p:cNvSpPr>
            <a:spLocks noChangeArrowheads="1"/>
          </p:cNvSpPr>
          <p:nvPr/>
        </p:nvSpPr>
        <p:spPr bwMode="auto">
          <a:xfrm>
            <a:off x="538348" y="4052455"/>
            <a:ext cx="43434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400" b="1" noProof="1">
                <a:latin typeface="Consolas" panose="020B0609020204030204" pitchFamily="49" charset="0"/>
              </a:rPr>
              <a:t>Rectangle</a:t>
            </a:r>
          </a:p>
        </p:txBody>
      </p:sp>
      <p:sp>
        <p:nvSpPr>
          <p:cNvPr id="13" name="Rectangle 12"/>
          <p:cNvSpPr>
            <a:spLocks noChangeArrowheads="1"/>
          </p:cNvSpPr>
          <p:nvPr/>
        </p:nvSpPr>
        <p:spPr bwMode="auto">
          <a:xfrm>
            <a:off x="538348" y="4533736"/>
            <a:ext cx="4343400" cy="86177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-double height</a:t>
            </a:r>
          </a:p>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-double width</a:t>
            </a:r>
          </a:p>
        </p:txBody>
      </p:sp>
      <p:sp>
        <p:nvSpPr>
          <p:cNvPr id="15" name="Rectangle 14"/>
          <p:cNvSpPr>
            <a:spLocks noChangeArrowheads="1"/>
          </p:cNvSpPr>
          <p:nvPr/>
        </p:nvSpPr>
        <p:spPr bwMode="auto">
          <a:xfrm>
            <a:off x="538348" y="5385599"/>
            <a:ext cx="4343400" cy="86177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+CalculatePerimeter</a:t>
            </a:r>
          </a:p>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+CalculateArea</a:t>
            </a:r>
          </a:p>
        </p:txBody>
      </p:sp>
      <p:sp>
        <p:nvSpPr>
          <p:cNvPr id="20" name="Rectangle 4"/>
          <p:cNvSpPr>
            <a:spLocks noChangeArrowheads="1"/>
          </p:cNvSpPr>
          <p:nvPr/>
        </p:nvSpPr>
        <p:spPr bwMode="auto">
          <a:xfrm>
            <a:off x="7159273" y="4052455"/>
            <a:ext cx="43434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400" b="1" noProof="1">
                <a:latin typeface="Consolas" panose="020B0609020204030204" pitchFamily="49" charset="0"/>
              </a:rPr>
              <a:t>Circle</a:t>
            </a:r>
          </a:p>
        </p:txBody>
      </p:sp>
      <p:sp>
        <p:nvSpPr>
          <p:cNvPr id="21" name="Rectangle 20"/>
          <p:cNvSpPr>
            <a:spLocks noChangeArrowheads="1"/>
          </p:cNvSpPr>
          <p:nvPr/>
        </p:nvSpPr>
        <p:spPr bwMode="auto">
          <a:xfrm>
            <a:off x="7159273" y="4533736"/>
            <a:ext cx="4343400" cy="86177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-double height</a:t>
            </a:r>
          </a:p>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-double width</a:t>
            </a:r>
          </a:p>
        </p:txBody>
      </p:sp>
      <p:sp>
        <p:nvSpPr>
          <p:cNvPr id="22" name="Rectangle 21"/>
          <p:cNvSpPr>
            <a:spLocks noChangeArrowheads="1"/>
          </p:cNvSpPr>
          <p:nvPr/>
        </p:nvSpPr>
        <p:spPr bwMode="auto">
          <a:xfrm>
            <a:off x="7159273" y="5385599"/>
            <a:ext cx="4343400" cy="86177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+CalculatePerimeter</a:t>
            </a:r>
          </a:p>
          <a:p>
            <a:pPr eaLnBrk="0" hangingPunct="0">
              <a:lnSpc>
                <a:spcPts val="3000"/>
              </a:lnSpc>
              <a:buClr>
                <a:schemeClr val="accent5">
                  <a:lumMod val="40000"/>
                  <a:lumOff val="60000"/>
                </a:schemeClr>
              </a:buClr>
              <a:buSzPct val="70000"/>
            </a:pPr>
            <a:r>
              <a:rPr lang="en-US" sz="2400" b="1" noProof="1">
                <a:latin typeface="Consolas" panose="020B0609020204030204" pitchFamily="49" charset="0"/>
              </a:rPr>
              <a:t>+CalculateArea</a:t>
            </a:r>
          </a:p>
        </p:txBody>
      </p:sp>
    </p:spTree>
    <p:extLst>
      <p:ext uri="{BB962C8B-B14F-4D97-AF65-F5344CB8AC3E}">
        <p14:creationId xmlns:p14="http://schemas.microsoft.com/office/powerpoint/2010/main" val="339835478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5"/>
          <p:cNvSpPr txBox="1">
            <a:spLocks/>
          </p:cNvSpPr>
          <p:nvPr/>
        </p:nvSpPr>
        <p:spPr>
          <a:xfrm>
            <a:off x="525484" y="1060966"/>
            <a:ext cx="11066813" cy="5562274"/>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public </a:t>
            </a:r>
            <a:r>
              <a:rPr lang="en-US" sz="3200" dirty="0">
                <a:solidFill>
                  <a:srgbClr val="00B0F0"/>
                </a:solidFill>
                <a:effectLst/>
              </a:rPr>
              <a:t>abstract</a:t>
            </a:r>
            <a:r>
              <a:rPr lang="en-US" sz="3200" dirty="0">
                <a:solidFill>
                  <a:schemeClr val="bg1"/>
                </a:solidFill>
                <a:effectLst/>
              </a:rPr>
              <a:t> class Shape</a:t>
            </a:r>
          </a:p>
          <a:p>
            <a:r>
              <a:rPr lang="en-US" sz="3200" dirty="0">
                <a:solidFill>
                  <a:schemeClr val="bg1"/>
                </a:solidFill>
                <a:effectLst/>
              </a:rPr>
              <a:t>{</a:t>
            </a:r>
          </a:p>
          <a:p>
            <a:r>
              <a:rPr lang="en-US" sz="3200" dirty="0">
                <a:solidFill>
                  <a:schemeClr val="bg1"/>
                </a:solidFill>
                <a:effectLst/>
              </a:rPr>
              <a:t>    public </a:t>
            </a:r>
            <a:r>
              <a:rPr lang="en-US" sz="3200" dirty="0">
                <a:solidFill>
                  <a:srgbClr val="00B0F0"/>
                </a:solidFill>
                <a:effectLst/>
              </a:rPr>
              <a:t>abstract</a:t>
            </a:r>
            <a:r>
              <a:rPr lang="en-US" sz="3200" dirty="0">
                <a:solidFill>
                  <a:schemeClr val="bg1"/>
                </a:solidFill>
                <a:effectLst/>
              </a:rPr>
              <a:t> double CalculatePerimeter();</a:t>
            </a:r>
          </a:p>
          <a:p>
            <a:endParaRPr lang="en-US" sz="3200" dirty="0">
              <a:solidFill>
                <a:schemeClr val="bg1"/>
              </a:solidFill>
              <a:effectLst/>
            </a:endParaRPr>
          </a:p>
          <a:p>
            <a:r>
              <a:rPr lang="en-US" sz="3200" dirty="0">
                <a:solidFill>
                  <a:schemeClr val="bg1"/>
                </a:solidFill>
                <a:effectLst/>
              </a:rPr>
              <a:t>    public </a:t>
            </a:r>
            <a:r>
              <a:rPr lang="en-US" sz="3200" dirty="0">
                <a:solidFill>
                  <a:srgbClr val="00B0F0"/>
                </a:solidFill>
                <a:effectLst/>
              </a:rPr>
              <a:t>abstract</a:t>
            </a:r>
            <a:r>
              <a:rPr lang="en-US" sz="3200" dirty="0">
                <a:solidFill>
                  <a:schemeClr val="bg1"/>
                </a:solidFill>
                <a:effectLst/>
              </a:rPr>
              <a:t> double CalculateArea();</a:t>
            </a:r>
          </a:p>
          <a:p>
            <a:endParaRPr lang="en-US" sz="3200" dirty="0">
              <a:solidFill>
                <a:schemeClr val="bg1"/>
              </a:solidFill>
              <a:effectLst/>
            </a:endParaRPr>
          </a:p>
          <a:p>
            <a:r>
              <a:rPr lang="en-US" sz="3200" dirty="0">
                <a:solidFill>
                  <a:schemeClr val="bg1"/>
                </a:solidFill>
                <a:effectLst/>
              </a:rPr>
              <a:t>    public </a:t>
            </a:r>
            <a:r>
              <a:rPr lang="en-US" sz="3200" dirty="0">
                <a:solidFill>
                  <a:srgbClr val="00B0F0"/>
                </a:solidFill>
                <a:effectLst/>
              </a:rPr>
              <a:t>virtual</a:t>
            </a:r>
            <a:r>
              <a:rPr lang="en-US" sz="3200" dirty="0">
                <a:solidFill>
                  <a:schemeClr val="bg1"/>
                </a:solidFill>
                <a:effectLst/>
              </a:rPr>
              <a:t> string Draw()</a:t>
            </a:r>
          </a:p>
          <a:p>
            <a:r>
              <a:rPr lang="en-US" sz="3200" dirty="0">
                <a:solidFill>
                  <a:schemeClr val="bg1"/>
                </a:solidFill>
                <a:effectLst/>
              </a:rPr>
              <a:t>    {</a:t>
            </a:r>
          </a:p>
          <a:p>
            <a:r>
              <a:rPr lang="en-US" sz="3200" dirty="0">
                <a:solidFill>
                  <a:schemeClr val="bg1"/>
                </a:solidFill>
                <a:effectLst/>
              </a:rPr>
              <a:t>        return "Drawing ";</a:t>
            </a:r>
          </a:p>
          <a:p>
            <a:r>
              <a:rPr lang="en-US" sz="3200" dirty="0">
                <a:solidFill>
                  <a:schemeClr val="bg1"/>
                </a:solidFill>
                <a:effectLst/>
              </a:rPr>
              <a:t>    }</a:t>
            </a:r>
          </a:p>
          <a:p>
            <a:r>
              <a:rPr lang="en-US" sz="3200" dirty="0">
                <a:solidFill>
                  <a:schemeClr val="bg1"/>
                </a:solidFill>
                <a:effectLst/>
              </a:rPr>
              <a:t>}</a:t>
            </a:r>
          </a:p>
        </p:txBody>
      </p:sp>
      <p:sp>
        <p:nvSpPr>
          <p:cNvPr id="5" name="Title 1">
            <a:extLst>
              <a:ext uri="{FF2B5EF4-FFF2-40B4-BE49-F238E27FC236}">
                <a16:creationId xmlns:a16="http://schemas.microsoft.com/office/drawing/2014/main" id="{139A1943-940C-DE0E-692C-DB7B9B3216EF}"/>
              </a:ext>
            </a:extLst>
          </p:cNvPr>
          <p:cNvSpPr>
            <a:spLocks noGrp="1"/>
          </p:cNvSpPr>
          <p:nvPr>
            <p:ph type="title"/>
          </p:nvPr>
        </p:nvSpPr>
        <p:spPr>
          <a:xfrm>
            <a:off x="599703" y="175649"/>
            <a:ext cx="11162805" cy="976787"/>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Фигури</a:t>
            </a:r>
            <a:r>
              <a:rPr lang="en-US" sz="4000" dirty="0">
                <a:latin typeface="Comfortaa" pitchFamily="2" charset="0"/>
              </a:rPr>
              <a:t> [2/4]</a:t>
            </a:r>
            <a:endParaRPr lang="bg-BG" sz="4000" dirty="0">
              <a:latin typeface="Comfortaa" pitchFamily="2" charset="0"/>
            </a:endParaRPr>
          </a:p>
        </p:txBody>
      </p:sp>
    </p:spTree>
    <p:extLst>
      <p:ext uri="{BB962C8B-B14F-4D97-AF65-F5344CB8AC3E}">
        <p14:creationId xmlns:p14="http://schemas.microsoft.com/office/powerpoint/2010/main" val="10216987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5"/>
          <p:cNvSpPr txBox="1">
            <a:spLocks/>
          </p:cNvSpPr>
          <p:nvPr/>
        </p:nvSpPr>
        <p:spPr>
          <a:xfrm>
            <a:off x="381000" y="1177080"/>
            <a:ext cx="11430000" cy="5223720"/>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class Rectangle : Shape</a:t>
            </a:r>
          </a:p>
          <a:p>
            <a:r>
              <a:rPr lang="en-US" sz="2800" dirty="0">
                <a:solidFill>
                  <a:schemeClr val="bg1"/>
                </a:solidFill>
                <a:effectLst/>
              </a:rPr>
              <a:t>{</a:t>
            </a:r>
          </a:p>
          <a:p>
            <a:r>
              <a:rPr lang="en-US" sz="2800" dirty="0">
                <a:solidFill>
                  <a:schemeClr val="bg1"/>
                </a:solidFill>
                <a:effectLst/>
              </a:rPr>
              <a:t>  </a:t>
            </a:r>
            <a:r>
              <a:rPr lang="en-US" sz="2800" dirty="0">
                <a:solidFill>
                  <a:srgbClr val="00B0F0"/>
                </a:solidFill>
                <a:effectLst/>
              </a:rPr>
              <a:t>// TODO: </a:t>
            </a:r>
            <a:r>
              <a:rPr lang="bg-BG" sz="2800" dirty="0">
                <a:solidFill>
                  <a:srgbClr val="00B0F0"/>
                </a:solidFill>
                <a:effectLst/>
              </a:rPr>
              <a:t>Добавете полета и конструктор</a:t>
            </a:r>
            <a:endParaRPr lang="en-US" sz="2800" dirty="0">
              <a:solidFill>
                <a:srgbClr val="00B0F0"/>
              </a:solidFill>
              <a:effectLst/>
            </a:endParaRPr>
          </a:p>
          <a:p>
            <a:r>
              <a:rPr lang="en-US" sz="2800" dirty="0">
                <a:solidFill>
                  <a:schemeClr val="bg1"/>
                </a:solidFill>
                <a:effectLst/>
              </a:rPr>
              <a:t>  public override double CalculatePerimeter()</a:t>
            </a:r>
          </a:p>
          <a:p>
            <a:pPr>
              <a:spcAft>
                <a:spcPts val="1200"/>
              </a:spcAft>
            </a:pPr>
            <a:r>
              <a:rPr lang="bg-BG" sz="2800" dirty="0">
                <a:solidFill>
                  <a:schemeClr val="bg1"/>
                </a:solidFill>
                <a:effectLst/>
              </a:rPr>
              <a:t>  </a:t>
            </a:r>
            <a:r>
              <a:rPr lang="en-US" sz="2800" dirty="0">
                <a:solidFill>
                  <a:schemeClr val="bg1"/>
                </a:solidFill>
                <a:effectLst/>
              </a:rPr>
              <a:t>{</a:t>
            </a:r>
            <a:r>
              <a:rPr lang="bg-BG" sz="2800" dirty="0">
                <a:solidFill>
                  <a:schemeClr val="bg1"/>
                </a:solidFill>
                <a:effectLst/>
              </a:rPr>
              <a:t> </a:t>
            </a:r>
            <a:r>
              <a:rPr lang="en-US" sz="2800" dirty="0">
                <a:solidFill>
                  <a:srgbClr val="00B0F0"/>
                </a:solidFill>
                <a:effectLst/>
              </a:rPr>
              <a:t>return this.sideA * 2 + this.sideB * 2;</a:t>
            </a:r>
            <a:r>
              <a:rPr lang="bg-BG" sz="2800" dirty="0">
                <a:solidFill>
                  <a:srgbClr val="00B0F0"/>
                </a:solidFill>
                <a:effectLst/>
              </a:rPr>
              <a:t> </a:t>
            </a:r>
            <a:r>
              <a:rPr lang="en-US" sz="2800" dirty="0">
                <a:solidFill>
                  <a:schemeClr val="bg1"/>
                </a:solidFill>
                <a:effectLst/>
              </a:rPr>
              <a:t>}</a:t>
            </a:r>
          </a:p>
          <a:p>
            <a:pPr>
              <a:spcAft>
                <a:spcPts val="1200"/>
              </a:spcAft>
            </a:pPr>
            <a:r>
              <a:rPr lang="bg-BG" sz="2800" dirty="0">
                <a:solidFill>
                  <a:schemeClr val="bg1"/>
                </a:solidFill>
                <a:effectLst/>
              </a:rPr>
              <a:t>  </a:t>
            </a:r>
            <a:r>
              <a:rPr lang="en-US" sz="2800" dirty="0">
                <a:solidFill>
                  <a:schemeClr val="bg1"/>
                </a:solidFill>
                <a:effectLst/>
              </a:rPr>
              <a:t>public override double </a:t>
            </a:r>
            <a:r>
              <a:rPr lang="en-US" sz="2800" dirty="0" err="1">
                <a:solidFill>
                  <a:schemeClr val="bg1"/>
                </a:solidFill>
                <a:effectLst/>
              </a:rPr>
              <a:t>CalculateArea</a:t>
            </a:r>
            <a:r>
              <a:rPr lang="en-US" sz="2800" dirty="0">
                <a:solidFill>
                  <a:schemeClr val="bg1"/>
                </a:solidFill>
                <a:effectLst/>
              </a:rPr>
              <a:t>()</a:t>
            </a:r>
          </a:p>
          <a:p>
            <a:pPr>
              <a:spcAft>
                <a:spcPts val="1200"/>
              </a:spcAft>
            </a:pPr>
            <a:r>
              <a:rPr lang="bg-BG" sz="2800" dirty="0">
                <a:solidFill>
                  <a:schemeClr val="bg1"/>
                </a:solidFill>
                <a:effectLst/>
              </a:rPr>
              <a:t>  </a:t>
            </a:r>
            <a:r>
              <a:rPr lang="en-US" sz="2800" dirty="0">
                <a:solidFill>
                  <a:schemeClr val="bg1"/>
                </a:solidFill>
                <a:effectLst/>
              </a:rPr>
              <a:t>{</a:t>
            </a:r>
            <a:r>
              <a:rPr lang="bg-BG" sz="2800" dirty="0">
                <a:solidFill>
                  <a:schemeClr val="bg1"/>
                </a:solidFill>
                <a:effectLst/>
              </a:rPr>
              <a:t> </a:t>
            </a:r>
            <a:r>
              <a:rPr lang="en-US" sz="2800" dirty="0">
                <a:solidFill>
                  <a:srgbClr val="00B0F0"/>
                </a:solidFill>
                <a:effectLst/>
              </a:rPr>
              <a:t>return this.sideA * </a:t>
            </a:r>
            <a:r>
              <a:rPr lang="en-US" sz="2800" dirty="0" err="1">
                <a:solidFill>
                  <a:srgbClr val="00B0F0"/>
                </a:solidFill>
                <a:effectLst/>
              </a:rPr>
              <a:t>this.sideB</a:t>
            </a:r>
            <a:r>
              <a:rPr lang="en-US" sz="2800" dirty="0">
                <a:solidFill>
                  <a:srgbClr val="00B0F0"/>
                </a:solidFill>
                <a:effectLst/>
              </a:rPr>
              <a:t>;</a:t>
            </a:r>
            <a:r>
              <a:rPr lang="bg-BG" sz="2800" dirty="0">
                <a:solidFill>
                  <a:srgbClr val="00B0F0"/>
                </a:solidFill>
                <a:effectLst/>
              </a:rPr>
              <a:t> </a:t>
            </a:r>
            <a:r>
              <a:rPr lang="en-US" sz="2800" dirty="0">
                <a:solidFill>
                  <a:schemeClr val="bg1"/>
                </a:solidFill>
                <a:effectLst/>
              </a:rPr>
              <a:t>}</a:t>
            </a:r>
          </a:p>
          <a:p>
            <a:pPr>
              <a:spcAft>
                <a:spcPts val="1200"/>
              </a:spcAft>
            </a:pPr>
            <a:r>
              <a:rPr lang="bg-BG" sz="2800" dirty="0">
                <a:solidFill>
                  <a:schemeClr val="bg1"/>
                </a:solidFill>
                <a:effectLst/>
              </a:rPr>
              <a:t>  </a:t>
            </a:r>
            <a:r>
              <a:rPr lang="en-US" sz="2800" dirty="0">
                <a:solidFill>
                  <a:schemeClr val="bg1"/>
                </a:solidFill>
                <a:effectLst/>
              </a:rPr>
              <a:t>public sealed override string Draw()</a:t>
            </a:r>
          </a:p>
          <a:p>
            <a:pPr>
              <a:spcAft>
                <a:spcPts val="1200"/>
              </a:spcAft>
            </a:pPr>
            <a:r>
              <a:rPr lang="bg-BG" sz="2800" dirty="0">
                <a:solidFill>
                  <a:schemeClr val="bg1"/>
                </a:solidFill>
                <a:effectLst/>
              </a:rPr>
              <a:t>  </a:t>
            </a:r>
            <a:r>
              <a:rPr lang="en-US" sz="2800" dirty="0">
                <a:solidFill>
                  <a:schemeClr val="bg1"/>
                </a:solidFill>
                <a:effectLst/>
              </a:rPr>
              <a:t>{</a:t>
            </a:r>
            <a:r>
              <a:rPr lang="bg-BG" sz="2800" dirty="0">
                <a:solidFill>
                  <a:schemeClr val="bg1"/>
                </a:solidFill>
                <a:effectLst/>
              </a:rPr>
              <a:t> </a:t>
            </a:r>
            <a:r>
              <a:rPr lang="en-US" sz="2800" dirty="0">
                <a:solidFill>
                  <a:srgbClr val="00B0F0"/>
                </a:solidFill>
                <a:effectLst/>
              </a:rPr>
              <a:t>return </a:t>
            </a:r>
            <a:r>
              <a:rPr lang="en-US" sz="2800" dirty="0" err="1">
                <a:solidFill>
                  <a:srgbClr val="00B0F0"/>
                </a:solidFill>
                <a:effectLst/>
              </a:rPr>
              <a:t>base.Draw</a:t>
            </a:r>
            <a:r>
              <a:rPr lang="en-US" sz="2800" dirty="0">
                <a:solidFill>
                  <a:srgbClr val="00B0F0"/>
                </a:solidFill>
                <a:effectLst/>
              </a:rPr>
              <a:t>() + "Rectangle";</a:t>
            </a:r>
            <a:r>
              <a:rPr lang="bg-BG" sz="2800" dirty="0">
                <a:solidFill>
                  <a:srgbClr val="00B0F0"/>
                </a:solidFill>
                <a:effectLst/>
              </a:rPr>
              <a:t> </a:t>
            </a:r>
            <a:r>
              <a:rPr lang="en-US" sz="2800" dirty="0">
                <a:solidFill>
                  <a:schemeClr val="bg1"/>
                </a:solidFill>
                <a:effectLst/>
              </a:rPr>
              <a:t>}</a:t>
            </a:r>
          </a:p>
          <a:p>
            <a:pPr>
              <a:spcAft>
                <a:spcPts val="1200"/>
              </a:spcAft>
            </a:pPr>
            <a:r>
              <a:rPr lang="en-US" sz="2800" dirty="0">
                <a:solidFill>
                  <a:schemeClr val="bg1"/>
                </a:solidFill>
                <a:effectLst/>
              </a:rPr>
              <a:t>}</a:t>
            </a:r>
          </a:p>
        </p:txBody>
      </p:sp>
      <p:sp>
        <p:nvSpPr>
          <p:cNvPr id="5" name="Title 1">
            <a:extLst>
              <a:ext uri="{FF2B5EF4-FFF2-40B4-BE49-F238E27FC236}">
                <a16:creationId xmlns:a16="http://schemas.microsoft.com/office/drawing/2014/main" id="{3E49F2FB-527A-AEE8-367C-C3302CC5D7A2}"/>
              </a:ext>
            </a:extLst>
          </p:cNvPr>
          <p:cNvSpPr>
            <a:spLocks noGrp="1"/>
          </p:cNvSpPr>
          <p:nvPr>
            <p:ph type="title"/>
          </p:nvPr>
        </p:nvSpPr>
        <p:spPr>
          <a:xfrm>
            <a:off x="599703" y="175649"/>
            <a:ext cx="11162805" cy="976787"/>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Фигури</a:t>
            </a:r>
            <a:r>
              <a:rPr lang="en-US" sz="4000" dirty="0">
                <a:latin typeface="Comfortaa" pitchFamily="2" charset="0"/>
              </a:rPr>
              <a:t> [3/4]</a:t>
            </a:r>
            <a:endParaRPr lang="bg-BG" sz="4000" dirty="0">
              <a:latin typeface="Comfortaa" pitchFamily="2" charset="0"/>
            </a:endParaRPr>
          </a:p>
        </p:txBody>
      </p:sp>
    </p:spTree>
    <p:extLst>
      <p:ext uri="{BB962C8B-B14F-4D97-AF65-F5344CB8AC3E}">
        <p14:creationId xmlns:p14="http://schemas.microsoft.com/office/powerpoint/2010/main" val="374490833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5"/>
          <p:cNvSpPr txBox="1">
            <a:spLocks/>
          </p:cNvSpPr>
          <p:nvPr/>
        </p:nvSpPr>
        <p:spPr>
          <a:xfrm>
            <a:off x="381000" y="1177080"/>
            <a:ext cx="11430000" cy="5223720"/>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class Circle : Shape</a:t>
            </a:r>
          </a:p>
          <a:p>
            <a:r>
              <a:rPr lang="en-US" sz="2800" dirty="0">
                <a:solidFill>
                  <a:schemeClr val="bg1"/>
                </a:solidFill>
                <a:effectLst/>
              </a:rPr>
              <a:t>{</a:t>
            </a:r>
          </a:p>
          <a:p>
            <a:r>
              <a:rPr lang="en-US" sz="2800" dirty="0">
                <a:solidFill>
                  <a:schemeClr val="bg1"/>
                </a:solidFill>
                <a:effectLst/>
              </a:rPr>
              <a:t>  </a:t>
            </a:r>
            <a:r>
              <a:rPr lang="en-US" sz="2800" dirty="0">
                <a:solidFill>
                  <a:srgbClr val="00B0F0"/>
                </a:solidFill>
                <a:effectLst/>
              </a:rPr>
              <a:t>// TODO: </a:t>
            </a:r>
            <a:r>
              <a:rPr lang="bg-BG" sz="2800" dirty="0">
                <a:solidFill>
                  <a:srgbClr val="00B0F0"/>
                </a:solidFill>
                <a:effectLst/>
              </a:rPr>
              <a:t>Добавете полета и конструктор</a:t>
            </a:r>
            <a:endParaRPr lang="en-US" sz="2800" dirty="0">
              <a:solidFill>
                <a:srgbClr val="00B0F0"/>
              </a:solidFill>
              <a:effectLst/>
            </a:endParaRPr>
          </a:p>
          <a:p>
            <a:r>
              <a:rPr lang="en-US" sz="2800" dirty="0">
                <a:solidFill>
                  <a:schemeClr val="bg1"/>
                </a:solidFill>
                <a:effectLst/>
              </a:rPr>
              <a:t>  public override double CalculatePerimeter()</a:t>
            </a:r>
          </a:p>
          <a:p>
            <a:pPr>
              <a:spcAft>
                <a:spcPts val="1200"/>
              </a:spcAft>
            </a:pPr>
            <a:r>
              <a:rPr lang="bg-BG" sz="2800" dirty="0">
                <a:solidFill>
                  <a:schemeClr val="bg1"/>
                </a:solidFill>
                <a:effectLst/>
              </a:rPr>
              <a:t>  </a:t>
            </a:r>
            <a:r>
              <a:rPr lang="en-US" sz="2800" dirty="0">
                <a:solidFill>
                  <a:schemeClr val="bg1"/>
                </a:solidFill>
                <a:effectLst/>
              </a:rPr>
              <a:t>{</a:t>
            </a:r>
            <a:r>
              <a:rPr lang="bg-BG" sz="2800" dirty="0">
                <a:solidFill>
                  <a:schemeClr val="bg1"/>
                </a:solidFill>
                <a:effectLst/>
              </a:rPr>
              <a:t> </a:t>
            </a:r>
            <a:r>
              <a:rPr lang="en-US" sz="2800" dirty="0">
                <a:solidFill>
                  <a:srgbClr val="00B0F0"/>
                </a:solidFill>
                <a:effectLst/>
              </a:rPr>
              <a:t>return 2 * Math.PI * this.radius; </a:t>
            </a:r>
            <a:r>
              <a:rPr lang="en-US" sz="2800" dirty="0">
                <a:solidFill>
                  <a:schemeClr val="bg1"/>
                </a:solidFill>
                <a:effectLst/>
              </a:rPr>
              <a:t>}</a:t>
            </a:r>
          </a:p>
          <a:p>
            <a:pPr>
              <a:spcAft>
                <a:spcPts val="1200"/>
              </a:spcAft>
            </a:pPr>
            <a:r>
              <a:rPr lang="bg-BG" sz="2800" dirty="0">
                <a:solidFill>
                  <a:schemeClr val="bg1"/>
                </a:solidFill>
                <a:effectLst/>
              </a:rPr>
              <a:t>  </a:t>
            </a:r>
            <a:r>
              <a:rPr lang="en-US" sz="2800" dirty="0">
                <a:solidFill>
                  <a:schemeClr val="bg1"/>
                </a:solidFill>
                <a:effectLst/>
              </a:rPr>
              <a:t>public override double CalculateArea()</a:t>
            </a:r>
          </a:p>
          <a:p>
            <a:pPr>
              <a:spcAft>
                <a:spcPts val="1200"/>
              </a:spcAft>
            </a:pPr>
            <a:r>
              <a:rPr lang="bg-BG" sz="2800" dirty="0">
                <a:solidFill>
                  <a:schemeClr val="bg1"/>
                </a:solidFill>
                <a:effectLst/>
              </a:rPr>
              <a:t>  </a:t>
            </a:r>
            <a:r>
              <a:rPr lang="en-US" sz="2800" dirty="0">
                <a:solidFill>
                  <a:schemeClr val="bg1"/>
                </a:solidFill>
                <a:effectLst/>
              </a:rPr>
              <a:t>{</a:t>
            </a:r>
            <a:r>
              <a:rPr lang="bg-BG" sz="2800" dirty="0">
                <a:solidFill>
                  <a:schemeClr val="bg1"/>
                </a:solidFill>
                <a:effectLst/>
              </a:rPr>
              <a:t> </a:t>
            </a:r>
            <a:r>
              <a:rPr lang="en-US" sz="2800" dirty="0">
                <a:solidFill>
                  <a:srgbClr val="00B0F0"/>
                </a:solidFill>
                <a:effectLst/>
              </a:rPr>
              <a:t>return Math.PI * this.radius * this.radius;</a:t>
            </a:r>
            <a:r>
              <a:rPr lang="bg-BG" sz="2800" dirty="0">
                <a:solidFill>
                  <a:srgbClr val="00B0F0"/>
                </a:solidFill>
                <a:effectLst/>
              </a:rPr>
              <a:t> </a:t>
            </a:r>
            <a:r>
              <a:rPr lang="en-US" sz="2800" dirty="0">
                <a:solidFill>
                  <a:schemeClr val="bg1"/>
                </a:solidFill>
                <a:effectLst/>
              </a:rPr>
              <a:t>}</a:t>
            </a:r>
          </a:p>
          <a:p>
            <a:pPr>
              <a:spcAft>
                <a:spcPts val="1200"/>
              </a:spcAft>
            </a:pPr>
            <a:r>
              <a:rPr lang="bg-BG" sz="2800" dirty="0">
                <a:solidFill>
                  <a:schemeClr val="bg1"/>
                </a:solidFill>
                <a:effectLst/>
              </a:rPr>
              <a:t>  </a:t>
            </a:r>
            <a:r>
              <a:rPr lang="en-US" sz="2800" dirty="0">
                <a:solidFill>
                  <a:schemeClr val="bg1"/>
                </a:solidFill>
                <a:effectLst/>
              </a:rPr>
              <a:t>public sealed override string Draw()</a:t>
            </a:r>
          </a:p>
          <a:p>
            <a:pPr>
              <a:spcAft>
                <a:spcPts val="1200"/>
              </a:spcAft>
            </a:pPr>
            <a:r>
              <a:rPr lang="bg-BG" sz="2800" dirty="0">
                <a:solidFill>
                  <a:schemeClr val="bg1"/>
                </a:solidFill>
                <a:effectLst/>
              </a:rPr>
              <a:t>  </a:t>
            </a:r>
            <a:r>
              <a:rPr lang="en-US" sz="2800" dirty="0">
                <a:solidFill>
                  <a:schemeClr val="bg1"/>
                </a:solidFill>
                <a:effectLst/>
              </a:rPr>
              <a:t>{</a:t>
            </a:r>
            <a:r>
              <a:rPr lang="bg-BG" sz="2800" dirty="0">
                <a:solidFill>
                  <a:schemeClr val="bg1"/>
                </a:solidFill>
                <a:effectLst/>
              </a:rPr>
              <a:t> </a:t>
            </a:r>
            <a:r>
              <a:rPr lang="en-US" sz="2800" dirty="0">
                <a:solidFill>
                  <a:srgbClr val="00B0F0"/>
                </a:solidFill>
                <a:effectLst/>
              </a:rPr>
              <a:t>return base.Draw() + "Circle";</a:t>
            </a:r>
            <a:r>
              <a:rPr lang="bg-BG" sz="2800" dirty="0">
                <a:solidFill>
                  <a:srgbClr val="00B0F0"/>
                </a:solidFill>
                <a:effectLst/>
              </a:rPr>
              <a:t> </a:t>
            </a:r>
            <a:r>
              <a:rPr lang="en-US" sz="2800" dirty="0">
                <a:solidFill>
                  <a:schemeClr val="bg1"/>
                </a:solidFill>
                <a:effectLst/>
              </a:rPr>
              <a:t>}</a:t>
            </a:r>
          </a:p>
          <a:p>
            <a:pPr>
              <a:spcAft>
                <a:spcPts val="1200"/>
              </a:spcAft>
            </a:pPr>
            <a:r>
              <a:rPr lang="en-US" sz="2800" dirty="0">
                <a:solidFill>
                  <a:schemeClr val="bg1"/>
                </a:solidFill>
                <a:effectLst/>
              </a:rPr>
              <a:t>}</a:t>
            </a:r>
          </a:p>
        </p:txBody>
      </p:sp>
      <p:sp>
        <p:nvSpPr>
          <p:cNvPr id="6" name="Slide Number Placeholder">
            <a:extLst>
              <a:ext uri="{FF2B5EF4-FFF2-40B4-BE49-F238E27FC236}">
                <a16:creationId xmlns:a16="http://schemas.microsoft.com/office/drawing/2014/main" id="{07A0C0FD-1BA1-4D54-8039-86C4A2851C5A}"/>
              </a:ext>
            </a:extLst>
          </p:cNvPr>
          <p:cNvSpPr>
            <a:spLocks noGrp="1"/>
          </p:cNvSpPr>
          <p:nvPr>
            <p:ph type="sldNum" sz="quarter" idx="4"/>
          </p:nvPr>
        </p:nvSpPr>
        <p:spPr>
          <a:xfrm>
            <a:off x="11566412" y="6525002"/>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smtClean="0">
                <a:solidFill>
                  <a:prstClr val="white">
                    <a:tint val="75000"/>
                  </a:prstClr>
                </a:solidFill>
              </a:rPr>
              <a:pPr/>
              <a:t>7</a:t>
            </a:fld>
            <a:endParaRPr lang="en-US" dirty="0">
              <a:solidFill>
                <a:prstClr val="white">
                  <a:tint val="75000"/>
                </a:prstClr>
              </a:solidFill>
            </a:endParaRPr>
          </a:p>
        </p:txBody>
      </p:sp>
      <p:sp>
        <p:nvSpPr>
          <p:cNvPr id="5" name="Title 1">
            <a:extLst>
              <a:ext uri="{FF2B5EF4-FFF2-40B4-BE49-F238E27FC236}">
                <a16:creationId xmlns:a16="http://schemas.microsoft.com/office/drawing/2014/main" id="{C535FDAE-18A5-030A-3751-A30509A924E5}"/>
              </a:ext>
            </a:extLst>
          </p:cNvPr>
          <p:cNvSpPr>
            <a:spLocks noGrp="1"/>
          </p:cNvSpPr>
          <p:nvPr>
            <p:ph type="title"/>
          </p:nvPr>
        </p:nvSpPr>
        <p:spPr>
          <a:xfrm>
            <a:off x="599703" y="175649"/>
            <a:ext cx="11162805" cy="976787"/>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Фигури</a:t>
            </a:r>
            <a:r>
              <a:rPr lang="en-US" sz="4000" dirty="0">
                <a:latin typeface="Comfortaa" pitchFamily="2" charset="0"/>
              </a:rPr>
              <a:t> [4/4]</a:t>
            </a:r>
            <a:endParaRPr lang="bg-BG" sz="4000" dirty="0">
              <a:latin typeface="Comfortaa" pitchFamily="2" charset="0"/>
            </a:endParaRPr>
          </a:p>
        </p:txBody>
      </p:sp>
    </p:spTree>
    <p:extLst>
      <p:ext uri="{BB962C8B-B14F-4D97-AF65-F5344CB8AC3E}">
        <p14:creationId xmlns:p14="http://schemas.microsoft.com/office/powerpoint/2010/main" val="35024088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1283094" y="2314700"/>
            <a:ext cx="9321571" cy="961902"/>
          </a:xfrm>
        </p:spPr>
        <p:txBody>
          <a:bodyPr/>
          <a:lstStyle/>
          <a:p>
            <a:pPr marL="0" indent="0">
              <a:buNone/>
            </a:pPr>
            <a:r>
              <a:rPr lang="bg-BG" dirty="0">
                <a:latin typeface="Comfortaa" pitchFamily="2" charset="0"/>
              </a:rPr>
              <a:t>Модификатора </a:t>
            </a:r>
            <a:r>
              <a:rPr lang="bg-BG" b="1" dirty="0">
                <a:solidFill>
                  <a:srgbClr val="00B0F0"/>
                </a:solidFill>
                <a:latin typeface="Comfortaa" pitchFamily="2" charset="0"/>
              </a:rPr>
              <a:t>предотвратява</a:t>
            </a:r>
            <a:r>
              <a:rPr lang="bg-BG" dirty="0">
                <a:solidFill>
                  <a:schemeClr val="tx2">
                    <a:lumMod val="75000"/>
                  </a:schemeClr>
                </a:solidFill>
                <a:latin typeface="Comfortaa" pitchFamily="2" charset="0"/>
              </a:rPr>
              <a:t> </a:t>
            </a:r>
            <a:r>
              <a:rPr lang="bg-BG" dirty="0">
                <a:latin typeface="Comfortaa" pitchFamily="2" charset="0"/>
              </a:rPr>
              <a:t>други класове</a:t>
            </a:r>
            <a:r>
              <a:rPr lang="en-US" dirty="0">
                <a:latin typeface="Comfortaa" pitchFamily="2" charset="0"/>
              </a:rPr>
              <a:t> </a:t>
            </a:r>
            <a:r>
              <a:rPr lang="bg-BG" b="1" dirty="0">
                <a:solidFill>
                  <a:srgbClr val="00B0F0"/>
                </a:solidFill>
                <a:latin typeface="Comfortaa" pitchFamily="2" charset="0"/>
              </a:rPr>
              <a:t>да наследяват</a:t>
            </a:r>
            <a:r>
              <a:rPr lang="en-US" b="1" dirty="0">
                <a:solidFill>
                  <a:srgbClr val="00B0F0"/>
                </a:solidFill>
                <a:latin typeface="Comfortaa" pitchFamily="2" charset="0"/>
              </a:rPr>
              <a:t> </a:t>
            </a:r>
            <a:r>
              <a:rPr lang="bg-BG" dirty="0">
                <a:latin typeface="Comfortaa" pitchFamily="2" charset="0"/>
              </a:rPr>
              <a:t>съответния клас</a:t>
            </a:r>
            <a:endParaRPr lang="en-US" dirty="0">
              <a:solidFill>
                <a:schemeClr val="tx2">
                  <a:lumMod val="75000"/>
                </a:schemeClr>
              </a:solidFill>
              <a:latin typeface="Comfortaa" pitchFamily="2" charset="0"/>
            </a:endParaRPr>
          </a:p>
          <a:p>
            <a:endParaRPr lang="en-US" dirty="0">
              <a:solidFill>
                <a:schemeClr val="tx2">
                  <a:lumMod val="75000"/>
                </a:schemeClr>
              </a:solidFill>
              <a:latin typeface="Comfortaa" pitchFamily="2" charset="0"/>
            </a:endParaRPr>
          </a:p>
          <a:p>
            <a:endParaRPr lang="bg-BG" dirty="0">
              <a:solidFill>
                <a:schemeClr val="tx2">
                  <a:lumMod val="75000"/>
                </a:schemeClr>
              </a:solidFill>
              <a:latin typeface="Comfortaa" pitchFamily="2" charset="0"/>
            </a:endParaRPr>
          </a:p>
        </p:txBody>
      </p:sp>
      <p:sp>
        <p:nvSpPr>
          <p:cNvPr id="4" name="Title 3"/>
          <p:cNvSpPr>
            <a:spLocks noGrp="1"/>
          </p:cNvSpPr>
          <p:nvPr>
            <p:ph type="title"/>
          </p:nvPr>
        </p:nvSpPr>
        <p:spPr>
          <a:xfrm>
            <a:off x="1283094" y="912938"/>
            <a:ext cx="9321571" cy="1325563"/>
          </a:xfrm>
        </p:spPr>
        <p:txBody>
          <a:bodyPr/>
          <a:lstStyle/>
          <a:p>
            <a:r>
              <a:rPr lang="bg-BG" dirty="0">
                <a:latin typeface="Comfortaa" pitchFamily="2" charset="0"/>
              </a:rPr>
              <a:t>Ключова дума – </a:t>
            </a:r>
            <a:r>
              <a:rPr lang="en-US" dirty="0">
                <a:latin typeface="Comfortaa" pitchFamily="2" charset="0"/>
              </a:rPr>
              <a:t>Sealed</a:t>
            </a:r>
          </a:p>
        </p:txBody>
      </p:sp>
      <p:sp>
        <p:nvSpPr>
          <p:cNvPr id="7" name="Rectangle 6"/>
          <p:cNvSpPr>
            <a:spLocks noChangeArrowheads="1"/>
          </p:cNvSpPr>
          <p:nvPr/>
        </p:nvSpPr>
        <p:spPr bwMode="auto">
          <a:xfrm>
            <a:off x="1283094" y="3429000"/>
            <a:ext cx="9321571" cy="2062103"/>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fontAlgn="base"/>
            <a:r>
              <a:rPr lang="en-US" sz="3200" b="1" noProof="1">
                <a:solidFill>
                  <a:schemeClr val="bg1"/>
                </a:solidFill>
                <a:latin typeface="Consolas" pitchFamily="49" charset="0"/>
                <a:cs typeface="Consolas" pitchFamily="49" charset="0"/>
              </a:rPr>
              <a:t>public abstract class Shape {}</a:t>
            </a:r>
          </a:p>
          <a:p>
            <a:pPr fontAlgn="base"/>
            <a:r>
              <a:rPr lang="en-US" sz="3200" b="1" noProof="1">
                <a:solidFill>
                  <a:schemeClr val="bg1"/>
                </a:solidFill>
                <a:latin typeface="Consolas" pitchFamily="49" charset="0"/>
                <a:cs typeface="Consolas" pitchFamily="49" charset="0"/>
              </a:rPr>
              <a:t>public </a:t>
            </a:r>
            <a:r>
              <a:rPr lang="en-US" sz="3200" b="1" noProof="1">
                <a:solidFill>
                  <a:srgbClr val="00B0F0"/>
                </a:solidFill>
                <a:latin typeface="Consolas" pitchFamily="49" charset="0"/>
                <a:cs typeface="Consolas" pitchFamily="49" charset="0"/>
              </a:rPr>
              <a:t>sealed</a:t>
            </a:r>
            <a:r>
              <a:rPr lang="en-US" sz="3200" b="1" noProof="1">
                <a:solidFill>
                  <a:schemeClr val="bg1"/>
                </a:solidFill>
                <a:latin typeface="Consolas" pitchFamily="49" charset="0"/>
                <a:cs typeface="Consolas" pitchFamily="49" charset="0"/>
              </a:rPr>
              <a:t> class Rectangle : Shape {}</a:t>
            </a:r>
          </a:p>
          <a:p>
            <a:pPr fontAlgn="base"/>
            <a:r>
              <a:rPr lang="en-US" sz="3200" b="1" noProof="1">
                <a:solidFill>
                  <a:schemeClr val="bg1"/>
                </a:solidFill>
                <a:latin typeface="Consolas" pitchFamily="49" charset="0"/>
                <a:cs typeface="Consolas" pitchFamily="49" charset="0"/>
              </a:rPr>
              <a:t>public class Sqaure : Rectangle {}</a:t>
            </a:r>
          </a:p>
          <a:p>
            <a:pPr fontAlgn="base"/>
            <a:r>
              <a:rPr lang="en-US" sz="3200" b="1" noProof="1">
                <a:solidFill>
                  <a:schemeClr val="bg1"/>
                </a:solidFill>
                <a:latin typeface="Consolas" pitchFamily="49" charset="0"/>
                <a:cs typeface="Consolas" pitchFamily="49" charset="0"/>
              </a:rPr>
              <a:t>// </a:t>
            </a:r>
            <a:r>
              <a:rPr lang="bg-BG" sz="3200" b="1" noProof="1">
                <a:solidFill>
                  <a:schemeClr val="bg1"/>
                </a:solidFill>
                <a:latin typeface="Consolas" pitchFamily="49" charset="0"/>
                <a:cs typeface="Consolas" pitchFamily="49" charset="0"/>
              </a:rPr>
              <a:t>Грешка при компилиране</a:t>
            </a:r>
            <a:endParaRPr lang="en-US" sz="4400" b="1" noProof="1">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239447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7771" y="1240971"/>
            <a:ext cx="10307222" cy="1199408"/>
          </a:xfrm>
        </p:spPr>
        <p:txBody>
          <a:bodyPr>
            <a:normAutofit/>
          </a:bodyPr>
          <a:lstStyle/>
          <a:p>
            <a:pPr marL="0" indent="0">
              <a:buNone/>
            </a:pPr>
            <a:r>
              <a:rPr lang="bg-BG" sz="2400" dirty="0">
                <a:solidFill>
                  <a:srgbClr val="00B0F0"/>
                </a:solidFill>
                <a:latin typeface="Comfortaa" pitchFamily="2" charset="0"/>
              </a:rPr>
              <a:t>Позволява</a:t>
            </a:r>
            <a:r>
              <a:rPr lang="en-US" sz="2400" dirty="0">
                <a:solidFill>
                  <a:srgbClr val="00B0F0"/>
                </a:solidFill>
                <a:latin typeface="Comfortaa" pitchFamily="2" charset="0"/>
              </a:rPr>
              <a:t> </a:t>
            </a:r>
            <a:r>
              <a:rPr lang="bg-BG" sz="2400" dirty="0">
                <a:solidFill>
                  <a:srgbClr val="00B0F0"/>
                </a:solidFill>
                <a:latin typeface="Comfortaa" pitchFamily="2" charset="0"/>
              </a:rPr>
              <a:t>наследяване</a:t>
            </a:r>
            <a:r>
              <a:rPr lang="en-US" sz="2400" dirty="0">
                <a:solidFill>
                  <a:srgbClr val="00B0F0"/>
                </a:solidFill>
                <a:latin typeface="Comfortaa" pitchFamily="2" charset="0"/>
              </a:rPr>
              <a:t> </a:t>
            </a:r>
            <a:r>
              <a:rPr lang="bg-BG" sz="2400" dirty="0">
                <a:latin typeface="Comfortaa" pitchFamily="2" charset="0"/>
              </a:rPr>
              <a:t>от класа и</a:t>
            </a:r>
            <a:r>
              <a:rPr lang="en-US" sz="2400" dirty="0">
                <a:latin typeface="Comfortaa" pitchFamily="2" charset="0"/>
              </a:rPr>
              <a:t> </a:t>
            </a:r>
            <a:r>
              <a:rPr lang="bg-BG" sz="2400" dirty="0">
                <a:solidFill>
                  <a:srgbClr val="00B0F0"/>
                </a:solidFill>
                <a:latin typeface="Comfortaa" pitchFamily="2" charset="0"/>
              </a:rPr>
              <a:t>предотвратява</a:t>
            </a:r>
            <a:r>
              <a:rPr lang="en-US" sz="2400" dirty="0">
                <a:latin typeface="Comfortaa" pitchFamily="2" charset="0"/>
              </a:rPr>
              <a:t> </a:t>
            </a:r>
            <a:r>
              <a:rPr lang="bg-BG" sz="2400" dirty="0">
                <a:solidFill>
                  <a:srgbClr val="00B0F0"/>
                </a:solidFill>
                <a:latin typeface="Comfortaa" pitchFamily="2" charset="0"/>
              </a:rPr>
              <a:t>презаписване</a:t>
            </a:r>
            <a:r>
              <a:rPr lang="en-US" sz="2400" dirty="0">
                <a:latin typeface="Comfortaa" pitchFamily="2" charset="0"/>
              </a:rPr>
              <a:t> </a:t>
            </a:r>
            <a:r>
              <a:rPr lang="bg-BG" sz="2400" dirty="0">
                <a:latin typeface="Comfortaa" pitchFamily="2" charset="0"/>
              </a:rPr>
              <a:t>на конкретен</a:t>
            </a:r>
            <a:r>
              <a:rPr lang="en-US" sz="2400" dirty="0">
                <a:latin typeface="Comfortaa" pitchFamily="2" charset="0"/>
              </a:rPr>
              <a:t> </a:t>
            </a:r>
            <a:r>
              <a:rPr lang="bg-BG" sz="2400" dirty="0">
                <a:solidFill>
                  <a:srgbClr val="00B0F0"/>
                </a:solidFill>
                <a:latin typeface="Comfortaa" pitchFamily="2" charset="0"/>
              </a:rPr>
              <a:t>виртуален метод</a:t>
            </a:r>
            <a:r>
              <a:rPr lang="en-US" sz="2400" dirty="0">
                <a:solidFill>
                  <a:schemeClr val="tx2">
                    <a:lumMod val="75000"/>
                  </a:schemeClr>
                </a:solidFill>
                <a:latin typeface="Comfortaa" pitchFamily="2" charset="0"/>
              </a:rPr>
              <a:t> </a:t>
            </a:r>
            <a:r>
              <a:rPr lang="bg-BG" sz="2400" dirty="0">
                <a:latin typeface="Comfortaa" pitchFamily="2" charset="0"/>
              </a:rPr>
              <a:t>или свойства</a:t>
            </a:r>
            <a:r>
              <a:rPr lang="en-US" sz="2400" dirty="0">
                <a:latin typeface="Comfortaa" pitchFamily="2" charset="0"/>
              </a:rPr>
              <a:t>.</a:t>
            </a:r>
            <a:endParaRPr lang="bg-BG" sz="2400" dirty="0">
              <a:solidFill>
                <a:schemeClr val="tx2">
                  <a:lumMod val="75000"/>
                </a:schemeClr>
              </a:solidFill>
              <a:latin typeface="Comfortaa" pitchFamily="2" charset="0"/>
            </a:endParaRPr>
          </a:p>
        </p:txBody>
      </p:sp>
      <p:sp>
        <p:nvSpPr>
          <p:cNvPr id="4" name="Title 3"/>
          <p:cNvSpPr>
            <a:spLocks noGrp="1"/>
          </p:cNvSpPr>
          <p:nvPr>
            <p:ph type="title"/>
          </p:nvPr>
        </p:nvSpPr>
        <p:spPr>
          <a:xfrm>
            <a:off x="837770" y="391058"/>
            <a:ext cx="10515600" cy="905535"/>
          </a:xfrm>
        </p:spPr>
        <p:txBody>
          <a:bodyPr/>
          <a:lstStyle/>
          <a:p>
            <a:r>
              <a:rPr lang="bg-BG" dirty="0">
                <a:latin typeface="Comfortaa" pitchFamily="2" charset="0"/>
              </a:rPr>
              <a:t>Ключова дума – </a:t>
            </a:r>
            <a:r>
              <a:rPr lang="en-US" dirty="0">
                <a:latin typeface="Comfortaa" pitchFamily="2" charset="0"/>
              </a:rPr>
              <a:t>Sealed</a:t>
            </a:r>
          </a:p>
        </p:txBody>
      </p:sp>
      <p:sp>
        <p:nvSpPr>
          <p:cNvPr id="7" name="Rectangle 6"/>
          <p:cNvSpPr>
            <a:spLocks noChangeArrowheads="1"/>
          </p:cNvSpPr>
          <p:nvPr/>
        </p:nvSpPr>
        <p:spPr bwMode="auto">
          <a:xfrm>
            <a:off x="837770" y="2496624"/>
            <a:ext cx="10425976" cy="3970318"/>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fontAlgn="base"/>
            <a:r>
              <a:rPr lang="en-US" sz="2800" b="1" noProof="1">
                <a:solidFill>
                  <a:schemeClr val="bg1"/>
                </a:solidFill>
                <a:latin typeface="Consolas" pitchFamily="49" charset="0"/>
                <a:cs typeface="Consolas" pitchFamily="49" charset="0"/>
              </a:rPr>
              <a:t>public class Rectangle : Shape</a:t>
            </a:r>
          </a:p>
          <a:p>
            <a:pPr fontAlgn="base"/>
            <a:r>
              <a:rPr lang="en-US" sz="2800" b="1" noProof="1">
                <a:solidFill>
                  <a:schemeClr val="bg1"/>
                </a:solidFill>
                <a:latin typeface="Consolas" pitchFamily="49" charset="0"/>
                <a:cs typeface="Consolas" pitchFamily="49" charset="0"/>
              </a:rPr>
              <a:t>{</a:t>
            </a:r>
          </a:p>
          <a:p>
            <a:pPr fontAlgn="base"/>
            <a:r>
              <a:rPr lang="en-US" sz="2800" b="1" noProof="1">
                <a:solidFill>
                  <a:schemeClr val="bg1"/>
                </a:solidFill>
                <a:latin typeface="Consolas" pitchFamily="49" charset="0"/>
                <a:cs typeface="Consolas" pitchFamily="49" charset="0"/>
              </a:rPr>
              <a:t> </a:t>
            </a:r>
            <a:r>
              <a:rPr lang="bg-BG" sz="2800" b="1" noProof="1">
                <a:solidFill>
                  <a:schemeClr val="bg1"/>
                </a:solidFill>
                <a:latin typeface="Consolas" pitchFamily="49" charset="0"/>
                <a:cs typeface="Consolas" pitchFamily="49" charset="0"/>
              </a:rPr>
              <a:t> </a:t>
            </a:r>
            <a:r>
              <a:rPr lang="en-US" sz="2800" b="1" noProof="1">
                <a:solidFill>
                  <a:schemeClr val="bg1"/>
                </a:solidFill>
                <a:latin typeface="Consolas" pitchFamily="49" charset="0"/>
                <a:cs typeface="Consolas" pitchFamily="49" charset="0"/>
              </a:rPr>
              <a:t>public </a:t>
            </a:r>
            <a:r>
              <a:rPr lang="en-US" sz="2800" b="1" noProof="1">
                <a:solidFill>
                  <a:srgbClr val="00B0F0"/>
                </a:solidFill>
                <a:latin typeface="Consolas" pitchFamily="49" charset="0"/>
                <a:cs typeface="Consolas" pitchFamily="49" charset="0"/>
              </a:rPr>
              <a:t>sealed override</a:t>
            </a:r>
            <a:r>
              <a:rPr lang="en-US" sz="2800" b="1" noProof="1">
                <a:solidFill>
                  <a:schemeClr val="bg1"/>
                </a:solidFill>
                <a:latin typeface="Consolas" pitchFamily="49" charset="0"/>
                <a:cs typeface="Consolas" pitchFamily="49" charset="0"/>
              </a:rPr>
              <a:t> double GetArea() {}</a:t>
            </a:r>
          </a:p>
          <a:p>
            <a:pPr fontAlgn="base"/>
            <a:r>
              <a:rPr lang="en-US" sz="2800" b="1" noProof="1">
                <a:solidFill>
                  <a:schemeClr val="bg1"/>
                </a:solidFill>
                <a:latin typeface="Consolas" pitchFamily="49" charset="0"/>
                <a:cs typeface="Consolas" pitchFamily="49" charset="0"/>
              </a:rPr>
              <a:t>}</a:t>
            </a:r>
          </a:p>
          <a:p>
            <a:pPr fontAlgn="base"/>
            <a:r>
              <a:rPr lang="en-US" sz="2800" b="1" noProof="1">
                <a:solidFill>
                  <a:schemeClr val="bg1"/>
                </a:solidFill>
                <a:latin typeface="Consolas" pitchFamily="49" charset="0"/>
                <a:cs typeface="Consolas" pitchFamily="49" charset="0"/>
              </a:rPr>
              <a:t>public class Sqaure : Rectangle </a:t>
            </a:r>
          </a:p>
          <a:p>
            <a:pPr fontAlgn="base"/>
            <a:r>
              <a:rPr lang="en-US" sz="2800" b="1" noProof="1">
                <a:solidFill>
                  <a:schemeClr val="bg1"/>
                </a:solidFill>
                <a:latin typeface="Consolas" pitchFamily="49" charset="0"/>
                <a:cs typeface="Consolas" pitchFamily="49" charset="0"/>
              </a:rPr>
              <a:t>{</a:t>
            </a:r>
          </a:p>
          <a:p>
            <a:pPr fontAlgn="base"/>
            <a:r>
              <a:rPr lang="en-US" sz="2800" b="1" noProof="1">
                <a:solidFill>
                  <a:schemeClr val="bg1"/>
                </a:solidFill>
                <a:latin typeface="Consolas" pitchFamily="49" charset="0"/>
                <a:cs typeface="Consolas" pitchFamily="49" charset="0"/>
              </a:rPr>
              <a:t>  public </a:t>
            </a:r>
            <a:r>
              <a:rPr lang="en-US" sz="2800" b="1" noProof="1">
                <a:solidFill>
                  <a:srgbClr val="00B0F0"/>
                </a:solidFill>
                <a:latin typeface="Consolas" pitchFamily="49" charset="0"/>
                <a:cs typeface="Consolas" pitchFamily="49" charset="0"/>
              </a:rPr>
              <a:t>override</a:t>
            </a:r>
            <a:r>
              <a:rPr lang="en-US" sz="2800" b="1" noProof="1">
                <a:solidFill>
                  <a:schemeClr val="bg1"/>
                </a:solidFill>
                <a:latin typeface="Consolas" pitchFamily="49" charset="0"/>
                <a:cs typeface="Consolas" pitchFamily="49" charset="0"/>
              </a:rPr>
              <a:t> double GetArea() {}</a:t>
            </a:r>
          </a:p>
          <a:p>
            <a:pPr fontAlgn="base"/>
            <a:r>
              <a:rPr lang="en-US" sz="2800" b="1" noProof="1">
                <a:solidFill>
                  <a:schemeClr val="bg1"/>
                </a:solidFill>
                <a:latin typeface="Consolas" pitchFamily="49" charset="0"/>
                <a:cs typeface="Consolas" pitchFamily="49" charset="0"/>
              </a:rPr>
              <a:t>  //</a:t>
            </a:r>
            <a:r>
              <a:rPr lang="bg-BG" sz="2800" b="1" noProof="1">
                <a:solidFill>
                  <a:schemeClr val="bg1"/>
                </a:solidFill>
                <a:latin typeface="Consolas" pitchFamily="49" charset="0"/>
                <a:cs typeface="Consolas" pitchFamily="49" charset="0"/>
              </a:rPr>
              <a:t> </a:t>
            </a:r>
            <a:r>
              <a:rPr lang="en-US" sz="2800" b="1" noProof="1">
                <a:solidFill>
                  <a:schemeClr val="bg1"/>
                </a:solidFill>
                <a:latin typeface="Consolas" pitchFamily="49" charset="0"/>
                <a:cs typeface="Consolas" pitchFamily="49" charset="0"/>
              </a:rPr>
              <a:t>Compile time error</a:t>
            </a:r>
          </a:p>
          <a:p>
            <a:pPr fontAlgn="base"/>
            <a:r>
              <a:rPr lang="en-US" sz="2800" b="1" noProof="1">
                <a:solidFill>
                  <a:schemeClr val="bg1"/>
                </a:solidFill>
                <a:latin typeface="Consolas" pitchFamily="49" charset="0"/>
                <a:cs typeface="Consolas" pitchFamily="49" charset="0"/>
              </a:rPr>
              <a:t>}</a:t>
            </a:r>
          </a:p>
        </p:txBody>
      </p:sp>
    </p:spTree>
    <p:extLst>
      <p:ext uri="{BB962C8B-B14F-4D97-AF65-F5344CB8AC3E}">
        <p14:creationId xmlns:p14="http://schemas.microsoft.com/office/powerpoint/2010/main" val="3949379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a:xfrm>
            <a:off x="1638204" y="870420"/>
            <a:ext cx="8648797" cy="1110780"/>
          </a:xfrm>
        </p:spPr>
        <p:txBody>
          <a:bodyPr/>
          <a:lstStyle/>
          <a:p>
            <a:r>
              <a:rPr lang="bg-BG" b="1" dirty="0">
                <a:latin typeface="Comfortaa" pitchFamily="2" charset="0"/>
              </a:rPr>
              <a:t>Какво научихме днес?</a:t>
            </a:r>
          </a:p>
        </p:txBody>
      </p:sp>
      <p:sp>
        <p:nvSpPr>
          <p:cNvPr id="434179" name="Rectangle 3"/>
          <p:cNvSpPr>
            <a:spLocks noGrp="1" noChangeArrowheads="1"/>
          </p:cNvSpPr>
          <p:nvPr>
            <p:ph idx="1"/>
          </p:nvPr>
        </p:nvSpPr>
        <p:spPr>
          <a:xfrm>
            <a:off x="1676400" y="1981201"/>
            <a:ext cx="8610600" cy="3649479"/>
          </a:xfrm>
        </p:spPr>
        <p:txBody>
          <a:bodyPr>
            <a:normAutofit/>
          </a:bodyPr>
          <a:lstStyle/>
          <a:p>
            <a:pPr marL="354013" indent="-354013">
              <a:lnSpc>
                <a:spcPct val="100000"/>
              </a:lnSpc>
              <a:spcBef>
                <a:spcPts val="0"/>
              </a:spcBef>
            </a:pPr>
            <a:r>
              <a:rPr lang="bg-BG" sz="3600" dirty="0">
                <a:latin typeface="Comfortaa" pitchFamily="2" charset="0"/>
              </a:rPr>
              <a:t>Абстрактни класове</a:t>
            </a:r>
          </a:p>
          <a:p>
            <a:pPr marL="354013" indent="-354013">
              <a:lnSpc>
                <a:spcPct val="100000"/>
              </a:lnSpc>
              <a:spcBef>
                <a:spcPts val="0"/>
              </a:spcBef>
            </a:pPr>
            <a:r>
              <a:rPr lang="bg-BG" sz="3600" dirty="0">
                <a:latin typeface="Comfortaa" pitchFamily="2" charset="0"/>
              </a:rPr>
              <a:t>Абстрактни методи</a:t>
            </a:r>
          </a:p>
          <a:p>
            <a:pPr marL="354013" indent="-354013">
              <a:lnSpc>
                <a:spcPct val="100000"/>
              </a:lnSpc>
              <a:spcBef>
                <a:spcPts val="0"/>
              </a:spcBef>
            </a:pPr>
            <a:r>
              <a:rPr lang="bg-BG" sz="3600" dirty="0">
                <a:latin typeface="Comfortaa" pitchFamily="2" charset="0"/>
              </a:rPr>
              <a:t>Употреба на </a:t>
            </a:r>
            <a:r>
              <a:rPr lang="en-US" sz="3600" dirty="0">
                <a:latin typeface="Comfortaa" pitchFamily="2" charset="0"/>
              </a:rPr>
              <a:t>sealed</a:t>
            </a:r>
            <a:endParaRPr lang="bg-BG" sz="3600" dirty="0">
              <a:latin typeface="Comfortaa" pitchFamily="2" charset="0"/>
            </a:endParaRPr>
          </a:p>
          <a:p>
            <a:pPr>
              <a:lnSpc>
                <a:spcPct val="100000"/>
              </a:lnSpc>
              <a:spcBef>
                <a:spcPts val="0"/>
              </a:spcBef>
            </a:pPr>
            <a:endParaRPr lang="en-US" sz="3600" dirty="0">
              <a:latin typeface="Comfortaa" pitchFamily="2" charset="0"/>
            </a:endParaRPr>
          </a:p>
        </p:txBody>
      </p:sp>
    </p:spTree>
    <p:extLst>
      <p:ext uri="{BB962C8B-B14F-4D97-AF65-F5344CB8AC3E}">
        <p14:creationId xmlns:p14="http://schemas.microsoft.com/office/powerpoint/2010/main" val="679307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pic>
        <p:nvPicPr>
          <p:cNvPr id="2" name="Logo CC-BY-NC-SA">
            <a:hlinkClick r:id="rId5"/>
            <a:extLst>
              <a:ext uri="{FF2B5EF4-FFF2-40B4-BE49-F238E27FC236}">
                <a16:creationId xmlns:a16="http://schemas.microsoft.com/office/drawing/2014/main" id="{39F87C09-7AAD-A59F-33F5-8BECE165CB0C}"/>
              </a:ext>
            </a:extLst>
          </p:cNvPr>
          <p:cNvPicPr>
            <a:picLocks noChangeAspect="1"/>
          </p:cNvPicPr>
          <p:nvPr/>
        </p:nvPicPr>
        <p:blipFill>
          <a:blip r:embed="rId6"/>
          <a:stretch>
            <a:fillRect/>
          </a:stretch>
        </p:blipFill>
        <p:spPr>
          <a:xfrm>
            <a:off x="4087447" y="2650021"/>
            <a:ext cx="4017104" cy="1440815"/>
          </a:xfrm>
          <a:prstGeom prst="rect">
            <a:avLst/>
          </a:prstGeom>
        </p:spPr>
      </p:pic>
      <p:sp>
        <p:nvSpPr>
          <p:cNvPr id="12" name="TextBox 11">
            <a:extLst>
              <a:ext uri="{FF2B5EF4-FFF2-40B4-BE49-F238E27FC236}">
                <a16:creationId xmlns:a16="http://schemas.microsoft.com/office/drawing/2014/main" id="{ADBEA407-2EEF-D82D-ADB6-D20902F79FA2}"/>
              </a:ext>
            </a:extLst>
          </p:cNvPr>
          <p:cNvSpPr txBox="1"/>
          <p:nvPr/>
        </p:nvSpPr>
        <p:spPr>
          <a:xfrm>
            <a:off x="262246" y="5452243"/>
            <a:ext cx="11667507" cy="1200329"/>
          </a:xfrm>
          <a:prstGeom prst="rect">
            <a:avLst/>
          </a:prstGeom>
          <a:noFill/>
        </p:spPr>
        <p:txBody>
          <a:bodyPr wrap="square">
            <a:spAutoFit/>
          </a:bodyPr>
          <a:lstStyle/>
          <a:p>
            <a:pPr algn="ctr"/>
            <a:r>
              <a:rPr lang="bg-BG" sz="1800" dirty="0">
                <a:latin typeface="Comfortaa" pitchFamily="2" charset="0"/>
              </a:rPr>
              <a:t>Документът е разработен за нуждите на Национална програма "Обучение за ИТ умения и кариера" на Министерството на образованието и науката (МОН)</a:t>
            </a:r>
            <a:r>
              <a:rPr lang="en-US" sz="1800" dirty="0">
                <a:latin typeface="Comfortaa" pitchFamily="2" charset="0"/>
              </a:rPr>
              <a:t> </a:t>
            </a:r>
            <a:r>
              <a:rPr lang="bg-BG" sz="1800" dirty="0">
                <a:latin typeface="Comfortaa" pitchFamily="2" charset="0"/>
              </a:rPr>
              <a:t>и се разпространява под свободен лиценз CC-BY-NC-SA (</a:t>
            </a:r>
            <a:r>
              <a:rPr lang="bg-BG" sz="1800" dirty="0" err="1">
                <a:latin typeface="Comfortaa" pitchFamily="2" charset="0"/>
              </a:rPr>
              <a:t>Creative</a:t>
            </a:r>
            <a:r>
              <a:rPr lang="bg-BG" sz="1800" dirty="0">
                <a:latin typeface="Comfortaa" pitchFamily="2" charset="0"/>
              </a:rPr>
              <a:t> </a:t>
            </a:r>
            <a:r>
              <a:rPr lang="bg-BG" sz="1800" dirty="0" err="1">
                <a:latin typeface="Comfortaa" pitchFamily="2" charset="0"/>
              </a:rPr>
              <a:t>Commons</a:t>
            </a:r>
            <a:r>
              <a:rPr lang="bg-BG" sz="1800" dirty="0">
                <a:latin typeface="Comfortaa" pitchFamily="2" charset="0"/>
              </a:rPr>
              <a:t> </a:t>
            </a:r>
            <a:r>
              <a:rPr lang="bg-BG" sz="1800" dirty="0" err="1">
                <a:latin typeface="Comfortaa" pitchFamily="2" charset="0"/>
              </a:rPr>
              <a:t>Attribution-Non-Commercial-Share-Alike</a:t>
            </a:r>
            <a:r>
              <a:rPr lang="bg-BG" sz="1800" dirty="0">
                <a:latin typeface="Comfortaa" pitchFamily="2" charset="0"/>
              </a:rPr>
              <a:t> 4.0 International).</a:t>
            </a:r>
            <a:endParaRPr lang="bg-BG" dirty="0"/>
          </a:p>
        </p:txBody>
      </p:sp>
    </p:spTree>
    <p:extLst>
      <p:ext uri="{BB962C8B-B14F-4D97-AF65-F5344CB8AC3E}">
        <p14:creationId xmlns:p14="http://schemas.microsoft.com/office/powerpoint/2010/main" val="12413446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99</TotalTime>
  <Words>1299</Words>
  <Application>Microsoft Office PowerPoint</Application>
  <PresentationFormat>Widescreen</PresentationFormat>
  <Paragraphs>169</Paragraphs>
  <Slides>11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Comfortaa</vt:lpstr>
      <vt:lpstr>Consolas</vt:lpstr>
      <vt:lpstr>Wingdings</vt:lpstr>
      <vt:lpstr>Office Theme</vt:lpstr>
      <vt:lpstr>Абстрактни класове</vt:lpstr>
      <vt:lpstr>Абстрактни класове</vt:lpstr>
      <vt:lpstr>Елементи на абстрактния клас</vt:lpstr>
      <vt:lpstr>Задача: Фигури [1/4]</vt:lpstr>
      <vt:lpstr>Задача: Фигури [2/4]</vt:lpstr>
      <vt:lpstr>Задача: Фигури [3/4]</vt:lpstr>
      <vt:lpstr>Задача: Фигури [4/4]</vt:lpstr>
      <vt:lpstr>Ключова дума – Sealed</vt:lpstr>
      <vt:lpstr>Ключова дума – Sealed</vt:lpstr>
      <vt:lpstr>Какво научихме днес?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Димитър Минчев</dc:creator>
  <cp:lastModifiedBy>Димитър Минчев</cp:lastModifiedBy>
  <cp:revision>11</cp:revision>
  <dcterms:created xsi:type="dcterms:W3CDTF">2022-08-09T09:25:46Z</dcterms:created>
  <dcterms:modified xsi:type="dcterms:W3CDTF">2022-09-14T15:47:42Z</dcterms:modified>
</cp:coreProperties>
</file>