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1"/>
  </p:notesMasterIdLst>
  <p:sldIdLst>
    <p:sldId id="258" r:id="rId2"/>
    <p:sldId id="571" r:id="rId3"/>
    <p:sldId id="595" r:id="rId4"/>
    <p:sldId id="597" r:id="rId5"/>
    <p:sldId id="598" r:id="rId6"/>
    <p:sldId id="599" r:id="rId7"/>
    <p:sldId id="609" r:id="rId8"/>
    <p:sldId id="610" r:id="rId9"/>
    <p:sldId id="611" r:id="rId10"/>
    <p:sldId id="612" r:id="rId11"/>
    <p:sldId id="613" r:id="rId12"/>
    <p:sldId id="600" r:id="rId13"/>
    <p:sldId id="608" r:id="rId14"/>
    <p:sldId id="596" r:id="rId15"/>
    <p:sldId id="602" r:id="rId16"/>
    <p:sldId id="603" r:id="rId17"/>
    <p:sldId id="604" r:id="rId18"/>
    <p:sldId id="605" r:id="rId19"/>
    <p:sldId id="606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71"/>
            <p14:sldId id="595"/>
            <p14:sldId id="597"/>
            <p14:sldId id="598"/>
            <p14:sldId id="599"/>
            <p14:sldId id="609"/>
            <p14:sldId id="610"/>
            <p14:sldId id="611"/>
            <p14:sldId id="612"/>
            <p14:sldId id="613"/>
            <p14:sldId id="600"/>
            <p14:sldId id="608"/>
            <p14:sldId id="596"/>
            <p14:sldId id="602"/>
            <p14:sldId id="603"/>
            <p14:sldId id="604"/>
            <p14:sldId id="605"/>
            <p14:sldId id="606"/>
          </p14:sldIdLst>
        </p14:section>
        <p14:section name="Заключение" id="{9315BEE7-605C-4839-996A-A4EEA70921D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7288A96-C4D9-4DF5-B454-77362B6FFE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690475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97509FA-8419-4756-A338-EA21D859FD2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237213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203D8C-47BE-4F15-A5FA-B9D4B87BA2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61356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2CF95D0E-E6D2-487E-B75D-C088E27F8E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328647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5FBEED1C-2ADF-410A-87CF-FE684A8E9B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307131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D2CD1B0E-74BE-42DE-B1F3-A8B8C14C14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287416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A34CE365-0660-4B92-8667-AEDB525838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934018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AADCE5E-3E55-4E9B-890C-E082857FF3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077486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8D9EFB52-059A-4DF0-A7B2-766518254A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137519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55CD53B-3BE7-4E5C-95FC-DEFE850053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5486225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54C0A43C-A939-4579-A62E-82DFAAD122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7642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B8A96DE-94AC-43B7-8EF0-274BACAA2B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065725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B48CB12A-C0B8-432E-BC9A-A11C30BCBF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785940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47730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60144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7557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85322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03783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6034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772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21603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40695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6317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0399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81547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0976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94572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05256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4545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20.10.2025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34595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946" y="556592"/>
            <a:ext cx="8863054" cy="2961193"/>
          </a:xfrm>
        </p:spPr>
        <p:txBody>
          <a:bodyPr>
            <a:normAutofit/>
          </a:bodyPr>
          <a:lstStyle/>
          <a:p>
            <a:r>
              <a:rPr lang="ru-RU" dirty="0">
                <a:latin typeface="Comfortaa" pitchFamily="2" charset="0"/>
              </a:rPr>
              <a:t>П</a:t>
            </a:r>
            <a:r>
              <a:rPr lang="ru-RU" dirty="0" smtClean="0">
                <a:latin typeface="Comfortaa" pitchFamily="2" charset="0"/>
              </a:rPr>
              <a:t>амет</a:t>
            </a:r>
            <a:r>
              <a:rPr lang="ru-RU" dirty="0">
                <a:latin typeface="Comfortaa" pitchFamily="2" charset="0"/>
              </a:rPr>
              <a:t>, стек и хийп, разположение на обектите в паметта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3484" y="5327341"/>
            <a:ext cx="8624515" cy="64300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Memory, Stack &amp; Heap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Ð ÐµÐ·ÑÐ»ÑÐ°Ñ Ñ Ð¸Ð·Ð¾Ð±ÑÐ°Ð¶ÐµÐ½Ð¸Ðµ Ð·Ð° what is heap memory stack c#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5235" y="1201376"/>
            <a:ext cx="7583749" cy="4190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49285" y="589537"/>
            <a:ext cx="4380189" cy="995562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>
          <a:xfrm>
            <a:off x="565068" y="1470992"/>
            <a:ext cx="3300167" cy="4347918"/>
          </a:xfrm>
        </p:spPr>
        <p:txBody>
          <a:bodyPr>
            <a:noAutofit/>
          </a:bodyPr>
          <a:lstStyle/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ru-RU" sz="3200" dirty="0">
                <a:latin typeface="Comfortaa" pitchFamily="2" charset="0"/>
              </a:rPr>
              <a:t>Памет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ru-RU" sz="3200" dirty="0">
                <a:latin typeface="Comfortaa" pitchFamily="2" charset="0"/>
              </a:rPr>
              <a:t>Стек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ru-RU" sz="3200" dirty="0">
                <a:latin typeface="Comfortaa" pitchFamily="2" charset="0"/>
              </a:rPr>
              <a:t>Хийп</a:t>
            </a:r>
          </a:p>
          <a:p>
            <a:pPr marL="442913" indent="-442913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sz="3200" dirty="0">
                <a:latin typeface="Comfortaa" pitchFamily="2" charset="0"/>
              </a:rPr>
              <a:t>Р</a:t>
            </a:r>
            <a:r>
              <a:rPr lang="ru-RU" sz="3200" dirty="0">
                <a:latin typeface="Comfortaa" pitchFamily="2" charset="0"/>
              </a:rPr>
              <a:t>азположение на обектите в паметта</a:t>
            </a:r>
          </a:p>
        </p:txBody>
      </p:sp>
    </p:spTree>
    <p:extLst>
      <p:ext uri="{BB962C8B-B14F-4D97-AF65-F5344CB8AC3E}">
        <p14:creationId xmlns:p14="http://schemas.microsoft.com/office/powerpoint/2010/main" val="3196214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74358" y="190831"/>
            <a:ext cx="10069398" cy="1499857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Comfortaa" pitchFamily="2" charset="0"/>
              </a:rPr>
              <a:t>Управление на паметта в .NET Framework</a:t>
            </a:r>
            <a:r>
              <a:rPr lang="en-US" sz="3200" b="1" dirty="0">
                <a:latin typeface="Comfortaa" pitchFamily="2" charset="0"/>
              </a:rPr>
              <a:t> [1/2]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2696" y="1311965"/>
            <a:ext cx="10311916" cy="5271715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Управлението на паметта в .NET е 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автоматично</a:t>
            </a:r>
          </a:p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Вече 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 е необходимо 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да се пише специален код, който да освобождава заетата от обектите памет</a:t>
            </a:r>
          </a:p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При създаване на нов обект се заделя памет в регион, наречен 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managed heap</a:t>
            </a:r>
          </a:p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Когато обектът стане ненужен, той просто се 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изоставя</a:t>
            </a:r>
            <a:r>
              <a:rPr lang="bg-BG" sz="3200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и в по-късен етап се почиства автоматично от </a:t>
            </a:r>
            <a:r>
              <a:rPr lang="bg-BG" sz="32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garbage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collector 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– системата за почистване на паметта. </a:t>
            </a:r>
          </a:p>
          <a:p>
            <a:endParaRPr lang="bg-BG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497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74358" y="365125"/>
            <a:ext cx="10188150" cy="1325563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Comfortaa" pitchFamily="2" charset="0"/>
              </a:rPr>
              <a:t>Управление на паметта в .NET Framework</a:t>
            </a:r>
            <a:r>
              <a:rPr lang="en-US" sz="3200" b="1" dirty="0">
                <a:latin typeface="Comfortaa" pitchFamily="2" charset="0"/>
              </a:rPr>
              <a:t> [2/2]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6550" y="1359673"/>
            <a:ext cx="10288062" cy="5200153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За някои обекти не е достатъчно само да се освободи паметта</a:t>
            </a:r>
          </a:p>
          <a:p>
            <a:r>
              <a:rPr lang="bg-BG" sz="32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Garbage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32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collector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се грижи 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само за паметта 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и не знае какви други системни ресурси използва обектът</a:t>
            </a:r>
          </a:p>
          <a:p>
            <a:r>
              <a:rPr lang="bg-BG" sz="32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Финализатори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finalizers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) – специални методи, които се изпълняват преди обектът да се унищожи</a:t>
            </a:r>
            <a:endParaRPr lang="bg-BG" sz="3200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8F51A3A-12AC-49D1-B5EB-12906B81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23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06162" y="307562"/>
            <a:ext cx="9747637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Предимства на автоматичното управление на паметта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845"/>
            <a:ext cx="10515600" cy="5080883"/>
          </a:xfrm>
        </p:spPr>
        <p:txBody>
          <a:bodyPr>
            <a:noAutofit/>
          </a:bodyPr>
          <a:lstStyle/>
          <a:p>
            <a:pPr marL="514350" indent="-514350"/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Освободени сме от грижата ръчно 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да почистваме ненужните обекти</a:t>
            </a:r>
          </a:p>
          <a:p>
            <a:pPr marL="514350" indent="-514350"/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Предотвратя­ването на 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изтичане на памет</a:t>
            </a:r>
            <a:r>
              <a:rPr lang="en-US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32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32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leaks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514350" indent="-514350"/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Броене на референциите към обектите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, както и частния случай с 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циклични референции не съществува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B30268E7-22EE-4528-B76C-8E67FA5E2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543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30016" y="391818"/>
            <a:ext cx="10161105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Недостатъци на автоматичното управление на паметта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9631"/>
            <a:ext cx="10515600" cy="4042724"/>
          </a:xfrm>
        </p:spPr>
        <p:txBody>
          <a:bodyPr/>
          <a:lstStyle/>
          <a:p>
            <a:pPr marL="514350" indent="-514350"/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Почистването й е 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тежка</a:t>
            </a:r>
            <a:r>
              <a:rPr lang="bg-BG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времеотнемаща</a:t>
            </a:r>
            <a:r>
              <a:rPr lang="bg-BG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операция</a:t>
            </a:r>
          </a:p>
          <a:p>
            <a:pPr marL="514350" indent="-514350"/>
            <a:r>
              <a:rPr lang="bg-BG" sz="32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Няма гаранция кога</a:t>
            </a:r>
            <a:r>
              <a:rPr lang="bg-BG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се изпълнява garbage collector и колко време отнема!</a:t>
            </a:r>
          </a:p>
          <a:p>
            <a:pPr marL="514350" indent="-514350"/>
            <a:endParaRPr lang="bg-BG" b="1" dirty="0">
              <a:latin typeface="Comfortaa" pitchFamily="2" charset="0"/>
            </a:endParaRPr>
          </a:p>
          <a:p>
            <a:pPr marL="819096" lvl="1" indent="-514350"/>
            <a:endParaRPr lang="bg-BG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921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212" y="365125"/>
            <a:ext cx="9755588" cy="6202652"/>
          </a:xfrm>
        </p:spPr>
        <p:txBody>
          <a:bodyPr>
            <a:normAutofit fontScale="90000"/>
          </a:bodyPr>
          <a:lstStyle/>
          <a:p>
            <a:r>
              <a:rPr lang="ru-RU" sz="32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>Разделение на паметта в C#</a:t>
            </a:r>
            <a:r>
              <a:rPr lang="en-US" sz="32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200" b="1" u="sng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C# разделя оперативната памет основно на два региона: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Stack (стек)</a:t>
            </a:r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— за </a:t>
            </a:r>
            <a:r>
              <a:rPr 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временни данни</a:t>
            </a:r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локални променливи</a:t>
            </a:r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със статичен размер.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Heap (хийп)</a:t>
            </a:r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 — за </a:t>
            </a:r>
            <a:r>
              <a:rPr lang="ru-RU" sz="3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динамично заделени обекти</a:t>
            </a:r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>, чийто размер може да варира по време на изпълнение.</a:t>
            </a:r>
            <a: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3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bg-BG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44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622066" y="211327"/>
            <a:ext cx="9724807" cy="6494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2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Какво се съхранява в стека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Примитивни типове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(int, double, bool, char, struct и др.), когато са </a:t>
            </a:r>
            <a:r>
              <a:rPr kumimoji="0" lang="bg-BG" altLang="bg-BG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локални променливи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Референции (указатели)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към обекти, които реално живеят в heap.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Всеки метод извиква </a:t>
            </a:r>
            <a:r>
              <a:rPr kumimoji="0" lang="bg-BG" altLang="bg-BG" sz="3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нов stack frame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който съдържа: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параметрите на функцията,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локалните променливи,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адреса за връщане след изпълнение.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Стекът се управлява автоматично — когато методът приключи, неговият </a:t>
            </a:r>
            <a:r>
              <a:rPr kumimoji="0" lang="bg-BG" altLang="bg-BG" sz="32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stack frame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се премахва.</a:t>
            </a:r>
          </a:p>
        </p:txBody>
      </p:sp>
    </p:spTree>
    <p:extLst>
      <p:ext uri="{BB962C8B-B14F-4D97-AF65-F5344CB8AC3E}">
        <p14:creationId xmlns:p14="http://schemas.microsoft.com/office/powerpoint/2010/main" val="285784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693628" y="309199"/>
            <a:ext cx="1018598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2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Какво се съхранява в хийпа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Обекти от класове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(всички типове, дефинирани с class).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Масиви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(дори и от примитивни типове).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Всички данни, заделени динамично чрез new.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Тези обекти се изчистват автоматично от </a:t>
            </a:r>
            <a:r>
              <a:rPr kumimoji="0" lang="bg-BG" altLang="bg-BG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Garbage Collector (GC)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когато вече няма активни препратки към тях.</a:t>
            </a:r>
          </a:p>
        </p:txBody>
      </p:sp>
    </p:spTree>
    <p:extLst>
      <p:ext uri="{BB962C8B-B14F-4D97-AF65-F5344CB8AC3E}">
        <p14:creationId xmlns:p14="http://schemas.microsoft.com/office/powerpoint/2010/main" val="301176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630017" y="467588"/>
            <a:ext cx="993118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Връзка между стек и хийп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Когато създадеш обект от клас, например: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Person p = new Person("Ivan");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стека се създава променлива p, която съдържа 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референция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(адрес) към обекта.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Самият обект Person("Ivan") живее в хийпа.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Ако създадеш нова променлива Person q = p;, тя също ще сочи към същия обект в хийпа (и промените чрез q ще се отразят и на p).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99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724" y="551289"/>
            <a:ext cx="9231465" cy="615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6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74359" y="624110"/>
            <a:ext cx="9930254" cy="1280890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Comfortaa" pitchFamily="2" charset="0"/>
              </a:rPr>
              <a:t>Как се заделя памет в .NET? Стек и Хийп</a:t>
            </a:r>
            <a:endParaRPr lang="en-US" sz="3200" b="1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sz="3200" dirty="0">
                <a:latin typeface="Comfortaa" pitchFamily="2" charset="0"/>
              </a:rPr>
              <a:t>Когато CLR се инициализира, той заделя регион от последователни адреси в паметта. Това е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динамична памет</a:t>
            </a:r>
            <a:r>
              <a:rPr lang="bg-BG" sz="32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или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managed heap</a:t>
            </a:r>
            <a:r>
              <a:rPr lang="bg-BG" sz="3200" dirty="0">
                <a:latin typeface="Comfortaa" pitchFamily="2" charset="0"/>
              </a:rPr>
              <a:t>.</a:t>
            </a:r>
          </a:p>
          <a:p>
            <a:r>
              <a:rPr lang="bg-BG" sz="3200" dirty="0">
                <a:latin typeface="Comfortaa" pitchFamily="2" charset="0"/>
              </a:rPr>
              <a:t>За разлика от стойностните типове, чиято памет се заделя в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стека</a:t>
            </a:r>
            <a:r>
              <a:rPr lang="bg-BG" sz="3200" dirty="0">
                <a:latin typeface="Comfortaa" pitchFamily="2" charset="0"/>
              </a:rPr>
              <a:t> и се освобождава веднага, след като променливата излезе от обхват, паметта, нужна </a:t>
            </a:r>
            <a:r>
              <a:rPr lang="bg-BG" sz="3200" b="1" dirty="0">
                <a:solidFill>
                  <a:srgbClr val="00B0F0"/>
                </a:solidFill>
                <a:latin typeface="Comfortaa" pitchFamily="2" charset="0"/>
              </a:rPr>
              <a:t>за референтните типове</a:t>
            </a:r>
            <a:r>
              <a:rPr lang="en-US" sz="3200" b="1" dirty="0">
                <a:solidFill>
                  <a:schemeClr val="accent1"/>
                </a:solidFill>
                <a:latin typeface="Comfortaa" pitchFamily="2" charset="0"/>
              </a:rPr>
              <a:t>,</a:t>
            </a:r>
            <a:r>
              <a:rPr lang="bg-BG" sz="3200" b="1" dirty="0">
                <a:solidFill>
                  <a:schemeClr val="accent1"/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винаги се заделя в managed heap. </a:t>
            </a:r>
          </a:p>
          <a:p>
            <a:pPr marL="819096" lvl="1" indent="-514350"/>
            <a:endParaRPr lang="bg-BG" sz="20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44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90260" y="576197"/>
            <a:ext cx="9728901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 се заделя памет в .NET?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27363" y="2196435"/>
            <a:ext cx="11012307" cy="4795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За да създадем обект в хийп</a:t>
            </a:r>
            <a:r>
              <a:rPr lang="en-US" sz="2400" dirty="0">
                <a:latin typeface="Comfortaa" pitchFamily="2" charset="0"/>
              </a:rPr>
              <a:t>, </a:t>
            </a:r>
            <a:r>
              <a:rPr lang="bg-BG" sz="2400" dirty="0">
                <a:latin typeface="Comfortaa" pitchFamily="2" charset="0"/>
              </a:rPr>
              <a:t>използваме код, подобен на този:</a:t>
            </a: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803562" y="2728722"/>
            <a:ext cx="10584873" cy="63784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bg1"/>
                </a:solidFill>
                <a:effectLst/>
              </a:rPr>
              <a:t>SomeObject x = new SomeObject();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25775" y="3955921"/>
            <a:ext cx="10662660" cy="443528"/>
          </a:xfrm>
          <a:prstGeom prst="rect">
            <a:avLst/>
          </a:prstGeom>
        </p:spPr>
        <p:txBody>
          <a:bodyPr vert="horz" lIns="108000" tIns="36000" rIns="108000" bIns="36000" rtlCol="0">
            <a:normAutofit lnSpcReduction="10000"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mfortaa" pitchFamily="2" charset="0"/>
              </a:rPr>
              <a:t>C# </a:t>
            </a:r>
            <a:r>
              <a:rPr lang="bg-BG" sz="2400" dirty="0">
                <a:latin typeface="Comfortaa" pitchFamily="2" charset="0"/>
              </a:rPr>
              <a:t>компилаторът превежда кода в </a:t>
            </a:r>
            <a:r>
              <a:rPr lang="en-US" sz="2400" dirty="0">
                <a:latin typeface="Comfortaa" pitchFamily="2" charset="0"/>
              </a:rPr>
              <a:t>IL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</a:rPr>
              <a:t>newobj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инструкция:</a:t>
            </a:r>
          </a:p>
        </p:txBody>
      </p:sp>
      <p:sp>
        <p:nvSpPr>
          <p:cNvPr id="9" name="Text Placeholder 5"/>
          <p:cNvSpPr txBox="1">
            <a:spLocks/>
          </p:cNvSpPr>
          <p:nvPr/>
        </p:nvSpPr>
        <p:spPr>
          <a:xfrm>
            <a:off x="803563" y="4466945"/>
            <a:ext cx="10584873" cy="113029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bg1"/>
                </a:solidFill>
                <a:effectLst/>
              </a:rPr>
              <a:t>newobj instance void MyNamespace.SomeObject::.ctor()</a:t>
            </a:r>
          </a:p>
        </p:txBody>
      </p:sp>
    </p:spTree>
    <p:extLst>
      <p:ext uri="{BB962C8B-B14F-4D97-AF65-F5344CB8AC3E}">
        <p14:creationId xmlns:p14="http://schemas.microsoft.com/office/powerpoint/2010/main" val="125911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>
            <a:extLst>
              <a:ext uri="{FF2B5EF4-FFF2-40B4-BE49-F238E27FC236}">
                <a16:creationId xmlns:a16="http://schemas.microsoft.com/office/drawing/2014/main" id="{3F2A4CC5-963A-8ACE-850B-6D8548A61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0260" y="576197"/>
            <a:ext cx="9728901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 се заделя памет в .NET?</a:t>
            </a:r>
            <a:r>
              <a:rPr lang="en-US" dirty="0">
                <a:latin typeface="Comfortaa" pitchFamily="2" charset="0"/>
              </a:rPr>
              <a:t> [2/2]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4189" y="1367624"/>
            <a:ext cx="10910706" cy="3744703"/>
          </a:xfrm>
        </p:spPr>
        <p:txBody>
          <a:bodyPr>
            <a:normAutofit lnSpcReduction="10000"/>
          </a:bodyPr>
          <a:lstStyle/>
          <a:p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CLR изчислява необходимата памет, прибавя размера на </a:t>
            </a:r>
            <a:r>
              <a:rPr lang="bg-BG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MethodTablePointer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bg-BG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SyncBlockIndex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bg-BG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NextObjPtr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892237" lvl="1" indent="-514350">
              <a:buFont typeface="+mj-lt"/>
              <a:buAutoNum type="arabicPeriod"/>
            </a:pP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Ако в хийпа има памет - се заделя, извиква се конструктора и адресът на обекта се връща от оператора </a:t>
            </a:r>
            <a:r>
              <a:rPr lang="bg-BG" sz="2400" b="1" dirty="0"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892237" lvl="1" indent="-514350">
              <a:buFont typeface="+mj-lt"/>
              <a:buAutoNum type="arabicPeriod"/>
            </a:pP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Ако няма памет се стартира garbage collector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и после пак се опитва да създаде обекта </a:t>
            </a:r>
          </a:p>
          <a:p>
            <a:pPr marL="892237" lvl="1" indent="-514350">
              <a:buFont typeface="+mj-lt"/>
              <a:buAutoNum type="arabicPeriod"/>
            </a:pP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Ако и тогава няма достатъчно памет, хийпът се увеличава</a:t>
            </a:r>
          </a:p>
          <a:p>
            <a:pPr marL="892237" lvl="1" indent="-51435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ко това е невъзможно, </a:t>
            </a:r>
            <a:r>
              <a:rPr lang="bg-BG" sz="24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 операторът предизвиква </a:t>
            </a:r>
            <a:r>
              <a:rPr lang="bg-BG" sz="2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OutOfMemoryException</a:t>
            </a:r>
            <a:r>
              <a:rPr lang="bg-BG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362" y="5020193"/>
            <a:ext cx="5174516" cy="1434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23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2907474" y="3626016"/>
            <a:ext cx="5771437" cy="2898986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45921" y="624110"/>
            <a:ext cx="9858692" cy="128089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 работи </a:t>
            </a:r>
            <a:r>
              <a:rPr lang="en-US" dirty="0">
                <a:latin typeface="Comfortaa" pitchFamily="2" charset="0"/>
              </a:rPr>
              <a:t>Garbage Collector?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771" y="1520042"/>
            <a:ext cx="10473029" cy="2301682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При достатъчно свободна памет това става с преместването на един указател. Ако в хийпа няма достатъчно място:</a:t>
            </a:r>
          </a:p>
          <a:p>
            <a:r>
              <a:rPr lang="bg-BG" sz="2400" dirty="0">
                <a:latin typeface="Comfortaa" pitchFamily="2" charset="0"/>
              </a:rPr>
              <a:t>Нишките трябва да се </a:t>
            </a: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приспят</a:t>
            </a:r>
          </a:p>
          <a:p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Освобождават се </a:t>
            </a:r>
            <a:r>
              <a:rPr lang="bg-BG" sz="2400" dirty="0">
                <a:latin typeface="Comfortaa" pitchFamily="2" charset="0"/>
              </a:rPr>
              <a:t>неизползваните обекти</a:t>
            </a:r>
          </a:p>
          <a:p>
            <a:pPr marL="0" indent="0">
              <a:buNone/>
            </a:pPr>
            <a:endParaRPr lang="en-US" sz="24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56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22066" y="556590"/>
            <a:ext cx="10294821" cy="95751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Алгоритъмът за почистване на паметта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00" y="1347066"/>
            <a:ext cx="10947053" cy="3335376"/>
          </a:xfrm>
        </p:spPr>
        <p:txBody>
          <a:bodyPr>
            <a:noAutofit/>
          </a:bodyPr>
          <a:lstStyle/>
          <a:p>
            <a:r>
              <a:rPr lang="bg-BG" sz="2200" b="1" dirty="0">
                <a:solidFill>
                  <a:srgbClr val="00B0F0"/>
                </a:solidFill>
                <a:latin typeface="Comfortaa" pitchFamily="2" charset="0"/>
              </a:rPr>
              <a:t>Корените на приложението </a:t>
            </a:r>
            <a:r>
              <a:rPr lang="bg-BG" sz="2200" dirty="0">
                <a:latin typeface="Comfortaa" pitchFamily="2" charset="0"/>
              </a:rPr>
              <a:t>са точката, от която системата за почистване на паметта започва своята работа</a:t>
            </a:r>
          </a:p>
          <a:p>
            <a:r>
              <a:rPr lang="bg-BG" sz="2200" dirty="0">
                <a:latin typeface="Comfortaa" pitchFamily="2" charset="0"/>
              </a:rPr>
              <a:t>Ако глобална променлива сочи към обект A от хийпа, то А се добавя към графа.  Ако A съдържа указател към C, а той  от своя страна към обектите D и F, всички те също стават част от графа. Така garbage collector обхожда рекурсивно </a:t>
            </a:r>
            <a:r>
              <a:rPr lang="en-US" sz="2200" dirty="0">
                <a:latin typeface="Comfortaa" pitchFamily="2" charset="0"/>
              </a:rPr>
              <a:t>в </a:t>
            </a:r>
            <a:r>
              <a:rPr lang="bg-BG" sz="2200" dirty="0">
                <a:latin typeface="Comfortaa" pitchFamily="2" charset="0"/>
              </a:rPr>
              <a:t>дълбочина всички обекти, достъпни от глобалната промен­лива</a:t>
            </a:r>
            <a:r>
              <a:rPr lang="en-US" sz="2200" dirty="0">
                <a:latin typeface="Comfortaa" pitchFamily="2" charset="0"/>
              </a:rPr>
              <a:t> A</a:t>
            </a:r>
            <a:r>
              <a:rPr lang="bg-BG" sz="2200" dirty="0">
                <a:latin typeface="Comfortaa" pitchFamily="2" charset="0"/>
              </a:rPr>
              <a:t>:</a:t>
            </a:r>
          </a:p>
          <a:p>
            <a:r>
              <a:rPr lang="bg-BG" sz="2200" dirty="0">
                <a:latin typeface="Comfortaa" pitchFamily="2" charset="0"/>
              </a:rPr>
              <a:t>Обектите, нуждаещи се от финализация </a:t>
            </a:r>
            <a:r>
              <a:rPr lang="bg-BG" sz="2200" b="1" dirty="0">
                <a:solidFill>
                  <a:schemeClr val="accent1"/>
                </a:solidFill>
                <a:latin typeface="Comfortaa" pitchFamily="2" charset="0"/>
              </a:rPr>
              <a:t>н</a:t>
            </a:r>
            <a:r>
              <a:rPr lang="bg-BG" sz="2200" b="1" dirty="0">
                <a:solidFill>
                  <a:srgbClr val="00B0F0"/>
                </a:solidFill>
                <a:latin typeface="Comfortaa" pitchFamily="2" charset="0"/>
              </a:rPr>
              <a:t>е се унищожават веднага</a:t>
            </a:r>
            <a:r>
              <a:rPr lang="bg-BG" sz="2200" dirty="0">
                <a:latin typeface="Comfortaa" pitchFamily="2" charset="0"/>
              </a:rPr>
              <a:t>. Те остават и указатели към тях се добавят в опашката</a:t>
            </a:r>
            <a:r>
              <a:rPr lang="bg-BG" sz="2200" b="1" dirty="0">
                <a:solidFill>
                  <a:schemeClr val="accent1"/>
                </a:solidFill>
                <a:latin typeface="Comfortaa" pitchFamily="2" charset="0"/>
              </a:rPr>
              <a:t> </a:t>
            </a:r>
            <a:r>
              <a:rPr lang="bg-BG" sz="2200" b="1" dirty="0">
                <a:solidFill>
                  <a:srgbClr val="00B0F0"/>
                </a:solidFill>
                <a:latin typeface="Comfortaa" pitchFamily="2" charset="0"/>
              </a:rPr>
              <a:t>Freachable</a:t>
            </a:r>
            <a:endParaRPr lang="en-US" sz="2200" dirty="0">
              <a:solidFill>
                <a:srgbClr val="00B0F0"/>
              </a:solidFill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94" y="5041206"/>
            <a:ext cx="3915163" cy="13330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327" y="5322649"/>
            <a:ext cx="5147952" cy="105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41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98213" y="624110"/>
            <a:ext cx="9906400" cy="128089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Поколения памет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4602" y="1367624"/>
            <a:ext cx="9970010" cy="4543598"/>
          </a:xfrm>
        </p:spPr>
        <p:txBody>
          <a:bodyPr>
            <a:normAutofit/>
          </a:bodyPr>
          <a:lstStyle/>
          <a:p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Почистването на част от динамичната памет винаги е по-бързо от почистването на цялата памет.</a:t>
            </a:r>
          </a:p>
          <a:p>
            <a:r>
              <a:rPr lang="bg-BG" sz="2800" dirty="0" err="1">
                <a:latin typeface="Arial" panose="020B0604020202020204" pitchFamily="34" charset="0"/>
                <a:cs typeface="Arial" panose="020B0604020202020204" pitchFamily="34" charset="0"/>
              </a:rPr>
              <a:t>Garbage</a:t>
            </a:r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2800" dirty="0" err="1">
                <a:latin typeface="Arial" panose="020B0604020202020204" pitchFamily="34" charset="0"/>
                <a:cs typeface="Arial" panose="020B0604020202020204" pitchFamily="34" charset="0"/>
              </a:rPr>
              <a:t>collector</a:t>
            </a:r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 ги разделя на </a:t>
            </a:r>
            <a:r>
              <a:rPr lang="bg-BG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поколения</a:t>
            </a:r>
            <a:r>
              <a:rPr lang="bg-BG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28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 колкото по-нов е един обект, толкова по-вероятно е животът му да е кратък. колкото по-стар е обектът, толкова по-големи са очакванията той да живее дълго. </a:t>
            </a:r>
          </a:p>
          <a:p>
            <a:pPr lvl="0"/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Обектите, създадени по едно и също време обикновено имат връзка помежду си и имат приблизително еднаква продължителност на живота. 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86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22066" y="681037"/>
            <a:ext cx="10187944" cy="1118075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Почистване на Поколение 1 и Поколение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034" y="1894114"/>
            <a:ext cx="10728212" cy="2761014"/>
          </a:xfrm>
        </p:spPr>
        <p:txBody>
          <a:bodyPr>
            <a:normAutofit/>
          </a:bodyPr>
          <a:lstStyle/>
          <a:p>
            <a:r>
              <a:rPr lang="bg-BG" sz="3200" dirty="0">
                <a:latin typeface="Comfortaa" pitchFamily="2" charset="0"/>
              </a:rPr>
              <a:t>След първото обхождане свободни са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C, F </a:t>
            </a:r>
            <a:r>
              <a:rPr lang="bg-BG" sz="3200" dirty="0">
                <a:latin typeface="Comfortaa" pitchFamily="2" charset="0"/>
              </a:rPr>
              <a:t>и</a:t>
            </a:r>
            <a:r>
              <a:rPr lang="en-US" sz="3200" b="1" dirty="0">
                <a:solidFill>
                  <a:schemeClr val="accent1"/>
                </a:solidFill>
                <a:latin typeface="Comfortaa" pitchFamily="2" charset="0"/>
              </a:rPr>
              <a:t>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I</a:t>
            </a:r>
            <a:r>
              <a:rPr lang="bg-BG" sz="3200" dirty="0">
                <a:latin typeface="Comfortaa" pitchFamily="2" charset="0"/>
              </a:rPr>
              <a:t>. Но само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F</a:t>
            </a:r>
            <a:r>
              <a:rPr lang="en-US" sz="3200" dirty="0">
                <a:solidFill>
                  <a:schemeClr val="accent1"/>
                </a:solidFill>
                <a:latin typeface="Comfortaa" pitchFamily="2" charset="0"/>
              </a:rPr>
              <a:t> </a:t>
            </a:r>
            <a:r>
              <a:rPr lang="bg-BG" sz="3200" b="1" dirty="0">
                <a:latin typeface="Comfortaa" pitchFamily="2" charset="0"/>
              </a:rPr>
              <a:t>и</a:t>
            </a:r>
            <a:r>
              <a:rPr lang="bg-BG" sz="3200" dirty="0">
                <a:solidFill>
                  <a:schemeClr val="accent1"/>
                </a:solidFill>
                <a:latin typeface="Comfortaa" pitchFamily="2" charset="0"/>
              </a:rPr>
              <a:t>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I</a:t>
            </a:r>
            <a:r>
              <a:rPr lang="bg-BG" sz="3200" dirty="0">
                <a:solidFill>
                  <a:schemeClr val="accent1"/>
                </a:solidFill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са от поколение 0 и се почистват.</a:t>
            </a:r>
          </a:p>
          <a:p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C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ще се почисти, когато е свободна и няма обекти от  по-ниско поколение </a:t>
            </a:r>
            <a:endParaRPr lang="en-US" sz="3200" dirty="0"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17" y="5069224"/>
            <a:ext cx="5134831" cy="11077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628" y="5016573"/>
            <a:ext cx="4825920" cy="116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9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14115" y="500062"/>
            <a:ext cx="9655568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Блок памет за големи обекти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30" y="1272209"/>
            <a:ext cx="10105182" cy="4639013"/>
          </a:xfrm>
        </p:spPr>
        <p:txBody>
          <a:bodyPr>
            <a:normAutofit lnSpcReduction="10000"/>
          </a:bodyPr>
          <a:lstStyle/>
          <a:p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всички големи обекти (с размер над 20 000 байта) се разполагат в отделен хийп. Разликата между него и стандартния managed heap е това, че хийпът за големи обекти </a:t>
            </a:r>
            <a:r>
              <a:rPr lang="bg-BG" sz="28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 се дефрагментира </a:t>
            </a:r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и пести много процесорно време.</a:t>
            </a:r>
          </a:p>
          <a:p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Всичко това става прозрачно за разработчиците, сякаш има един единствен хийп.</a:t>
            </a:r>
          </a:p>
          <a:p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Големите обекти винаги се считат за част от Поколение 2. Трябва да създаваме по-малко на брой големи обекти и да ги използваме в случаите, когато те ще живеят дълго време. 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48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331</TotalTime>
  <Words>1268</Words>
  <Application>Microsoft Office PowerPoint</Application>
  <PresentationFormat>Widescreen</PresentationFormat>
  <Paragraphs>116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Century Gothic</vt:lpstr>
      <vt:lpstr>Comfortaa</vt:lpstr>
      <vt:lpstr>Consolas</vt:lpstr>
      <vt:lpstr>Wingdings</vt:lpstr>
      <vt:lpstr>Wingdings 3</vt:lpstr>
      <vt:lpstr>Wisp</vt:lpstr>
      <vt:lpstr>Памет, стек и хийп, разположение на обектите в паметта</vt:lpstr>
      <vt:lpstr>Съдържание</vt:lpstr>
      <vt:lpstr>Управление на паметта в .NET Framework [1/2]</vt:lpstr>
      <vt:lpstr>Управление на паметта в .NET Framework [2/2]</vt:lpstr>
      <vt:lpstr>Предимства на автоматичното управление на паметта</vt:lpstr>
      <vt:lpstr>Недостатъци на автоматичното управление на паметта</vt:lpstr>
      <vt:lpstr>Разделение на паметта в C#  C# разделя оперативната памет основно на два региона:  Stack (стек) — за временни данни и локални променливи със статичен размер.  Heap (хийп) — за динамично заделени обекти, чийто размер може да варира по време на изпълнение.  </vt:lpstr>
      <vt:lpstr>Какво се съхранява в стека Примитивни типове (int, double, bool, char, struct и др.), когато са локални променливи. Референции (указатели) към обекти, които реално живеят в heap. Всеки метод извиква нов stack frame, който съдържа: -параметрите на функцията, -локалните променливи, -адреса за връщане след изпълнение.  Стекът се управлява автоматично — когато методът приключи, неговият stack frame се премахва.</vt:lpstr>
      <vt:lpstr>Какво се съхранява в хийпа Обекти от класове (всички типове, дефинирани с class). Масиви (дори и от примитивни типове). Всички данни, заделени динамично чрез new. Тези обекти се изчистват автоматично от Garbage Collector (GC), когато вече няма активни препратки към тях.</vt:lpstr>
      <vt:lpstr>Връзка между стек и хийп Когато създадеш обект от клас, например: Person p = new Person("Ivan");  В стека се създава променлива p, която съдържа референция (адрес) към обекта. Самият обект Person("Ivan") живее в хийпа. Ако създадеш нова променлива Person q = p;, тя също ще сочи към същия обект в хийпа (и промените чрез q ще се отразят и на p). </vt:lpstr>
      <vt:lpstr>PowerPoint Presentation</vt:lpstr>
      <vt:lpstr>Как се заделя памет в .NET? Стек и Хийп</vt:lpstr>
      <vt:lpstr>Как се заделя памет в .NET? [1/2]</vt:lpstr>
      <vt:lpstr>Как се заделя памет в .NET? [2/2]</vt:lpstr>
      <vt:lpstr>Как работи Garbage Collector?</vt:lpstr>
      <vt:lpstr>Алгоритъмът за почистване на паметта</vt:lpstr>
      <vt:lpstr>Поколения памет</vt:lpstr>
      <vt:lpstr>Почистване на Поколение 1 и Поколение 2</vt:lpstr>
      <vt:lpstr>Блок памет за големи обекти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23</cp:revision>
  <dcterms:created xsi:type="dcterms:W3CDTF">2022-08-09T09:25:46Z</dcterms:created>
  <dcterms:modified xsi:type="dcterms:W3CDTF">2025-10-20T07:34:31Z</dcterms:modified>
</cp:coreProperties>
</file>