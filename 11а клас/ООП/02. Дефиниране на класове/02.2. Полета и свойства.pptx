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571" r:id="rId3"/>
    <p:sldId id="578" r:id="rId4"/>
    <p:sldId id="584" r:id="rId5"/>
    <p:sldId id="587" r:id="rId6"/>
    <p:sldId id="613" r:id="rId7"/>
    <p:sldId id="614" r:id="rId8"/>
    <p:sldId id="615" r:id="rId9"/>
    <p:sldId id="486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578"/>
            <p14:sldId id="584"/>
            <p14:sldId id="587"/>
            <p14:sldId id="613"/>
            <p14:sldId id="614"/>
            <p14:sldId id="615"/>
            <p14:sldId id="48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CC53957-A1AF-4539-9A72-BD8AF8538D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25810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32F7EAA-20CD-4F37-BE85-AA3CE7630A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32185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4B1B015-A0E3-42C1-8E7B-A9377641E1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219028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9856B70-F05F-4873-A08E-C8E25281AB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82661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92ED1E6-7275-4817-938D-493B46550A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3065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BE65B3B-E6E2-4525-8F2E-49AC8F612DB9}" type="slidenum">
              <a:rPr lang="en-US"/>
              <a:t>9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6AB9F05-503E-4130-88C3-07161F55DA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57032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Полета и свойства в </a:t>
            </a:r>
            <a:r>
              <a:rPr lang="ru-RU" dirty="0" err="1">
                <a:latin typeface="Comfortaa" pitchFamily="2" charset="0"/>
              </a:rPr>
              <a:t>класовете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Съхраняване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данните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класа</a:t>
            </a:r>
            <a:endParaRPr lang="ru-RU" dirty="0">
              <a:latin typeface="Comfortaa" pitchFamily="2" charset="0"/>
            </a:endParaRPr>
          </a:p>
          <a:p>
            <a:endParaRPr lang="ru-RU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903" y="601474"/>
            <a:ext cx="100949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48501" y="1752601"/>
            <a:ext cx="10094999" cy="4294933"/>
          </a:xfrm>
        </p:spPr>
        <p:txBody>
          <a:bodyPr>
            <a:normAutofit/>
          </a:bodyPr>
          <a:lstStyle/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Полета</a:t>
            </a:r>
            <a:endParaRPr lang="en-US" dirty="0">
              <a:latin typeface="Comfortaa" pitchFamily="2" charset="0"/>
            </a:endParaRPr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Модификатори</a:t>
            </a:r>
            <a:endParaRPr lang="en-US" dirty="0">
              <a:latin typeface="Comfortaa" pitchFamily="2" charset="0"/>
            </a:endParaRPr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Свойства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8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634" y="1423061"/>
            <a:ext cx="10693778" cy="1789215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 се дефинира чрез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състояние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поведение</a:t>
            </a:r>
          </a:p>
          <a:p>
            <a:r>
              <a:rPr lang="bg-BG" dirty="0">
                <a:latin typeface="Comfortaa" pitchFamily="2" charset="0"/>
              </a:rPr>
              <a:t>Полетата</a:t>
            </a:r>
            <a:r>
              <a:rPr lang="en-GB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съхраняват състоянието</a:t>
            </a:r>
            <a:endParaRPr lang="en-GB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Методите</a:t>
            </a:r>
            <a:r>
              <a:rPr lang="en-GB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описват поведението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42965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Елементи на класа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1164889" y="3104798"/>
            <a:ext cx="9392274" cy="310006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class Dice {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int sides;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string type;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 void Roll(){ … }</a:t>
            </a:r>
          </a:p>
          <a:p>
            <a:r>
              <a:rPr lang="en-US" sz="32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5148045" y="3390903"/>
            <a:ext cx="1940853" cy="593469"/>
          </a:xfrm>
          <a:prstGeom prst="wedgeRoundRectCallout">
            <a:avLst>
              <a:gd name="adj1" fmla="val -108621"/>
              <a:gd name="adj2" fmla="val 3404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dirty="0">
                <a:solidFill>
                  <a:schemeClr val="bg1"/>
                </a:solidFill>
                <a:latin typeface="Comfortaa" pitchFamily="2" charset="0"/>
              </a:rPr>
              <a:t>Полета</a:t>
            </a:r>
            <a:endParaRPr lang="en-US" sz="2800" b="1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5948145" y="5420817"/>
            <a:ext cx="1847335" cy="593469"/>
          </a:xfrm>
          <a:prstGeom prst="wedgeRoundRectCallout">
            <a:avLst>
              <a:gd name="adj1" fmla="val -76131"/>
              <a:gd name="adj2" fmla="val -4992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dirty="0">
                <a:solidFill>
                  <a:schemeClr val="bg1"/>
                </a:solidFill>
                <a:latin typeface="Comfortaa" pitchFamily="2" charset="0"/>
              </a:rPr>
              <a:t>Метод</a:t>
            </a:r>
            <a:endParaRPr lang="en-US" sz="2800" b="1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73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7178"/>
            <a:ext cx="10515600" cy="602879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Полетата на класа имат тип и име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Полета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997479" y="2136934"/>
            <a:ext cx="10100012" cy="40233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600" dirty="0">
                <a:solidFill>
                  <a:schemeClr val="bg1"/>
                </a:solidFill>
                <a:effectLst/>
              </a:rPr>
              <a:t>class Dice {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string type;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int sides;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int[] rollFrequency;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Person owner;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…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4757056" y="4941124"/>
            <a:ext cx="3674423" cy="1036706"/>
          </a:xfrm>
          <a:prstGeom prst="wedgeRoundRectCallout">
            <a:avLst>
              <a:gd name="adj1" fmla="val -63466"/>
              <a:gd name="adj2" fmla="val -4769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Полетата могат да са от всякакъв тип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2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95" y="1695558"/>
            <a:ext cx="10591800" cy="1204753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Класовете и елементите на класа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имат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модификатори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Модификаторите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определят видимостта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59995" y="57833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Модификатори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918334" y="3429000"/>
            <a:ext cx="10355331" cy="23613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600" dirty="0">
                <a:solidFill>
                  <a:srgbClr val="00B0F0"/>
                </a:solidFill>
                <a:effectLst/>
              </a:rPr>
              <a:t>public</a:t>
            </a:r>
            <a:r>
              <a:rPr lang="en-US" sz="3600" dirty="0">
                <a:solidFill>
                  <a:schemeClr val="bg1"/>
                </a:solidFill>
                <a:effectLst/>
              </a:rPr>
              <a:t> class Dice {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</a:t>
            </a:r>
            <a:r>
              <a:rPr lang="en-US" sz="3600" dirty="0">
                <a:solidFill>
                  <a:srgbClr val="00B0F0"/>
                </a:solidFill>
                <a:effectLst/>
              </a:rPr>
              <a:t>private</a:t>
            </a:r>
            <a:r>
              <a:rPr lang="en-US" sz="3600" dirty="0">
                <a:solidFill>
                  <a:schemeClr val="bg1"/>
                </a:solidFill>
                <a:effectLst/>
              </a:rPr>
              <a:t> int sides;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  </a:t>
            </a:r>
            <a:r>
              <a:rPr lang="en-US" sz="3600" dirty="0">
                <a:solidFill>
                  <a:srgbClr val="00B0F0"/>
                </a:solidFill>
                <a:effectLst/>
              </a:rPr>
              <a:t>public</a:t>
            </a:r>
            <a:r>
              <a:rPr lang="en-US" sz="3600" dirty="0">
                <a:solidFill>
                  <a:schemeClr val="bg1"/>
                </a:solidFill>
                <a:effectLst/>
              </a:rPr>
              <a:t> void Roll(int amount);</a:t>
            </a:r>
          </a:p>
          <a:p>
            <a:r>
              <a:rPr lang="en-US" sz="36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416855" y="2728701"/>
            <a:ext cx="3931519" cy="584840"/>
          </a:xfrm>
          <a:prstGeom prst="wedgeRoundRectCallout">
            <a:avLst>
              <a:gd name="adj1" fmla="val -62758"/>
              <a:gd name="adj2" fmla="val 5796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Модификатор на клас</a:t>
            </a:r>
            <a:endParaRPr lang="en-US" sz="2000" b="1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578948" y="5333030"/>
            <a:ext cx="4343400" cy="542437"/>
          </a:xfrm>
          <a:prstGeom prst="wedgeRoundRectCallout">
            <a:avLst>
              <a:gd name="adj1" fmla="val -58249"/>
              <a:gd name="adj2" fmla="val -4960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Модификатор на елемент</a:t>
            </a:r>
            <a:endParaRPr lang="en-US" sz="2000" b="1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975788" y="3703308"/>
            <a:ext cx="3505200" cy="906391"/>
          </a:xfrm>
          <a:prstGeom prst="wedgeRoundRectCallout">
            <a:avLst>
              <a:gd name="adj1" fmla="val -71867"/>
              <a:gd name="adj2" fmla="val 2158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Полетата трябва винаги да са </a:t>
            </a:r>
            <a:r>
              <a:rPr lang="en-US" sz="2000" dirty="0">
                <a:solidFill>
                  <a:schemeClr val="bg1"/>
                </a:solidFill>
                <a:latin typeface="Comfortaa" pitchFamily="2" charset="0"/>
              </a:rPr>
              <a:t>private!</a:t>
            </a:r>
            <a:endParaRPr lang="en-US" sz="2000" b="1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86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01904"/>
            <a:ext cx="10515600" cy="995971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Използва се за създаване на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методи за четене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методи за промяна </a:t>
            </a:r>
            <a:r>
              <a:rPr lang="bg-BG" dirty="0">
                <a:latin typeface="Comfortaa" pitchFamily="2" charset="0"/>
              </a:rPr>
              <a:t>(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getters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setters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351424"/>
            <a:ext cx="10515600" cy="9504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Свойства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736222" y="2390234"/>
            <a:ext cx="10693778" cy="40233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  <a:effectLst/>
              </a:rPr>
              <a:t>class Dice {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private int sides;</a:t>
            </a:r>
          </a:p>
          <a:p>
            <a:endParaRPr lang="en-US" sz="2800" dirty="0">
              <a:solidFill>
                <a:schemeClr val="bg1"/>
              </a:solidFill>
              <a:effectLst/>
            </a:endParaRP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public int Sides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{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 public </a:t>
            </a:r>
            <a:r>
              <a:rPr lang="en-US" sz="2800" dirty="0">
                <a:solidFill>
                  <a:srgbClr val="00B0F0"/>
                </a:solidFill>
                <a:effectLst/>
              </a:rPr>
              <a:t>get</a:t>
            </a:r>
            <a:r>
              <a:rPr lang="en-US" sz="2800" dirty="0">
                <a:solidFill>
                  <a:schemeClr val="bg1"/>
                </a:solidFill>
                <a:effectLst/>
              </a:rPr>
              <a:t> { return this.sides; }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 public </a:t>
            </a:r>
            <a:r>
              <a:rPr lang="en-US" sz="2800" dirty="0">
                <a:solidFill>
                  <a:srgbClr val="00B0F0"/>
                </a:solidFill>
                <a:effectLst/>
              </a:rPr>
              <a:t>set</a:t>
            </a:r>
            <a:r>
              <a:rPr lang="en-US" sz="2800" dirty="0">
                <a:solidFill>
                  <a:schemeClr val="bg1"/>
                </a:solidFill>
                <a:effectLst/>
              </a:rPr>
              <a:t> { this.sides = value; }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787711" y="2249455"/>
            <a:ext cx="2756089" cy="646145"/>
          </a:xfrm>
          <a:prstGeom prst="wedgeRoundRectCallout">
            <a:avLst>
              <a:gd name="adj1" fmla="val -78126"/>
              <a:gd name="adj2" fmla="val 6423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Полето е скрито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629400" y="3240155"/>
            <a:ext cx="3581400" cy="990600"/>
          </a:xfrm>
          <a:prstGeom prst="wedgeRoundRectCallout">
            <a:avLst>
              <a:gd name="adj1" fmla="val -139806"/>
              <a:gd name="adj2" fmla="val 8063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GB" sz="2000" noProof="1">
                <a:solidFill>
                  <a:schemeClr val="bg1"/>
                </a:solidFill>
                <a:latin typeface="Comfortaa" pitchFamily="2" charset="0"/>
              </a:rPr>
              <a:t>Getter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-а</a:t>
            </a:r>
            <a:r>
              <a:rPr lang="en-GB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предоставя достъп до полето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665076" y="5715000"/>
            <a:ext cx="3757446" cy="908240"/>
          </a:xfrm>
          <a:prstGeom prst="wedgeRoundRectCallout">
            <a:avLst>
              <a:gd name="adj1" fmla="val -110178"/>
              <a:gd name="adj2" fmla="val -7426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GB" sz="2000" noProof="1">
                <a:solidFill>
                  <a:schemeClr val="bg1"/>
                </a:solidFill>
                <a:latin typeface="Comfortaa" pitchFamily="2" charset="0"/>
              </a:rPr>
              <a:t>Setter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-а</a:t>
            </a:r>
            <a:r>
              <a:rPr lang="en-GB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позволява промяна на полето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446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872" y="1421691"/>
            <a:ext cx="6229096" cy="47712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Създайте клас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BankAccount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Подсигурете се, че сте избрали подходящи имена</a:t>
            </a:r>
            <a:r>
              <a:rPr lang="en-US" sz="2000" dirty="0">
                <a:latin typeface="Comfortaa" pitchFamily="2" charset="0"/>
              </a:rPr>
              <a:t>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Задача</a:t>
            </a:r>
            <a:r>
              <a:rPr lang="en-US" sz="3200" dirty="0">
                <a:latin typeface="Comfortaa" pitchFamily="2" charset="0"/>
              </a:rPr>
              <a:t>: </a:t>
            </a:r>
            <a:r>
              <a:rPr lang="bg-BG" sz="3200" dirty="0">
                <a:latin typeface="Comfortaa" pitchFamily="2" charset="0"/>
              </a:rPr>
              <a:t>Описване на клас Банкова сметка</a:t>
            </a:r>
            <a:endParaRPr lang="en-US" sz="3200" dirty="0">
              <a:latin typeface="Comfortaa" pitchFamily="2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952829" y="2368827"/>
            <a:ext cx="4159500" cy="2120346"/>
            <a:chOff x="-307405" y="2077297"/>
            <a:chExt cx="3138865" cy="2120346"/>
          </a:xfrm>
          <a:solidFill>
            <a:schemeClr val="tx1"/>
          </a:solidFill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2633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</a:rPr>
                <a:t>BankAccount</a:t>
              </a:r>
              <a:endParaRPr lang="en-US" b="1" noProof="1">
                <a:solidFill>
                  <a:schemeClr val="bg1"/>
                </a:solidFill>
                <a:latin typeface="Consolas" pitchFamily="49" charset="0"/>
              </a:endParaRP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2"/>
              <a:ext cx="3137848" cy="966376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</a:rPr>
                <a:t>+id:string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</a:rPr>
                <a:t>+balance:double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7405" y="3643771"/>
              <a:ext cx="3137848" cy="553872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i="1" noProof="1">
                  <a:solidFill>
                    <a:schemeClr val="bg1"/>
                  </a:solidFill>
                  <a:latin typeface="Consolas" pitchFamily="49" charset="0"/>
                </a:rPr>
                <a:t>(no actions)</a:t>
              </a:r>
              <a:endParaRPr lang="en-US" sz="2000" b="1" i="1" noProof="1">
                <a:solidFill>
                  <a:schemeClr val="bg1"/>
                </a:solidFill>
                <a:latin typeface="Consolas" pitchFamily="49" charset="0"/>
              </a:endParaRPr>
            </a:p>
          </p:txBody>
        </p:sp>
      </p:grpSp>
      <p:sp>
        <p:nvSpPr>
          <p:cNvPr id="31" name="AutoShape 6"/>
          <p:cNvSpPr>
            <a:spLocks noChangeArrowheads="1"/>
          </p:cNvSpPr>
          <p:nvPr/>
        </p:nvSpPr>
        <p:spPr bwMode="auto">
          <a:xfrm>
            <a:off x="4569477" y="2001369"/>
            <a:ext cx="2415194" cy="479309"/>
          </a:xfrm>
          <a:prstGeom prst="wedgeRoundRectCallout">
            <a:avLst>
              <a:gd name="adj1" fmla="val -58939"/>
              <a:gd name="adj2" fmla="val 404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bg1"/>
                </a:solidFill>
                <a:latin typeface="Comfortaa" pitchFamily="2" charset="0"/>
              </a:rPr>
              <a:t>Име на класа</a:t>
            </a:r>
            <a:endParaRPr lang="en-US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3401548" y="2848137"/>
            <a:ext cx="2829097" cy="471686"/>
          </a:xfrm>
          <a:prstGeom prst="wedgeRoundRectCallout">
            <a:avLst>
              <a:gd name="adj1" fmla="val -58939"/>
              <a:gd name="adj2" fmla="val 404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bg1"/>
                </a:solidFill>
                <a:latin typeface="Comfortaa" pitchFamily="2" charset="0"/>
              </a:rPr>
              <a:t>Полета на класа</a:t>
            </a:r>
            <a:endParaRPr lang="en-US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3858883" y="3808334"/>
            <a:ext cx="2973388" cy="495330"/>
          </a:xfrm>
          <a:prstGeom prst="wedgeRoundRectCallout">
            <a:avLst>
              <a:gd name="adj1" fmla="val -58939"/>
              <a:gd name="adj2" fmla="val 404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bg1"/>
                </a:solidFill>
                <a:latin typeface="Comfortaa" pitchFamily="2" charset="0"/>
              </a:rPr>
              <a:t>Методи на класа</a:t>
            </a:r>
            <a:endParaRPr lang="en-US" noProof="1">
              <a:solidFill>
                <a:schemeClr val="bg1"/>
              </a:solidFill>
              <a:latin typeface="Comforta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54AE2-1D85-4B8C-A1B3-D839E1D87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90" t="19992" r="64300" b="35552"/>
          <a:stretch/>
        </p:blipFill>
        <p:spPr>
          <a:xfrm>
            <a:off x="7328454" y="1612525"/>
            <a:ext cx="4306833" cy="46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5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6948" y="335436"/>
            <a:ext cx="10317678" cy="990983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Решение</a:t>
            </a:r>
            <a:r>
              <a:rPr lang="en-US" sz="3200" b="1" dirty="0">
                <a:latin typeface="Comfortaa" pitchFamily="2" charset="0"/>
              </a:rPr>
              <a:t>: </a:t>
            </a:r>
            <a:r>
              <a:rPr lang="bg-BG" sz="3200" b="1" dirty="0">
                <a:latin typeface="Comfortaa" pitchFamily="2" charset="0"/>
              </a:rPr>
              <a:t>Описване на клас Банкова сметка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964870" y="1195791"/>
            <a:ext cx="10037618" cy="49467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sz="2400" dirty="0">
                <a:solidFill>
                  <a:schemeClr val="bg1"/>
                </a:solidFill>
                <a:effectLst/>
              </a:rPr>
              <a:t>private string id;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private decimal balance;</a:t>
            </a:r>
          </a:p>
          <a:p>
            <a:endParaRPr lang="en-GB" sz="2400" dirty="0">
              <a:solidFill>
                <a:schemeClr val="bg1"/>
              </a:solidFill>
              <a:effectLst/>
            </a:endParaRP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public string Id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      get { return this.id; }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      set { this.id = value; }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}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public decimal Balance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      get { return </a:t>
            </a:r>
            <a:r>
              <a:rPr lang="en-GB" sz="2400" dirty="0" err="1">
                <a:solidFill>
                  <a:schemeClr val="bg1"/>
                </a:solidFill>
                <a:effectLst/>
              </a:rPr>
              <a:t>this.balance</a:t>
            </a:r>
            <a:r>
              <a:rPr lang="en-GB" sz="2400" dirty="0">
                <a:solidFill>
                  <a:schemeClr val="bg1"/>
                </a:solidFill>
                <a:effectLst/>
              </a:rPr>
              <a:t>; }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      set { </a:t>
            </a:r>
            <a:r>
              <a:rPr lang="en-GB" sz="2400" dirty="0" err="1">
                <a:solidFill>
                  <a:schemeClr val="bg1"/>
                </a:solidFill>
                <a:effectLst/>
              </a:rPr>
              <a:t>this.balance</a:t>
            </a:r>
            <a:r>
              <a:rPr lang="en-GB" sz="2400" dirty="0">
                <a:solidFill>
                  <a:schemeClr val="bg1"/>
                </a:solidFill>
                <a:effectLst/>
              </a:rPr>
              <a:t> = value; }</a:t>
            </a:r>
          </a:p>
          <a:p>
            <a:r>
              <a:rPr lang="en-GB" sz="24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801C8730-FEF1-4AB6-9DA6-1EA5B999C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80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103" y="730488"/>
            <a:ext cx="10134600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научихме днес?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1028700" y="1828800"/>
            <a:ext cx="10134600" cy="3962400"/>
          </a:xfrm>
        </p:spPr>
        <p:txBody>
          <a:bodyPr>
            <a:no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Полетата</a:t>
            </a:r>
            <a:r>
              <a:rPr lang="en-GB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съхраняват състоянието на класа</a:t>
            </a:r>
            <a:endParaRPr lang="en-GB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Те трябва да са </a:t>
            </a:r>
            <a:r>
              <a:rPr lang="en-US" dirty="0">
                <a:latin typeface="Comfortaa" pitchFamily="2" charset="0"/>
              </a:rPr>
              <a:t>private</a:t>
            </a: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Свойствата</a:t>
            </a:r>
            <a:r>
              <a:rPr lang="bg-BG" dirty="0">
                <a:latin typeface="Comfortaa" pitchFamily="2" charset="0"/>
              </a:rPr>
              <a:t> предоставят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достъп до и промяна на полетата на класа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Модификаторите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определят видимостта 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7371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575</Words>
  <Application>Microsoft Office PowerPoint</Application>
  <PresentationFormat>Widescreen</PresentationFormat>
  <Paragraphs>118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Полета и свойства в класовете</vt:lpstr>
      <vt:lpstr>Съдържание</vt:lpstr>
      <vt:lpstr>Елементи на класа</vt:lpstr>
      <vt:lpstr>Полета</vt:lpstr>
      <vt:lpstr>Модификатори</vt:lpstr>
      <vt:lpstr>Свойства</vt:lpstr>
      <vt:lpstr>Задача: Описване на клас Банкова сметка</vt:lpstr>
      <vt:lpstr>Решение: Описване на клас Банкова сметка</vt:lpstr>
      <vt:lpstr>Какво научихме днес?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14</cp:revision>
  <dcterms:created xsi:type="dcterms:W3CDTF">2022-08-09T09:25:46Z</dcterms:created>
  <dcterms:modified xsi:type="dcterms:W3CDTF">2022-09-14T15:40:59Z</dcterms:modified>
</cp:coreProperties>
</file>