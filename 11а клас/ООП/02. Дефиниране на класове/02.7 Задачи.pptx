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863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608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769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924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0551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6032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3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4380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1634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9763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585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98F0E-935C-4A87-80B4-BB1FF5BD446C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5385D-2F1E-4231-9F5E-301F71EEB5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551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9600" dirty="0" smtClean="0"/>
              <a:t>Задачи</a:t>
            </a:r>
            <a:endParaRPr lang="bg-BG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19145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2"/>
    </mc:Choice>
    <mc:Fallback>
      <p:transition spd="slow" advTm="2622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1578"/>
          </a:xfrm>
        </p:spPr>
        <p:txBody>
          <a:bodyPr>
            <a:normAutofit/>
          </a:bodyPr>
          <a:lstStyle/>
          <a:p>
            <a:r>
              <a:rPr lang="en-US" sz="3200" dirty="0"/>
              <a:t>class Person</a:t>
            </a:r>
            <a:br>
              <a:rPr lang="en-US" sz="3200" dirty="0"/>
            </a:br>
            <a:r>
              <a:rPr lang="en-US" sz="3200" dirty="0"/>
              <a:t>{</a:t>
            </a:r>
            <a:br>
              <a:rPr lang="en-US" sz="3200" dirty="0"/>
            </a:br>
            <a:r>
              <a:rPr lang="en-US" sz="3200" dirty="0"/>
              <a:t>    public string Name;</a:t>
            </a:r>
            <a:br>
              <a:rPr lang="en-US" sz="3200" dirty="0"/>
            </a:b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Person p1 = new Person();</a:t>
            </a:r>
            <a:br>
              <a:rPr lang="en-US" sz="3200" dirty="0"/>
            </a:br>
            <a:r>
              <a:rPr lang="en-US" sz="3200" dirty="0"/>
              <a:t>p1.Name = "</a:t>
            </a:r>
            <a:r>
              <a:rPr lang="en-US" sz="3200" dirty="0" err="1" smtClean="0"/>
              <a:t>Iveta</a:t>
            </a:r>
            <a:r>
              <a:rPr lang="en-US" sz="3200" dirty="0" smtClean="0"/>
              <a:t>";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Person p2 = p1;</a:t>
            </a:r>
            <a:br>
              <a:rPr lang="en-US" sz="3200" dirty="0"/>
            </a:br>
            <a:r>
              <a:rPr lang="en-US" sz="3200" dirty="0"/>
              <a:t>p2.Name = </a:t>
            </a:r>
            <a:r>
              <a:rPr lang="en-US" sz="3200" dirty="0" smtClean="0"/>
              <a:t>“Ivan";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err="1"/>
              <a:t>Console.WriteLine</a:t>
            </a:r>
            <a:r>
              <a:rPr lang="en-US" sz="3200" dirty="0"/>
              <a:t>(p1.Name);</a:t>
            </a:r>
            <a:br>
              <a:rPr lang="en-US" sz="3200" dirty="0"/>
            </a:b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59560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444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Отговор</a:t>
            </a:r>
            <a:r>
              <a:rPr lang="en-US" dirty="0"/>
              <a:t>: </a:t>
            </a:r>
            <a:r>
              <a:rPr lang="en-US" dirty="0" smtClean="0"/>
              <a:t>Ivan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bg-BG" dirty="0"/>
              <a:t/>
            </a:r>
            <a:br>
              <a:rPr lang="bg-BG" dirty="0"/>
            </a:br>
            <a:r>
              <a:rPr lang="en-US" dirty="0" err="1"/>
              <a:t>Обяснение</a:t>
            </a:r>
            <a:r>
              <a:rPr lang="en-US" dirty="0"/>
              <a:t>: p1 и p2 </a:t>
            </a:r>
            <a:r>
              <a:rPr lang="en-US" dirty="0" err="1"/>
              <a:t>сочат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и </a:t>
            </a:r>
            <a:r>
              <a:rPr lang="en-US" dirty="0" err="1"/>
              <a:t>същ</a:t>
            </a:r>
            <a:r>
              <a:rPr lang="en-US" dirty="0"/>
              <a:t> </a:t>
            </a:r>
            <a:r>
              <a:rPr lang="en-US" dirty="0" err="1"/>
              <a:t>обект</a:t>
            </a:r>
            <a:r>
              <a:rPr lang="en-US" dirty="0"/>
              <a:t> в </a:t>
            </a:r>
            <a:r>
              <a:rPr lang="en-US" dirty="0" err="1"/>
              <a:t>хийпа</a:t>
            </a:r>
            <a:r>
              <a:rPr lang="en-US" dirty="0"/>
              <a:t>. </a:t>
            </a:r>
            <a:r>
              <a:rPr lang="en-US" dirty="0" err="1"/>
              <a:t>Промяната</a:t>
            </a:r>
            <a:r>
              <a:rPr lang="en-US" dirty="0"/>
              <a:t> </a:t>
            </a:r>
            <a:r>
              <a:rPr lang="en-US" dirty="0" err="1"/>
              <a:t>през</a:t>
            </a:r>
            <a:r>
              <a:rPr lang="en-US" dirty="0"/>
              <a:t> p2 </a:t>
            </a:r>
            <a:r>
              <a:rPr lang="en-US" dirty="0" err="1"/>
              <a:t>променя</a:t>
            </a:r>
            <a:r>
              <a:rPr lang="en-US" dirty="0"/>
              <a:t> </a:t>
            </a:r>
            <a:r>
              <a:rPr lang="en-US" dirty="0" err="1"/>
              <a:t>същия</a:t>
            </a:r>
            <a:r>
              <a:rPr lang="en-US" dirty="0"/>
              <a:t> </a:t>
            </a:r>
            <a:r>
              <a:rPr lang="en-US" dirty="0" err="1"/>
              <a:t>обект</a:t>
            </a:r>
            <a:r>
              <a:rPr lang="en-US" dirty="0"/>
              <a:t>, </a:t>
            </a:r>
            <a:r>
              <a:rPr lang="en-US" dirty="0" err="1"/>
              <a:t>така</a:t>
            </a:r>
            <a:r>
              <a:rPr lang="en-US" dirty="0"/>
              <a:t> </a:t>
            </a:r>
            <a:r>
              <a:rPr lang="en-US" dirty="0" err="1"/>
              <a:t>че</a:t>
            </a:r>
            <a:r>
              <a:rPr lang="en-US" dirty="0"/>
              <a:t> p1.Name </a:t>
            </a:r>
            <a:r>
              <a:rPr lang="en-US" dirty="0" err="1"/>
              <a:t>също</a:t>
            </a:r>
            <a:r>
              <a:rPr lang="en-US" dirty="0"/>
              <a:t> </a:t>
            </a:r>
            <a:r>
              <a:rPr lang="en-US" dirty="0" err="1"/>
              <a:t>става</a:t>
            </a:r>
            <a:r>
              <a:rPr lang="en-US" dirty="0"/>
              <a:t> </a:t>
            </a:r>
            <a:r>
              <a:rPr lang="en-US" dirty="0" smtClean="0"/>
              <a:t>“Ivan".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0807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0847"/>
          </a:xfrm>
        </p:spPr>
        <p:txBody>
          <a:bodyPr>
            <a:noAutofit/>
          </a:bodyPr>
          <a:lstStyle/>
          <a:p>
            <a:r>
              <a:rPr lang="en-US" sz="3200" dirty="0" err="1"/>
              <a:t>struct</a:t>
            </a:r>
            <a:r>
              <a:rPr lang="en-US" sz="3200" dirty="0"/>
              <a:t> Point</a:t>
            </a:r>
            <a:br>
              <a:rPr lang="en-US" sz="3200" dirty="0"/>
            </a:br>
            <a:r>
              <a:rPr lang="en-US" sz="3200" dirty="0"/>
              <a:t>{</a:t>
            </a:r>
            <a:br>
              <a:rPr lang="en-US" sz="3200" dirty="0"/>
            </a:br>
            <a:r>
              <a:rPr lang="en-US" sz="3200" dirty="0"/>
              <a:t>    public </a:t>
            </a:r>
            <a:r>
              <a:rPr lang="en-US" sz="3200" dirty="0" err="1"/>
              <a:t>int</a:t>
            </a:r>
            <a:r>
              <a:rPr lang="en-US" sz="3200" dirty="0"/>
              <a:t> X;</a:t>
            </a:r>
            <a:br>
              <a:rPr lang="en-US" sz="3200" dirty="0"/>
            </a:br>
            <a:r>
              <a:rPr lang="en-US" sz="3200" dirty="0"/>
              <a:t>    public </a:t>
            </a:r>
            <a:r>
              <a:rPr lang="en-US" sz="3200" dirty="0" err="1"/>
              <a:t>int</a:t>
            </a:r>
            <a:r>
              <a:rPr lang="en-US" sz="3200" dirty="0"/>
              <a:t> Y;</a:t>
            </a:r>
            <a:br>
              <a:rPr lang="en-US" sz="3200" dirty="0"/>
            </a:b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Point p1 = new Point();</a:t>
            </a:r>
            <a:br>
              <a:rPr lang="en-US" sz="3200" dirty="0"/>
            </a:br>
            <a:r>
              <a:rPr lang="en-US" sz="3200" dirty="0"/>
              <a:t>p1.X = 10;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Point p2 = p1;</a:t>
            </a:r>
            <a:br>
              <a:rPr lang="en-US" sz="3200" dirty="0"/>
            </a:br>
            <a:r>
              <a:rPr lang="en-US" sz="3200" dirty="0"/>
              <a:t>p2.X = 20;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err="1"/>
              <a:t>Console.WriteLine</a:t>
            </a:r>
            <a:r>
              <a:rPr lang="en-US" sz="3200" dirty="0"/>
              <a:t>(p1.X);</a:t>
            </a:r>
            <a:br>
              <a:rPr lang="en-US" sz="3200" dirty="0"/>
            </a:b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188753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379"/>
          </a:xfrm>
        </p:spPr>
        <p:txBody>
          <a:bodyPr/>
          <a:lstStyle/>
          <a:p>
            <a:r>
              <a:rPr lang="en-US" dirty="0" err="1"/>
              <a:t>Отговор</a:t>
            </a:r>
            <a:r>
              <a:rPr lang="en-US" dirty="0"/>
              <a:t>: </a:t>
            </a:r>
            <a:r>
              <a:rPr lang="en-US" dirty="0" smtClean="0"/>
              <a:t>10</a:t>
            </a:r>
            <a:br>
              <a:rPr lang="en-US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en-US" dirty="0" err="1"/>
              <a:t>Обяснение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стойностните</a:t>
            </a:r>
            <a:r>
              <a:rPr lang="en-US" dirty="0"/>
              <a:t> </a:t>
            </a:r>
            <a:r>
              <a:rPr lang="en-US" dirty="0" err="1"/>
              <a:t>типове</a:t>
            </a:r>
            <a:r>
              <a:rPr lang="en-US" dirty="0"/>
              <a:t> (</a:t>
            </a:r>
            <a:r>
              <a:rPr lang="en-US" dirty="0" err="1"/>
              <a:t>struct</a:t>
            </a:r>
            <a:r>
              <a:rPr lang="en-US" dirty="0"/>
              <a:t>)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прави</a:t>
            </a:r>
            <a:r>
              <a:rPr lang="en-US" dirty="0"/>
              <a:t> </a:t>
            </a:r>
            <a:r>
              <a:rPr lang="en-US" dirty="0" err="1"/>
              <a:t>копие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стойността</a:t>
            </a:r>
            <a:r>
              <a:rPr lang="en-US" dirty="0"/>
              <a:t>. p1 и p2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отделни</a:t>
            </a:r>
            <a:r>
              <a:rPr lang="en-US" dirty="0"/>
              <a:t> </a:t>
            </a:r>
            <a:r>
              <a:rPr lang="en-US" dirty="0" err="1"/>
              <a:t>обекта</a:t>
            </a:r>
            <a:r>
              <a:rPr lang="en-US" dirty="0"/>
              <a:t> в </a:t>
            </a:r>
            <a:r>
              <a:rPr lang="en-US" dirty="0" err="1"/>
              <a:t>стека</a:t>
            </a:r>
            <a:r>
              <a:rPr lang="en-US" dirty="0"/>
              <a:t>, </a:t>
            </a:r>
            <a:r>
              <a:rPr lang="en-US" dirty="0" err="1"/>
              <a:t>така</a:t>
            </a:r>
            <a:r>
              <a:rPr lang="en-US" dirty="0"/>
              <a:t>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промяната</a:t>
            </a:r>
            <a:r>
              <a:rPr lang="en-US" dirty="0"/>
              <a:t> в p2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засяга</a:t>
            </a:r>
            <a:r>
              <a:rPr lang="en-US" dirty="0"/>
              <a:t> p1.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5548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8312"/>
          </a:xfrm>
        </p:spPr>
        <p:txBody>
          <a:bodyPr>
            <a:normAutofit/>
          </a:bodyPr>
          <a:lstStyle/>
          <a:p>
            <a:r>
              <a:rPr lang="en-US" sz="2800" dirty="0"/>
              <a:t>class Engine { public </a:t>
            </a:r>
            <a:r>
              <a:rPr lang="en-US" sz="2800" dirty="0" err="1"/>
              <a:t>int</a:t>
            </a:r>
            <a:r>
              <a:rPr lang="en-US" sz="2800" dirty="0"/>
              <a:t> Power; }</a:t>
            </a:r>
            <a:br>
              <a:rPr lang="en-US" sz="2800" dirty="0"/>
            </a:br>
            <a:r>
              <a:rPr lang="en-US" sz="2800" dirty="0"/>
              <a:t>class Car</a:t>
            </a:r>
            <a:br>
              <a:rPr lang="en-US" sz="2800" dirty="0"/>
            </a:br>
            <a:r>
              <a:rPr lang="en-US" sz="2800" dirty="0"/>
              <a:t>{</a:t>
            </a:r>
            <a:br>
              <a:rPr lang="en-US" sz="2800" dirty="0"/>
            </a:br>
            <a:r>
              <a:rPr lang="en-US" sz="2800" dirty="0"/>
              <a:t>    public Engine </a:t>
            </a:r>
            <a:r>
              <a:rPr lang="en-US" sz="2800" dirty="0" err="1"/>
              <a:t>Engine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}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Car c1 = new Car();</a:t>
            </a:r>
            <a:br>
              <a:rPr lang="en-US" sz="2800" dirty="0"/>
            </a:br>
            <a:r>
              <a:rPr lang="en-US" sz="2800" dirty="0"/>
              <a:t>c1.Engine = new Engine();</a:t>
            </a:r>
            <a:br>
              <a:rPr lang="en-US" sz="2800" dirty="0"/>
            </a:br>
            <a:r>
              <a:rPr lang="en-US" sz="2800" dirty="0"/>
              <a:t>c1.Engine.Power = 100;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Car c2 = c1;</a:t>
            </a:r>
            <a:br>
              <a:rPr lang="en-US" sz="2800" dirty="0"/>
            </a:br>
            <a:r>
              <a:rPr lang="en-US" sz="2800" dirty="0"/>
              <a:t>c2.Engine.Power = 200;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/>
              <a:t>Console.WriteLine</a:t>
            </a:r>
            <a:r>
              <a:rPr lang="en-US" sz="2800" dirty="0"/>
              <a:t>(c1.Engine.Power);</a:t>
            </a:r>
            <a:br>
              <a:rPr lang="en-US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4871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6892"/>
          </a:xfrm>
        </p:spPr>
        <p:txBody>
          <a:bodyPr/>
          <a:lstStyle/>
          <a:p>
            <a:r>
              <a:rPr lang="en-US" dirty="0" err="1"/>
              <a:t>Отговор</a:t>
            </a:r>
            <a:r>
              <a:rPr lang="en-US" dirty="0"/>
              <a:t>: </a:t>
            </a:r>
            <a:r>
              <a:rPr lang="en-US" dirty="0" smtClean="0"/>
              <a:t>200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en-US" dirty="0" err="1"/>
              <a:t>Обяснение</a:t>
            </a:r>
            <a:r>
              <a:rPr lang="en-US" dirty="0"/>
              <a:t>: c1 и c2 </a:t>
            </a:r>
            <a:r>
              <a:rPr lang="en-US" dirty="0" err="1"/>
              <a:t>сочат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и </a:t>
            </a:r>
            <a:r>
              <a:rPr lang="en-US" dirty="0" err="1"/>
              <a:t>същ</a:t>
            </a:r>
            <a:r>
              <a:rPr lang="en-US" dirty="0"/>
              <a:t> </a:t>
            </a:r>
            <a:r>
              <a:rPr lang="en-US" dirty="0" err="1"/>
              <a:t>обект</a:t>
            </a:r>
            <a:r>
              <a:rPr lang="en-US" dirty="0"/>
              <a:t> Car в </a:t>
            </a:r>
            <a:r>
              <a:rPr lang="en-US" dirty="0" err="1"/>
              <a:t>хийпа</a:t>
            </a:r>
            <a:r>
              <a:rPr lang="en-US" dirty="0"/>
              <a:t>,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съдържа</a:t>
            </a:r>
            <a:r>
              <a:rPr lang="en-US" dirty="0"/>
              <a:t> </a:t>
            </a:r>
            <a:r>
              <a:rPr lang="en-US" dirty="0" err="1"/>
              <a:t>препратка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и </a:t>
            </a:r>
            <a:r>
              <a:rPr lang="en-US" dirty="0" err="1"/>
              <a:t>същ</a:t>
            </a:r>
            <a:r>
              <a:rPr lang="en-US" dirty="0"/>
              <a:t> </a:t>
            </a:r>
            <a:r>
              <a:rPr lang="en-US" dirty="0" err="1"/>
              <a:t>обект</a:t>
            </a:r>
            <a:r>
              <a:rPr lang="en-US" dirty="0"/>
              <a:t> Engine. </a:t>
            </a:r>
            <a:r>
              <a:rPr lang="en-US" dirty="0" err="1"/>
              <a:t>Промяната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Power </a:t>
            </a:r>
            <a:r>
              <a:rPr lang="en-US" dirty="0" err="1"/>
              <a:t>чрез</a:t>
            </a:r>
            <a:r>
              <a:rPr lang="en-US" dirty="0"/>
              <a:t> c2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отразява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c1.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8430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Задачи</vt:lpstr>
      <vt:lpstr>class Person {     public string Name; }  Person p1 = new Person(); p1.Name = "Iveta";  Person p2 = p1; p2.Name = “Ivan";  Console.WriteLine(p1.Name); </vt:lpstr>
      <vt:lpstr>Отговор: Ivan   Обяснение: p1 и p2 сочат към един и същ обект в хийпа. Промяната през p2 променя същия обект, така че p1.Name също става “Ivan". </vt:lpstr>
      <vt:lpstr>struct Point {     public int X;     public int Y; }  Point p1 = new Point(); p1.X = 10;  Point p2 = p1; p2.X = 20;  Console.WriteLine(p1.X); </vt:lpstr>
      <vt:lpstr>Отговор: 10  Обяснение: При стойностните типове (struct) се прави копие на стойността. p1 и p2 са два отделни обекта в стека, така че промяната в p2 не засяга p1. </vt:lpstr>
      <vt:lpstr>class Engine { public int Power; } class Car {     public Engine Engine; }  Car c1 = new Car(); c1.Engine = new Engine(); c1.Engine.Power = 100;  Car c2 = c1; c2.Engine.Power = 200;  Console.WriteLine(c1.Engine.Power); </vt:lpstr>
      <vt:lpstr>Отговор: 200  Обяснение: c1 и c2 сочат към един и същ обект Car в хийпа, който съдържа препратка към един и същ обект Engine. Промяната на Power чрез c2 се отразява и при c1.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Задачи</dc:title>
  <dc:creator>Neli Nqgolova</dc:creator>
  <cp:lastModifiedBy>Neli Nqgolova</cp:lastModifiedBy>
  <cp:revision>5</cp:revision>
  <dcterms:created xsi:type="dcterms:W3CDTF">2025-10-20T09:34:58Z</dcterms:created>
  <dcterms:modified xsi:type="dcterms:W3CDTF">2025-10-20T10:38:01Z</dcterms:modified>
</cp:coreProperties>
</file>