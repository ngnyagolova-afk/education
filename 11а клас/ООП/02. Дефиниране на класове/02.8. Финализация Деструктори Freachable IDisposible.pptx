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6"/>
  </p:notesMasterIdLst>
  <p:sldIdLst>
    <p:sldId id="258" r:id="rId2"/>
    <p:sldId id="571" r:id="rId3"/>
    <p:sldId id="612" r:id="rId4"/>
    <p:sldId id="613" r:id="rId5"/>
    <p:sldId id="595" r:id="rId6"/>
    <p:sldId id="610" r:id="rId7"/>
    <p:sldId id="614" r:id="rId8"/>
    <p:sldId id="598" r:id="rId9"/>
    <p:sldId id="608" r:id="rId10"/>
    <p:sldId id="596" r:id="rId11"/>
    <p:sldId id="611" r:id="rId12"/>
    <p:sldId id="603" r:id="rId13"/>
    <p:sldId id="615" r:id="rId14"/>
    <p:sldId id="60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</p14:sldIdLst>
        </p14:section>
        <p14:section name="Съдържание" id="{0B0C01F3-1F60-4ADB-AC1E-9589654EAEF3}">
          <p14:sldIdLst>
            <p14:sldId id="571"/>
            <p14:sldId id="612"/>
            <p14:sldId id="613"/>
            <p14:sldId id="595"/>
            <p14:sldId id="610"/>
            <p14:sldId id="614"/>
            <p14:sldId id="598"/>
            <p14:sldId id="608"/>
            <p14:sldId id="596"/>
            <p14:sldId id="611"/>
            <p14:sldId id="603"/>
            <p14:sldId id="615"/>
            <p14:sldId id="604"/>
          </p14:sldIdLst>
        </p14:section>
        <p14:section name="Заключение" id="{9315BEE7-605C-4839-996A-A4EEA70921D9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8A51F5-6E34-4A9B-8787-8C29D4F40D1D}" v="1" dt="2022-08-10T06:34:56.1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>
      <p:cViewPr varScale="1">
        <p:scale>
          <a:sx n="80" d="100"/>
          <a:sy n="80" d="100"/>
        </p:scale>
        <p:origin x="1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5760" units="cm"/>
          <inkml:channel name="Y" type="integer" max="2160" units="cm"/>
          <inkml:channel name="T" type="integer" max="2.14748E9" units="dev"/>
        </inkml:traceFormat>
        <inkml:channelProperties>
          <inkml:channelProperty channel="X" name="resolution" value="190.72847" units="1/cm"/>
          <inkml:channelProperty channel="Y" name="resolution" value="114.28571" units="1/cm"/>
          <inkml:channelProperty channel="T" name="resolution" value="1" units="1/dev"/>
        </inkml:channelProperties>
      </inkml:inkSource>
      <inkml:timestamp xml:id="ts0" timeString="2025-11-10T06:23:32.5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11575 8107 0,'29'-57'156,"-29"0"-141,-57-1-15,28-56 0,-28 57 16,-1 28-16,1-28 16,0-1-16,-29 1 15,29-58-15,-29 29 0,-29 29 16,58-57-16,-29 56 16,0-28-16,29 58 15,-1-87-15,30 86 16,-1 29-16,-57-57 15,29 29-15,-1-1 16,-28-28-16,0 28 0,58 0 16,-29 29-16,-1-57 15,-56 0-15,28 28 16,28 0 0,1-28-16,28 57 15,-57 0-15,58 0 16,-1-29-1,-28 1-15,0-1 16,-1 29-16,-28-28 16,0 28-1,-28-29-15,56 29 16,1-29-16,-29 29 16,0-57-16,58 57 15,-58-29-15,0 1 0,57 28 16,-28-29-16,28 29 15,-86 0 1,58 0-16,-29-29 16,29 29-16,0-28 15,-1-1-15,1 29 16,-29-29 0,29 29-16,-1-28 15,-28-1-15,58 29 16,-30 0-16,-28-29 15,29 29-15,-29 0 16,58 0-16,-30 0 16,-28 0-16,-28 0 15,85 0-15,-86 0 0,29 0 16,1 0-16,-1 0 0,-58 0 16,58 0-16,29 0 15,-58 0-15,-56 0 16,-30 0-16,29 0 15,0 0-15,0 0 16,29 0-16,28 0 0,-28 0 31,28 0-31,-28 0 16,29 0-16,-58 0 16,0 0-16,-57 0 15,28 0-15,29 0 0,0 0 16,58 0-16,56 0 15,1 0-15,0 0 16,-1 0 0,1 0-1,-29-28-15,0 28 16,29 0-16,0 0 16,-1-29-16,30 29 0,-58 0 15,28 0-15,30-57 16,-30 57-16,1 0 15,0-29-15,-1 29 0,-27 0 16,56 0 0,-28 0-16,-1 0 0,1 0 15,-29 0-15,0 0 16,0 0 0,0 0-1,29 0-15,0 0 16,-1 29-16,1-29 0,0 0 15,-58 29-15,86-29 16,-85 57-16,28-29 16,0 1-16,-29 57 15,29-29-15,29 29 0,28-57 16,-57 57-16,29-29 16,28 29-16,-57 29 15,29-58-15,28 29 16,-28 29-16,57-58 15,-57 0-15,57 0 16,-29 29-16,-28 58 0,28-58 16,29-1-16,0 87 15,0-57-15,0-58 16,0 58-16,0-58 16,0 29-16,0-29 15,0 29-15,0-28 0,0-1 31,0 29-31,0 0 0,0 0 16,0 28 0,0-28-16,0 0 0,0 29 15,0-1-15,0-28 16,0 0-16,58 0 16,-58 29-16,28-58 15,-28 29-15,0-29 0,0 29 16,29-29-16,-29 87 15,0-116-15,0 30 16,0 56-16,29-28 16,-29 0-16,0-29 15,0 29-15,0-28 16,0-1 0,57 29-16,-57-29 15,0 0-15,0 29 16,28 29-16,-28-58 15,0 1-15,29 28 16,0-1-16,-1-27 16,-28-1-16,0 29 0,29-29 15,0 58-15,57-29 0,-86-58 16,28 30-16,-28-1 16,29 0-16,-29 1 15,0-1-15,0-28 16,29-1-1,-29 1-15,0-1 16,0 30 0,28-30-1,1 30-15,-29-1 16,29 0 0,28-28-16,-28 28 15,-1 29 1,1-57-1,0-1-15,-29 30 0,28-30 16,-28 1-16,29 28 16,-1-57-16,-28 58 15,58-30-15,-58 1 16,28 0-16,1-1 16,0 1-1,28 0-15,-28-29 16,28 0-1,-28 0 1,-1 28-16,1-28 31,28 0-31,-28 0 0,28 0 16,1 0-16,-1 0 16,29 0-16,-29 0 15,29 0 1,-29 0-16,58 0 15,-58 0-15,29-28 16,0-1-16,-29 0 16,1 29-16,28-57 0,-29 28 15,29 1-15,-57 28 16,28 0-16,-28 0 16,28-29-16,0 29 15,1 0-15,-1 0 0,29 0 16,0-29-16,-29 29 15,29 0-15,-29 0 16,87 0 0,-58 0-16,-29 0 15,57 0-15,58 0 16,29 0-16,-29 0 16,57 0-16,-57 0 15,-86 0-15,28 0 16,58 0-16,0 0 15,58 0-15,-1 0 0,-57 0 16,57 0-16,-29 0 16,-28 0-16,58 0 15,-59 0-15,1 0 16,0 0-16,-28 0 16,27 0-16,-56 0 15,0 0-15,-1 0 0,-56 0 16,56 0-16,1 0 0,-58 0 15,0 0-15,29 0 16,-28 0-16,56 0 16,30 0-16,-58 0 15,28 0-15,-57-28 16,58 28 0,-29 0-16,29 0 15,28 0-15,-57-58 16,0 58-16,57 0 15,29 0-15,0 0 16,0 0-16,-29-28 16,0-30-16,-28 30 15,0-58-15,-30 29 0,1 28 16,29-57-16,-58 29 16,-28-58-16,57 29 15,-29-28-15,-28 28 16,28 0-16,29-29 0,-57 29 15,-29 29 1,0-58-16,57 1 16,-57 56-1,0-27-15,0 27 0,0-28 16,0 29-16,0-29 16,0 29-16,0-1 15,0 1-15,0 0 16,0-29-16,0 0 15,0 0-15,0 0 0,-57-28 16,57 85-16,-29-57 16,0 29-1,29 28-15,0-28 16,0-1-16,0-28 16,0 1-16,0-30 15,0 86 1,0 1-16,0-1 15,-28-57-15,-1 29 16,29 28-16,-28-57 16,28 29-16,0 28 15,0-28-15,0 0 16,0-29-16,0 57 16,0-28-16,-29 28 0,29-28 15,0 0-15,0 28 16,0-28-1,0 28-15,0 0 16,0 1-16,0-30 16,0 30-16,0-1 15,0 0-15,0 1 0,0-1 16,0 0-16,0 1 16,0-1-16,0 1 15,0-1-15,0 0 16,0 1-1,0-58-15,0 28 32,-57 30-32,57-1 15,0 0 1,-29 1 31,29-1 156,0 1-187,0-30-16,0 30 15,0-1-15,0-28 16,0-29-16,0 57 15,0-28-15,-29-1 0,29-27 16,-28 56-16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10.11.2025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8A3F88FB-A722-43B0-A2E9-887CECDC2A2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9988224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4E5DCC78-75EF-42DE-AE23-0514E08208C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268429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97E82AAF-AF64-4A43-ACC2-2F484ECBFAA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4505230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>
                <a:solidFill>
                  <a:prstClr val="black"/>
                </a:solidFill>
              </a:rPr>
              <a:pPr/>
              <a:t>8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E79B44B-F647-4A1B-9931-3CBF0B5E013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5558745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6AE15B4C-76D5-4B52-80AD-1EB5CF27AC3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4410060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C294D575-B3E5-4106-B85B-B14EC9A08F7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7525877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FD96AFBA-71FD-4665-A28E-A5CED461027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5286415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>
                <a:solidFill>
                  <a:prstClr val="black"/>
                </a:solidFill>
              </a:rPr>
              <a:pPr/>
              <a:t>12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DF6A53F-26DB-46A8-AC49-CCF264E97B9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9437101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309C4467-E9B9-4344-A71D-A7B57416E51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655835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10.11.2025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56208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10.11.2025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532689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10.11.2025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387614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10.11.2025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75059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10.11.2025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3904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10.11.2025 г.</a:t>
            </a:fld>
            <a:endParaRPr lang="bg-BG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076428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10.11.2025 г.</a:t>
            </a:fld>
            <a:endParaRPr lang="bg-BG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44608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10.11.2025 г.</a:t>
            </a:fld>
            <a:endParaRPr lang="bg-BG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66576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10.11.2025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744316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10.11.2025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323810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10.11.2025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384338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10.11.2025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010055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10.11.2025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689574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10.11.2025 г.</a:t>
            </a:fld>
            <a:endParaRPr lang="bg-B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779775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10.11.2025 г.</a:t>
            </a:fld>
            <a:endParaRPr lang="bg-B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5846562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10.11.2025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8370473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10.11.2025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409154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10.11.2025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7151089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7413" y="739471"/>
            <a:ext cx="10937173" cy="3355451"/>
          </a:xfrm>
        </p:spPr>
        <p:txBody>
          <a:bodyPr>
            <a:noAutofit/>
          </a:bodyPr>
          <a:lstStyle/>
          <a:p>
            <a:r>
              <a:rPr lang="ru-RU" sz="4400" dirty="0">
                <a:latin typeface="Comfortaa" pitchFamily="2" charset="0"/>
              </a:rPr>
              <a:t>Финализация. </a:t>
            </a:r>
            <a:r>
              <a:rPr lang="ru-RU" sz="4400" dirty="0" err="1">
                <a:latin typeface="Comfortaa" pitchFamily="2" charset="0"/>
              </a:rPr>
              <a:t>Деструктори</a:t>
            </a:r>
            <a:r>
              <a:rPr lang="ru-RU" sz="4400" dirty="0">
                <a:latin typeface="Comfortaa" pitchFamily="2" charset="0"/>
              </a:rPr>
              <a:t>. </a:t>
            </a:r>
            <a:r>
              <a:rPr lang="ru-RU" sz="4400" dirty="0" err="1">
                <a:latin typeface="Comfortaa" pitchFamily="2" charset="0"/>
              </a:rPr>
              <a:t>Ръчно</a:t>
            </a:r>
            <a:r>
              <a:rPr lang="ru-RU" sz="4400" dirty="0">
                <a:latin typeface="Comfortaa" pitchFamily="2" charset="0"/>
              </a:rPr>
              <a:t> управление на </a:t>
            </a:r>
            <a:r>
              <a:rPr lang="ru-RU" sz="4400" dirty="0" err="1">
                <a:latin typeface="Comfortaa" pitchFamily="2" charset="0"/>
              </a:rPr>
              <a:t>паметта</a:t>
            </a:r>
            <a:r>
              <a:rPr lang="ru-RU" sz="4400" dirty="0">
                <a:latin typeface="Comfortaa" pitchFamily="2" charset="0"/>
              </a:rPr>
              <a:t>. </a:t>
            </a:r>
            <a:r>
              <a:rPr lang="ru-RU" sz="4400" dirty="0" err="1">
                <a:latin typeface="Comfortaa" pitchFamily="2" charset="0"/>
              </a:rPr>
              <a:t>Ефективно</a:t>
            </a:r>
            <a:r>
              <a:rPr lang="ru-RU" sz="4400" dirty="0">
                <a:latin typeface="Comfortaa" pitchFamily="2" charset="0"/>
              </a:rPr>
              <a:t> управление на </a:t>
            </a:r>
            <a:r>
              <a:rPr lang="ru-RU" sz="4400" dirty="0" err="1">
                <a:latin typeface="Comfortaa" pitchFamily="2" charset="0"/>
              </a:rPr>
              <a:t>паметта</a:t>
            </a:r>
            <a:r>
              <a:rPr lang="ru-RU" sz="4400" dirty="0">
                <a:latin typeface="Comfortaa" pitchFamily="2" charset="0"/>
              </a:rPr>
              <a:t> </a:t>
            </a:r>
            <a:endParaRPr lang="bg-BG" sz="4400" dirty="0">
              <a:latin typeface="Comfortaa" pitchFamily="2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63589"/>
            <a:ext cx="9144000" cy="496183"/>
          </a:xfrm>
        </p:spPr>
        <p:txBody>
          <a:bodyPr/>
          <a:lstStyle/>
          <a:p>
            <a:r>
              <a:rPr lang="en-US" dirty="0" err="1">
                <a:latin typeface="Comfortaa" pitchFamily="2" charset="0"/>
              </a:rPr>
              <a:t>Freachable</a:t>
            </a:r>
            <a:r>
              <a:rPr lang="en-US" dirty="0">
                <a:latin typeface="Comfortaa" pitchFamily="2" charset="0"/>
              </a:rPr>
              <a:t> &amp; </a:t>
            </a:r>
            <a:r>
              <a:rPr lang="en-US" dirty="0" err="1">
                <a:latin typeface="Comfortaa" pitchFamily="2" charset="0"/>
              </a:rPr>
              <a:t>IDisposible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742103" y="677674"/>
            <a:ext cx="10704599" cy="1110780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Съдържание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1"/>
          </p:nvPr>
        </p:nvSpPr>
        <p:spPr>
          <a:xfrm>
            <a:off x="743701" y="1828801"/>
            <a:ext cx="10704599" cy="4371133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Какво е Финализацията?</a:t>
            </a:r>
          </a:p>
          <a:p>
            <a:r>
              <a:rPr lang="bg-BG" dirty="0">
                <a:latin typeface="Comfortaa" pitchFamily="2" charset="0"/>
              </a:rPr>
              <a:t>Деструктори</a:t>
            </a:r>
            <a:endParaRPr lang="ru-RU" dirty="0">
              <a:latin typeface="Comfortaa" pitchFamily="2" charset="0"/>
            </a:endParaRPr>
          </a:p>
          <a:p>
            <a:r>
              <a:rPr lang="ru-RU" dirty="0">
                <a:latin typeface="Comfortaa" pitchFamily="2" charset="0"/>
              </a:rPr>
              <a:t>Особености на финализацията</a:t>
            </a:r>
          </a:p>
          <a:p>
            <a:r>
              <a:rPr lang="ru-RU" dirty="0">
                <a:latin typeface="Comfortaa" pitchFamily="2" charset="0"/>
              </a:rPr>
              <a:t>Ръчно управление на паметта</a:t>
            </a:r>
          </a:p>
          <a:p>
            <a:r>
              <a:rPr lang="bg-BG" dirty="0">
                <a:latin typeface="Comfortaa" pitchFamily="2" charset="0"/>
              </a:rPr>
              <a:t>Взаимодействие със системата</a:t>
            </a:r>
            <a:r>
              <a:rPr lang="en-US" dirty="0">
                <a:latin typeface="Comfortaa" pitchFamily="2" charset="0"/>
              </a:rPr>
              <a:t/>
            </a:r>
            <a:br>
              <a:rPr lang="en-US" dirty="0">
                <a:latin typeface="Comfortaa" pitchFamily="2" charset="0"/>
              </a:rPr>
            </a:br>
            <a:r>
              <a:rPr lang="bg-BG" dirty="0">
                <a:latin typeface="Comfortaa" pitchFamily="2" charset="0"/>
              </a:rPr>
              <a:t>за почистване на паметта (СПП)</a:t>
            </a:r>
            <a:endParaRPr lang="ru-RU" dirty="0">
              <a:latin typeface="Comfortaa" pitchFamily="2" charset="0"/>
            </a:endParaRPr>
          </a:p>
          <a:p>
            <a:r>
              <a:rPr lang="ru-RU" dirty="0">
                <a:latin typeface="Comfortaa" pitchFamily="2" charset="0"/>
              </a:rPr>
              <a:t>Ефективно управление на паметта</a:t>
            </a:r>
          </a:p>
          <a:p>
            <a:r>
              <a:rPr lang="bg-BG" dirty="0">
                <a:latin typeface="Comfortaa" pitchFamily="2" charset="0"/>
              </a:rPr>
              <a:t>Техниката </a:t>
            </a:r>
            <a:r>
              <a:rPr lang="en-US" dirty="0">
                <a:latin typeface="Comfortaa" pitchFamily="2" charset="0"/>
              </a:rPr>
              <a:t>"</a:t>
            </a:r>
            <a:r>
              <a:rPr lang="bg-BG" dirty="0" err="1">
                <a:latin typeface="Comfortaa" pitchFamily="2" charset="0"/>
              </a:rPr>
              <a:t>пулинг</a:t>
            </a:r>
            <a:r>
              <a:rPr lang="bg-BG" dirty="0">
                <a:latin typeface="Comfortaa" pitchFamily="2" charset="0"/>
              </a:rPr>
              <a:t> на ресурси</a:t>
            </a:r>
            <a:r>
              <a:rPr lang="en-US" dirty="0">
                <a:latin typeface="Comfortaa" pitchFamily="2" charset="0"/>
              </a:rPr>
              <a:t>"</a:t>
            </a:r>
            <a:r>
              <a:rPr lang="ru-RU" dirty="0">
                <a:latin typeface="Comfortaa" pitchFamily="2" charset="0"/>
              </a:rPr>
              <a:t> 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8272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4441" y="103366"/>
            <a:ext cx="11799735" cy="61581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bg-BG" sz="3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Представи си, че пишеш програма, която работи дълго време — например сървър, игра или приложение, което обработва голямо количество данни.</a:t>
            </a:r>
            <a:br>
              <a:rPr lang="bg-BG" sz="3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bg-BG" sz="3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Ако паметта не се управлява правилно, програмата може да започне да се забавя, да изразходва всички налични ресурси и дори да се срине</a:t>
            </a:r>
            <a:r>
              <a:rPr lang="bg-BG" sz="32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US" sz="3200" dirty="0" smtClean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3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bg-BG" sz="3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bg-BG" sz="32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Въпрос за размисъл:</a:t>
            </a:r>
            <a:r>
              <a:rPr lang="bg-BG" sz="3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/>
            </a:r>
            <a:br>
              <a:rPr lang="bg-BG" sz="3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bg-BG" sz="3200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Какво се случва с ресурсите, когато обектът, който ги използва, вече не е нужен?</a:t>
            </a:r>
            <a:endParaRPr lang="bg-BG" sz="32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4580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59" y="135172"/>
            <a:ext cx="11600953" cy="630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bg-BG" sz="28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Формулиране на проблема</a:t>
            </a:r>
            <a:endParaRPr lang="bg-BG" sz="28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bg-BG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 езиците като Java, C#, Python паметта се управлява от </a:t>
            </a:r>
            <a:r>
              <a:rPr lang="bg-BG" sz="28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система за почистване на паметта (СПП / Garbage Collector)</a:t>
            </a:r>
            <a:r>
              <a:rPr lang="bg-BG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br>
              <a:rPr lang="bg-BG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bg-BG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Това улеснява програмиста, но води до нов проблем:</a:t>
            </a:r>
            <a:endParaRPr lang="bg-BG" sz="28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bg-BG" sz="28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Как да контролираме освобождаването на важни ресурси (файлове, мрежови връзки, бази данни), ако не знаем кога точно обектът ще бъде изчистен?</a:t>
            </a:r>
            <a:endParaRPr lang="bg-BG" sz="28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bg-BG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Освен това възникват още въпроси:</a:t>
            </a:r>
            <a:endParaRPr lang="bg-BG" sz="28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bg-BG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Кога се извиква финализаторът (деструкторът)?</a:t>
            </a:r>
            <a:endParaRPr lang="bg-BG" sz="28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bg-BG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Можем ли да разчитаме на него?</a:t>
            </a:r>
            <a:endParaRPr lang="bg-BG" sz="28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bg-BG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Как да освободим ресурс веднага, а не “някога в бъдеще”?</a:t>
            </a:r>
            <a:endParaRPr lang="bg-BG" sz="28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bg-BG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Как да оптимизираме използването на паметта?</a:t>
            </a:r>
            <a:endParaRPr lang="bg-BG" sz="2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0460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504701"/>
            <a:ext cx="10515600" cy="882251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  <a:cs typeface="Arial" panose="020B0604020202020204" pitchFamily="34" charset="0"/>
              </a:rPr>
              <a:t>Какво е финализация?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1020"/>
            <a:ext cx="10515600" cy="4764466"/>
          </a:xfrm>
        </p:spPr>
        <p:txBody>
          <a:bodyPr>
            <a:noAutofit/>
          </a:bodyPr>
          <a:lstStyle/>
          <a:p>
            <a:pPr algn="just"/>
            <a:r>
              <a:rPr lang="bg-BG" sz="2000" dirty="0">
                <a:latin typeface="Comfortaa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Тя е указание към CLR </a:t>
            </a:r>
          </a:p>
          <a:p>
            <a:pPr lvl="1" algn="just"/>
            <a:r>
              <a:rPr lang="bg-BG" sz="1800" dirty="0">
                <a:latin typeface="Comfortaa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“преди този обект да бъде унищожен, трябва да се изпълни ето този код”. </a:t>
            </a:r>
          </a:p>
          <a:p>
            <a:pPr algn="just"/>
            <a:r>
              <a:rPr lang="bg-BG" sz="2000" dirty="0">
                <a:latin typeface="Comfortaa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класът трябва  да имплементира метод </a:t>
            </a:r>
            <a:r>
              <a:rPr lang="bg-BG" sz="2000" b="1" kern="1600" dirty="0">
                <a:solidFill>
                  <a:srgbClr val="00B0F0"/>
                </a:solidFill>
                <a:latin typeface="Comfortaa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Finalize()</a:t>
            </a:r>
            <a:r>
              <a:rPr lang="bg-BG" sz="2000" dirty="0">
                <a:latin typeface="Comfortaa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bg-BG" sz="2000" dirty="0">
                <a:latin typeface="Comfortaa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Когато garbage collector установи, че даден обект вече не се използва от приложението, той проверява дали обектът дефинира </a:t>
            </a:r>
            <a:r>
              <a:rPr lang="bg-BG" sz="2000" b="1" kern="1600" dirty="0">
                <a:solidFill>
                  <a:srgbClr val="00B0F0"/>
                </a:solidFill>
                <a:latin typeface="Comfortaa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Finalize()</a:t>
            </a:r>
            <a:r>
              <a:rPr lang="bg-BG" sz="2000" dirty="0">
                <a:latin typeface="Comfortaa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метод и ако е така:  </a:t>
            </a:r>
          </a:p>
          <a:p>
            <a:pPr marL="761946" lvl="1" indent="-457200" algn="just">
              <a:buFont typeface="+mj-lt"/>
              <a:buAutoNum type="arabicPeriod"/>
            </a:pPr>
            <a:r>
              <a:rPr lang="bg-BG" sz="1800" dirty="0">
                <a:latin typeface="Comfortaa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 първото преминаване се установява че обектът подлежи на унищожение и се изпълнява финализаторът, </a:t>
            </a:r>
          </a:p>
          <a:p>
            <a:pPr marL="761946" lvl="1" indent="-457200" algn="just">
              <a:buFont typeface="+mj-lt"/>
              <a:buAutoNum type="arabicPeriod"/>
            </a:pPr>
            <a:r>
              <a:rPr lang="bg-BG" sz="1800" dirty="0">
                <a:latin typeface="Comfortaa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 при второто се освобождава и заетата от обекта памет. </a:t>
            </a:r>
            <a:endParaRPr lang="ru-RU" sz="1800" dirty="0">
              <a:latin typeface="Comfortaa" pitchFamily="2" charset="0"/>
            </a:endParaRPr>
          </a:p>
          <a:p>
            <a:pPr algn="just">
              <a:spcAft>
                <a:spcPts val="0"/>
              </a:spcAft>
            </a:pPr>
            <a:r>
              <a:rPr lang="bg-BG" sz="2000" b="1" kern="1600" dirty="0" err="1">
                <a:solidFill>
                  <a:srgbClr val="00B0F0"/>
                </a:solidFill>
                <a:latin typeface="Comfortaa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Finalize</a:t>
            </a:r>
            <a:r>
              <a:rPr lang="bg-BG" sz="2000" b="1" kern="1600" dirty="0">
                <a:solidFill>
                  <a:srgbClr val="00B0F0"/>
                </a:solidFill>
                <a:latin typeface="Comfortaa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bg-BG" sz="2000" b="1" dirty="0">
                <a:solidFill>
                  <a:srgbClr val="00B0F0"/>
                </a:solidFill>
                <a:latin typeface="Comfortaa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не може да се извиква явно</a:t>
            </a:r>
            <a:r>
              <a:rPr lang="bg-BG" sz="2000" dirty="0">
                <a:latin typeface="Comfortaa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spcAft>
                <a:spcPts val="0"/>
              </a:spcAft>
            </a:pPr>
            <a:r>
              <a:rPr lang="bg-BG" sz="2000" dirty="0">
                <a:latin typeface="Comfortaa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Най-малко </a:t>
            </a:r>
            <a:r>
              <a:rPr lang="bg-BG" sz="2000" b="1" dirty="0">
                <a:solidFill>
                  <a:srgbClr val="00B0F0"/>
                </a:solidFill>
                <a:latin typeface="Comfortaa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две</a:t>
            </a:r>
            <a:r>
              <a:rPr lang="bg-BG" sz="2000" dirty="0">
                <a:latin typeface="Comfortaa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преминавания на </a:t>
            </a:r>
            <a:r>
              <a:rPr lang="bg-BG" sz="2000" dirty="0" err="1">
                <a:latin typeface="Comfortaa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garbage</a:t>
            </a:r>
            <a:r>
              <a:rPr lang="bg-BG" sz="2000" dirty="0">
                <a:latin typeface="Comfortaa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2000" dirty="0" err="1">
                <a:latin typeface="Comfortaa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collector</a:t>
            </a:r>
            <a:r>
              <a:rPr lang="bg-BG" sz="2000" dirty="0">
                <a:latin typeface="Comfortaa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са необходими за да се унищожи обект, дефиниращ </a:t>
            </a:r>
            <a:r>
              <a:rPr lang="bg-BG" sz="2000" b="1" kern="1600" dirty="0" err="1">
                <a:solidFill>
                  <a:srgbClr val="00B0F0"/>
                </a:solidFill>
                <a:latin typeface="Comfortaa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Finalize</a:t>
            </a:r>
            <a:r>
              <a:rPr lang="bg-BG" sz="2000" b="1" kern="1600" dirty="0">
                <a:latin typeface="Comfortaa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bg-BG" sz="2000" dirty="0">
                <a:latin typeface="Comfortaa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метод. поради преминаването на обекта в по-горно поколение.</a:t>
            </a:r>
            <a:endParaRPr lang="ru-RU" sz="2000" dirty="0">
              <a:latin typeface="Comfortaa" pitchFamily="2" charset="0"/>
            </a:endParaRPr>
          </a:p>
          <a:p>
            <a:pPr marL="0" indent="0" algn="just">
              <a:buNone/>
            </a:pPr>
            <a:endParaRPr lang="bg-BG" sz="2000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2930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36288" y="365126"/>
            <a:ext cx="10842000" cy="1145446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Деструктори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4882" y="4381996"/>
            <a:ext cx="10913406" cy="1886321"/>
          </a:xfrm>
        </p:spPr>
        <p:txBody>
          <a:bodyPr>
            <a:normAutofit/>
          </a:bodyPr>
          <a:lstStyle/>
          <a:p>
            <a:r>
              <a:rPr lang="ru-RU" sz="2400" dirty="0">
                <a:latin typeface="Comfortaa" pitchFamily="2" charset="0"/>
              </a:rPr>
              <a:t>Унищожаването на обектите не е детерминистично и програмистът няма възможност да определи кога и в какъв ред се изпълняват финализаторите. При някои специални обстоятелства дори няма гаранция, че те изобщо ще се изпълнят</a:t>
            </a:r>
            <a:endParaRPr lang="en-GB" sz="2400" dirty="0">
              <a:latin typeface="Comfortaa" pitchFamily="2" charset="0"/>
            </a:endParaRPr>
          </a:p>
        </p:txBody>
      </p:sp>
      <p:sp>
        <p:nvSpPr>
          <p:cNvPr id="19" name="Text Placeholder 5"/>
          <p:cNvSpPr txBox="1">
            <a:spLocks/>
          </p:cNvSpPr>
          <p:nvPr/>
        </p:nvSpPr>
        <p:spPr>
          <a:xfrm>
            <a:off x="1081646" y="2836134"/>
            <a:ext cx="4717173" cy="132610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44000" tIns="108000" rIns="144000" bIns="108000" rtlCol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ru-RU" dirty="0">
                <a:solidFill>
                  <a:schemeClr val="tx1"/>
                </a:solidFill>
                <a:effectLst/>
              </a:rPr>
              <a:t>~</a:t>
            </a:r>
            <a:r>
              <a:rPr lang="ru-RU" dirty="0" err="1">
                <a:solidFill>
                  <a:schemeClr val="tx1"/>
                </a:solidFill>
                <a:effectLst/>
              </a:rPr>
              <a:t>MyClass</a:t>
            </a:r>
            <a:r>
              <a:rPr lang="ru-RU" dirty="0">
                <a:solidFill>
                  <a:schemeClr val="tx1"/>
                </a:solidFill>
                <a:effectLst/>
              </a:rPr>
              <a:t>()</a:t>
            </a:r>
          </a:p>
          <a:p>
            <a:r>
              <a:rPr lang="ru-RU" dirty="0">
                <a:solidFill>
                  <a:schemeClr val="tx1"/>
                </a:solidFill>
                <a:effectLst/>
              </a:rPr>
              <a:t>{</a:t>
            </a:r>
          </a:p>
          <a:p>
            <a:r>
              <a:rPr lang="ru-RU" dirty="0">
                <a:solidFill>
                  <a:schemeClr val="tx1"/>
                </a:solidFill>
                <a:effectLst/>
              </a:rPr>
              <a:t>	// Тук е кода за почистването</a:t>
            </a:r>
          </a:p>
          <a:p>
            <a:r>
              <a:rPr lang="ru-RU" dirty="0">
                <a:solidFill>
                  <a:schemeClr val="tx1"/>
                </a:solidFill>
                <a:effectLst/>
              </a:rPr>
              <a:t>}</a:t>
            </a:r>
          </a:p>
        </p:txBody>
      </p:sp>
      <p:sp>
        <p:nvSpPr>
          <p:cNvPr id="20" name="AutoShape 6"/>
          <p:cNvSpPr>
            <a:spLocks noChangeArrowheads="1"/>
          </p:cNvSpPr>
          <p:nvPr/>
        </p:nvSpPr>
        <p:spPr bwMode="auto">
          <a:xfrm>
            <a:off x="6310054" y="2836134"/>
            <a:ext cx="4717173" cy="1326105"/>
          </a:xfrm>
          <a:prstGeom prst="wedgeRoundRectCallout">
            <a:avLst>
              <a:gd name="adj1" fmla="val -125747"/>
              <a:gd name="adj2" fmla="val -30762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ru-RU" dirty="0">
                <a:solidFill>
                  <a:schemeClr val="tx1"/>
                </a:solidFill>
                <a:latin typeface="Comfortaa" pitchFamily="2" charset="0"/>
              </a:rPr>
              <a:t>Запомнете: общото между деструкторите в C# и тези в C++ се изчерпва със синтаксиса.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664882" y="1510571"/>
            <a:ext cx="10913406" cy="1256034"/>
          </a:xfrm>
          <a:prstGeom prst="rect">
            <a:avLst/>
          </a:prstGeom>
        </p:spPr>
        <p:txBody>
          <a:bodyPr vert="horz" lIns="108000" tIns="36000" rIns="108000" bIns="36000" rtlCol="0">
            <a:noAutofit/>
          </a:bodyPr>
          <a:lstStyle>
            <a:lvl1pPr marL="304747" indent="-304747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Char char="§"/>
              <a:defRPr sz="3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2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Font typeface="Arial" panose="020B0604020202020204" pitchFamily="34" charset="0"/>
              <a:buChar char="•"/>
            </a:pPr>
            <a:r>
              <a:rPr lang="ru-RU" sz="2400" dirty="0">
                <a:latin typeface="Comfortaa" pitchFamily="2" charset="0"/>
              </a:rPr>
              <a:t>в C# не може Finalize() да се имплементира явно. Вместо това се използват деструктори, които имат следния специален синтаксис:</a:t>
            </a:r>
            <a:endParaRPr lang="en-GB" sz="24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9271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9614" y="103367"/>
            <a:ext cx="11656612" cy="63280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bg-BG" sz="36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Деструктори</a:t>
            </a:r>
            <a:endParaRPr lang="bg-BG" sz="36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bg-BG" sz="3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Деструкторите са методи, които се извикват автоматично преди унищожаване на обекта.</a:t>
            </a:r>
            <a:endParaRPr lang="bg-BG" sz="36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bg-BG" sz="3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Пример (C#):</a:t>
            </a:r>
            <a:endParaRPr lang="bg-BG" sz="36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bg-BG" sz="3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~FileHandler() {</a:t>
            </a:r>
            <a:endParaRPr lang="bg-BG" sz="36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bg-BG" sz="3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CloseFile();</a:t>
            </a:r>
            <a:endParaRPr lang="bg-BG" sz="36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bg-BG" sz="3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}</a:t>
            </a:r>
            <a:endParaRPr lang="bg-BG" sz="36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bg-BG" sz="36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Но:</a:t>
            </a:r>
            <a:r>
              <a:rPr lang="bg-BG" sz="3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в езиците с GC </a:t>
            </a:r>
            <a:r>
              <a:rPr lang="bg-BG" sz="36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деструкторите не са предвидим механизъм</a:t>
            </a:r>
            <a:r>
              <a:rPr lang="bg-BG" sz="3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Не знаем кога ще бъдат извикани.</a:t>
            </a:r>
            <a:endParaRPr lang="bg-BG" sz="36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/>
              <p14:cNvContentPartPr/>
              <p14:nvPr/>
            </p14:nvContentPartPr>
            <p14:xfrm>
              <a:off x="51480" y="2072880"/>
              <a:ext cx="4126320" cy="2599200"/>
            </p14:xfrm>
          </p:contentPart>
        </mc:Choice>
        <mc:Fallback>
          <p:pic>
            <p:nvPicPr>
              <p:cNvPr id="3" name="Ink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120" y="2063520"/>
                <a:ext cx="4145040" cy="2617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6655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88669" y="536402"/>
            <a:ext cx="10515600" cy="929285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Финализация – пример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8669" y="1548946"/>
            <a:ext cx="10958401" cy="92928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bg-BG" sz="2000" dirty="0">
                <a:latin typeface="Comfortaa" pitchFamily="2" charset="0"/>
              </a:rPr>
              <a:t>В кода показан по-долу, дефинираме клас, който капсулира някакъв Windows ресурс (манипулатор към който се съхранява в член-променливата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bg-BG" sz="2000" b="1" dirty="0">
                <a:solidFill>
                  <a:srgbClr val="00B0F0"/>
                </a:solidFill>
                <a:latin typeface="Comfortaa" pitchFamily="2" charset="0"/>
              </a:rPr>
              <a:t>ResourceHandle</a:t>
            </a:r>
            <a:r>
              <a:rPr lang="bg-BG" sz="2000" dirty="0">
                <a:latin typeface="Comfortaa" pitchFamily="2" charset="0"/>
              </a:rPr>
              <a:t>)</a:t>
            </a:r>
            <a:r>
              <a:rPr lang="en-US" sz="2000" dirty="0">
                <a:latin typeface="Comfortaa" pitchFamily="2" charset="0"/>
              </a:rPr>
              <a:t>:</a:t>
            </a:r>
            <a:r>
              <a:rPr lang="bg-BG" sz="2000" dirty="0">
                <a:latin typeface="Comfortaa" pitchFamily="2" charset="0"/>
              </a:rPr>
              <a:t> </a:t>
            </a:r>
          </a:p>
          <a:p>
            <a:pPr marL="819096" lvl="1" indent="-514350"/>
            <a:endParaRPr lang="bg-BG" sz="2000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</p:txBody>
      </p:sp>
      <p:sp>
        <p:nvSpPr>
          <p:cNvPr id="5" name="Text Placeholder 5"/>
          <p:cNvSpPr txBox="1">
            <a:spLocks/>
          </p:cNvSpPr>
          <p:nvPr/>
        </p:nvSpPr>
        <p:spPr>
          <a:xfrm>
            <a:off x="888670" y="2799607"/>
            <a:ext cx="4674919" cy="305734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44000" tIns="108000" rIns="144000" bIns="108000" rtlCol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dirty="0">
                <a:solidFill>
                  <a:schemeClr val="tx1"/>
                </a:solidFill>
                <a:effectLst/>
              </a:rPr>
              <a:t>using System;</a:t>
            </a:r>
          </a:p>
          <a:p>
            <a:r>
              <a:rPr lang="en-US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// Wrapper around Windows resource</a:t>
            </a:r>
          </a:p>
          <a:p>
            <a:r>
              <a:rPr lang="en-US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class </a:t>
            </a:r>
            <a:r>
              <a:rPr lang="en-US" sz="18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ResourceWrapper</a:t>
            </a:r>
            <a:r>
              <a:rPr lang="en-US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</a:p>
          <a:p>
            <a:pPr marL="304746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private </a:t>
            </a:r>
            <a:r>
              <a:rPr lang="en-US" sz="18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IntPtr</a:t>
            </a:r>
            <a:r>
              <a:rPr lang="en-US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mResourceHandle</a:t>
            </a:r>
            <a:r>
              <a:rPr lang="en-US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sz="18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IntPtr.Zero</a:t>
            </a:r>
            <a:r>
              <a:rPr lang="en-US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304746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public </a:t>
            </a:r>
            <a:r>
              <a:rPr lang="en-US" sz="18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ResourceWrapper</a:t>
            </a:r>
            <a:r>
              <a:rPr lang="en-US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()</a:t>
            </a:r>
          </a:p>
          <a:p>
            <a:pPr marL="304746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{         </a:t>
            </a:r>
          </a:p>
          <a:p>
            <a:pPr marL="304746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// </a:t>
            </a:r>
            <a:r>
              <a:rPr lang="bg-BG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Заделяне на ресурс тук</a:t>
            </a:r>
          </a:p>
          <a:p>
            <a:r>
              <a:rPr lang="bg-BG" dirty="0">
                <a:solidFill>
                  <a:schemeClr val="tx1"/>
                </a:solidFill>
                <a:effectLst/>
              </a:rPr>
              <a:t>  }</a:t>
            </a:r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5817269" y="2799607"/>
            <a:ext cx="5486061" cy="298809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44000" tIns="108000" rIns="144000" bIns="108000" rtlCol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bg-BG" dirty="0">
                <a:solidFill>
                  <a:schemeClr val="tx1"/>
                </a:solidFill>
                <a:effectLst/>
              </a:rPr>
              <a:t>~ResourceWrapper()</a:t>
            </a:r>
          </a:p>
          <a:p>
            <a:r>
              <a:rPr lang="bg-BG" dirty="0">
                <a:solidFill>
                  <a:schemeClr val="tx1"/>
                </a:solidFill>
                <a:effectLst/>
              </a:rPr>
              <a:t>{         </a:t>
            </a:r>
          </a:p>
          <a:p>
            <a:r>
              <a:rPr lang="bg-BG" dirty="0">
                <a:solidFill>
                  <a:schemeClr val="tx1"/>
                </a:solidFill>
                <a:effectLst/>
              </a:rPr>
              <a:t>    if (mResourceHandle != IntPtr.Zero)</a:t>
            </a:r>
          </a:p>
          <a:p>
            <a:r>
              <a:rPr lang="bg-BG" dirty="0">
                <a:solidFill>
                  <a:schemeClr val="tx1"/>
                </a:solidFill>
                <a:effectLst/>
              </a:rPr>
              <a:t>     {</a:t>
            </a:r>
          </a:p>
          <a:p>
            <a:r>
              <a:rPr lang="bg-BG" dirty="0">
                <a:solidFill>
                  <a:schemeClr val="tx1"/>
                </a:solidFill>
                <a:effectLst/>
              </a:rPr>
              <a:t>     // Освобождаване на ресурс тука              </a:t>
            </a:r>
          </a:p>
          <a:p>
            <a:r>
              <a:rPr lang="bg-BG" dirty="0">
                <a:solidFill>
                  <a:schemeClr val="tx1"/>
                </a:solidFill>
                <a:effectLst/>
              </a:rPr>
              <a:t>     //... mResourceHandle = IntPtr.Zero;         </a:t>
            </a:r>
          </a:p>
          <a:p>
            <a:r>
              <a:rPr lang="bg-BG" dirty="0">
                <a:solidFill>
                  <a:schemeClr val="tx1"/>
                </a:solidFill>
                <a:effectLst/>
              </a:rPr>
              <a:t>     }     </a:t>
            </a:r>
          </a:p>
          <a:p>
            <a:r>
              <a:rPr lang="bg-BG" dirty="0">
                <a:solidFill>
                  <a:schemeClr val="tx1"/>
                </a:solidFill>
                <a:effectLst/>
              </a:rPr>
              <a:t>   }</a:t>
            </a:r>
          </a:p>
          <a:p>
            <a:r>
              <a:rPr lang="bg-BG" dirty="0">
                <a:solidFill>
                  <a:schemeClr val="tx1"/>
                </a:solidFill>
                <a:effectLst/>
              </a:rPr>
              <a:t>}</a:t>
            </a:r>
            <a:endParaRPr lang="en-US" dirty="0">
              <a:solidFill>
                <a:schemeClr val="tx1"/>
              </a:solidFill>
              <a:effectLst/>
            </a:endParaRPr>
          </a:p>
          <a:p>
            <a:endParaRPr lang="en-US" dirty="0"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25992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Опашката </a:t>
            </a:r>
            <a:r>
              <a:rPr lang="en-US" dirty="0" err="1">
                <a:latin typeface="Comfortaa" pitchFamily="2" charset="0"/>
              </a:rPr>
              <a:t>Freachable</a:t>
            </a:r>
            <a:endParaRPr lang="bg-BG" dirty="0">
              <a:latin typeface="Comfortaa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2" y="1192696"/>
            <a:ext cx="9403742" cy="5055703"/>
          </a:xfrm>
        </p:spPr>
        <p:txBody>
          <a:bodyPr>
            <a:noAutofit/>
          </a:bodyPr>
          <a:lstStyle/>
          <a:p>
            <a:r>
              <a:rPr lang="bg-BG" sz="3200" dirty="0">
                <a:latin typeface="Comfortaa" pitchFamily="2" charset="0"/>
              </a:rPr>
              <a:t>Създаването на обект, поддържащ финализация изисква </a:t>
            </a:r>
            <a:r>
              <a:rPr lang="bg-BG" sz="3200" b="1" dirty="0">
                <a:solidFill>
                  <a:srgbClr val="00B0F0"/>
                </a:solidFill>
                <a:latin typeface="Comfortaa" pitchFamily="2" charset="0"/>
              </a:rPr>
              <a:t>поста­вянето на указател във Finalization list</a:t>
            </a:r>
            <a:r>
              <a:rPr lang="bg-BG" sz="3200" dirty="0">
                <a:latin typeface="Comfortaa" pitchFamily="2" charset="0"/>
              </a:rPr>
              <a:t>  и отнема малко повече време</a:t>
            </a:r>
          </a:p>
          <a:p>
            <a:r>
              <a:rPr lang="bg-BG" sz="3200" b="1" dirty="0">
                <a:solidFill>
                  <a:srgbClr val="00B0F0"/>
                </a:solidFill>
                <a:latin typeface="Comfortaa" pitchFamily="2" charset="0"/>
              </a:rPr>
              <a:t>Опашката Freachable </a:t>
            </a:r>
            <a:r>
              <a:rPr lang="bg-BG" sz="3200" dirty="0">
                <a:latin typeface="Comfortaa" pitchFamily="2" charset="0"/>
              </a:rPr>
              <a:t>съдържа указатели към всички обекти, чиито </a:t>
            </a:r>
            <a:r>
              <a:rPr lang="bg-BG" sz="3200" b="1" dirty="0">
                <a:solidFill>
                  <a:srgbClr val="00B0F0"/>
                </a:solidFill>
                <a:latin typeface="Comfortaa" pitchFamily="2" charset="0"/>
              </a:rPr>
              <a:t>Finalize()</a:t>
            </a:r>
            <a:r>
              <a:rPr lang="bg-BG" sz="3200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sz="3200" dirty="0">
                <a:latin typeface="Comfortaa" pitchFamily="2" charset="0"/>
              </a:rPr>
              <a:t>методи вече могат да се извикат. Всеки обект в опашката </a:t>
            </a:r>
            <a:r>
              <a:rPr lang="bg-BG" sz="3200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е </a:t>
            </a:r>
            <a:r>
              <a:rPr lang="bg-BG" sz="3200" b="1" dirty="0">
                <a:solidFill>
                  <a:srgbClr val="00B0F0"/>
                </a:solidFill>
                <a:latin typeface="Comfortaa" pitchFamily="2" charset="0"/>
              </a:rPr>
              <a:t>достъпен от приложението и не е отпадък</a:t>
            </a:r>
            <a:r>
              <a:rPr lang="bg-BG" sz="3200" i="1" dirty="0">
                <a:latin typeface="Comfortaa" pitchFamily="2" charset="0"/>
              </a:rPr>
              <a:t>.</a:t>
            </a:r>
            <a:r>
              <a:rPr lang="bg-BG" sz="3200" dirty="0">
                <a:latin typeface="Comfortaa" pitchFamily="2" charset="0"/>
              </a:rPr>
              <a:t> Т.е. Опашката  Freachable се счита за </a:t>
            </a:r>
            <a:r>
              <a:rPr lang="bg-BG" sz="3200" b="1" dirty="0">
                <a:solidFill>
                  <a:srgbClr val="00B0F0"/>
                </a:solidFill>
                <a:latin typeface="Comfortaa" pitchFamily="2" charset="0"/>
              </a:rPr>
              <a:t>част от корените</a:t>
            </a:r>
            <a:r>
              <a:rPr lang="bg-BG" sz="32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sz="3200" dirty="0">
                <a:latin typeface="Comfortaa" pitchFamily="2" charset="0"/>
              </a:rPr>
              <a:t>на приложението</a:t>
            </a:r>
            <a:endParaRPr lang="en-US" sz="3200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2308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Особности на финализацията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74577"/>
            <a:ext cx="10437421" cy="4388717"/>
          </a:xfrm>
        </p:spPr>
        <p:txBody>
          <a:bodyPr>
            <a:normAutofit/>
          </a:bodyPr>
          <a:lstStyle/>
          <a:p>
            <a:r>
              <a:rPr lang="bg-BG" sz="3200" dirty="0">
                <a:latin typeface="Comfortaa" pitchFamily="2" charset="0"/>
              </a:rPr>
              <a:t>Финализацията е неефективна</a:t>
            </a:r>
          </a:p>
          <a:p>
            <a:r>
              <a:rPr lang="bg-BG" sz="3200" dirty="0">
                <a:latin typeface="Comfortaa" pitchFamily="2" charset="0"/>
              </a:rPr>
              <a:t>Проблеми с нишките</a:t>
            </a:r>
          </a:p>
          <a:p>
            <a:pPr>
              <a:spcBef>
                <a:spcPts val="900"/>
              </a:spcBef>
              <a:spcAft>
                <a:spcPts val="300"/>
              </a:spcAft>
            </a:pPr>
            <a:r>
              <a:rPr lang="bg-BG" sz="3200" dirty="0">
                <a:latin typeface="Comfortaa" pitchFamily="2" charset="0"/>
              </a:rPr>
              <a:t>Проблеми с реда на изпълнение на финализаторите</a:t>
            </a:r>
          </a:p>
          <a:p>
            <a:r>
              <a:rPr lang="bg-BG" sz="3200" dirty="0">
                <a:latin typeface="Comfortaa" pitchFamily="2" charset="0"/>
              </a:rPr>
              <a:t>Не разчитайте само на финализацията за да освобожда­вате ресурси. Имплементирайте </a:t>
            </a:r>
            <a:r>
              <a:rPr lang="bg-BG" sz="3200" b="1" dirty="0">
                <a:solidFill>
                  <a:srgbClr val="00B0F0"/>
                </a:solidFill>
                <a:latin typeface="Comfortaa" pitchFamily="2" charset="0"/>
              </a:rPr>
              <a:t>IDisposable</a:t>
            </a:r>
            <a:r>
              <a:rPr lang="bg-BG" sz="3200" dirty="0">
                <a:latin typeface="Comfortaa" pitchFamily="2" charset="0"/>
              </a:rPr>
              <a:t> и използвайте </a:t>
            </a:r>
            <a:r>
              <a:rPr lang="bg-BG" sz="3200" b="1" dirty="0">
                <a:solidFill>
                  <a:srgbClr val="00B0F0"/>
                </a:solidFill>
                <a:latin typeface="Comfortaa" pitchFamily="2" charset="0"/>
              </a:rPr>
              <a:t>Finalize</a:t>
            </a:r>
            <a:r>
              <a:rPr lang="bg-BG" sz="3200" dirty="0">
                <a:latin typeface="Comfortaa" pitchFamily="2" charset="0"/>
              </a:rPr>
              <a:t>() методите съвместно с него.</a:t>
            </a:r>
            <a:endParaRPr lang="en-US" sz="32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0680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67172" y="781890"/>
            <a:ext cx="10591404" cy="1127131"/>
          </a:xfrm>
        </p:spPr>
        <p:txBody>
          <a:bodyPr>
            <a:noAutofit/>
          </a:bodyPr>
          <a:lstStyle/>
          <a:p>
            <a:r>
              <a:rPr lang="bg-BG" sz="3200" b="1" dirty="0">
                <a:latin typeface="Comfortaa" pitchFamily="2" charset="0"/>
              </a:rPr>
              <a:t>Ръчно управление на ресурсите с IDisposable</a:t>
            </a:r>
            <a:endParaRPr lang="en-US" sz="3200" b="1" dirty="0">
              <a:latin typeface="Comfortaa" pitchFamily="2" charset="0"/>
            </a:endParaRPr>
          </a:p>
        </p:txBody>
      </p:sp>
      <p:sp>
        <p:nvSpPr>
          <p:cNvPr id="19" name="Text Placeholder 5"/>
          <p:cNvSpPr txBox="1">
            <a:spLocks/>
          </p:cNvSpPr>
          <p:nvPr/>
        </p:nvSpPr>
        <p:spPr>
          <a:xfrm>
            <a:off x="1067172" y="4624439"/>
            <a:ext cx="5713638" cy="132610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44000" tIns="108000" rIns="144000" bIns="108000" rtlCol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dirty="0">
                <a:solidFill>
                  <a:schemeClr val="tx1"/>
                </a:solidFill>
                <a:effectLst/>
              </a:rPr>
              <a:t>public interface </a:t>
            </a:r>
            <a:r>
              <a:rPr lang="en-US" dirty="0" err="1">
                <a:solidFill>
                  <a:schemeClr val="tx1"/>
                </a:solidFill>
                <a:effectLst/>
              </a:rPr>
              <a:t>IDisposable</a:t>
            </a:r>
            <a:endParaRPr lang="en-US" dirty="0">
              <a:solidFill>
                <a:schemeClr val="tx1"/>
              </a:solidFill>
              <a:effectLst/>
            </a:endParaRPr>
          </a:p>
          <a:p>
            <a:r>
              <a:rPr lang="en-US" dirty="0">
                <a:solidFill>
                  <a:schemeClr val="tx1"/>
                </a:solidFill>
                <a:effectLst/>
              </a:rPr>
              <a:t>{</a:t>
            </a:r>
          </a:p>
          <a:p>
            <a:r>
              <a:rPr lang="en-US" dirty="0">
                <a:solidFill>
                  <a:schemeClr val="tx1"/>
                </a:solidFill>
                <a:effectLst/>
              </a:rPr>
              <a:t>	void </a:t>
            </a:r>
            <a:r>
              <a:rPr lang="en-US" dirty="0" err="1">
                <a:solidFill>
                  <a:schemeClr val="tx1"/>
                </a:solidFill>
                <a:effectLst/>
              </a:rPr>
              <a:t>Dispos</a:t>
            </a:r>
            <a:r>
              <a:rPr lang="bg-BG" dirty="0">
                <a:solidFill>
                  <a:schemeClr val="tx1"/>
                </a:solidFill>
                <a:effectLst/>
              </a:rPr>
              <a:t>е();</a:t>
            </a:r>
          </a:p>
          <a:p>
            <a:r>
              <a:rPr lang="bg-BG" dirty="0">
                <a:solidFill>
                  <a:schemeClr val="tx1"/>
                </a:solidFill>
                <a:effectLst/>
              </a:rPr>
              <a:t>}</a:t>
            </a:r>
          </a:p>
        </p:txBody>
      </p:sp>
      <p:sp>
        <p:nvSpPr>
          <p:cNvPr id="20" name="AutoShape 6"/>
          <p:cNvSpPr>
            <a:spLocks noChangeArrowheads="1"/>
          </p:cNvSpPr>
          <p:nvPr/>
        </p:nvSpPr>
        <p:spPr bwMode="auto">
          <a:xfrm>
            <a:off x="7486400" y="4624439"/>
            <a:ext cx="2916383" cy="1326105"/>
          </a:xfrm>
          <a:prstGeom prst="wedgeRoundRectCallout">
            <a:avLst>
              <a:gd name="adj1" fmla="val -71445"/>
              <a:gd name="adj2" fmla="val -16157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Comfortaa" pitchFamily="2" charset="0"/>
              </a:rPr>
              <a:t>Ето как изглежда този интерфейс: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067172" y="1994536"/>
            <a:ext cx="10719087" cy="2474024"/>
          </a:xfrm>
          <a:prstGeom prst="rect">
            <a:avLst/>
          </a:prstGeom>
        </p:spPr>
        <p:txBody>
          <a:bodyPr vert="horz" lIns="108000" tIns="36000" rIns="108000" bIns="36000" rtlCol="0">
            <a:noAutofit/>
          </a:bodyPr>
          <a:lstStyle>
            <a:lvl1pPr marL="304747" indent="-304747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Char char="§"/>
              <a:defRPr sz="3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2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bg-BG" sz="2800" dirty="0">
                <a:latin typeface="Comfortaa" pitchFamily="2" charset="0"/>
              </a:rPr>
              <a:t>Интерфейсът </a:t>
            </a:r>
            <a:r>
              <a:rPr lang="bg-BG" sz="2800" b="1" dirty="0">
                <a:solidFill>
                  <a:srgbClr val="00B0F0"/>
                </a:solidFill>
                <a:latin typeface="Comfortaa" pitchFamily="2" charset="0"/>
              </a:rPr>
              <a:t>IDisposable</a:t>
            </a:r>
            <a:r>
              <a:rPr lang="bg-BG" sz="2800" dirty="0">
                <a:latin typeface="Comfortaa" pitchFamily="2" charset="0"/>
              </a:rPr>
              <a:t> се препоръчва от Microsoft в тези случаи, в които искате да гарантирате моментално освобождаване на ресурсите (вече знаете, че използването на </a:t>
            </a:r>
            <a:r>
              <a:rPr lang="bg-BG" sz="2800" b="1" dirty="0">
                <a:solidFill>
                  <a:srgbClr val="00B0F0"/>
                </a:solidFill>
                <a:latin typeface="Comfortaa" pitchFamily="2" charset="0"/>
              </a:rPr>
              <a:t>Finalize()</a:t>
            </a:r>
            <a:r>
              <a:rPr lang="bg-BG" sz="2800" dirty="0">
                <a:latin typeface="Comfortaa" pitchFamily="2" charset="0"/>
              </a:rPr>
              <a:t> не го гарантира)</a:t>
            </a:r>
          </a:p>
        </p:txBody>
      </p:sp>
    </p:spTree>
    <p:extLst>
      <p:ext uri="{BB962C8B-B14F-4D97-AF65-F5344CB8AC3E}">
        <p14:creationId xmlns:p14="http://schemas.microsoft.com/office/powerpoint/2010/main" val="2805198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94855" y="474967"/>
            <a:ext cx="9387055" cy="854081"/>
          </a:xfrm>
        </p:spPr>
        <p:txBody>
          <a:bodyPr>
            <a:normAutofit fontScale="90000"/>
          </a:bodyPr>
          <a:lstStyle/>
          <a:p>
            <a:r>
              <a:rPr lang="bg-BG" sz="3200" b="1" dirty="0">
                <a:latin typeface="Comfortaa" pitchFamily="2" charset="0"/>
              </a:rPr>
              <a:t>Взаимодействие със системата за почистване на паметта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3085" y="1590306"/>
            <a:ext cx="10354094" cy="5048002"/>
          </a:xfrm>
        </p:spPr>
        <p:txBody>
          <a:bodyPr>
            <a:noAutofit/>
          </a:bodyPr>
          <a:lstStyle/>
          <a:p>
            <a:r>
              <a:rPr lang="bg-BG" sz="2000" b="1" dirty="0">
                <a:solidFill>
                  <a:srgbClr val="00B0F0"/>
                </a:solidFill>
                <a:latin typeface="Comfortaa" pitchFamily="2" charset="0"/>
              </a:rPr>
              <a:t>Помогнете на GC като не й помагате</a:t>
            </a:r>
          </a:p>
          <a:p>
            <a:r>
              <a:rPr lang="bg-BG" sz="2000" dirty="0">
                <a:latin typeface="Comfortaa" pitchFamily="2" charset="0"/>
              </a:rPr>
              <a:t>Почистването на поколение 0 се случва достатъчно често и е сравнително “евтино”</a:t>
            </a:r>
          </a:p>
          <a:p>
            <a:r>
              <a:rPr lang="bg-BG" sz="2000" dirty="0">
                <a:latin typeface="Comfortaa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Дефинирайте финализатор само ако класът ви обгръща неуправляван ресурс!</a:t>
            </a:r>
          </a:p>
          <a:p>
            <a:r>
              <a:rPr lang="bg-BG" sz="2000" b="1" dirty="0">
                <a:solidFill>
                  <a:srgbClr val="00B0F0"/>
                </a:solidFill>
                <a:latin typeface="Comfortaa" pitchFamily="2" charset="0"/>
              </a:rPr>
              <a:t>Не създавайте обекти без да е необходимо</a:t>
            </a:r>
          </a:p>
          <a:p>
            <a:r>
              <a:rPr lang="bg-BG" sz="2000" b="1" dirty="0">
                <a:solidFill>
                  <a:srgbClr val="00B0F0"/>
                </a:solidFill>
                <a:latin typeface="Comfortaa" pitchFamily="2" charset="0"/>
              </a:rPr>
              <a:t>Не създавайте обекти с излишни полета</a:t>
            </a:r>
          </a:p>
          <a:p>
            <a:r>
              <a:rPr lang="bg-BG" sz="2000" b="1" dirty="0">
                <a:solidFill>
                  <a:srgbClr val="00B0F0"/>
                </a:solidFill>
                <a:latin typeface="Comfortaa" pitchFamily="2" charset="0"/>
              </a:rPr>
              <a:t>Не инициализирайте полетата в конструкторите</a:t>
            </a:r>
          </a:p>
          <a:p>
            <a:r>
              <a:rPr lang="bg-BG" sz="2000" b="1" dirty="0">
                <a:solidFill>
                  <a:srgbClr val="00B0F0"/>
                </a:solidFill>
                <a:latin typeface="Comfortaa" pitchFamily="2" charset="0"/>
              </a:rPr>
              <a:t>Не проектирайте излишно дълбоки йерархии</a:t>
            </a:r>
          </a:p>
          <a:p>
            <a:r>
              <a:rPr lang="bg-BG" sz="2000" b="1" dirty="0">
                <a:solidFill>
                  <a:srgbClr val="00B0F0"/>
                </a:solidFill>
                <a:latin typeface="Comfortaa" pitchFamily="2" charset="0"/>
              </a:rPr>
              <a:t>Заделете цялата памет, нужна за създаването на структура от данни, наведнъж</a:t>
            </a:r>
          </a:p>
          <a:p>
            <a:r>
              <a:rPr lang="bg-BG" sz="2000" dirty="0">
                <a:latin typeface="Comfortaa" pitchFamily="2" charset="0"/>
              </a:rPr>
              <a:t>Избягвайте използването на отражение на типовете (reflection), </a:t>
            </a:r>
            <a:r>
              <a:rPr lang="bg-BG" sz="2000" b="1" dirty="0">
                <a:solidFill>
                  <a:srgbClr val="00B0F0"/>
                </a:solidFill>
                <a:latin typeface="Comfortaa" pitchFamily="2" charset="0"/>
              </a:rPr>
              <a:t>Използвайте възможно най-малко финализатори</a:t>
            </a:r>
          </a:p>
        </p:txBody>
      </p:sp>
    </p:spTree>
    <p:extLst>
      <p:ext uri="{BB962C8B-B14F-4D97-AF65-F5344CB8AC3E}">
        <p14:creationId xmlns:p14="http://schemas.microsoft.com/office/powerpoint/2010/main" val="3704245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7322" y="190831"/>
            <a:ext cx="9994789" cy="5826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bg-BG" sz="40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Ефективно управление на паметта</a:t>
            </a:r>
            <a:endParaRPr lang="bg-BG" sz="40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bg-BG" sz="40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Включва техники като:</a:t>
            </a:r>
            <a:endParaRPr lang="bg-BG" sz="40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bg-BG" sz="4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Създаване на по-малко обекти</a:t>
            </a:r>
            <a:endParaRPr lang="bg-BG" sz="40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bg-BG" sz="4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Използване на локални, а не глобални структури</a:t>
            </a:r>
            <a:endParaRPr lang="bg-BG" sz="40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bg-BG" sz="4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Избягване на ненужни алокации</a:t>
            </a:r>
            <a:endParaRPr lang="bg-BG" sz="40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bg-BG" sz="4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Оптимизиране на дълго живеещи обекти</a:t>
            </a:r>
            <a:endParaRPr lang="bg-BG" sz="40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400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90494" y="734291"/>
            <a:ext cx="10611011" cy="1110780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Техниката </a:t>
            </a:r>
            <a:r>
              <a:rPr lang="en-US" dirty="0">
                <a:latin typeface="Comfortaa" pitchFamily="2" charset="0"/>
              </a:rPr>
              <a:t>"</a:t>
            </a:r>
            <a:r>
              <a:rPr lang="bg-BG" dirty="0" err="1">
                <a:latin typeface="Comfortaa" pitchFamily="2" charset="0"/>
              </a:rPr>
              <a:t>пулинг</a:t>
            </a:r>
            <a:r>
              <a:rPr lang="bg-BG" dirty="0">
                <a:latin typeface="Comfortaa" pitchFamily="2" charset="0"/>
              </a:rPr>
              <a:t> на ресурси</a:t>
            </a:r>
            <a:r>
              <a:rPr lang="en-US" dirty="0">
                <a:latin typeface="Comfortaa" pitchFamily="2" charset="0"/>
              </a:rPr>
              <a:t>"</a:t>
            </a:r>
            <a:endParaRPr lang="bg-BG" dirty="0">
              <a:latin typeface="Comfortaa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419" y="1383527"/>
            <a:ext cx="10981685" cy="4672133"/>
          </a:xfrm>
        </p:spPr>
        <p:txBody>
          <a:bodyPr>
            <a:normAutofit/>
          </a:bodyPr>
          <a:lstStyle/>
          <a:p>
            <a:r>
              <a:rPr lang="bg-BG" sz="3200" b="1" dirty="0">
                <a:solidFill>
                  <a:srgbClr val="00B0F0"/>
                </a:solidFill>
                <a:latin typeface="Comfortaa" pitchFamily="2" charset="0"/>
              </a:rPr>
              <a:t>Пулът</a:t>
            </a:r>
            <a:r>
              <a:rPr lang="bg-BG" sz="3200" dirty="0">
                <a:latin typeface="Comfortaa" pitchFamily="2" charset="0"/>
              </a:rPr>
              <a:t> обикновено представлява списък от обекти, които се създават предварително (например при инициализация на приложението), а после се </a:t>
            </a:r>
            <a:r>
              <a:rPr lang="en-US" sz="3200" dirty="0">
                <a:latin typeface="Comfortaa" pitchFamily="2" charset="0"/>
              </a:rPr>
              <a:t>"</a:t>
            </a:r>
            <a:r>
              <a:rPr lang="bg-BG" sz="3200" dirty="0">
                <a:latin typeface="Comfortaa" pitchFamily="2" charset="0"/>
              </a:rPr>
              <a:t>раздават</a:t>
            </a:r>
            <a:r>
              <a:rPr lang="en-US" sz="3200" dirty="0">
                <a:latin typeface="Comfortaa" pitchFamily="2" charset="0"/>
              </a:rPr>
              <a:t>"</a:t>
            </a:r>
            <a:r>
              <a:rPr lang="bg-BG" sz="3200" dirty="0">
                <a:latin typeface="Comfortaa" pitchFamily="2" charset="0"/>
              </a:rPr>
              <a:t> при поискване.</a:t>
            </a:r>
          </a:p>
          <a:p>
            <a:r>
              <a:rPr lang="bg-BG" sz="3200" dirty="0">
                <a:latin typeface="Comfortaa" pitchFamily="2" charset="0"/>
              </a:rPr>
              <a:t>Клиентите взимат обекти от пула, използват ги известно време и след като вече не им трябват, не ги унищожават, а ги връщат обратно в пула.</a:t>
            </a:r>
          </a:p>
          <a:p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1127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252</TotalTime>
  <Words>941</Words>
  <Application>Microsoft Office PowerPoint</Application>
  <PresentationFormat>Widescreen</PresentationFormat>
  <Paragraphs>126</Paragraphs>
  <Slides>14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Arial</vt:lpstr>
      <vt:lpstr>Calibri</vt:lpstr>
      <vt:lpstr>Century Gothic</vt:lpstr>
      <vt:lpstr>Comfortaa</vt:lpstr>
      <vt:lpstr>Consolas</vt:lpstr>
      <vt:lpstr>Symbol</vt:lpstr>
      <vt:lpstr>Times New Roman</vt:lpstr>
      <vt:lpstr>Wingdings</vt:lpstr>
      <vt:lpstr>Wingdings 3</vt:lpstr>
      <vt:lpstr>Ion</vt:lpstr>
      <vt:lpstr>Финализация. Деструктори. Ръчно управление на паметта. Ефективно управление на паметта </vt:lpstr>
      <vt:lpstr>Съдържание</vt:lpstr>
      <vt:lpstr>PowerPoint Presentation</vt:lpstr>
      <vt:lpstr>PowerPoint Presentation</vt:lpstr>
      <vt:lpstr>Какво е финализация?</vt:lpstr>
      <vt:lpstr>Деструктори</vt:lpstr>
      <vt:lpstr>PowerPoint Presentation</vt:lpstr>
      <vt:lpstr>Финализация – пример</vt:lpstr>
      <vt:lpstr>Опашката Freachable</vt:lpstr>
      <vt:lpstr>Особности на финализацията</vt:lpstr>
      <vt:lpstr>Ръчно управление на ресурсите с IDisposable</vt:lpstr>
      <vt:lpstr>Взаимодействие със системата за почистване на паметта</vt:lpstr>
      <vt:lpstr>PowerPoint Presentation</vt:lpstr>
      <vt:lpstr>Техниката "пулинг на ресурси"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Neli Nqgolova</cp:lastModifiedBy>
  <cp:revision>21</cp:revision>
  <dcterms:created xsi:type="dcterms:W3CDTF">2022-08-09T09:25:46Z</dcterms:created>
  <dcterms:modified xsi:type="dcterms:W3CDTF">2025-11-10T07:58:23Z</dcterms:modified>
</cp:coreProperties>
</file>