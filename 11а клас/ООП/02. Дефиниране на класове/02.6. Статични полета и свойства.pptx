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6"/>
  </p:notesMasterIdLst>
  <p:sldIdLst>
    <p:sldId id="258" r:id="rId2"/>
    <p:sldId id="571" r:id="rId3"/>
    <p:sldId id="619" r:id="rId4"/>
    <p:sldId id="623" r:id="rId5"/>
    <p:sldId id="624" r:id="rId6"/>
    <p:sldId id="574" r:id="rId7"/>
    <p:sldId id="620" r:id="rId8"/>
    <p:sldId id="621" r:id="rId9"/>
    <p:sldId id="486" r:id="rId10"/>
    <p:sldId id="626" r:id="rId11"/>
    <p:sldId id="625" r:id="rId12"/>
    <p:sldId id="627" r:id="rId13"/>
    <p:sldId id="628" r:id="rId14"/>
    <p:sldId id="62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</p14:sldIdLst>
        </p14:section>
        <p14:section name="Съдържание" id="{0B0C01F3-1F60-4ADB-AC1E-9589654EAEF3}">
          <p14:sldIdLst>
            <p14:sldId id="571"/>
            <p14:sldId id="619"/>
            <p14:sldId id="623"/>
            <p14:sldId id="624"/>
            <p14:sldId id="574"/>
            <p14:sldId id="620"/>
            <p14:sldId id="621"/>
            <p14:sldId id="486"/>
            <p14:sldId id="626"/>
            <p14:sldId id="625"/>
            <p14:sldId id="627"/>
            <p14:sldId id="628"/>
            <p14:sldId id="629"/>
          </p14:sldIdLst>
        </p14:section>
        <p14:section name="Заключение" id="{9315BEE7-605C-4839-996A-A4EEA70921D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13.10.2025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5BC3E32-3591-40C7-A06E-2C620B5455F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843574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BB579F54-1ED6-4EA7-ADB4-622B791920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213272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67C25B43-04F6-46B4-AE79-172A0A6B364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12903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0BEBCCE-147B-4594-A9EF-B181C99F8D7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288627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C36EC417-A5D8-4DFA-8607-8D459EEEF0B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7198498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E65B3B-E6E2-4525-8F2E-49AC8F612DB9}" type="slidenum">
              <a:rPr lang="en-US"/>
              <a:pPr/>
              <a:t>9</a:t>
            </a:fld>
            <a:r>
              <a:rPr lang="en-US" dirty="0"/>
              <a:t>##</a:t>
            </a:r>
          </a:p>
        </p:txBody>
      </p:sp>
      <p:sp>
        <p:nvSpPr>
          <p:cNvPr id="43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06DBE9E6-1310-49F1-9F39-943020B3DAE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342370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13.10.2025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13.10.2025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13.10.2025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13.10.2025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13.10.2025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13.10.2025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13.10.2025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Статични полета и свойства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en-US">
                <a:latin typeface="Comfortaa" pitchFamily="2" charset="0"/>
              </a:rPr>
              <a:t>static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1" y="838200"/>
            <a:ext cx="10171199" cy="111078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15999" y="1989327"/>
            <a:ext cx="10171199" cy="3990133"/>
          </a:xfrm>
        </p:spPr>
        <p:txBody>
          <a:bodyPr>
            <a:normAutofit/>
          </a:bodyPr>
          <a:lstStyle/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Статични полета</a:t>
            </a: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Статични свойства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11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169785"/>
          </a:xfrm>
        </p:spPr>
        <p:txBody>
          <a:bodyPr>
            <a:normAutofit/>
          </a:bodyPr>
          <a:lstStyle/>
          <a:p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Статичните полета в класа</a:t>
            </a:r>
          </a:p>
          <a:p>
            <a:pPr lvl="1"/>
            <a:r>
              <a:rPr lang="bg-BG" sz="2800" dirty="0">
                <a:latin typeface="Comfortaa" pitchFamily="2" charset="0"/>
              </a:rPr>
              <a:t>Принадлежат на самия клас</a:t>
            </a:r>
          </a:p>
          <a:p>
            <a:pPr lvl="1"/>
            <a:r>
              <a:rPr lang="bg-BG" sz="2800" dirty="0">
                <a:latin typeface="Comfortaa" pitchFamily="2" charset="0"/>
              </a:rPr>
              <a:t>Имат една и съща стойност за всеки обект</a:t>
            </a:r>
          </a:p>
          <a:p>
            <a:pPr lvl="1"/>
            <a:r>
              <a:rPr lang="bg-BG" sz="2800" dirty="0">
                <a:latin typeface="Comfortaa" pitchFamily="2" charset="0"/>
              </a:rPr>
              <a:t>Могат да бъдат достъпени и само чрез класа - без създаване на обект от този клас</a:t>
            </a:r>
          </a:p>
          <a:p>
            <a:pPr marL="377887" lvl="1" indent="0">
              <a:buNone/>
            </a:pPr>
            <a:r>
              <a:rPr lang="bg-BG" sz="2800" dirty="0">
                <a:latin typeface="Comfortaa" pitchFamily="2" charset="0"/>
              </a:rPr>
              <a:t>Подобно на полетата останалите членове на класа също могат да бъдат статични.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Статични полета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784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0770" y="1630879"/>
            <a:ext cx="10353287" cy="4389911"/>
          </a:xfrm>
        </p:spPr>
        <p:txBody>
          <a:bodyPr>
            <a:normAutofit/>
          </a:bodyPr>
          <a:lstStyle/>
          <a:p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Статичните свойства в класа</a:t>
            </a:r>
          </a:p>
          <a:p>
            <a:pPr lvl="1"/>
            <a:r>
              <a:rPr lang="bg-BG" sz="2800" dirty="0">
                <a:latin typeface="Comfortaa" pitchFamily="2" charset="0"/>
              </a:rPr>
              <a:t>Принадлежат на самия клас</a:t>
            </a:r>
          </a:p>
          <a:p>
            <a:pPr lvl="1"/>
            <a:r>
              <a:rPr lang="bg-BG" sz="2800" dirty="0">
                <a:latin typeface="Comfortaa" pitchFamily="2" charset="0"/>
              </a:rPr>
              <a:t>Могат да бъдат достъпени и само чрез класа - без създаване на обект от този клас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Статични свойства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40C318F-5607-4898-BC43-0E0D0652E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067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-79313">
              <a:buNone/>
            </a:pPr>
            <a:r>
              <a:rPr lang="bg-BG" dirty="0">
                <a:latin typeface="Comfortaa" pitchFamily="2" charset="0"/>
              </a:rPr>
              <a:t>Използването на свойства е удобно, когато имаме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статични полета</a:t>
            </a:r>
            <a:r>
              <a:rPr lang="bg-BG" dirty="0">
                <a:latin typeface="Comfortaa" pitchFamily="2" charset="0"/>
              </a:rPr>
              <a:t>, но не искаме да позволим тяхната промяна в друг клас, който използва нашия. Ако трябва да използваме само поле, то за да го достъпим извън класа, трябва да е </a:t>
            </a:r>
            <a:r>
              <a:rPr lang="en-US" dirty="0">
                <a:latin typeface="Comfortaa" pitchFamily="2" charset="0"/>
              </a:rPr>
              <a:t>public</a:t>
            </a:r>
            <a:r>
              <a:rPr lang="bg-BG" dirty="0">
                <a:latin typeface="Comfortaa" pitchFamily="2" charset="0"/>
              </a:rPr>
              <a:t>, което пък би позволило неговото изменение. Именно тук идват статичните свойства.</a:t>
            </a:r>
          </a:p>
          <a:p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Статични свойства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51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73384"/>
            <a:ext cx="10515600" cy="3701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3200" dirty="0">
                <a:latin typeface="Comfortaa" pitchFamily="2" charset="0"/>
              </a:rPr>
              <a:t>Задача: Напишете програма, която да поддържа информация колко обекта от клас </a:t>
            </a:r>
            <a:r>
              <a:rPr lang="en-US" sz="3200" b="1" dirty="0">
                <a:solidFill>
                  <a:srgbClr val="00B0F0"/>
                </a:solidFill>
                <a:latin typeface="Comfortaa" pitchFamily="2" charset="0"/>
              </a:rPr>
              <a:t>Person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има създадени до момента. Реализирайте я използвайки статично поле и свойство</a:t>
            </a:r>
            <a:r>
              <a:rPr lang="en-US" sz="3200" dirty="0">
                <a:latin typeface="Comfortaa" pitchFamily="2" charset="0"/>
              </a:rPr>
              <a:t>.</a:t>
            </a:r>
            <a:endParaRPr lang="en-GB" sz="32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Задача: Преброй хората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0DE1F2CF-9D4D-4FDD-BCE3-3F10561EF2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813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1" y="1632858"/>
            <a:ext cx="9945584" cy="4393870"/>
          </a:xfrm>
        </p:spPr>
        <p:txBody>
          <a:bodyPr>
            <a:normAutofit lnSpcReduction="10000"/>
          </a:bodyPr>
          <a:lstStyle/>
          <a:p>
            <a:r>
              <a:rPr lang="bg-BG" sz="3200" dirty="0">
                <a:latin typeface="Comfortaa" pitchFamily="2" charset="0"/>
              </a:rPr>
              <a:t>Ще създадем статично поле, което ще поддържа информацията. След това ще направим статично свойство, което ще има само </a:t>
            </a:r>
            <a:r>
              <a:rPr lang="en-US" sz="3200" dirty="0">
                <a:latin typeface="Comfortaa" pitchFamily="2" charset="0"/>
              </a:rPr>
              <a:t>get</a:t>
            </a:r>
            <a:r>
              <a:rPr lang="bg-BG" sz="3200" dirty="0">
                <a:latin typeface="Comfortaa" pitchFamily="2" charset="0"/>
              </a:rPr>
              <a:t>, понеже в противен случай ще можем да манипулираме брояча, когато използваме класа, а в случая идеята е ползвателя на класа да не може да промени полето, в което е записан броя, а само да го достъпи.</a:t>
            </a:r>
            <a:endParaRPr lang="en-US" sz="3200" dirty="0">
              <a:latin typeface="Comfortaa" pitchFamily="2" charset="0"/>
            </a:endParaRPr>
          </a:p>
          <a:p>
            <a:r>
              <a:rPr lang="bg-BG" sz="3200" dirty="0">
                <a:latin typeface="Comfortaa" pitchFamily="2" charset="0"/>
              </a:rPr>
              <a:t>Броячът ще се увеличава в рамките на конструктора на класа.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Решение: Преброй хората </a:t>
            </a:r>
            <a:r>
              <a:rPr lang="en-US" dirty="0">
                <a:latin typeface="Comfortaa" pitchFamily="2" charset="0"/>
              </a:rPr>
              <a:t>[1/2]</a:t>
            </a:r>
          </a:p>
        </p:txBody>
      </p:sp>
    </p:spTree>
    <p:extLst>
      <p:ext uri="{BB962C8B-B14F-4D97-AF65-F5344CB8AC3E}">
        <p14:creationId xmlns:p14="http://schemas.microsoft.com/office/powerpoint/2010/main" val="2723153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 txBox="1">
            <a:spLocks noGrp="1"/>
          </p:cNvSpPr>
          <p:nvPr>
            <p:ph idx="1"/>
          </p:nvPr>
        </p:nvSpPr>
        <p:spPr>
          <a:xfrm>
            <a:off x="968830" y="1827000"/>
            <a:ext cx="10104910" cy="383872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2400" dirty="0">
                <a:solidFill>
                  <a:schemeClr val="bg1"/>
                </a:solidFill>
                <a:effectLst/>
              </a:rPr>
              <a:t>class Person</a:t>
            </a:r>
            <a:r>
              <a:rPr lang="bg-BG" sz="2400" dirty="0">
                <a:solidFill>
                  <a:schemeClr val="bg1"/>
                </a:solidFill>
                <a:effectLst/>
              </a:rPr>
              <a:t> </a:t>
            </a:r>
            <a:r>
              <a:rPr lang="en-US" sz="2400" dirty="0">
                <a:solidFill>
                  <a:schemeClr val="bg1"/>
                </a:solidFill>
                <a:effectLst/>
              </a:rPr>
              <a:t>{</a:t>
            </a:r>
            <a:r>
              <a:rPr lang="bg-BG" sz="2400" dirty="0">
                <a:solidFill>
                  <a:schemeClr val="bg1"/>
                </a:solidFill>
                <a:effectLst/>
              </a:rPr>
              <a:t> </a:t>
            </a:r>
            <a:r>
              <a:rPr lang="bg-BG" sz="1800" dirty="0">
                <a:solidFill>
                  <a:srgbClr val="00B0F0"/>
                </a:solidFill>
                <a:effectLst/>
              </a:rPr>
              <a:t>//</a:t>
            </a:r>
            <a:r>
              <a:rPr lang="en-US" sz="1800" dirty="0">
                <a:solidFill>
                  <a:srgbClr val="00B0F0"/>
                </a:solidFill>
                <a:effectLst/>
              </a:rPr>
              <a:t> </a:t>
            </a:r>
            <a:r>
              <a:rPr lang="bg-BG" sz="1800" dirty="0">
                <a:solidFill>
                  <a:srgbClr val="00B0F0"/>
                </a:solidFill>
                <a:effectLst/>
              </a:rPr>
              <a:t>останалите части на класа са пропуснати</a:t>
            </a:r>
            <a:endParaRPr lang="bg-BG" sz="2400" dirty="0">
              <a:solidFill>
                <a:srgbClr val="00B0F0"/>
              </a:solidFill>
              <a:effectLst/>
            </a:endParaRPr>
          </a:p>
          <a:p>
            <a:r>
              <a:rPr lang="en-US" sz="2400" dirty="0">
                <a:solidFill>
                  <a:schemeClr val="bg1"/>
                </a:solidFill>
                <a:effectLst/>
              </a:rPr>
              <a:t>  private static </a:t>
            </a:r>
            <a:r>
              <a:rPr lang="en-US" sz="2400" dirty="0" err="1">
                <a:solidFill>
                  <a:schemeClr val="bg1"/>
                </a:solidFill>
                <a:effectLst/>
              </a:rPr>
              <a:t>int</a:t>
            </a:r>
            <a:r>
              <a:rPr lang="en-US" sz="2400" dirty="0">
                <a:solidFill>
                  <a:schemeClr val="bg1"/>
                </a:solidFill>
                <a:effectLst/>
              </a:rPr>
              <a:t> count = 0;</a:t>
            </a:r>
          </a:p>
          <a:p>
            <a:r>
              <a:rPr lang="en-US" sz="2400" dirty="0">
                <a:solidFill>
                  <a:schemeClr val="bg1"/>
                </a:solidFill>
                <a:effectLst/>
              </a:rPr>
              <a:t>  public Person(string name, </a:t>
            </a:r>
            <a:r>
              <a:rPr lang="en-US" sz="2400" dirty="0" err="1">
                <a:solidFill>
                  <a:schemeClr val="bg1"/>
                </a:solidFill>
                <a:effectLst/>
              </a:rPr>
              <a:t>int</a:t>
            </a:r>
            <a:r>
              <a:rPr lang="en-US" sz="2400" dirty="0">
                <a:solidFill>
                  <a:schemeClr val="bg1"/>
                </a:solidFill>
                <a:effectLst/>
              </a:rPr>
              <a:t> age) {</a:t>
            </a:r>
          </a:p>
          <a:p>
            <a:r>
              <a:rPr lang="en-US" sz="2400" dirty="0">
                <a:solidFill>
                  <a:schemeClr val="bg1"/>
                </a:solidFill>
                <a:effectLst/>
              </a:rPr>
              <a:t>    </a:t>
            </a:r>
            <a:r>
              <a:rPr lang="en-US" sz="1800" dirty="0">
                <a:solidFill>
                  <a:srgbClr val="00B0F0"/>
                </a:solidFill>
                <a:effectLst/>
              </a:rPr>
              <a:t>// </a:t>
            </a:r>
            <a:r>
              <a:rPr lang="bg-BG" sz="1800" dirty="0">
                <a:solidFill>
                  <a:srgbClr val="00B0F0"/>
                </a:solidFill>
                <a:effectLst/>
              </a:rPr>
              <a:t>в конструктора добавяме реда, който променя стойността на </a:t>
            </a:r>
            <a:r>
              <a:rPr lang="en-US" sz="1800" dirty="0">
                <a:solidFill>
                  <a:srgbClr val="00B0F0"/>
                </a:solidFill>
                <a:effectLst/>
              </a:rPr>
              <a:t>count:</a:t>
            </a:r>
            <a:endParaRPr lang="bg-BG" sz="1800" dirty="0">
              <a:solidFill>
                <a:srgbClr val="00B0F0"/>
              </a:solidFill>
              <a:effectLst/>
            </a:endParaRPr>
          </a:p>
          <a:p>
            <a:r>
              <a:rPr lang="bg-BG" sz="2400" dirty="0">
                <a:solidFill>
                  <a:schemeClr val="bg1"/>
                </a:solidFill>
                <a:effectLst/>
              </a:rPr>
              <a:t>    </a:t>
            </a:r>
            <a:r>
              <a:rPr lang="en-US" sz="2400" dirty="0" err="1">
                <a:solidFill>
                  <a:schemeClr val="bg1"/>
                </a:solidFill>
                <a:effectLst/>
              </a:rPr>
              <a:t>Person.count</a:t>
            </a:r>
            <a:r>
              <a:rPr lang="en-US" sz="2400" dirty="0">
                <a:solidFill>
                  <a:schemeClr val="bg1"/>
                </a:solidFill>
                <a:effectLst/>
              </a:rPr>
              <a:t> += 1;</a:t>
            </a:r>
          </a:p>
          <a:p>
            <a:r>
              <a:rPr lang="en-US" sz="2400" dirty="0">
                <a:solidFill>
                  <a:schemeClr val="bg1"/>
                </a:solidFill>
                <a:effectLst/>
              </a:rPr>
              <a:t>  }</a:t>
            </a:r>
            <a:endParaRPr lang="bg-BG" sz="2400" dirty="0">
              <a:solidFill>
                <a:schemeClr val="bg1"/>
              </a:solidFill>
              <a:effectLst/>
            </a:endParaRPr>
          </a:p>
          <a:p>
            <a:r>
              <a:rPr lang="bg-BG" sz="2400" dirty="0">
                <a:solidFill>
                  <a:schemeClr val="bg1"/>
                </a:solidFill>
                <a:effectLst/>
              </a:rPr>
              <a:t>  </a:t>
            </a:r>
            <a:r>
              <a:rPr lang="en-US" sz="2400" dirty="0">
                <a:solidFill>
                  <a:schemeClr val="bg1"/>
                </a:solidFill>
                <a:effectLst/>
              </a:rPr>
              <a:t>public static </a:t>
            </a:r>
            <a:r>
              <a:rPr lang="en-US" sz="2400" dirty="0" err="1">
                <a:solidFill>
                  <a:schemeClr val="bg1"/>
                </a:solidFill>
                <a:effectLst/>
              </a:rPr>
              <a:t>int</a:t>
            </a:r>
            <a:r>
              <a:rPr lang="en-US" sz="2400" dirty="0">
                <a:solidFill>
                  <a:schemeClr val="bg1"/>
                </a:solidFill>
                <a:effectLst/>
              </a:rPr>
              <a:t> Count</a:t>
            </a:r>
            <a:r>
              <a:rPr lang="bg-BG" sz="2400" dirty="0">
                <a:solidFill>
                  <a:schemeClr val="bg1"/>
                </a:solidFill>
                <a:effectLst/>
              </a:rPr>
              <a:t> </a:t>
            </a:r>
            <a:r>
              <a:rPr lang="en-US" sz="2400" dirty="0">
                <a:solidFill>
                  <a:schemeClr val="bg1"/>
                </a:solidFill>
                <a:effectLst/>
              </a:rPr>
              <a:t>{</a:t>
            </a:r>
            <a:r>
              <a:rPr lang="bg-BG" sz="2400" dirty="0">
                <a:solidFill>
                  <a:schemeClr val="bg1"/>
                </a:solidFill>
                <a:effectLst/>
              </a:rPr>
              <a:t> </a:t>
            </a:r>
            <a:r>
              <a:rPr lang="bg-BG" sz="1800" dirty="0">
                <a:solidFill>
                  <a:srgbClr val="00B0F0"/>
                </a:solidFill>
                <a:effectLst/>
              </a:rPr>
              <a:t>//</a:t>
            </a:r>
            <a:r>
              <a:rPr lang="en-US" sz="1800" dirty="0">
                <a:solidFill>
                  <a:srgbClr val="00B0F0"/>
                </a:solidFill>
                <a:effectLst/>
              </a:rPr>
              <a:t> </a:t>
            </a:r>
            <a:r>
              <a:rPr lang="bg-BG" sz="1800" dirty="0">
                <a:solidFill>
                  <a:srgbClr val="00B0F0"/>
                </a:solidFill>
                <a:effectLst/>
              </a:rPr>
              <a:t>статично свойство</a:t>
            </a:r>
            <a:endParaRPr lang="en-US" sz="2400" dirty="0">
              <a:solidFill>
                <a:srgbClr val="00B0F0"/>
              </a:solidFill>
              <a:effectLst/>
            </a:endParaRPr>
          </a:p>
          <a:p>
            <a:r>
              <a:rPr lang="en-US" sz="2400" dirty="0">
                <a:solidFill>
                  <a:schemeClr val="bg1"/>
                </a:solidFill>
                <a:effectLst/>
              </a:rPr>
              <a:t>  </a:t>
            </a:r>
            <a:r>
              <a:rPr lang="bg-BG" sz="2400" dirty="0">
                <a:solidFill>
                  <a:schemeClr val="bg1"/>
                </a:solidFill>
                <a:effectLst/>
              </a:rPr>
              <a:t>  </a:t>
            </a:r>
            <a:r>
              <a:rPr lang="en-US" sz="2400" dirty="0">
                <a:solidFill>
                  <a:schemeClr val="bg1"/>
                </a:solidFill>
                <a:effectLst/>
              </a:rPr>
              <a:t>get { return count; }</a:t>
            </a:r>
          </a:p>
          <a:p>
            <a:r>
              <a:rPr lang="ru-RU" sz="2400" dirty="0">
                <a:solidFill>
                  <a:schemeClr val="bg1"/>
                </a:solidFill>
                <a:effectLst/>
              </a:rPr>
              <a:t>  </a:t>
            </a:r>
            <a:r>
              <a:rPr lang="en-US" sz="2400" dirty="0">
                <a:solidFill>
                  <a:schemeClr val="bg1"/>
                </a:solidFill>
                <a:effectLst/>
              </a:rPr>
              <a:t>}</a:t>
            </a:r>
          </a:p>
          <a:p>
            <a:r>
              <a:rPr lang="en-US" sz="2400" dirty="0">
                <a:solidFill>
                  <a:schemeClr val="bg1"/>
                </a:solidFill>
                <a:effectLst/>
              </a:rPr>
              <a:t>}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9146A823-C01A-249A-0DA8-7EBF4698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Решение: Преброй хората </a:t>
            </a:r>
            <a:r>
              <a:rPr lang="en-US" dirty="0">
                <a:latin typeface="Comfortaa" pitchFamily="2" charset="0"/>
              </a:rPr>
              <a:t>[2/2]</a:t>
            </a:r>
          </a:p>
        </p:txBody>
      </p:sp>
    </p:spTree>
    <p:extLst>
      <p:ext uri="{BB962C8B-B14F-4D97-AF65-F5344CB8AC3E}">
        <p14:creationId xmlns:p14="http://schemas.microsoft.com/office/powerpoint/2010/main" val="4048095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>
          <a:xfrm>
            <a:off x="667500" y="457200"/>
            <a:ext cx="10857000" cy="111078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Какво научихме?</a:t>
            </a:r>
          </a:p>
        </p:txBody>
      </p:sp>
      <p:sp>
        <p:nvSpPr>
          <p:cNvPr id="434179" name="Rectangle 3"/>
          <p:cNvSpPr>
            <a:spLocks noGrp="1" noChangeArrowheads="1"/>
          </p:cNvSpPr>
          <p:nvPr>
            <p:ph idx="1"/>
          </p:nvPr>
        </p:nvSpPr>
        <p:spPr>
          <a:xfrm>
            <a:off x="669097" y="1555512"/>
            <a:ext cx="10857000" cy="4584031"/>
          </a:xfrm>
        </p:spPr>
        <p:txBody>
          <a:bodyPr>
            <a:noAutofit/>
          </a:bodyPr>
          <a:lstStyle/>
          <a:p>
            <a:pPr marL="358775" indent="-358775">
              <a:lnSpc>
                <a:spcPct val="110000"/>
              </a:lnSpc>
            </a:pP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Статичните полета:</a:t>
            </a:r>
          </a:p>
          <a:p>
            <a:pPr marL="663521" lvl="1" indent="-358775">
              <a:lnSpc>
                <a:spcPct val="110000"/>
              </a:lnSpc>
            </a:pPr>
            <a:r>
              <a:rPr lang="bg-BG" sz="2200" dirty="0">
                <a:latin typeface="Comfortaa" pitchFamily="2" charset="0"/>
              </a:rPr>
              <a:t>Имат еднаква стойност за всички обекти от клас</a:t>
            </a:r>
            <a:r>
              <a:rPr lang="en-US" sz="2200" dirty="0">
                <a:latin typeface="Comfortaa" pitchFamily="2" charset="0"/>
              </a:rPr>
              <a:t>a</a:t>
            </a:r>
          </a:p>
          <a:p>
            <a:pPr marL="663521" lvl="1" indent="-358775">
              <a:lnSpc>
                <a:spcPct val="110000"/>
              </a:lnSpc>
            </a:pPr>
            <a:r>
              <a:rPr lang="bg-BG" sz="2200" dirty="0">
                <a:latin typeface="Comfortaa" pitchFamily="2" charset="0"/>
              </a:rPr>
              <a:t>Могат да бъдат достъпвани и без да се създава обект от класа, чрез самия клас</a:t>
            </a:r>
          </a:p>
          <a:p>
            <a:pPr marL="663521" lvl="1" indent="-358775">
              <a:lnSpc>
                <a:spcPct val="110000"/>
              </a:lnSpc>
            </a:pPr>
            <a:r>
              <a:rPr lang="bg-BG" sz="2200" dirty="0">
                <a:latin typeface="Comfortaa" pitchFamily="2" charset="0"/>
              </a:rPr>
              <a:t>Удобни са за поддържане на брояч</a:t>
            </a:r>
          </a:p>
          <a:p>
            <a:pPr marL="358775" indent="-358775">
              <a:lnSpc>
                <a:spcPct val="110000"/>
              </a:lnSpc>
            </a:pP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Статичните свойства:</a:t>
            </a:r>
          </a:p>
          <a:p>
            <a:pPr marL="663521" lvl="1" indent="-358775">
              <a:lnSpc>
                <a:spcPct val="110000"/>
              </a:lnSpc>
            </a:pPr>
            <a:r>
              <a:rPr lang="bg-BG" sz="2200" dirty="0">
                <a:latin typeface="Comfortaa" pitchFamily="2" charset="0"/>
              </a:rPr>
              <a:t>Принадлежат на класа</a:t>
            </a:r>
          </a:p>
          <a:p>
            <a:pPr marL="663521" lvl="1" indent="-358775">
              <a:lnSpc>
                <a:spcPct val="110000"/>
              </a:lnSpc>
            </a:pPr>
            <a:r>
              <a:rPr lang="bg-BG" sz="2200" dirty="0">
                <a:latin typeface="Comfortaa" pitchFamily="2" charset="0"/>
              </a:rPr>
              <a:t>Удобни за достъпване на информация от статични полета,</a:t>
            </a:r>
            <a:br>
              <a:rPr lang="bg-BG" sz="2200" dirty="0">
                <a:latin typeface="Comfortaa" pitchFamily="2" charset="0"/>
              </a:rPr>
            </a:br>
            <a:r>
              <a:rPr lang="bg-BG" sz="2200" dirty="0">
                <a:latin typeface="Comfortaa" pitchFamily="2" charset="0"/>
              </a:rPr>
              <a:t>която не бива да се променя от ползвателя на класа ни</a:t>
            </a:r>
          </a:p>
        </p:txBody>
      </p:sp>
    </p:spTree>
    <p:extLst>
      <p:ext uri="{BB962C8B-B14F-4D97-AF65-F5344CB8AC3E}">
        <p14:creationId xmlns:p14="http://schemas.microsoft.com/office/powerpoint/2010/main" val="7978135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84600"/>
          </a:xfrm>
        </p:spPr>
        <p:txBody>
          <a:bodyPr>
            <a:normAutofit/>
          </a:bodyPr>
          <a:lstStyle/>
          <a:p>
            <a:pPr algn="ctr"/>
            <a:r>
              <a:rPr lang="en-US" sz="9600" b="1" dirty="0" err="1"/>
              <a:t>epyntdhs</a:t>
            </a:r>
            <a:endParaRPr lang="bg-BG" sz="9600" b="1" dirty="0"/>
          </a:p>
        </p:txBody>
      </p:sp>
    </p:spTree>
    <p:extLst>
      <p:ext uri="{BB962C8B-B14F-4D97-AF65-F5344CB8AC3E}">
        <p14:creationId xmlns:p14="http://schemas.microsoft.com/office/powerpoint/2010/main" val="3060782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61964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bg-BG" sz="7000" b="1" dirty="0" smtClean="0"/>
              <a:t>БЛАГОДАРЯ </a:t>
            </a:r>
            <a:r>
              <a:rPr lang="bg-BG" sz="7000" b="1" smtClean="0"/>
              <a:t>ЗА ВНИМАНИЕТО!</a:t>
            </a:r>
            <a:endParaRPr lang="bg-BG" sz="7000" b="1" dirty="0"/>
          </a:p>
        </p:txBody>
      </p:sp>
    </p:spTree>
    <p:extLst>
      <p:ext uri="{BB962C8B-B14F-4D97-AF65-F5344CB8AC3E}">
        <p14:creationId xmlns:p14="http://schemas.microsoft.com/office/powerpoint/2010/main" val="935629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8201" y="48528"/>
            <a:ext cx="10658302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"Автомобилен парк"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3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Условие: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Създай клас </a:t>
            </a: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Car</a:t>
            </a: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който има: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инстанционни полета: brand, model, year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статично поле: carCount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статично свойство: CarCount (само за четене)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 създаване на обект броячът да се увеличава</a:t>
            </a:r>
            <a:b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Main() създай няколко коли и изведи общия им брой.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25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702244" y="272130"/>
            <a:ext cx="10863729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"Библиотека"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3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Условие: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Създай клас </a:t>
            </a: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</a:t>
            </a: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който има: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полета: title, author, year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статично поле: totalBooks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статично свойство: TotalBooks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 създаване на книга броячът да се увеличава</a:t>
            </a:r>
            <a:b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Main() покажи колко книги са добавени в библиотеката.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910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51308"/>
            <a:ext cx="10911705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"Зоологическа градина"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3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Условие: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Клас </a:t>
            </a: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Animal</a:t>
            </a: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полета: name, species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статично поле: animalCount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статично свойство: AnimalCount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 създаване на животно броячът се увеличава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Main():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създай няколко животни,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покажи броя на всички животни в зоопарка.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96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529</TotalTime>
  <Words>643</Words>
  <Application>Microsoft Office PowerPoint</Application>
  <PresentationFormat>Widescreen</PresentationFormat>
  <Paragraphs>90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Comfortaa</vt:lpstr>
      <vt:lpstr>Consolas</vt:lpstr>
      <vt:lpstr>Wingdings</vt:lpstr>
      <vt:lpstr>Office Theme</vt:lpstr>
      <vt:lpstr>Статични полета и свойства </vt:lpstr>
      <vt:lpstr>Съдържание</vt:lpstr>
      <vt:lpstr>Статични полета</vt:lpstr>
      <vt:lpstr>Статични свойства</vt:lpstr>
      <vt:lpstr>Статични свойства</vt:lpstr>
      <vt:lpstr>Задача: Преброй хората</vt:lpstr>
      <vt:lpstr>Решение: Преброй хората [1/2]</vt:lpstr>
      <vt:lpstr>Решение: Преброй хората [2/2]</vt:lpstr>
      <vt:lpstr>Какво научихме?</vt:lpstr>
      <vt:lpstr>epyntdhs</vt:lpstr>
      <vt:lpstr>БЛАГОДАРЯ ЗА ВНИМАНИЕТО!</vt:lpstr>
      <vt:lpstr>"Автомобилен парк"  Условие: Създай клас Car, който има: инстанционни полета: brand, model, year статично поле: carCount статично свойство: CarCount (само за четене) при създаване на обект броячът да се увеличава В Main() създай няколко коли и изведи общия им брой. </vt:lpstr>
      <vt:lpstr>"Библиотека"  Условие: Създай клас Book, който има: полета: title, author, year статично поле: totalBooks статично свойство: TotalBooks при създаване на книга броячът да се увеличава В Main() покажи колко книги са добавени в библиотеката. </vt:lpstr>
      <vt:lpstr>"Зоологическа градина"  Условие: Клас Animal: полета: name, species статично поле: animalCount статично свойство: AnimalCount при създаване на животно броячът се увеличава В Main(): създай няколко животни, покажи броя на всички животни в зоопарка.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Neli Nqgolova</cp:lastModifiedBy>
  <cp:revision>18</cp:revision>
  <dcterms:created xsi:type="dcterms:W3CDTF">2022-08-09T09:25:46Z</dcterms:created>
  <dcterms:modified xsi:type="dcterms:W3CDTF">2025-10-13T12:18:13Z</dcterms:modified>
</cp:coreProperties>
</file>