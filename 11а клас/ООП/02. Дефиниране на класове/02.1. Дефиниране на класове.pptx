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571" r:id="rId3"/>
    <p:sldId id="576" r:id="rId4"/>
    <p:sldId id="583" r:id="rId5"/>
    <p:sldId id="584" r:id="rId6"/>
    <p:sldId id="585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576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79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6958D1-8DD9-4DF5-9AE7-F044ABF2C5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6420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D15FDDF-4E4F-4B16-B4C5-68F616C7A4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89352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0B94FAE-C5B9-4254-8026-FA376B4038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65224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3DE1543-0C42-48F8-BE79-AEF34AD17C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145583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3FAC7E1-0157-4A63-9755-26048F9C20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24681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B05987A-B63B-4AB7-ABB0-B1B3A28BA2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25538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8D26AB4-AAF9-462E-A9E5-9599AEA00B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751883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D01B4F4-B122-4873-B9D6-B7898FA137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03348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1C26C8E-4AD9-4335-9992-4BF8784E5A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484569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82830CF-3C97-4ACF-8828-AE763AC16C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1911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5DF0E79-5928-4449-A75A-F46E52886D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254449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CF29BEE-0380-4C0D-9A31-5CD250B1EE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133408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Дефиниране на класове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Defining Classes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554" y="1055914"/>
            <a:ext cx="106283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2152" y="2207041"/>
            <a:ext cx="10628399" cy="3685333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Дефиниране на клас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Използване на обекти</a:t>
            </a:r>
            <a:endParaRPr lang="en-US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Дефиниране на по-сложен клас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302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013" y="2358898"/>
            <a:ext cx="11093973" cy="3233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3200" dirty="0">
                <a:latin typeface="Comfortaa" pitchFamily="2" charset="0"/>
              </a:rPr>
              <a:t>Задача: Дефинирайте клас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  <a:r>
              <a:rPr lang="bg-BG" sz="3200" dirty="0">
                <a:latin typeface="Comfortaa" pitchFamily="2" charset="0"/>
              </a:rPr>
              <a:t>, като за него пазете информация за името и възрастта на човек и реализирайте единствено действието </a:t>
            </a: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IntroduceYourself</a:t>
            </a:r>
            <a:r>
              <a:rPr lang="bg-BG" sz="32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r>
              <a:rPr lang="bg-BG" sz="3200" dirty="0">
                <a:latin typeface="Comfortaa" pitchFamily="2" charset="0"/>
              </a:rPr>
              <a:t>, което отпечатва представяне на човека. След това създайте и използвайте обект от класа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  <a:r>
              <a:rPr lang="en-US" sz="3200" dirty="0">
                <a:latin typeface="Comfortaa" pitchFamily="2" charset="0"/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9014" y="1036511"/>
            <a:ext cx="11093972" cy="130241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Задача: Дефинирайте клас </a:t>
            </a:r>
            <a:r>
              <a:rPr lang="en-US" dirty="0">
                <a:latin typeface="Comfortaa" pitchFamily="2" charset="0"/>
              </a:rPr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41891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Нека първо да създадем файл за този клас:</a:t>
            </a:r>
            <a:br>
              <a:rPr lang="bg-BG" sz="2400" dirty="0">
                <a:latin typeface="Comfortaa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[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Project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] </a:t>
            </a:r>
            <a:r>
              <a:rPr lang="en-US" sz="2400" dirty="0">
                <a:latin typeface="Comfortaa" pitchFamily="2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 [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Add Class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] </a:t>
            </a:r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или</a:t>
            </a:r>
            <a:r>
              <a:rPr lang="en-US" sz="2400" dirty="0">
                <a:latin typeface="Comfortaa" pitchFamily="2" charset="0"/>
                <a:sym typeface="Wingdings" panose="05000000000000000000" pitchFamily="2" charset="2"/>
              </a:rPr>
              <a:t> </a:t>
            </a:r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десен бутон върху проекта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[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Add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]</a:t>
            </a:r>
            <a:r>
              <a:rPr lang="en-US" sz="2400" dirty="0">
                <a:latin typeface="Comfortaa" pitchFamily="2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 [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New Item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] </a:t>
            </a:r>
            <a:r>
              <a:rPr lang="en-US" sz="2400" dirty="0">
                <a:latin typeface="Comfortaa" pitchFamily="2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 [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Class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anose="05000000000000000000" pitchFamily="2" charset="2"/>
              </a:rPr>
              <a:t>]</a:t>
            </a: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anose="05000000000000000000" pitchFamily="2" charset="2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anose="05000000000000000000" pitchFamily="2" charset="2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anose="05000000000000000000" pitchFamily="2" charset="2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anose="05000000000000000000" pitchFamily="2" charset="2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anose="05000000000000000000" pitchFamily="2" charset="2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anose="05000000000000000000" pitchFamily="2" charset="2"/>
            </a:endParaRPr>
          </a:p>
          <a:p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Внимавайте с именуването на класа</a:t>
            </a: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Дефинирайте клас </a:t>
            </a:r>
            <a:r>
              <a:rPr lang="en-US" sz="3600" b="1" dirty="0">
                <a:latin typeface="Comfortaa" pitchFamily="2" charset="0"/>
              </a:rPr>
              <a:t>Person</a:t>
            </a:r>
            <a:r>
              <a:rPr lang="bg-BG" sz="3600" b="1" dirty="0">
                <a:latin typeface="Comfortaa" pitchFamily="2" charset="0"/>
              </a:rPr>
              <a:t> </a:t>
            </a:r>
            <a:r>
              <a:rPr lang="en-US" sz="3600" b="1" dirty="0">
                <a:latin typeface="Comfortaa" pitchFamily="2" charset="0"/>
              </a:rPr>
              <a:t>[1/4]</a:t>
            </a: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23" y="3064159"/>
            <a:ext cx="8943268" cy="23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9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/>
          <p:cNvSpPr txBox="1">
            <a:spLocks/>
          </p:cNvSpPr>
          <p:nvPr/>
        </p:nvSpPr>
        <p:spPr>
          <a:xfrm>
            <a:off x="901535" y="1690688"/>
            <a:ext cx="10326584" cy="430039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dirty="0">
                <a:solidFill>
                  <a:srgbClr val="00B0F0"/>
                </a:solidFill>
                <a:effectLst/>
              </a:rPr>
              <a:t>class Person {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private string name;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private int age;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public String Name { //</a:t>
            </a:r>
            <a:r>
              <a:rPr lang="bg-BG" b="0" dirty="0">
                <a:solidFill>
                  <a:schemeClr val="bg1"/>
                </a:solidFill>
                <a:effectLst/>
              </a:rPr>
              <a:t>реализираме свойство </a:t>
            </a:r>
            <a:r>
              <a:rPr lang="en-US" b="0" dirty="0">
                <a:solidFill>
                  <a:schemeClr val="bg1"/>
                </a:solidFill>
                <a:effectLst/>
              </a:rPr>
              <a:t>Name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  get { return name; }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  set { name = value; }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public </a:t>
            </a:r>
            <a:r>
              <a:rPr lang="en-US" dirty="0" err="1">
                <a:solidFill>
                  <a:schemeClr val="bg1"/>
                </a:solidFill>
                <a:effectLst/>
              </a:rPr>
              <a:t>int</a:t>
            </a:r>
            <a:r>
              <a:rPr lang="en-US" dirty="0">
                <a:solidFill>
                  <a:schemeClr val="bg1"/>
                </a:solidFill>
                <a:effectLst/>
              </a:rPr>
              <a:t> Age { //</a:t>
            </a:r>
            <a:r>
              <a:rPr lang="bg-BG" b="0" dirty="0">
                <a:solidFill>
                  <a:schemeClr val="bg1"/>
                </a:solidFill>
                <a:effectLst/>
              </a:rPr>
              <a:t>реализираме свойство </a:t>
            </a:r>
            <a:r>
              <a:rPr lang="en-US" b="0" dirty="0">
                <a:solidFill>
                  <a:schemeClr val="bg1"/>
                </a:solidFill>
                <a:effectLst/>
              </a:rPr>
              <a:t>Age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  get { return age; }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  set { age = value; }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public void </a:t>
            </a:r>
            <a:r>
              <a:rPr lang="en-US" dirty="0" err="1">
                <a:solidFill>
                  <a:schemeClr val="bg1"/>
                </a:solidFill>
                <a:effectLst/>
              </a:rPr>
              <a:t>IntroduceYourself</a:t>
            </a:r>
            <a:r>
              <a:rPr lang="en-US" dirty="0">
                <a:solidFill>
                  <a:schemeClr val="bg1"/>
                </a:solidFill>
                <a:effectLst/>
              </a:rPr>
              <a:t>() {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  </a:t>
            </a:r>
            <a:r>
              <a:rPr lang="en-US" dirty="0" err="1">
                <a:solidFill>
                  <a:schemeClr val="bg1"/>
                </a:solidFill>
                <a:effectLst/>
              </a:rPr>
              <a:t>Console.WriteLine</a:t>
            </a:r>
            <a:r>
              <a:rPr lang="en-US" dirty="0">
                <a:solidFill>
                  <a:schemeClr val="bg1"/>
                </a:solidFill>
                <a:effectLst/>
              </a:rPr>
              <a:t>("</a:t>
            </a:r>
            <a:r>
              <a:rPr lang="bg-BG" dirty="0">
                <a:solidFill>
                  <a:schemeClr val="bg1"/>
                </a:solidFill>
                <a:effectLst/>
              </a:rPr>
              <a:t>Здравейте! Аз съм {0} и съм на {1} години.", </a:t>
            </a:r>
            <a:r>
              <a:rPr lang="en-US" dirty="0">
                <a:solidFill>
                  <a:schemeClr val="bg1"/>
                </a:solidFill>
                <a:effectLst/>
              </a:rPr>
              <a:t>name, age);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dirty="0">
                <a:solidFill>
                  <a:srgbClr val="00B0F0"/>
                </a:solidFill>
                <a:effectLst/>
              </a:rPr>
              <a:t>}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6DB523A-2889-4388-8575-58A0D4AE7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3DF685B-A483-D1FF-89BA-9ABB35945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Дефинирайте клас </a:t>
            </a:r>
            <a:r>
              <a:rPr lang="en-US" sz="3600" b="1" dirty="0">
                <a:latin typeface="Comfortaa" pitchFamily="2" charset="0"/>
              </a:rPr>
              <a:t>Person</a:t>
            </a:r>
            <a:r>
              <a:rPr lang="bg-BG" sz="3600" b="1" dirty="0">
                <a:latin typeface="Comfortaa" pitchFamily="2" charset="0"/>
              </a:rPr>
              <a:t> </a:t>
            </a:r>
            <a:r>
              <a:rPr lang="en-US" sz="3600" b="1" dirty="0">
                <a:latin typeface="Comfortaa" pitchFamily="2" charset="0"/>
              </a:rPr>
              <a:t>[2/4]</a:t>
            </a:r>
          </a:p>
        </p:txBody>
      </p:sp>
    </p:spTree>
    <p:extLst>
      <p:ext uri="{BB962C8B-B14F-4D97-AF65-F5344CB8AC3E}">
        <p14:creationId xmlns:p14="http://schemas.microsoft.com/office/powerpoint/2010/main" val="203517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/>
          <p:cNvSpPr txBox="1">
            <a:spLocks/>
          </p:cNvSpPr>
          <p:nvPr/>
        </p:nvSpPr>
        <p:spPr>
          <a:xfrm>
            <a:off x="969165" y="2571008"/>
            <a:ext cx="10239273" cy="35925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static void Main(string[] 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args</a:t>
            </a:r>
            <a:r>
              <a:rPr lang="en-US" sz="3200" dirty="0">
                <a:solidFill>
                  <a:schemeClr val="bg1"/>
                </a:solidFill>
                <a:effectLst/>
              </a:rPr>
              <a:t>) 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Person 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firstPerson</a:t>
            </a:r>
            <a:r>
              <a:rPr lang="en-US" sz="3200" dirty="0">
                <a:solidFill>
                  <a:schemeClr val="bg1"/>
                </a:solidFill>
                <a:effectLst/>
              </a:rPr>
              <a:t> = new Person();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firstPerson.Name</a:t>
            </a:r>
            <a:r>
              <a:rPr lang="en-US" sz="3200" dirty="0">
                <a:solidFill>
                  <a:schemeClr val="bg1"/>
                </a:solidFill>
                <a:effectLst/>
              </a:rPr>
              <a:t> = "</a:t>
            </a:r>
            <a:r>
              <a:rPr lang="bg-BG" sz="3200" dirty="0">
                <a:solidFill>
                  <a:schemeClr val="bg1"/>
                </a:solidFill>
                <a:effectLst/>
              </a:rPr>
              <a:t>Гошо";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firstPerson.Age</a:t>
            </a:r>
            <a:r>
              <a:rPr lang="en-US" sz="3200" dirty="0">
                <a:solidFill>
                  <a:schemeClr val="bg1"/>
                </a:solidFill>
                <a:effectLst/>
              </a:rPr>
              <a:t> = 15;</a:t>
            </a:r>
          </a:p>
          <a:p>
            <a:endParaRPr lang="en-US" sz="3200" dirty="0">
              <a:solidFill>
                <a:schemeClr val="bg1"/>
              </a:solidFill>
              <a:effectLst/>
            </a:endParaRP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firstPerson.IntroduceYourself</a:t>
            </a:r>
            <a:r>
              <a:rPr lang="en-US" sz="3200" dirty="0">
                <a:solidFill>
                  <a:schemeClr val="bg1"/>
                </a:solidFill>
                <a:effectLst/>
              </a:rPr>
              <a:t>();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501444"/>
            <a:ext cx="10312393" cy="1158629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  <a:sym typeface="Wingdings" panose="05000000000000000000" pitchFamily="2" charset="2"/>
              </a:rPr>
              <a:t>Сега е време да използваме класа и да направим обект в </a:t>
            </a:r>
            <a:r>
              <a:rPr lang="en-US" dirty="0">
                <a:latin typeface="Comfortaa" pitchFamily="2" charset="0"/>
                <a:sym typeface="Wingdings" panose="05000000000000000000" pitchFamily="2" charset="2"/>
              </a:rPr>
              <a:t>Main </a:t>
            </a:r>
            <a:r>
              <a:rPr lang="bg-BG" dirty="0">
                <a:latin typeface="Comfortaa" pitchFamily="2" charset="0"/>
                <a:sym typeface="Wingdings" panose="05000000000000000000" pitchFamily="2" charset="2"/>
              </a:rPr>
              <a:t>метода ни в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Program.cs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A88D821-5D4E-AAF5-944D-70DE6289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Дефинирайте клас </a:t>
            </a:r>
            <a:r>
              <a:rPr lang="en-US" sz="3600" b="1" dirty="0">
                <a:latin typeface="Comfortaa" pitchFamily="2" charset="0"/>
              </a:rPr>
              <a:t>Person</a:t>
            </a:r>
            <a:r>
              <a:rPr lang="bg-BG" sz="3600" b="1" dirty="0">
                <a:latin typeface="Comfortaa" pitchFamily="2" charset="0"/>
              </a:rPr>
              <a:t> </a:t>
            </a:r>
            <a:r>
              <a:rPr lang="en-US" sz="3600" b="1" dirty="0">
                <a:latin typeface="Comfortaa" pitchFamily="2" charset="0"/>
              </a:rPr>
              <a:t>[3/4]</a:t>
            </a:r>
          </a:p>
        </p:txBody>
      </p:sp>
    </p:spTree>
    <p:extLst>
      <p:ext uri="{BB962C8B-B14F-4D97-AF65-F5344CB8AC3E}">
        <p14:creationId xmlns:p14="http://schemas.microsoft.com/office/powerpoint/2010/main" val="179659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85800" y="1513321"/>
            <a:ext cx="10026715" cy="4786540"/>
          </a:xfrm>
        </p:spPr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  <a:sym typeface="Wingdings" panose="05000000000000000000" pitchFamily="2" charset="2"/>
              </a:rPr>
              <a:t>Ако сте работили правилно ще получите</a:t>
            </a:r>
            <a:r>
              <a:rPr lang="en-US" dirty="0">
                <a:latin typeface="Comfortaa" pitchFamily="2" charset="0"/>
                <a:sym typeface="Wingdings" panose="05000000000000000000" pitchFamily="2" charset="2"/>
              </a:rPr>
              <a:t>:</a:t>
            </a:r>
            <a:endParaRPr lang="bg-BG" dirty="0">
              <a:latin typeface="Comfortaa" pitchFamily="2" charset="0"/>
              <a:sym typeface="Wingdings" panose="05000000000000000000" pitchFamily="2" charset="2"/>
            </a:endParaRPr>
          </a:p>
          <a:p>
            <a:endParaRPr lang="bg-BG" dirty="0">
              <a:latin typeface="Comfortaa" pitchFamily="2" charset="0"/>
              <a:sym typeface="Wingdings" panose="05000000000000000000" pitchFamily="2" charset="2"/>
            </a:endParaRPr>
          </a:p>
          <a:p>
            <a:endParaRPr lang="bg-BG" dirty="0">
              <a:latin typeface="Comfortaa" pitchFamily="2" charset="0"/>
              <a:sym typeface="Wingdings" panose="05000000000000000000" pitchFamily="2" charset="2"/>
            </a:endParaRPr>
          </a:p>
          <a:p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Аналогично създайте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secondPerson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thirdPerson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извикайте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IntroduceYourself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за тях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За момента няма да акцентираме на теоретичния смисъл на кода от по-рано – той ще се уточни допълнително в следващите теми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45" y="1977469"/>
            <a:ext cx="8263984" cy="1260422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DF7FCEF0-2292-CA1E-ADF6-3BFCBDBD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Дефинирайте клас </a:t>
            </a:r>
            <a:r>
              <a:rPr lang="en-US" sz="3600" b="1" dirty="0">
                <a:latin typeface="Comfortaa" pitchFamily="2" charset="0"/>
              </a:rPr>
              <a:t>Person</a:t>
            </a:r>
            <a:r>
              <a:rPr lang="bg-BG" sz="3600" b="1" dirty="0">
                <a:latin typeface="Comfortaa" pitchFamily="2" charset="0"/>
              </a:rPr>
              <a:t> </a:t>
            </a:r>
            <a:r>
              <a:rPr lang="en-US" sz="3600" b="1" dirty="0">
                <a:latin typeface="Comfortaa" pitchFamily="2" charset="0"/>
              </a:rPr>
              <a:t>[4/4]</a:t>
            </a:r>
          </a:p>
        </p:txBody>
      </p:sp>
    </p:spTree>
    <p:extLst>
      <p:ext uri="{BB962C8B-B14F-4D97-AF65-F5344CB8AC3E}">
        <p14:creationId xmlns:p14="http://schemas.microsoft.com/office/powerpoint/2010/main" val="2191988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469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Задача: Дефинирайте клас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  <a:r>
              <a:rPr lang="bg-BG" dirty="0">
                <a:latin typeface="Comfortaa" pitchFamily="2" charset="0"/>
              </a:rPr>
              <a:t>, като за него пазете информация за името и възрастта на човек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както и информация за банкови сметки (клас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BankAccount</a:t>
            </a:r>
            <a:r>
              <a:rPr lang="en-US" dirty="0">
                <a:latin typeface="Comfortaa" pitchFamily="2" charset="0"/>
              </a:rPr>
              <a:t>). </a:t>
            </a:r>
            <a:r>
              <a:rPr lang="bg-BG" dirty="0">
                <a:latin typeface="Comfortaa" pitchFamily="2" charset="0"/>
              </a:rPr>
              <a:t>Направете метод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GetBalance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който дава информация каква е общата стойност на парите, които притежава човек.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632320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b="1" dirty="0">
                <a:latin typeface="Comfortaa" pitchFamily="2" charset="0"/>
              </a:rPr>
              <a:t>Задача:</a:t>
            </a:r>
            <a:r>
              <a:rPr lang="en-US" sz="4000" b="1" dirty="0">
                <a:latin typeface="Comfortaa" pitchFamily="2" charset="0"/>
              </a:rPr>
              <a:t> </a:t>
            </a:r>
            <a:r>
              <a:rPr lang="bg-BG" sz="4000" b="1" dirty="0">
                <a:latin typeface="Comfortaa" pitchFamily="2" charset="0"/>
              </a:rPr>
              <a:t>Човекът и неговите пари</a:t>
            </a:r>
            <a:endParaRPr lang="en-US" sz="40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25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Първо ще създадем файл за клас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BankAccount</a:t>
            </a:r>
            <a:r>
              <a:rPr lang="bg-BG" dirty="0">
                <a:latin typeface="Comfortaa" pitchFamily="2" charset="0"/>
              </a:rPr>
              <a:t>.</a:t>
            </a:r>
          </a:p>
          <a:p>
            <a:r>
              <a:rPr lang="bg-BG" dirty="0">
                <a:latin typeface="Comfortaa" pitchFamily="2" charset="0"/>
              </a:rPr>
              <a:t>След това ще направим възможно в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 се пази списък от банковите сметки на човека</a:t>
            </a:r>
          </a:p>
          <a:p>
            <a:r>
              <a:rPr lang="bg-BG" dirty="0">
                <a:latin typeface="Comfortaa" pitchFamily="2" charset="0"/>
              </a:rPr>
              <a:t>Последно в класа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ще добавим метод, който изчислява сумата от балансите на всички смекти в списъка</a:t>
            </a:r>
            <a:br>
              <a:rPr lang="bg-BG" dirty="0">
                <a:latin typeface="Comfortaa" pitchFamily="2" charset="0"/>
              </a:rPr>
            </a:b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Човекът и неговите пари </a:t>
            </a:r>
            <a:r>
              <a:rPr lang="en-US" sz="3600" b="1" dirty="0">
                <a:latin typeface="Comfortaa" pitchFamily="2" charset="0"/>
              </a:rPr>
              <a:t>[1/5]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54EC97E-8680-4F91-9FD3-DDFE09A42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439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/>
          <p:cNvSpPr txBox="1">
            <a:spLocks/>
          </p:cNvSpPr>
          <p:nvPr/>
        </p:nvSpPr>
        <p:spPr>
          <a:xfrm>
            <a:off x="949569" y="1529861"/>
            <a:ext cx="10240108" cy="48851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200" dirty="0">
                <a:solidFill>
                  <a:srgbClr val="00B0F0"/>
                </a:solidFill>
                <a:effectLst/>
              </a:rPr>
              <a:t>class </a:t>
            </a:r>
            <a:r>
              <a:rPr lang="en-US" sz="2200" dirty="0" err="1">
                <a:solidFill>
                  <a:srgbClr val="00B0F0"/>
                </a:solidFill>
                <a:effectLst/>
              </a:rPr>
              <a:t>BankAccount</a:t>
            </a:r>
            <a:r>
              <a:rPr lang="en-US" sz="2200" dirty="0">
                <a:solidFill>
                  <a:srgbClr val="00B0F0"/>
                </a:solidFill>
                <a:effectLst/>
              </a:rPr>
              <a:t> {</a:t>
            </a:r>
          </a:p>
          <a:p>
            <a:r>
              <a:rPr lang="bg-BG" sz="2200" dirty="0">
                <a:solidFill>
                  <a:schemeClr val="bg1"/>
                </a:solidFill>
                <a:effectLst/>
              </a:rPr>
              <a:t>  </a:t>
            </a:r>
            <a:r>
              <a:rPr lang="en-US" sz="2200" dirty="0">
                <a:solidFill>
                  <a:schemeClr val="bg1"/>
                </a:solidFill>
                <a:effectLst/>
              </a:rPr>
              <a:t>private </a:t>
            </a:r>
            <a:r>
              <a:rPr lang="en-US" sz="22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200" dirty="0">
                <a:solidFill>
                  <a:schemeClr val="bg1"/>
                </a:solidFill>
                <a:effectLst/>
              </a:rPr>
              <a:t> id;</a:t>
            </a:r>
          </a:p>
          <a:p>
            <a:r>
              <a:rPr lang="en-US" sz="2200" dirty="0">
                <a:solidFill>
                  <a:schemeClr val="bg1"/>
                </a:solidFill>
                <a:effectLst/>
              </a:rPr>
              <a:t> </a:t>
            </a:r>
            <a:r>
              <a:rPr lang="bg-BG" sz="2200" dirty="0">
                <a:solidFill>
                  <a:schemeClr val="bg1"/>
                </a:solidFill>
                <a:effectLst/>
              </a:rPr>
              <a:t> </a:t>
            </a:r>
            <a:r>
              <a:rPr lang="en-US" sz="2200" dirty="0">
                <a:solidFill>
                  <a:schemeClr val="bg1"/>
                </a:solidFill>
                <a:effectLst/>
              </a:rPr>
              <a:t>private double balance;</a:t>
            </a:r>
          </a:p>
          <a:p>
            <a:endParaRPr lang="en-US" sz="2200" dirty="0">
              <a:solidFill>
                <a:schemeClr val="bg1"/>
              </a:solidFill>
              <a:effectLst/>
            </a:endParaRPr>
          </a:p>
          <a:p>
            <a:r>
              <a:rPr lang="bg-BG" sz="2200" dirty="0">
                <a:solidFill>
                  <a:schemeClr val="bg1"/>
                </a:solidFill>
                <a:effectLst/>
              </a:rPr>
              <a:t>  </a:t>
            </a:r>
            <a:r>
              <a:rPr lang="en-US" sz="2200" dirty="0">
                <a:solidFill>
                  <a:schemeClr val="bg1"/>
                </a:solidFill>
                <a:effectLst/>
              </a:rPr>
              <a:t>public </a:t>
            </a:r>
            <a:r>
              <a:rPr lang="en-US" sz="22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200" dirty="0">
                <a:solidFill>
                  <a:schemeClr val="bg1"/>
                </a:solidFill>
                <a:effectLst/>
              </a:rPr>
              <a:t> ID</a:t>
            </a:r>
            <a:r>
              <a:rPr lang="bg-BG" sz="2200" dirty="0">
                <a:solidFill>
                  <a:schemeClr val="bg1"/>
                </a:solidFill>
                <a:effectLst/>
              </a:rPr>
              <a:t> </a:t>
            </a:r>
            <a:r>
              <a:rPr lang="en-US" sz="22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200" dirty="0">
                <a:solidFill>
                  <a:schemeClr val="bg1"/>
                </a:solidFill>
                <a:effectLst/>
              </a:rPr>
              <a:t> </a:t>
            </a:r>
            <a:r>
              <a:rPr lang="bg-BG" sz="2200" dirty="0">
                <a:solidFill>
                  <a:schemeClr val="bg1"/>
                </a:solidFill>
                <a:effectLst/>
              </a:rPr>
              <a:t>   </a:t>
            </a:r>
            <a:r>
              <a:rPr lang="en-US" sz="2200" dirty="0">
                <a:solidFill>
                  <a:schemeClr val="bg1"/>
                </a:solidFill>
                <a:effectLst/>
              </a:rPr>
              <a:t>get { return id; }</a:t>
            </a:r>
          </a:p>
          <a:p>
            <a:r>
              <a:rPr lang="bg-BG" sz="2200" dirty="0">
                <a:solidFill>
                  <a:schemeClr val="bg1"/>
                </a:solidFill>
                <a:effectLst/>
              </a:rPr>
              <a:t>    </a:t>
            </a:r>
            <a:r>
              <a:rPr lang="en-US" sz="2200" dirty="0">
                <a:solidFill>
                  <a:schemeClr val="bg1"/>
                </a:solidFill>
                <a:effectLst/>
              </a:rPr>
              <a:t>set { id = value; }</a:t>
            </a:r>
            <a:endParaRPr lang="bg-BG" sz="2200" dirty="0">
              <a:solidFill>
                <a:schemeClr val="bg1"/>
              </a:solidFill>
              <a:effectLst/>
            </a:endParaRPr>
          </a:p>
          <a:p>
            <a:r>
              <a:rPr lang="bg-BG" sz="2200" dirty="0">
                <a:solidFill>
                  <a:schemeClr val="bg1"/>
                </a:solidFill>
                <a:effectLst/>
              </a:rPr>
              <a:t>  </a:t>
            </a:r>
            <a:r>
              <a:rPr lang="en-US" sz="2200" dirty="0">
                <a:solidFill>
                  <a:schemeClr val="bg1"/>
                </a:solidFill>
                <a:effectLst/>
              </a:rPr>
              <a:t>}</a:t>
            </a:r>
          </a:p>
          <a:p>
            <a:endParaRPr lang="en-US" sz="2200" dirty="0">
              <a:solidFill>
                <a:schemeClr val="bg1"/>
              </a:solidFill>
              <a:effectLst/>
            </a:endParaRPr>
          </a:p>
          <a:p>
            <a:r>
              <a:rPr lang="bg-BG" sz="2200" dirty="0">
                <a:solidFill>
                  <a:schemeClr val="bg1"/>
                </a:solidFill>
                <a:effectLst/>
              </a:rPr>
              <a:t>  </a:t>
            </a:r>
            <a:r>
              <a:rPr lang="en-US" sz="2200" dirty="0">
                <a:solidFill>
                  <a:schemeClr val="bg1"/>
                </a:solidFill>
                <a:effectLst/>
              </a:rPr>
              <a:t>public double Balance</a:t>
            </a:r>
            <a:r>
              <a:rPr lang="bg-BG" sz="2200" dirty="0">
                <a:solidFill>
                  <a:schemeClr val="bg1"/>
                </a:solidFill>
                <a:effectLst/>
              </a:rPr>
              <a:t> </a:t>
            </a:r>
            <a:r>
              <a:rPr lang="en-US" sz="22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200" dirty="0">
                <a:solidFill>
                  <a:schemeClr val="bg1"/>
                </a:solidFill>
                <a:effectLst/>
              </a:rPr>
              <a:t>  </a:t>
            </a:r>
            <a:r>
              <a:rPr lang="bg-BG" sz="2200" dirty="0">
                <a:solidFill>
                  <a:schemeClr val="bg1"/>
                </a:solidFill>
                <a:effectLst/>
              </a:rPr>
              <a:t>  </a:t>
            </a:r>
            <a:r>
              <a:rPr lang="en-US" sz="2200" dirty="0">
                <a:solidFill>
                  <a:schemeClr val="bg1"/>
                </a:solidFill>
                <a:effectLst/>
              </a:rPr>
              <a:t>get { return balance; }</a:t>
            </a:r>
          </a:p>
          <a:p>
            <a:r>
              <a:rPr lang="bg-BG" sz="2200" dirty="0">
                <a:solidFill>
                  <a:schemeClr val="bg1"/>
                </a:solidFill>
                <a:effectLst/>
              </a:rPr>
              <a:t>    </a:t>
            </a:r>
            <a:r>
              <a:rPr lang="en-US" sz="2200" dirty="0">
                <a:solidFill>
                  <a:schemeClr val="bg1"/>
                </a:solidFill>
                <a:effectLst/>
              </a:rPr>
              <a:t>set { balance = value; }</a:t>
            </a:r>
          </a:p>
          <a:p>
            <a:r>
              <a:rPr lang="bg-BG" sz="2200" dirty="0">
                <a:solidFill>
                  <a:schemeClr val="bg1"/>
                </a:solidFill>
                <a:effectLst/>
              </a:rPr>
              <a:t>  </a:t>
            </a:r>
            <a:r>
              <a:rPr lang="en-US" sz="2200" dirty="0">
                <a:solidFill>
                  <a:schemeClr val="bg1"/>
                </a:solidFill>
                <a:effectLst/>
              </a:rPr>
              <a:t>}</a:t>
            </a:r>
            <a:endParaRPr lang="bg-BG" sz="2200" dirty="0">
              <a:solidFill>
                <a:schemeClr val="bg1"/>
              </a:solidFill>
              <a:effectLst/>
            </a:endParaRPr>
          </a:p>
          <a:p>
            <a:r>
              <a:rPr lang="en-US" sz="2200" dirty="0">
                <a:solidFill>
                  <a:srgbClr val="00B0F0"/>
                </a:solidFill>
                <a:effectLst/>
              </a:rPr>
              <a:t>}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1FC49D2-90D3-575B-C06F-7F383E293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Човекът и неговите пари </a:t>
            </a:r>
            <a:r>
              <a:rPr lang="en-US" sz="3600" b="1" dirty="0">
                <a:latin typeface="Comfortaa" pitchFamily="2" charset="0"/>
              </a:rPr>
              <a:t>[2/5]</a:t>
            </a:r>
          </a:p>
        </p:txBody>
      </p:sp>
    </p:spTree>
    <p:extLst>
      <p:ext uri="{BB962C8B-B14F-4D97-AF65-F5344CB8AC3E}">
        <p14:creationId xmlns:p14="http://schemas.microsoft.com/office/powerpoint/2010/main" val="224490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/>
          <p:cNvSpPr txBox="1">
            <a:spLocks/>
          </p:cNvSpPr>
          <p:nvPr/>
        </p:nvSpPr>
        <p:spPr>
          <a:xfrm>
            <a:off x="978877" y="2327031"/>
            <a:ext cx="10336823" cy="38387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400" dirty="0">
                <a:solidFill>
                  <a:srgbClr val="00B0F0"/>
                </a:solidFill>
              </a:rPr>
              <a:t>class Person {</a:t>
            </a:r>
            <a:endParaRPr lang="bg-BG" sz="2400" dirty="0">
              <a:solidFill>
                <a:srgbClr val="00B0F0"/>
              </a:solidFill>
            </a:endParaRPr>
          </a:p>
          <a:p>
            <a:r>
              <a:rPr lang="bg-BG" sz="2400" dirty="0">
                <a:solidFill>
                  <a:schemeClr val="bg1"/>
                </a:solidFill>
              </a:rPr>
              <a:t>  //</a:t>
            </a:r>
            <a:r>
              <a:rPr lang="en-US" sz="2400" dirty="0">
                <a:solidFill>
                  <a:schemeClr val="bg1"/>
                </a:solidFill>
              </a:rPr>
              <a:t> TODO: </a:t>
            </a:r>
            <a:r>
              <a:rPr lang="bg-BG" sz="2400" dirty="0">
                <a:solidFill>
                  <a:schemeClr val="bg1"/>
                </a:solidFill>
              </a:rPr>
              <a:t>добавете полета за име и възраст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private List&lt;</a:t>
            </a:r>
            <a:r>
              <a:rPr lang="en-US" sz="2400" dirty="0" err="1">
                <a:solidFill>
                  <a:schemeClr val="bg1"/>
                </a:solidFill>
              </a:rPr>
              <a:t>BankAccount</a:t>
            </a:r>
            <a:r>
              <a:rPr lang="en-US" sz="2400" dirty="0">
                <a:solidFill>
                  <a:schemeClr val="bg1"/>
                </a:solidFill>
              </a:rPr>
              <a:t>&gt; accounts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=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new List&lt;</a:t>
            </a:r>
            <a:r>
              <a:rPr lang="en-US" sz="2400" dirty="0" err="1">
                <a:solidFill>
                  <a:schemeClr val="bg1"/>
                </a:solidFill>
              </a:rPr>
              <a:t>BankAccount</a:t>
            </a:r>
            <a:r>
              <a:rPr lang="en-US" sz="2400" dirty="0">
                <a:solidFill>
                  <a:schemeClr val="bg1"/>
                </a:solidFill>
              </a:rPr>
              <a:t>&gt;();</a:t>
            </a:r>
          </a:p>
          <a:p>
            <a:r>
              <a:rPr lang="bg-BG" sz="2400" dirty="0">
                <a:solidFill>
                  <a:schemeClr val="bg1"/>
                </a:solidFill>
              </a:rPr>
              <a:t>  //</a:t>
            </a:r>
            <a:r>
              <a:rPr lang="en-US" sz="2400" dirty="0">
                <a:solidFill>
                  <a:schemeClr val="bg1"/>
                </a:solidFill>
              </a:rPr>
              <a:t>TODO: </a:t>
            </a:r>
            <a:r>
              <a:rPr lang="bg-BG" sz="2400" dirty="0">
                <a:solidFill>
                  <a:schemeClr val="bg1"/>
                </a:solidFill>
              </a:rPr>
              <a:t>добавете свойства за име и възраст</a:t>
            </a:r>
          </a:p>
          <a:p>
            <a:r>
              <a:rPr lang="bg-BG" sz="2400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public List&lt;</a:t>
            </a:r>
            <a:r>
              <a:rPr lang="en-US" sz="2400" dirty="0" err="1">
                <a:solidFill>
                  <a:schemeClr val="bg1"/>
                </a:solidFill>
              </a:rPr>
              <a:t>BankAccount</a:t>
            </a:r>
            <a:r>
              <a:rPr lang="en-US" sz="2400" dirty="0">
                <a:solidFill>
                  <a:schemeClr val="bg1"/>
                </a:solidFill>
              </a:rPr>
              <a:t>&gt; Accounts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bg-BG" sz="2400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get { return accounts; }</a:t>
            </a:r>
          </a:p>
          <a:p>
            <a:r>
              <a:rPr lang="bg-BG" sz="2400" dirty="0">
                <a:solidFill>
                  <a:schemeClr val="bg1"/>
                </a:solidFill>
              </a:rPr>
              <a:t>    </a:t>
            </a:r>
            <a:r>
              <a:rPr lang="en-US" sz="2400" dirty="0">
                <a:solidFill>
                  <a:schemeClr val="bg1"/>
                </a:solidFill>
              </a:rPr>
              <a:t>set { accounts = value; }</a:t>
            </a:r>
          </a:p>
          <a:p>
            <a:r>
              <a:rPr lang="bg-BG" sz="2400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r>
              <a:rPr lang="en-US" sz="2400" dirty="0"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76300" y="1392503"/>
            <a:ext cx="10439400" cy="934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В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Person.cs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 </a:t>
            </a:r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добавете поле, в което ще се пази списък от банковите сметки</a:t>
            </a:r>
            <a:r>
              <a:rPr lang="en-US" sz="2400" dirty="0">
                <a:latin typeface="Comfortaa" pitchFamily="2" charset="0"/>
                <a:sym typeface="Wingdings" panose="05000000000000000000" pitchFamily="2" charset="2"/>
              </a:rPr>
              <a:t>, </a:t>
            </a:r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както и свойство: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F79087A-64F8-D72F-90F0-08EFC2C84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Човекът и неговите пари </a:t>
            </a:r>
            <a:r>
              <a:rPr lang="en-US" sz="3600" b="1" dirty="0">
                <a:latin typeface="Comfortaa" pitchFamily="2" charset="0"/>
              </a:rPr>
              <a:t>[3/5]</a:t>
            </a:r>
          </a:p>
        </p:txBody>
      </p:sp>
    </p:spTree>
    <p:extLst>
      <p:ext uri="{BB962C8B-B14F-4D97-AF65-F5344CB8AC3E}">
        <p14:creationId xmlns:p14="http://schemas.microsoft.com/office/powerpoint/2010/main" val="1051429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/>
          <p:cNvSpPr txBox="1">
            <a:spLocks/>
          </p:cNvSpPr>
          <p:nvPr/>
        </p:nvSpPr>
        <p:spPr>
          <a:xfrm>
            <a:off x="886688" y="2693562"/>
            <a:ext cx="10515600" cy="27307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/>
                </a:solidFill>
                <a:effectLst/>
              </a:rPr>
              <a:t>class Person {</a:t>
            </a:r>
            <a:endParaRPr lang="bg-BG" sz="2800" dirty="0">
              <a:solidFill>
                <a:schemeClr val="bg1"/>
              </a:solidFill>
              <a:effectLst/>
            </a:endParaRPr>
          </a:p>
          <a:p>
            <a:r>
              <a:rPr lang="bg-BG" sz="2800" dirty="0">
                <a:solidFill>
                  <a:schemeClr val="bg1"/>
                </a:solidFill>
                <a:effectLst/>
              </a:rPr>
              <a:t>  //...</a:t>
            </a:r>
          </a:p>
          <a:p>
            <a:r>
              <a:rPr lang="bg-BG" sz="2800" dirty="0">
                <a:solidFill>
                  <a:schemeClr val="bg1"/>
                </a:solidFill>
                <a:effectLst/>
              </a:rPr>
              <a:t>  </a:t>
            </a:r>
            <a:r>
              <a:rPr lang="en-US" sz="2800" dirty="0">
                <a:solidFill>
                  <a:schemeClr val="bg1"/>
                </a:solidFill>
                <a:effectLst/>
              </a:rPr>
              <a:t>public double </a:t>
            </a:r>
            <a:r>
              <a:rPr lang="en-US" sz="2800" dirty="0" err="1">
                <a:solidFill>
                  <a:schemeClr val="bg1"/>
                </a:solidFill>
                <a:effectLst/>
              </a:rPr>
              <a:t>GetBalance</a:t>
            </a:r>
            <a:r>
              <a:rPr lang="en-US" sz="2800" dirty="0">
                <a:solidFill>
                  <a:schemeClr val="bg1"/>
                </a:solidFill>
                <a:effectLst/>
              </a:rPr>
              <a:t>()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</a:t>
            </a:r>
            <a:r>
              <a:rPr lang="bg-BG" sz="2800" dirty="0">
                <a:solidFill>
                  <a:schemeClr val="bg1"/>
                </a:solidFill>
                <a:effectLst/>
              </a:rPr>
              <a:t>  </a:t>
            </a:r>
            <a:r>
              <a:rPr lang="en-US" sz="2800" dirty="0">
                <a:solidFill>
                  <a:schemeClr val="bg1"/>
                </a:solidFill>
                <a:effectLst/>
              </a:rPr>
              <a:t>return </a:t>
            </a:r>
            <a:r>
              <a:rPr lang="en-US" sz="2800" dirty="0" err="1">
                <a:solidFill>
                  <a:schemeClr val="bg1"/>
                </a:solidFill>
                <a:effectLst/>
              </a:rPr>
              <a:t>accounts.Sum</a:t>
            </a:r>
            <a:r>
              <a:rPr lang="en-US" sz="2800" dirty="0">
                <a:solidFill>
                  <a:schemeClr val="bg1"/>
                </a:solidFill>
                <a:effectLst/>
              </a:rPr>
              <a:t>(element =&gt; </a:t>
            </a:r>
            <a:r>
              <a:rPr lang="en-US" sz="2800" dirty="0" err="1">
                <a:solidFill>
                  <a:schemeClr val="bg1"/>
                </a:solidFill>
                <a:effectLst/>
              </a:rPr>
              <a:t>element.Balance</a:t>
            </a:r>
            <a:r>
              <a:rPr lang="en-US" sz="2800" dirty="0">
                <a:solidFill>
                  <a:schemeClr val="bg1"/>
                </a:solidFill>
                <a:effectLst/>
              </a:rPr>
              <a:t>);</a:t>
            </a:r>
          </a:p>
          <a:p>
            <a:r>
              <a:rPr lang="bg-BG" sz="2800" dirty="0">
                <a:solidFill>
                  <a:schemeClr val="bg1"/>
                </a:solidFill>
                <a:effectLst/>
              </a:rPr>
              <a:t>  </a:t>
            </a:r>
            <a:r>
              <a:rPr lang="en-US" sz="2800" dirty="0">
                <a:solidFill>
                  <a:schemeClr val="bg1"/>
                </a:solidFill>
                <a:effectLst/>
              </a:rPr>
              <a:t>}</a:t>
            </a:r>
            <a:endParaRPr lang="bg-BG" sz="2800" dirty="0">
              <a:solidFill>
                <a:schemeClr val="bg1"/>
              </a:solidFill>
              <a:effectLst/>
            </a:endParaRP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611923"/>
            <a:ext cx="10427677" cy="9261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В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Person.cs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  <a:sym typeface="Wingdings" panose="05000000000000000000" pitchFamily="2" charset="2"/>
              </a:rPr>
              <a:t> </a:t>
            </a:r>
            <a:r>
              <a:rPr lang="bg-BG" sz="2400" dirty="0">
                <a:latin typeface="Comfortaa" pitchFamily="2" charset="0"/>
                <a:sym typeface="Wingdings" panose="05000000000000000000" pitchFamily="2" charset="2"/>
              </a:rPr>
              <a:t>добавете метода, който ще изчислява стойността на сумата от балансите на всички сметки: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7AFDD2BA-2A10-065F-6B4B-D900221F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Човекът и неговите пари </a:t>
            </a:r>
            <a:r>
              <a:rPr lang="en-US" sz="3600" b="1" dirty="0">
                <a:latin typeface="Comfortaa" pitchFamily="2" charset="0"/>
              </a:rPr>
              <a:t>[4/5]</a:t>
            </a:r>
          </a:p>
        </p:txBody>
      </p:sp>
    </p:spTree>
    <p:extLst>
      <p:ext uri="{BB962C8B-B14F-4D97-AF65-F5344CB8AC3E}">
        <p14:creationId xmlns:p14="http://schemas.microsoft.com/office/powerpoint/2010/main" val="311941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549707"/>
            <a:ext cx="10515600" cy="465180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Създайте три обекта от клас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Person</a:t>
            </a:r>
            <a:r>
              <a:rPr lang="bg-BG" dirty="0">
                <a:latin typeface="Comfortaa" pitchFamily="2" charset="0"/>
              </a:rPr>
              <a:t> в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Main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r>
              <a:rPr lang="bg-BG" dirty="0">
                <a:latin typeface="Comfortaa" pitchFamily="2" charset="0"/>
              </a:rPr>
              <a:t>Създайте един обект от клас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BankAccount</a:t>
            </a:r>
            <a:r>
              <a:rPr lang="bg-BG" dirty="0">
                <a:latin typeface="Comfortaa" pitchFamily="2" charset="0"/>
              </a:rPr>
              <a:t>, задайте му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ID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баланс и го добавете към първия човек, използвайки метода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Add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r>
              <a:rPr lang="en-US" dirty="0">
                <a:latin typeface="Comfortaa" pitchFamily="2" charset="0"/>
              </a:rPr>
              <a:t> - </a:t>
            </a:r>
            <a:r>
              <a:rPr lang="bg-BG" dirty="0">
                <a:latin typeface="Comfortaa" pitchFamily="2" charset="0"/>
              </a:rPr>
              <a:t>не забравяйте, че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.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Accounts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списък и има метод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Add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endParaRPr lang="bg-BG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Аналогично за втория човек създайте две сметки и му ги добавете, а за третия – три</a:t>
            </a:r>
            <a:r>
              <a:rPr lang="en-US" dirty="0">
                <a:latin typeface="Comfortaa" pitchFamily="2" charset="0"/>
              </a:rPr>
              <a:t>;</a:t>
            </a: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Изкарайте трите суми – състоянието на първия, втория и третия човек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C8CEFDD-ED15-E66F-B0AB-52FF196F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Решение: Човекът и неговите пари </a:t>
            </a:r>
            <a:r>
              <a:rPr lang="en-US" sz="3600" b="1" dirty="0">
                <a:latin typeface="Comfortaa" pitchFamily="2" charset="0"/>
              </a:rPr>
              <a:t>[5/5]</a:t>
            </a:r>
          </a:p>
        </p:txBody>
      </p:sp>
    </p:spTree>
    <p:extLst>
      <p:ext uri="{BB962C8B-B14F-4D97-AF65-F5344CB8AC3E}">
        <p14:creationId xmlns:p14="http://schemas.microsoft.com/office/powerpoint/2010/main" val="1467979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1115</Words>
  <Application>Microsoft Office PowerPoint</Application>
  <PresentationFormat>Widescreen</PresentationFormat>
  <Paragraphs>142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Дефиниране на класове</vt:lpstr>
      <vt:lpstr>Съдържание</vt:lpstr>
      <vt:lpstr>Задача: Дефинирайте клас Person</vt:lpstr>
      <vt:lpstr>Решение: Дефинирайте клас Person [1/4]</vt:lpstr>
      <vt:lpstr>Решение: Дефинирайте клас Person [2/4]</vt:lpstr>
      <vt:lpstr>Решение: Дефинирайте клас Person [3/4]</vt:lpstr>
      <vt:lpstr>Решение: Дефинирайте клас Person [4/4]</vt:lpstr>
      <vt:lpstr>Задача: Човекът и неговите пари</vt:lpstr>
      <vt:lpstr>Решение: Човекът и неговите пари [1/5]</vt:lpstr>
      <vt:lpstr>Решение: Човекът и неговите пари [2/5]</vt:lpstr>
      <vt:lpstr>Решение: Човекът и неговите пари [3/5]</vt:lpstr>
      <vt:lpstr>Решение: Човекът и неговите пари [4/5]</vt:lpstr>
      <vt:lpstr>Решение: Човекът и неговите пари [5/5]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2022-09-14T15:39:38Z</dcterms:modified>
</cp:coreProperties>
</file>