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8" r:id="rId2"/>
    <p:sldId id="571" r:id="rId3"/>
    <p:sldId id="598" r:id="rId4"/>
    <p:sldId id="599" r:id="rId5"/>
    <p:sldId id="600" r:id="rId6"/>
    <p:sldId id="601" r:id="rId7"/>
    <p:sldId id="602" r:id="rId8"/>
    <p:sldId id="603" r:id="rId9"/>
    <p:sldId id="486" r:id="rId10"/>
    <p:sldId id="5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598"/>
            <p14:sldId id="599"/>
            <p14:sldId id="600"/>
            <p14:sldId id="601"/>
            <p14:sldId id="602"/>
            <p14:sldId id="603"/>
            <p14:sldId id="486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CB57B0A-1F79-4CD6-9A51-8F9EE2A3FC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464521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BC19F4D-5474-47AE-B872-BB3966F92B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96567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09FD225-FC5A-413C-93DE-4D232F886C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91394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B1CD7CD-B093-4671-927D-016F38FD21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640293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D3DCF6E-C6BE-4CCD-8A9F-9A0D52F4CF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623134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BE65B3B-E6E2-4525-8F2E-49AC8F612DB9}" type="slidenum">
              <a:rPr lang="en-US"/>
              <a:t>9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8253D5E0-ECE3-44F6-B0B0-7AA755F93F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95508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Конструктори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Инициализиране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обекти</a:t>
            </a:r>
            <a:endParaRPr lang="ru-RU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86601" y="762000"/>
            <a:ext cx="100187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88199" y="1913127"/>
            <a:ext cx="10018799" cy="4066333"/>
          </a:xfrm>
        </p:spPr>
        <p:txBody>
          <a:bodyPr>
            <a:normAutofit/>
          </a:bodyPr>
          <a:lstStyle/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Какво са конструкторите</a:t>
            </a:r>
            <a:endParaRPr lang="en-US" dirty="0">
              <a:latin typeface="Comfortaa" pitchFamily="2" charset="0"/>
            </a:endParaRPr>
          </a:p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Видове конструктори</a:t>
            </a:r>
            <a:endParaRPr lang="en-US" dirty="0">
              <a:latin typeface="Comfortaa" pitchFamily="2" charset="0"/>
            </a:endParaRPr>
          </a:p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Верижно извикване на конструктори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06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092" y="1309049"/>
            <a:ext cx="10693778" cy="585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Специален вид методи, извиквани при създаване на обекта</a:t>
            </a:r>
            <a:endParaRPr lang="en-GB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8092" y="303235"/>
            <a:ext cx="10642270" cy="1189346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Конструктори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5" name="Text Placeholder 5"/>
          <p:cNvSpPr txBox="1"/>
          <p:nvPr/>
        </p:nvSpPr>
        <p:spPr>
          <a:xfrm>
            <a:off x="609600" y="2087254"/>
            <a:ext cx="10693778" cy="408494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bg1"/>
                </a:solidFill>
                <a:effectLst/>
              </a:rPr>
              <a:t>class Dice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int sides;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public </a:t>
            </a:r>
            <a:r>
              <a:rPr lang="en-US" sz="3200" dirty="0">
                <a:solidFill>
                  <a:srgbClr val="00B0F0"/>
                </a:solidFill>
                <a:effectLst/>
              </a:rPr>
              <a:t>Dice</a:t>
            </a:r>
            <a:r>
              <a:rPr lang="en-US" sz="3200" dirty="0">
                <a:solidFill>
                  <a:schemeClr val="bg1"/>
                </a:solidFill>
                <a:effectLst/>
              </a:rPr>
              <a:t>()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{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this.sides = 6;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410200" y="3384468"/>
            <a:ext cx="4547260" cy="1598386"/>
          </a:xfrm>
          <a:prstGeom prst="wedgeRoundRectCallout">
            <a:avLst>
              <a:gd name="adj1" fmla="val -77118"/>
              <a:gd name="adj2" fmla="val -1764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noProof="1">
                <a:solidFill>
                  <a:schemeClr val="bg1"/>
                </a:solidFill>
                <a:latin typeface="Comfortaa" pitchFamily="2" charset="0"/>
              </a:rPr>
              <a:t>Предефиниране на конструктора по подразбиране</a:t>
            </a:r>
            <a:endParaRPr lang="en-US" sz="2800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92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030" y="1030776"/>
            <a:ext cx="10525496" cy="53793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Може да имате множество конструктори за даден клас</a:t>
            </a:r>
            <a:endParaRPr lang="en-GB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615538" y="1523792"/>
            <a:ext cx="10693778" cy="506983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class Dice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{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  int sides;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  public </a:t>
            </a:r>
            <a:r>
              <a:rPr lang="en-US" sz="3200" dirty="0">
                <a:solidFill>
                  <a:srgbClr val="00B0F0"/>
                </a:solidFill>
                <a:effectLst/>
              </a:rPr>
              <a:t>Dice</a:t>
            </a:r>
            <a:r>
              <a:rPr lang="en-US" sz="3200" dirty="0">
                <a:solidFill>
                  <a:schemeClr val="bg1"/>
                </a:solidFill>
                <a:effectLst/>
              </a:rPr>
              <a:t>()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  {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    this.sides = 6;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  }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  public </a:t>
            </a:r>
            <a:r>
              <a:rPr lang="en-US" sz="3200" dirty="0">
                <a:solidFill>
                  <a:srgbClr val="00B0F0"/>
                </a:solidFill>
                <a:effectLst/>
              </a:rPr>
              <a:t>Dice</a:t>
            </a:r>
            <a:r>
              <a:rPr lang="en-US" sz="3200" dirty="0">
                <a:solidFill>
                  <a:schemeClr val="bg1"/>
                </a:solidFill>
                <a:effectLst/>
              </a:rPr>
              <a:t>(int sides)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  {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    this.sides = sides;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  }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692401" y="4233178"/>
            <a:ext cx="2381338" cy="1051947"/>
          </a:xfrm>
          <a:prstGeom prst="wedgeRoundRectCallout">
            <a:avLst>
              <a:gd name="adj1" fmla="val -65321"/>
              <a:gd name="adj2" fmla="val -1830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Конструктор с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параметри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4985140" y="1965766"/>
            <a:ext cx="2716999" cy="1051947"/>
          </a:xfrm>
          <a:prstGeom prst="wedgeRoundRectCallout">
            <a:avLst>
              <a:gd name="adj1" fmla="val -75155"/>
              <a:gd name="adj2" fmla="val 5040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Конструктор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без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параметри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288E7125-F405-F1CE-F531-E56AEE8D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30" y="166669"/>
            <a:ext cx="10642270" cy="960066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Конструктори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</p:spTree>
    <p:extLst>
      <p:ext uri="{BB962C8B-B14F-4D97-AF65-F5344CB8AC3E}">
        <p14:creationId xmlns:p14="http://schemas.microsoft.com/office/powerpoint/2010/main" val="366337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111" y="1163781"/>
            <a:ext cx="10693778" cy="635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Конструкторите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задават началното състояние на обекта</a:t>
            </a:r>
            <a:endParaRPr lang="en-GB" sz="2400" dirty="0">
              <a:latin typeface="Comfortaa" pitchFamily="2" charset="0"/>
            </a:endParaRPr>
          </a:p>
        </p:txBody>
      </p:sp>
      <p:sp>
        <p:nvSpPr>
          <p:cNvPr id="7" name="Text Placeholder 5"/>
          <p:cNvSpPr txBox="1"/>
          <p:nvPr/>
        </p:nvSpPr>
        <p:spPr>
          <a:xfrm>
            <a:off x="749111" y="1768983"/>
            <a:ext cx="10693778" cy="457738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bg1"/>
                </a:solidFill>
                <a:effectLst/>
              </a:rPr>
              <a:t>class Dice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int sides; int[] </a:t>
            </a:r>
            <a:r>
              <a:rPr lang="en-US" sz="3200" dirty="0" err="1">
                <a:solidFill>
                  <a:schemeClr val="bg1"/>
                </a:solidFill>
                <a:effectLst/>
              </a:rPr>
              <a:t>rollFrequency</a:t>
            </a:r>
            <a:r>
              <a:rPr lang="en-US" sz="3200" dirty="0">
                <a:solidFill>
                  <a:schemeClr val="bg1"/>
                </a:solidFill>
                <a:effectLst/>
              </a:rPr>
              <a:t>;</a:t>
            </a:r>
            <a:br>
              <a:rPr lang="en-US" sz="3200" dirty="0">
                <a:solidFill>
                  <a:schemeClr val="bg1"/>
                </a:solidFill>
                <a:effectLst/>
              </a:rPr>
            </a:br>
            <a:r>
              <a:rPr lang="en-US" sz="3200" dirty="0">
                <a:solidFill>
                  <a:schemeClr val="bg1"/>
                </a:solidFill>
                <a:effectLst/>
              </a:rPr>
              <a:t>  public Dice(int sides)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{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this.sides = sides;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this.rollFrequency = </a:t>
            </a:r>
            <a:r>
              <a:rPr lang="en-US" sz="3200" dirty="0">
                <a:solidFill>
                  <a:srgbClr val="00B0F0"/>
                </a:solidFill>
                <a:effectLst/>
              </a:rPr>
              <a:t>new int</a:t>
            </a:r>
            <a:r>
              <a:rPr lang="en-US" sz="3200" dirty="0">
                <a:solidFill>
                  <a:schemeClr val="bg1"/>
                </a:solidFill>
                <a:effectLst/>
              </a:rPr>
              <a:t>[sides];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9111" y="302738"/>
            <a:ext cx="10515600" cy="109851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Начално състояние на обекта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285478" y="3461657"/>
            <a:ext cx="3536227" cy="1071132"/>
          </a:xfrm>
          <a:prstGeom prst="wedgeRoundRectCallout">
            <a:avLst>
              <a:gd name="adj1" fmla="val -67976"/>
              <a:gd name="adj2" fmla="val 5791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Винаги подсигурете коректно състояние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1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98" y="990585"/>
            <a:ext cx="9842648" cy="523503"/>
          </a:xfrm>
        </p:spPr>
        <p:txBody>
          <a:bodyPr/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Конструкторите могат да се извикват един друг</a:t>
            </a:r>
            <a:endParaRPr lang="en-GB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1598" y="234622"/>
            <a:ext cx="11163098" cy="823305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Верижно извикване на конструктори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581598" y="1514088"/>
            <a:ext cx="10693778" cy="488516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class Dice </a:t>
            </a:r>
          </a:p>
          <a:p>
            <a:r>
              <a:rPr lang="en-US" sz="2800" dirty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int sides;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public Dice() : </a:t>
            </a:r>
            <a:r>
              <a:rPr lang="en-US" sz="2800" dirty="0">
                <a:solidFill>
                  <a:srgbClr val="00B0F0"/>
                </a:solidFill>
              </a:rPr>
              <a:t>this</a:t>
            </a:r>
            <a:r>
              <a:rPr lang="en-US" sz="2800" dirty="0">
                <a:solidFill>
                  <a:schemeClr val="bg1"/>
                </a:solidFill>
              </a:rPr>
              <a:t>(6)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{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}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public </a:t>
            </a:r>
            <a:r>
              <a:rPr lang="en-US" sz="2800" dirty="0">
                <a:solidFill>
                  <a:srgbClr val="00B0F0"/>
                </a:solidFill>
              </a:rPr>
              <a:t>Dice</a:t>
            </a:r>
            <a:r>
              <a:rPr lang="en-US" sz="2800" dirty="0">
                <a:solidFill>
                  <a:schemeClr val="bg1"/>
                </a:solidFill>
              </a:rPr>
              <a:t>(int sides)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{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this.sides = sides;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}</a:t>
            </a:r>
          </a:p>
          <a:p>
            <a:r>
              <a:rPr lang="en-US" sz="28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553200" y="1954483"/>
            <a:ext cx="2438400" cy="1418207"/>
          </a:xfrm>
          <a:prstGeom prst="wedgeRoundRectCallout">
            <a:avLst>
              <a:gd name="adj1" fmla="val -84483"/>
              <a:gd name="adj2" fmla="val 3114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Извикваме конструктор с параметри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3129148" y="3372690"/>
            <a:ext cx="1371600" cy="759924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351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603" y="1542075"/>
            <a:ext cx="10862582" cy="7192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Създайте клас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Person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0602" y="793666"/>
            <a:ext cx="10862582" cy="847334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Дефиниране на клас </a:t>
            </a:r>
            <a:r>
              <a:rPr lang="bg-BG" dirty="0" err="1">
                <a:latin typeface="Comfortaa" pitchFamily="2" charset="0"/>
              </a:rPr>
              <a:t>Физ.лице</a:t>
            </a:r>
            <a:endParaRPr lang="en-US" dirty="0">
              <a:latin typeface="Comfortaa" pitchFamily="2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740602" y="2437983"/>
            <a:ext cx="5029200" cy="3553118"/>
            <a:chOff x="-306388" y="2077297"/>
            <a:chExt cx="3137848" cy="3619576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077297"/>
              <a:ext cx="3137848" cy="58263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solidFill>
                    <a:schemeClr val="bg1"/>
                  </a:solidFill>
                  <a:latin typeface="Consolas" pitchFamily="49" charset="0"/>
                </a:rPr>
                <a:t>Person</a:t>
              </a:r>
              <a:endParaRPr lang="en-US" sz="1400" b="1" noProof="1">
                <a:solidFill>
                  <a:schemeClr val="bg1"/>
                </a:solidFill>
                <a:latin typeface="Consolas" pitchFamily="49" charset="0"/>
              </a:endParaRP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-306388" y="2668031"/>
              <a:ext cx="3137848" cy="13142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solidFill>
                    <a:schemeClr val="bg1"/>
                  </a:solidFill>
                  <a:latin typeface="Consolas" pitchFamily="49" charset="0"/>
                </a:rPr>
                <a:t>-name:string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solidFill>
                    <a:schemeClr val="bg1"/>
                  </a:solidFill>
                  <a:latin typeface="Consolas" pitchFamily="49" charset="0"/>
                </a:rPr>
                <a:t>-age:int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solidFill>
                    <a:schemeClr val="bg1"/>
                  </a:solidFill>
                  <a:latin typeface="Consolas" pitchFamily="49" charset="0"/>
                </a:rPr>
                <a:t>-accounts:List&lt;BankAccount&gt;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6388" y="3978181"/>
              <a:ext cx="3137848" cy="171869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solidFill>
                    <a:schemeClr val="bg1"/>
                  </a:solidFill>
                  <a:latin typeface="Consolas" pitchFamily="49" charset="0"/>
                </a:rPr>
                <a:t>+Balance():double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solidFill>
                    <a:schemeClr val="bg1"/>
                  </a:solidFill>
                  <a:latin typeface="Consolas" pitchFamily="49" charset="0"/>
                </a:rPr>
                <a:t>+Person(String name, int age)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solidFill>
                    <a:schemeClr val="bg1"/>
                  </a:solidFill>
                  <a:latin typeface="Consolas" pitchFamily="49" charset="0"/>
                </a:rPr>
                <a:t>+Person(String name, int age, </a:t>
              </a:r>
              <a:br>
                <a:rPr lang="en-US" sz="2000" b="1" noProof="1">
                  <a:solidFill>
                    <a:schemeClr val="bg1"/>
                  </a:solidFill>
                  <a:latin typeface="Consolas" pitchFamily="49" charset="0"/>
                </a:rPr>
              </a:br>
              <a:r>
                <a:rPr lang="en-US" sz="2000" b="1" noProof="1">
                  <a:solidFill>
                    <a:schemeClr val="bg1"/>
                  </a:solidFill>
                  <a:latin typeface="Consolas" pitchFamily="49" charset="0"/>
                </a:rPr>
                <a:t>    List&lt;BankAccount&gt; accounts)</a:t>
              </a:r>
            </a:p>
          </p:txBody>
        </p:sp>
      </p:grpSp>
      <p:sp>
        <p:nvSpPr>
          <p:cNvPr id="10" name="Arrow: Bent-Up 9"/>
          <p:cNvSpPr/>
          <p:nvPr/>
        </p:nvSpPr>
        <p:spPr>
          <a:xfrm rot="10800000" flipH="1">
            <a:off x="6207803" y="2895183"/>
            <a:ext cx="838200" cy="788102"/>
          </a:xfrm>
          <a:prstGeom prst="bentUpArrow">
            <a:avLst>
              <a:gd name="adj1" fmla="val 32251"/>
              <a:gd name="adj2" fmla="val 40712"/>
              <a:gd name="adj3" fmla="val 32252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6449033" y="4086102"/>
            <a:ext cx="4988339" cy="18180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08041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8377" y="543256"/>
            <a:ext cx="10918371" cy="887722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Решение</a:t>
            </a:r>
            <a:r>
              <a:rPr lang="en-US" sz="3200" b="1" dirty="0">
                <a:latin typeface="Comfortaa" pitchFamily="2" charset="0"/>
              </a:rPr>
              <a:t>: </a:t>
            </a:r>
            <a:r>
              <a:rPr lang="bg-BG" sz="3200" b="1" dirty="0">
                <a:latin typeface="Comfortaa" pitchFamily="2" charset="0"/>
              </a:rPr>
              <a:t>Дефиниране на клас физическо лице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794656" y="1430978"/>
            <a:ext cx="10415649" cy="473127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2000" dirty="0">
                <a:solidFill>
                  <a:schemeClr val="bg1"/>
                </a:solidFill>
                <a:effectLst/>
              </a:rPr>
              <a:t>public class Person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 </a:t>
            </a:r>
            <a:r>
              <a:rPr lang="bg-BG" sz="2000" dirty="0">
                <a:solidFill>
                  <a:schemeClr val="bg1"/>
                </a:solidFill>
                <a:effectLst/>
              </a:rPr>
              <a:t> </a:t>
            </a:r>
            <a:r>
              <a:rPr lang="en-US" sz="2000" dirty="0">
                <a:solidFill>
                  <a:schemeClr val="bg1"/>
                </a:solidFill>
                <a:effectLst/>
              </a:rPr>
              <a:t>private string name;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 </a:t>
            </a:r>
            <a:r>
              <a:rPr lang="bg-BG" sz="2000" dirty="0">
                <a:solidFill>
                  <a:schemeClr val="bg1"/>
                </a:solidFill>
                <a:effectLst/>
              </a:rPr>
              <a:t> </a:t>
            </a:r>
            <a:r>
              <a:rPr lang="en-US" sz="2000" dirty="0">
                <a:solidFill>
                  <a:schemeClr val="bg1"/>
                </a:solidFill>
                <a:effectLst/>
              </a:rPr>
              <a:t>private int age;</a:t>
            </a:r>
          </a:p>
          <a:p>
            <a:r>
              <a:rPr lang="bg-BG" sz="2000" dirty="0">
                <a:solidFill>
                  <a:schemeClr val="bg1"/>
                </a:solidFill>
                <a:effectLst/>
              </a:rPr>
              <a:t>  </a:t>
            </a:r>
            <a:r>
              <a:rPr lang="en-US" sz="2000" dirty="0">
                <a:solidFill>
                  <a:schemeClr val="bg1"/>
                </a:solidFill>
                <a:effectLst/>
              </a:rPr>
              <a:t>private List&lt;BankAccount&gt; accounts;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 </a:t>
            </a:r>
            <a:r>
              <a:rPr lang="bg-BG" sz="2000" dirty="0">
                <a:solidFill>
                  <a:schemeClr val="bg1"/>
                </a:solidFill>
                <a:effectLst/>
              </a:rPr>
              <a:t> </a:t>
            </a:r>
            <a:r>
              <a:rPr lang="en-US" sz="2000" dirty="0">
                <a:solidFill>
                  <a:schemeClr val="bg1"/>
                </a:solidFill>
                <a:effectLst/>
              </a:rPr>
              <a:t>public Person(string name, int age)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   </a:t>
            </a:r>
            <a:r>
              <a:rPr lang="bg-BG" sz="2000" dirty="0">
                <a:solidFill>
                  <a:schemeClr val="bg1"/>
                </a:solidFill>
                <a:effectLst/>
              </a:rPr>
              <a:t>   </a:t>
            </a:r>
            <a:r>
              <a:rPr lang="en-US" sz="2000" dirty="0">
                <a:solidFill>
                  <a:schemeClr val="bg1"/>
                </a:solidFill>
                <a:effectLst/>
              </a:rPr>
              <a:t>: this(name, age, new List&lt;BankAccount&gt;))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 </a:t>
            </a:r>
            <a:r>
              <a:rPr lang="bg-BG" sz="2000" dirty="0">
                <a:solidFill>
                  <a:schemeClr val="bg1"/>
                </a:solidFill>
                <a:effectLst/>
              </a:rPr>
              <a:t>   </a:t>
            </a:r>
            <a:r>
              <a:rPr lang="en-US" sz="2000" dirty="0">
                <a:solidFill>
                  <a:schemeClr val="bg1"/>
                </a:solidFill>
                <a:effectLst/>
              </a:rPr>
              <a:t>{}</a:t>
            </a:r>
            <a:endParaRPr lang="bg-BG" sz="2000" dirty="0">
              <a:solidFill>
                <a:schemeClr val="bg1"/>
              </a:solidFill>
              <a:effectLst/>
            </a:endParaRPr>
          </a:p>
          <a:p>
            <a:r>
              <a:rPr lang="bg-BG" sz="2000" dirty="0">
                <a:solidFill>
                  <a:schemeClr val="bg1"/>
                </a:solidFill>
                <a:effectLst/>
              </a:rPr>
              <a:t>  </a:t>
            </a:r>
            <a:r>
              <a:rPr lang="en-US" sz="2000" dirty="0">
                <a:solidFill>
                  <a:schemeClr val="bg1"/>
                </a:solidFill>
                <a:effectLst/>
              </a:rPr>
              <a:t>public Person(string name, int age, List&lt;BankAccount&gt; accounts)</a:t>
            </a:r>
          </a:p>
          <a:p>
            <a:r>
              <a:rPr lang="bg-BG" sz="2000" dirty="0">
                <a:solidFill>
                  <a:schemeClr val="bg1"/>
                </a:solidFill>
                <a:effectLst/>
              </a:rPr>
              <a:t>  </a:t>
            </a:r>
            <a:r>
              <a:rPr lang="en-US" sz="20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 </a:t>
            </a:r>
            <a:r>
              <a:rPr lang="bg-BG" sz="2000" dirty="0">
                <a:solidFill>
                  <a:schemeClr val="bg1"/>
                </a:solidFill>
                <a:effectLst/>
              </a:rPr>
              <a:t>   </a:t>
            </a:r>
            <a:r>
              <a:rPr lang="en-US" sz="2000" dirty="0">
                <a:solidFill>
                  <a:schemeClr val="bg1"/>
                </a:solidFill>
                <a:effectLst/>
              </a:rPr>
              <a:t>this.name = name;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 </a:t>
            </a:r>
            <a:r>
              <a:rPr lang="bg-BG" sz="2000" dirty="0">
                <a:solidFill>
                  <a:schemeClr val="bg1"/>
                </a:solidFill>
                <a:effectLst/>
              </a:rPr>
              <a:t>   </a:t>
            </a:r>
            <a:r>
              <a:rPr lang="en-US" sz="2000" dirty="0">
                <a:solidFill>
                  <a:schemeClr val="bg1"/>
                </a:solidFill>
                <a:effectLst/>
              </a:rPr>
              <a:t>this.age = age;</a:t>
            </a:r>
          </a:p>
          <a:p>
            <a:r>
              <a:rPr lang="bg-BG" sz="2000" dirty="0">
                <a:solidFill>
                  <a:schemeClr val="bg1"/>
                </a:solidFill>
                <a:effectLst/>
              </a:rPr>
              <a:t>    </a:t>
            </a:r>
            <a:r>
              <a:rPr lang="en-US" sz="2000" dirty="0">
                <a:solidFill>
                  <a:schemeClr val="bg1"/>
                </a:solidFill>
                <a:effectLst/>
              </a:rPr>
              <a:t>this.accounts = accounts;</a:t>
            </a: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 </a:t>
            </a:r>
            <a:r>
              <a:rPr lang="bg-BG" sz="2000" dirty="0">
                <a:solidFill>
                  <a:schemeClr val="bg1"/>
                </a:solidFill>
                <a:effectLst/>
              </a:rPr>
              <a:t> </a:t>
            </a:r>
            <a:r>
              <a:rPr lang="en-US" sz="2000" dirty="0">
                <a:solidFill>
                  <a:schemeClr val="bg1"/>
                </a:solidFill>
                <a:effectLst/>
              </a:rPr>
              <a:t>}</a:t>
            </a:r>
            <a:endParaRPr lang="bg-BG" sz="2000" dirty="0">
              <a:solidFill>
                <a:schemeClr val="bg1"/>
              </a:solidFill>
              <a:effectLst/>
            </a:endParaRPr>
          </a:p>
          <a:p>
            <a:r>
              <a:rPr lang="en-US" sz="2000" dirty="0">
                <a:solidFill>
                  <a:schemeClr val="bg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530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03" y="882888"/>
            <a:ext cx="10399800" cy="11107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научихме днес?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10399800" cy="373814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Конструкторите задават началното състояние на обекта</a:t>
            </a:r>
            <a:endParaRPr lang="en-US" sz="3200" dirty="0"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Може да има множество различни конструктори за даден клас</a:t>
            </a:r>
          </a:p>
          <a:p>
            <a:r>
              <a:rPr lang="bg-BG" sz="3200" dirty="0">
                <a:latin typeface="Comfortaa" pitchFamily="2" charset="0"/>
              </a:rPr>
              <a:t>Конструкторите могат да се извикват един друг</a:t>
            </a:r>
            <a:endParaRPr lang="en-GB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62954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644</Words>
  <Application>Microsoft Office PowerPoint</Application>
  <PresentationFormat>Widescreen</PresentationFormat>
  <Paragraphs>116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Конструктори</vt:lpstr>
      <vt:lpstr>Съдържание</vt:lpstr>
      <vt:lpstr>Конструктори [1/2]</vt:lpstr>
      <vt:lpstr>Конструктори [1/2]</vt:lpstr>
      <vt:lpstr>Начално състояние на обекта</vt:lpstr>
      <vt:lpstr>Верижно извикване на конструктори</vt:lpstr>
      <vt:lpstr>Задача: Дефиниране на клас Физ.лице</vt:lpstr>
      <vt:lpstr>Решение: Дефиниране на клас физическо лице</vt:lpstr>
      <vt:lpstr>Какво научихме днес?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12</cp:revision>
  <dcterms:created xsi:type="dcterms:W3CDTF">2022-08-09T09:25:46Z</dcterms:created>
  <dcterms:modified xsi:type="dcterms:W3CDTF">2022-09-14T15:41:43Z</dcterms:modified>
</cp:coreProperties>
</file>