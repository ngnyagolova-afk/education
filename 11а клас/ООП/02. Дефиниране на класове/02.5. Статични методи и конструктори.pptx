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8" r:id="rId2"/>
    <p:sldId id="571" r:id="rId3"/>
    <p:sldId id="619" r:id="rId4"/>
    <p:sldId id="622" r:id="rId5"/>
    <p:sldId id="624" r:id="rId6"/>
    <p:sldId id="634" r:id="rId7"/>
    <p:sldId id="630" r:id="rId8"/>
    <p:sldId id="625" r:id="rId9"/>
    <p:sldId id="626" r:id="rId10"/>
    <p:sldId id="627" r:id="rId11"/>
    <p:sldId id="628" r:id="rId12"/>
    <p:sldId id="631" r:id="rId13"/>
    <p:sldId id="632" r:id="rId14"/>
    <p:sldId id="635" r:id="rId15"/>
    <p:sldId id="636" r:id="rId16"/>
    <p:sldId id="486" r:id="rId17"/>
    <p:sldId id="637" r:id="rId18"/>
    <p:sldId id="638" r:id="rId19"/>
    <p:sldId id="639" r:id="rId20"/>
    <p:sldId id="63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619"/>
            <p14:sldId id="622"/>
            <p14:sldId id="624"/>
            <p14:sldId id="634"/>
            <p14:sldId id="630"/>
            <p14:sldId id="625"/>
            <p14:sldId id="626"/>
            <p14:sldId id="627"/>
            <p14:sldId id="628"/>
            <p14:sldId id="631"/>
            <p14:sldId id="632"/>
            <p14:sldId id="635"/>
            <p14:sldId id="636"/>
            <p14:sldId id="486"/>
            <p14:sldId id="637"/>
            <p14:sldId id="638"/>
            <p14:sldId id="639"/>
            <p14:sldId id="633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8325947-187E-42D5-ABAB-085E812506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651809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C35C135-C9E4-4E3B-8266-B1F7CF62CF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96442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16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7A74A495-CD09-442E-A827-A5CBDC50F6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296192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6.10.2025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763205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Статични методи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Static Methods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802" y="1143000"/>
            <a:ext cx="10020397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87400" y="2294127"/>
            <a:ext cx="10020397" cy="3380533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Статични методи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Статични конструктори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62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022" y="1690688"/>
            <a:ext cx="10347349" cy="4359790"/>
          </a:xfrm>
        </p:spPr>
        <p:txBody>
          <a:bodyPr>
            <a:normAutofit/>
          </a:bodyPr>
          <a:lstStyle/>
          <a:p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Статичните методи </a:t>
            </a:r>
            <a:r>
              <a:rPr lang="bg-BG" sz="3200" dirty="0">
                <a:latin typeface="Comfortaa" pitchFamily="2" charset="0"/>
              </a:rPr>
              <a:t>в класа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Принадлежат на самия клас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Могат да бъдат достъпени само чрез класа - без създаване на обект от този клас</a:t>
            </a:r>
          </a:p>
          <a:p>
            <a:pPr lvl="1"/>
            <a:r>
              <a:rPr lang="bg-BG" sz="2800" dirty="0">
                <a:latin typeface="Comfortaa" pitchFamily="2" charset="0"/>
              </a:rPr>
              <a:t>Удобни са за извършване на действия върху всички обекти от класа или за извършване на действия, които нямат пряко отношение към обектите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Статични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348BAE1F-57F6-4992-B3B0-B204FCC587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22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77887" lvl="1" indent="0">
              <a:buNone/>
            </a:pPr>
            <a:r>
              <a:rPr lang="bg-BG" sz="2800" dirty="0">
                <a:latin typeface="Comfortaa" pitchFamily="2" charset="0"/>
              </a:rPr>
              <a:t>Създайте клас, който поддържа статични методи за аритметични действия върху две цели числа:</a:t>
            </a:r>
          </a:p>
          <a:p>
            <a:pPr lvl="2"/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Add(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) </a:t>
            </a:r>
            <a:r>
              <a:rPr lang="bg-BG" sz="2400" dirty="0">
                <a:latin typeface="Comfortaa" pitchFamily="2" charset="0"/>
              </a:rPr>
              <a:t>– събира числата</a:t>
            </a:r>
          </a:p>
          <a:p>
            <a:pPr lvl="2"/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Multiply(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,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int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) </a:t>
            </a:r>
            <a:r>
              <a:rPr lang="en-US" sz="2400" dirty="0">
                <a:latin typeface="Comfortaa" pitchFamily="2" charset="0"/>
              </a:rPr>
              <a:t>– </a:t>
            </a:r>
            <a:r>
              <a:rPr lang="bg-BG" sz="2400" dirty="0">
                <a:latin typeface="Comfortaa" pitchFamily="2" charset="0"/>
              </a:rPr>
              <a:t>умножава числата</a:t>
            </a:r>
          </a:p>
          <a:p>
            <a:pPr marL="377887" lvl="1" indent="0">
              <a:buNone/>
            </a:pPr>
            <a:r>
              <a:rPr lang="bg-BG" sz="2800" dirty="0">
                <a:latin typeface="Comfortaa" pitchFamily="2" charset="0"/>
              </a:rPr>
              <a:t>Използвайте методите от този клас в </a:t>
            </a:r>
            <a:r>
              <a:rPr lang="en-US" sz="2800" b="1" dirty="0">
                <a:solidFill>
                  <a:srgbClr val="00B0F0"/>
                </a:solidFill>
                <a:latin typeface="Comfortaa" pitchFamily="2" charset="0"/>
              </a:rPr>
              <a:t>Main() </a:t>
            </a:r>
            <a:r>
              <a:rPr lang="bg-BG" sz="2800" dirty="0">
                <a:latin typeface="Comfortaa" pitchFamily="2" charset="0"/>
              </a:rPr>
              <a:t>метода да извършите засичане на команда и извършете операцията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Задача: Аритметични действия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86435F5-11E5-40FA-BE97-1C6E79C260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82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0172" y="522514"/>
            <a:ext cx="10731656" cy="1010755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Решение: Аритметични действия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172" y="5779323"/>
            <a:ext cx="11067340" cy="455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000" dirty="0">
                <a:latin typeface="Comfortaa" pitchFamily="2" charset="0"/>
              </a:rPr>
              <a:t>Извиквайте методите по аналогичен начин в </a:t>
            </a:r>
            <a:r>
              <a:rPr lang="en-US" sz="2000" dirty="0">
                <a:latin typeface="Comfortaa" pitchFamily="2" charset="0"/>
              </a:rPr>
              <a:t>Main():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</a:rPr>
              <a:t>Arithmetics.Add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(10, 15);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FBABCAD-1A50-476C-B28C-085B5290E3F0}"/>
              </a:ext>
            </a:extLst>
          </p:cNvPr>
          <p:cNvSpPr txBox="1">
            <a:spLocks/>
          </p:cNvSpPr>
          <p:nvPr/>
        </p:nvSpPr>
        <p:spPr>
          <a:xfrm>
            <a:off x="730172" y="1607490"/>
            <a:ext cx="10731656" cy="40233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marL="304747" indent="0" algn="l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sz="3400" b="1" kern="1200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bg1"/>
                </a:solidFill>
                <a:effectLst/>
              </a:rPr>
              <a:t>class </a:t>
            </a:r>
            <a:r>
              <a:rPr lang="en-GB" sz="2800" dirty="0" err="1">
                <a:solidFill>
                  <a:schemeClr val="bg1"/>
                </a:solidFill>
                <a:effectLst/>
              </a:rPr>
              <a:t>Arithmetics</a:t>
            </a:r>
            <a:r>
              <a:rPr lang="en-GB" sz="2800" dirty="0">
                <a:solidFill>
                  <a:schemeClr val="bg1"/>
                </a:solidFill>
                <a:effectLst/>
              </a:rPr>
              <a:t> {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public static int Add(int a, int b){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  return </a:t>
            </a:r>
            <a:r>
              <a:rPr lang="en-GB" sz="2800" dirty="0" err="1">
                <a:solidFill>
                  <a:schemeClr val="bg1"/>
                </a:solidFill>
                <a:effectLst/>
              </a:rPr>
              <a:t>a+b</a:t>
            </a:r>
            <a:r>
              <a:rPr lang="en-GB" sz="2800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}</a:t>
            </a:r>
          </a:p>
          <a:p>
            <a:endParaRPr lang="en-GB" sz="2800" dirty="0">
              <a:solidFill>
                <a:schemeClr val="bg1"/>
              </a:solidFill>
              <a:effectLst/>
            </a:endParaRP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public static int Multiply(int a, int b) {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  return a * b;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769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88077" y="1124939"/>
            <a:ext cx="10450484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Задача:</a:t>
            </a: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 се напише програма на C#, която: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Чете от конзолата две цели числа, въведени от потребителя.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Изчислява и извежда на екрана: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сбора</a:t>
            </a: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двете числа,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произведението</a:t>
            </a: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двете числа.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 целта: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Създайте клас Arithmetics, който съдържа два статични метода: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Add(int a, int b) – връща сбора на двете числа.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Multiply(int a, int b) – връща произведението на двете числа.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основния клас Program в метода Main прочетете въведените числа, извикайте методите на класа Arithmetics и изведете резултатите.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66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4256"/>
          </a:xfrm>
        </p:spPr>
        <p:txBody>
          <a:bodyPr>
            <a:noAutofit/>
          </a:bodyPr>
          <a:lstStyle/>
          <a:p>
            <a:r>
              <a:rPr lang="en-US" sz="1200" b="1" dirty="0"/>
              <a:t>class Program</a:t>
            </a:r>
            <a:br>
              <a:rPr lang="en-US" sz="1200" b="1" dirty="0"/>
            </a:br>
            <a:r>
              <a:rPr lang="bg-BG" sz="1200" b="1" dirty="0"/>
              <a:t>{</a:t>
            </a:r>
            <a:br>
              <a:rPr lang="bg-BG" sz="1200" b="1" dirty="0"/>
            </a:br>
            <a:r>
              <a:rPr lang="en-US" sz="1200" b="1" dirty="0"/>
              <a:t>    static void Main(string[] </a:t>
            </a:r>
            <a:r>
              <a:rPr lang="en-US" sz="1200" b="1" dirty="0" err="1"/>
              <a:t>args</a:t>
            </a:r>
            <a:r>
              <a:rPr lang="en-US" sz="1200" b="1" dirty="0"/>
              <a:t>)</a:t>
            </a:r>
            <a:br>
              <a:rPr lang="en-US" sz="1200" b="1" dirty="0"/>
            </a:br>
            <a:r>
              <a:rPr lang="bg-BG" sz="1200" b="1" dirty="0"/>
              <a:t>    {</a:t>
            </a:r>
            <a:br>
              <a:rPr lang="bg-BG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Console.Write</a:t>
            </a:r>
            <a:r>
              <a:rPr lang="en-US" sz="1200" b="1" dirty="0"/>
              <a:t>("</a:t>
            </a:r>
            <a:r>
              <a:rPr lang="bg-BG" sz="1200" b="1" dirty="0"/>
              <a:t>Въведи първото число: ");</a:t>
            </a:r>
            <a:br>
              <a:rPr lang="bg-BG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int</a:t>
            </a:r>
            <a:r>
              <a:rPr lang="en-US" sz="1200" b="1" dirty="0"/>
              <a:t> a = </a:t>
            </a:r>
            <a:r>
              <a:rPr lang="en-US" sz="1200" b="1" dirty="0" err="1"/>
              <a:t>int.Parse</a:t>
            </a:r>
            <a:r>
              <a:rPr lang="en-US" sz="1200" b="1" dirty="0"/>
              <a:t>(</a:t>
            </a:r>
            <a:r>
              <a:rPr lang="en-US" sz="1200" b="1" dirty="0" err="1"/>
              <a:t>Console.ReadLine</a:t>
            </a:r>
            <a:r>
              <a:rPr lang="en-US" sz="1200" b="1" dirty="0"/>
              <a:t>());</a:t>
            </a:r>
            <a:br>
              <a:rPr lang="en-US" sz="1200" b="1" dirty="0"/>
            </a:br>
            <a:r>
              <a:rPr lang="bg-BG" sz="1200" b="1" dirty="0"/>
              <a:t/>
            </a:r>
            <a:br>
              <a:rPr lang="bg-BG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Console.Write</a:t>
            </a:r>
            <a:r>
              <a:rPr lang="en-US" sz="1200" b="1" dirty="0"/>
              <a:t>("</a:t>
            </a:r>
            <a:r>
              <a:rPr lang="bg-BG" sz="1200" b="1" dirty="0"/>
              <a:t>Въведи второто число: ");</a:t>
            </a:r>
            <a:br>
              <a:rPr lang="bg-BG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int</a:t>
            </a:r>
            <a:r>
              <a:rPr lang="en-US" sz="1200" b="1" dirty="0"/>
              <a:t> b = </a:t>
            </a:r>
            <a:r>
              <a:rPr lang="en-US" sz="1200" b="1" dirty="0" err="1"/>
              <a:t>int.Parse</a:t>
            </a:r>
            <a:r>
              <a:rPr lang="en-US" sz="1200" b="1" dirty="0"/>
              <a:t>(</a:t>
            </a:r>
            <a:r>
              <a:rPr lang="en-US" sz="1200" b="1" dirty="0" err="1"/>
              <a:t>Console.ReadLine</a:t>
            </a:r>
            <a:r>
              <a:rPr lang="en-US" sz="1200" b="1" dirty="0"/>
              <a:t>());</a:t>
            </a:r>
            <a:br>
              <a:rPr lang="en-US" sz="1200" b="1" dirty="0"/>
            </a:br>
            <a:r>
              <a:rPr lang="bg-BG" sz="1200" b="1" dirty="0"/>
              <a:t/>
            </a:r>
            <a:br>
              <a:rPr lang="bg-BG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int</a:t>
            </a:r>
            <a:r>
              <a:rPr lang="en-US" sz="1200" b="1" dirty="0"/>
              <a:t> sum = </a:t>
            </a:r>
            <a:r>
              <a:rPr lang="en-US" sz="1200" b="1" dirty="0" err="1"/>
              <a:t>Arithmetics.Add</a:t>
            </a:r>
            <a:r>
              <a:rPr lang="en-US" sz="1200" b="1" dirty="0"/>
              <a:t>(a, b);</a:t>
            </a:r>
            <a:br>
              <a:rPr lang="en-US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Console.WriteLine</a:t>
            </a:r>
            <a:r>
              <a:rPr lang="en-US" sz="1200" b="1" dirty="0"/>
              <a:t>("</a:t>
            </a:r>
            <a:r>
              <a:rPr lang="bg-BG" sz="1200" b="1" dirty="0"/>
              <a:t>Сборът е: " + </a:t>
            </a:r>
            <a:r>
              <a:rPr lang="en-US" sz="1200" b="1" dirty="0"/>
              <a:t>sum);</a:t>
            </a:r>
            <a:br>
              <a:rPr lang="en-US" sz="1200" b="1" dirty="0"/>
            </a:br>
            <a:r>
              <a:rPr lang="bg-BG" sz="1200" b="1" dirty="0"/>
              <a:t/>
            </a:r>
            <a:br>
              <a:rPr lang="bg-BG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int</a:t>
            </a:r>
            <a:r>
              <a:rPr lang="en-US" sz="1200" b="1" dirty="0"/>
              <a:t> product = </a:t>
            </a:r>
            <a:r>
              <a:rPr lang="en-US" sz="1200" b="1" dirty="0" err="1"/>
              <a:t>Arithmetics.Multiply</a:t>
            </a:r>
            <a:r>
              <a:rPr lang="en-US" sz="1200" b="1" dirty="0"/>
              <a:t>(a, b);</a:t>
            </a:r>
            <a:br>
              <a:rPr lang="en-US" sz="1200" b="1" dirty="0"/>
            </a:br>
            <a:r>
              <a:rPr lang="en-US" sz="1200" b="1" dirty="0"/>
              <a:t>        </a:t>
            </a:r>
            <a:r>
              <a:rPr lang="en-US" sz="1200" b="1" dirty="0" err="1"/>
              <a:t>Console.WriteLine</a:t>
            </a:r>
            <a:r>
              <a:rPr lang="en-US" sz="1200" b="1" dirty="0"/>
              <a:t>("</a:t>
            </a:r>
            <a:r>
              <a:rPr lang="bg-BG" sz="1200" b="1" dirty="0"/>
              <a:t>Произведението е: " + </a:t>
            </a:r>
            <a:r>
              <a:rPr lang="en-US" sz="1200" b="1" dirty="0"/>
              <a:t>product);</a:t>
            </a:r>
            <a:br>
              <a:rPr lang="en-US" sz="1200" b="1" dirty="0"/>
            </a:br>
            <a:r>
              <a:rPr lang="bg-BG" sz="1200" b="1" dirty="0"/>
              <a:t>    }</a:t>
            </a:r>
            <a:br>
              <a:rPr lang="bg-BG" sz="1200" b="1" dirty="0"/>
            </a:br>
            <a:r>
              <a:rPr lang="bg-BG" sz="1200" b="1" dirty="0"/>
              <a:t>}</a:t>
            </a:r>
            <a:br>
              <a:rPr lang="bg-BG" sz="1200" b="1" dirty="0"/>
            </a:br>
            <a:r>
              <a:rPr lang="bg-BG" sz="1200" b="1" dirty="0"/>
              <a:t/>
            </a:r>
            <a:br>
              <a:rPr lang="bg-BG" sz="1200" b="1" dirty="0"/>
            </a:br>
            <a:r>
              <a:rPr lang="en-US" sz="1200" b="1" dirty="0"/>
              <a:t>class </a:t>
            </a:r>
            <a:r>
              <a:rPr lang="en-US" sz="1200" b="1" dirty="0" err="1"/>
              <a:t>Arithmetics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bg-BG" sz="1200" b="1" dirty="0"/>
              <a:t>{</a:t>
            </a:r>
            <a:br>
              <a:rPr lang="bg-BG" sz="1200" b="1" dirty="0"/>
            </a:br>
            <a:r>
              <a:rPr lang="en-US" sz="1200" b="1" dirty="0"/>
              <a:t>    public static </a:t>
            </a:r>
            <a:r>
              <a:rPr lang="en-US" sz="1200" b="1" dirty="0" err="1"/>
              <a:t>int</a:t>
            </a:r>
            <a:r>
              <a:rPr lang="en-US" sz="1200" b="1" dirty="0"/>
              <a:t> Add(</a:t>
            </a:r>
            <a:r>
              <a:rPr lang="en-US" sz="1200" b="1" dirty="0" err="1"/>
              <a:t>int</a:t>
            </a:r>
            <a:r>
              <a:rPr lang="en-US" sz="1200" b="1" dirty="0"/>
              <a:t> a, </a:t>
            </a:r>
            <a:r>
              <a:rPr lang="en-US" sz="1200" b="1" dirty="0" err="1"/>
              <a:t>int</a:t>
            </a:r>
            <a:r>
              <a:rPr lang="en-US" sz="1200" b="1" dirty="0"/>
              <a:t> b)</a:t>
            </a:r>
            <a:br>
              <a:rPr lang="en-US" sz="1200" b="1" dirty="0"/>
            </a:br>
            <a:r>
              <a:rPr lang="bg-BG" sz="1200" b="1" dirty="0"/>
              <a:t>    {</a:t>
            </a:r>
            <a:br>
              <a:rPr lang="bg-BG" sz="1200" b="1" dirty="0"/>
            </a:br>
            <a:r>
              <a:rPr lang="en-US" sz="1200" b="1" dirty="0"/>
              <a:t>        return a + b;</a:t>
            </a:r>
            <a:br>
              <a:rPr lang="en-US" sz="1200" b="1" dirty="0"/>
            </a:br>
            <a:r>
              <a:rPr lang="bg-BG" sz="1200" b="1" dirty="0"/>
              <a:t>    }</a:t>
            </a:r>
            <a:br>
              <a:rPr lang="bg-BG" sz="1200" b="1" dirty="0"/>
            </a:br>
            <a:r>
              <a:rPr lang="bg-BG" sz="1200" b="1" dirty="0"/>
              <a:t/>
            </a:r>
            <a:br>
              <a:rPr lang="bg-BG" sz="1200" b="1" dirty="0"/>
            </a:br>
            <a:r>
              <a:rPr lang="en-US" sz="1200" b="1" dirty="0"/>
              <a:t>    public static </a:t>
            </a:r>
            <a:r>
              <a:rPr lang="en-US" sz="1200" b="1" dirty="0" err="1"/>
              <a:t>int</a:t>
            </a:r>
            <a:r>
              <a:rPr lang="en-US" sz="1200" b="1" dirty="0"/>
              <a:t> Multiply(</a:t>
            </a:r>
            <a:r>
              <a:rPr lang="en-US" sz="1200" b="1" dirty="0" err="1"/>
              <a:t>int</a:t>
            </a:r>
            <a:r>
              <a:rPr lang="en-US" sz="1200" b="1" dirty="0"/>
              <a:t> a, </a:t>
            </a:r>
            <a:r>
              <a:rPr lang="en-US" sz="1200" b="1" dirty="0" err="1"/>
              <a:t>int</a:t>
            </a:r>
            <a:r>
              <a:rPr lang="en-US" sz="1200" b="1" dirty="0"/>
              <a:t> b)</a:t>
            </a:r>
            <a:br>
              <a:rPr lang="en-US" sz="1200" b="1" dirty="0"/>
            </a:br>
            <a:r>
              <a:rPr lang="bg-BG" sz="1200" b="1" dirty="0"/>
              <a:t>    {</a:t>
            </a:r>
            <a:br>
              <a:rPr lang="bg-BG" sz="1200" b="1" dirty="0"/>
            </a:br>
            <a:r>
              <a:rPr lang="en-US" sz="1200" b="1" dirty="0"/>
              <a:t>        return a * b;</a:t>
            </a:r>
            <a:br>
              <a:rPr lang="en-US" sz="1200" b="1" dirty="0"/>
            </a:br>
            <a:r>
              <a:rPr lang="bg-BG" sz="1200" b="1" dirty="0"/>
              <a:t>    }</a:t>
            </a:r>
            <a:br>
              <a:rPr lang="bg-BG" sz="1200" b="1" dirty="0"/>
            </a:br>
            <a:r>
              <a:rPr lang="bg-BG" sz="1200" b="1" dirty="0"/>
              <a:t>}</a:t>
            </a:r>
            <a:br>
              <a:rPr lang="bg-BG" sz="1200" b="1" dirty="0"/>
            </a:br>
            <a:endParaRPr lang="bg-BG" sz="1200" b="1" dirty="0"/>
          </a:p>
        </p:txBody>
      </p:sp>
    </p:spTree>
    <p:extLst>
      <p:ext uri="{BB962C8B-B14F-4D97-AF65-F5344CB8AC3E}">
        <p14:creationId xmlns:p14="http://schemas.microsoft.com/office/powerpoint/2010/main" val="154732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Статични класове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В решението оставихме класа си нестатичен. Това означава, че от него може да се направи обект. В случая това обаче би било безсмислено. За да не се допуска създаване на обект от даден клас, който има само статични членове ние можем да поставим думата </a:t>
            </a:r>
            <a:r>
              <a:rPr lang="en-US" dirty="0">
                <a:latin typeface="Comfortaa" pitchFamily="2" charset="0"/>
              </a:rPr>
              <a:t>static </a:t>
            </a:r>
            <a:r>
              <a:rPr lang="bg-BG" dirty="0">
                <a:latin typeface="Comfortaa" pitchFamily="2" charset="0"/>
              </a:rPr>
              <a:t>пред </a:t>
            </a:r>
            <a:r>
              <a:rPr lang="en-US" dirty="0">
                <a:latin typeface="Comfortaa" pitchFamily="2" charset="0"/>
              </a:rPr>
              <a:t>class: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static class</a:t>
            </a:r>
            <a:endParaRPr lang="en-US" dirty="0">
              <a:solidFill>
                <a:schemeClr val="tx2">
                  <a:lumMod val="50000"/>
                </a:schemeClr>
              </a:solidFill>
              <a:latin typeface="Comfortaa" pitchFamily="2" charset="0"/>
            </a:endParaRPr>
          </a:p>
          <a:p>
            <a:r>
              <a:rPr lang="bg-BG" b="1" u="sng" dirty="0">
                <a:latin typeface="Comfortaa" pitchFamily="2" charset="0"/>
              </a:rPr>
              <a:t>Когато отбележим един клас като статичен това означава, че неговите членове също ще са статични и от този клас няма да може да се създават обекти, а ще може членовете му да се ползват само статично. Много класове от </a:t>
            </a:r>
            <a:r>
              <a:rPr lang="en-US" b="1" u="sng" dirty="0">
                <a:latin typeface="Comfortaa" pitchFamily="2" charset="0"/>
              </a:rPr>
              <a:t>.NET </a:t>
            </a:r>
            <a:r>
              <a:rPr lang="bg-BG" b="1" u="sng" dirty="0">
                <a:latin typeface="Comfortaa" pitchFamily="2" charset="0"/>
              </a:rPr>
              <a:t>са статични (например </a:t>
            </a:r>
            <a:r>
              <a:rPr lang="en-US" b="1" u="sng" dirty="0">
                <a:latin typeface="Comfortaa" pitchFamily="2" charset="0"/>
              </a:rPr>
              <a:t>Math)</a:t>
            </a:r>
          </a:p>
        </p:txBody>
      </p:sp>
    </p:spTree>
    <p:extLst>
      <p:ext uri="{BB962C8B-B14F-4D97-AF65-F5344CB8AC3E}">
        <p14:creationId xmlns:p14="http://schemas.microsoft.com/office/powerpoint/2010/main" val="108713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Статични конструктори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Конструкторите в един клас също могат да бъдат статични</a:t>
            </a:r>
          </a:p>
          <a:p>
            <a:r>
              <a:rPr lang="bg-BG" dirty="0">
                <a:latin typeface="Comfortaa" pitchFamily="2" charset="0"/>
              </a:rPr>
              <a:t>Ако един конструктор е статичен той се изпълнява, когато едно от тези събития се случи за първи път:</a:t>
            </a:r>
          </a:p>
          <a:p>
            <a:pPr lvl="1"/>
            <a:r>
              <a:rPr lang="bg-BG" dirty="0">
                <a:latin typeface="Comfortaa" pitchFamily="2" charset="0"/>
              </a:rPr>
              <a:t>Създаде се обект от класа (ако той е нестатичен)</a:t>
            </a:r>
          </a:p>
          <a:p>
            <a:pPr lvl="1"/>
            <a:r>
              <a:rPr lang="bg-BG" dirty="0">
                <a:latin typeface="Comfortaa" pitchFamily="2" charset="0"/>
              </a:rPr>
              <a:t>Достъпва се статичен член от класа</a:t>
            </a:r>
          </a:p>
          <a:p>
            <a:pPr marL="377887" lvl="1" indent="0">
              <a:buNone/>
            </a:pPr>
            <a:r>
              <a:rPr lang="bg-BG" dirty="0">
                <a:latin typeface="Comfortaa" pitchFamily="2" charset="0"/>
              </a:rPr>
              <a:t>Най-често статични конструктори се използват за инициализация на статични полета</a:t>
            </a:r>
          </a:p>
        </p:txBody>
      </p:sp>
    </p:spTree>
    <p:extLst>
      <p:ext uri="{BB962C8B-B14F-4D97-AF65-F5344CB8AC3E}">
        <p14:creationId xmlns:p14="http://schemas.microsoft.com/office/powerpoint/2010/main" val="2024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Задача: Заявка за корен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3200" dirty="0">
                <a:latin typeface="Comfortaa" pitchFamily="2" charset="0"/>
              </a:rPr>
              <a:t>Напишете клас, който съдържа метод, който връща корен квадратен при подадена заявка. Възможно е да получите голям брой заявки, така че трябва да отговаряте бързо на всяка една от тях.</a:t>
            </a:r>
          </a:p>
        </p:txBody>
      </p:sp>
    </p:spTree>
    <p:extLst>
      <p:ext uri="{BB962C8B-B14F-4D97-AF65-F5344CB8AC3E}">
        <p14:creationId xmlns:p14="http://schemas.microsoft.com/office/powerpoint/2010/main" val="67043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4477" y="358834"/>
            <a:ext cx="10738022" cy="85011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Решение: Заявка за корен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>
            <a:spLocks noGrp="1"/>
          </p:cNvSpPr>
          <p:nvPr>
            <p:ph idx="1"/>
          </p:nvPr>
        </p:nvSpPr>
        <p:spPr>
          <a:xfrm>
            <a:off x="644477" y="1208949"/>
            <a:ext cx="10738022" cy="531605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dirty="0">
                <a:solidFill>
                  <a:schemeClr val="bg1"/>
                </a:solidFill>
                <a:effectLst/>
              </a:rPr>
              <a:t>public static class </a:t>
            </a:r>
            <a:r>
              <a:rPr lang="en-US" dirty="0" err="1">
                <a:solidFill>
                  <a:schemeClr val="bg1"/>
                </a:solidFill>
                <a:effectLst/>
              </a:rPr>
              <a:t>SquareRootPrecalculator</a:t>
            </a:r>
            <a:r>
              <a:rPr lang="bg-BG" dirty="0">
                <a:solidFill>
                  <a:schemeClr val="bg1"/>
                </a:solidFill>
                <a:effectLst/>
              </a:rPr>
              <a:t> </a:t>
            </a:r>
            <a:r>
              <a:rPr lang="en-US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  <a:effectLst/>
              </a:rPr>
              <a:t>public </a:t>
            </a:r>
            <a:r>
              <a:rPr lang="en-US" dirty="0" err="1">
                <a:solidFill>
                  <a:schemeClr val="bg1"/>
                </a:solidFill>
                <a:effectLst/>
              </a:rPr>
              <a:t>const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</a:rPr>
              <a:t>int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</a:rPr>
              <a:t>MaxValue</a:t>
            </a:r>
            <a:r>
              <a:rPr lang="en-US" dirty="0">
                <a:solidFill>
                  <a:schemeClr val="bg1"/>
                </a:solidFill>
                <a:effectLst/>
              </a:rPr>
              <a:t> = 1000;</a:t>
            </a:r>
          </a:p>
          <a:p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  <a:effectLst/>
              </a:rPr>
              <a:t>private static double[] </a:t>
            </a:r>
            <a:r>
              <a:rPr lang="en-US" dirty="0" err="1">
                <a:solidFill>
                  <a:schemeClr val="bg1"/>
                </a:solidFill>
                <a:effectLst/>
              </a:rPr>
              <a:t>sqrtValues</a:t>
            </a:r>
            <a:r>
              <a:rPr lang="en-US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  <a:effectLst/>
              </a:rPr>
              <a:t>static </a:t>
            </a:r>
            <a:r>
              <a:rPr lang="en-US" dirty="0" err="1">
                <a:solidFill>
                  <a:schemeClr val="bg1"/>
                </a:solidFill>
                <a:effectLst/>
              </a:rPr>
              <a:t>SquareRootPrecalculator</a:t>
            </a:r>
            <a:r>
              <a:rPr lang="en-US" dirty="0">
                <a:solidFill>
                  <a:schemeClr val="bg1"/>
                </a:solidFill>
                <a:effectLst/>
              </a:rPr>
              <a:t>()</a:t>
            </a:r>
            <a:r>
              <a:rPr lang="bg-BG" dirty="0">
                <a:solidFill>
                  <a:schemeClr val="bg1"/>
                </a:solidFill>
                <a:effectLst/>
              </a:rPr>
              <a:t> </a:t>
            </a:r>
            <a:r>
              <a:rPr lang="en-US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</a:t>
            </a:r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 err="1">
                <a:solidFill>
                  <a:schemeClr val="bg1"/>
                </a:solidFill>
                <a:effectLst/>
              </a:rPr>
              <a:t>sqrtValues</a:t>
            </a:r>
            <a:r>
              <a:rPr lang="en-US" dirty="0">
                <a:solidFill>
                  <a:schemeClr val="bg1"/>
                </a:solidFill>
                <a:effectLst/>
              </a:rPr>
              <a:t> = new double[MaxValue+1];</a:t>
            </a:r>
          </a:p>
          <a:p>
            <a:r>
              <a:rPr lang="bg-BG" dirty="0">
                <a:solidFill>
                  <a:schemeClr val="bg1"/>
                </a:solidFill>
                <a:effectLst/>
              </a:rPr>
              <a:t>    </a:t>
            </a:r>
            <a:r>
              <a:rPr lang="nn-NO" dirty="0">
                <a:solidFill>
                  <a:schemeClr val="bg1"/>
                </a:solidFill>
                <a:effectLst/>
              </a:rPr>
              <a:t>for (int i = 1; i &lt;= MaxValue; i++</a:t>
            </a:r>
            <a:r>
              <a:rPr lang="bg-BG" dirty="0">
                <a:solidFill>
                  <a:schemeClr val="bg1"/>
                </a:solidFill>
                <a:effectLst/>
              </a:rPr>
              <a:t>)</a:t>
            </a:r>
            <a:endParaRPr lang="en-US" dirty="0">
              <a:solidFill>
                <a:schemeClr val="bg1"/>
              </a:solidFill>
              <a:effectLst/>
            </a:endParaRPr>
          </a:p>
          <a:p>
            <a:r>
              <a:rPr lang="en-US" dirty="0">
                <a:solidFill>
                  <a:schemeClr val="bg1"/>
                </a:solidFill>
                <a:effectLst/>
              </a:rPr>
              <a:t>    </a:t>
            </a:r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 err="1">
                <a:solidFill>
                  <a:schemeClr val="bg1"/>
                </a:solidFill>
                <a:effectLst/>
              </a:rPr>
              <a:t>sqrtValues</a:t>
            </a:r>
            <a:r>
              <a:rPr lang="en-US" dirty="0">
                <a:solidFill>
                  <a:schemeClr val="bg1"/>
                </a:solidFill>
                <a:effectLst/>
              </a:rPr>
              <a:t>[</a:t>
            </a:r>
            <a:r>
              <a:rPr lang="en-US" dirty="0" err="1">
                <a:solidFill>
                  <a:schemeClr val="bg1"/>
                </a:solidFill>
                <a:effectLst/>
              </a:rPr>
              <a:t>i</a:t>
            </a:r>
            <a:r>
              <a:rPr lang="en-US" dirty="0">
                <a:solidFill>
                  <a:schemeClr val="bg1"/>
                </a:solidFill>
                <a:effectLst/>
              </a:rPr>
              <a:t>] = </a:t>
            </a:r>
            <a:r>
              <a:rPr lang="en-US" dirty="0" err="1">
                <a:solidFill>
                  <a:schemeClr val="bg1"/>
                </a:solidFill>
                <a:effectLst/>
              </a:rPr>
              <a:t>Math.Sqrt</a:t>
            </a:r>
            <a:r>
              <a:rPr lang="en-US" dirty="0">
                <a:solidFill>
                  <a:schemeClr val="bg1"/>
                </a:solidFill>
                <a:effectLst/>
              </a:rPr>
              <a:t>(</a:t>
            </a:r>
            <a:r>
              <a:rPr lang="en-US" dirty="0" err="1">
                <a:solidFill>
                  <a:schemeClr val="bg1"/>
                </a:solidFill>
                <a:effectLst/>
              </a:rPr>
              <a:t>i</a:t>
            </a:r>
            <a:r>
              <a:rPr lang="en-US" dirty="0">
                <a:solidFill>
                  <a:schemeClr val="bg1"/>
                </a:solidFill>
                <a:effectLst/>
              </a:rPr>
              <a:t>)</a:t>
            </a:r>
            <a:r>
              <a:rPr lang="bg-BG" dirty="0">
                <a:solidFill>
                  <a:schemeClr val="bg1"/>
                </a:solidFill>
                <a:effectLst/>
              </a:rPr>
              <a:t>;</a:t>
            </a:r>
            <a:endParaRPr lang="en-US" dirty="0">
              <a:solidFill>
                <a:schemeClr val="bg1"/>
              </a:solidFill>
              <a:effectLst/>
            </a:endParaRPr>
          </a:p>
          <a:p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  <a:effectLst/>
              </a:rPr>
              <a:t>}</a:t>
            </a:r>
            <a:endParaRPr lang="bg-BG" dirty="0">
              <a:solidFill>
                <a:schemeClr val="bg1"/>
              </a:solidFill>
              <a:effectLst/>
            </a:endParaRPr>
          </a:p>
          <a:p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  <a:effectLst/>
              </a:rPr>
              <a:t>public static double </a:t>
            </a:r>
            <a:r>
              <a:rPr lang="en-US" dirty="0" err="1">
                <a:solidFill>
                  <a:schemeClr val="bg1"/>
                </a:solidFill>
                <a:effectLst/>
              </a:rPr>
              <a:t>GetSqrt</a:t>
            </a:r>
            <a:r>
              <a:rPr lang="en-US" dirty="0">
                <a:solidFill>
                  <a:schemeClr val="bg1"/>
                </a:solidFill>
                <a:effectLst/>
              </a:rPr>
              <a:t>(</a:t>
            </a:r>
            <a:r>
              <a:rPr lang="en-US" dirty="0" err="1">
                <a:solidFill>
                  <a:schemeClr val="bg1"/>
                </a:solidFill>
                <a:effectLst/>
              </a:rPr>
              <a:t>int</a:t>
            </a:r>
            <a:r>
              <a:rPr lang="en-US" dirty="0">
                <a:solidFill>
                  <a:schemeClr val="bg1"/>
                </a:solidFill>
                <a:effectLst/>
              </a:rPr>
              <a:t> value)</a:t>
            </a:r>
            <a:r>
              <a:rPr lang="bg-BG" dirty="0">
                <a:solidFill>
                  <a:schemeClr val="bg1"/>
                </a:solidFill>
                <a:effectLst/>
              </a:rPr>
              <a:t> </a:t>
            </a:r>
            <a:r>
              <a:rPr lang="en-US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  </a:t>
            </a:r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  <a:effectLst/>
              </a:rPr>
              <a:t>return </a:t>
            </a:r>
            <a:r>
              <a:rPr lang="en-US" dirty="0" err="1">
                <a:solidFill>
                  <a:schemeClr val="bg1"/>
                </a:solidFill>
                <a:effectLst/>
              </a:rPr>
              <a:t>sqrtValues</a:t>
            </a:r>
            <a:r>
              <a:rPr lang="en-US" dirty="0">
                <a:solidFill>
                  <a:schemeClr val="bg1"/>
                </a:solidFill>
                <a:effectLst/>
              </a:rPr>
              <a:t>[value];</a:t>
            </a:r>
          </a:p>
          <a:p>
            <a:r>
              <a:rPr lang="bg-BG" dirty="0"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  <a:effectLst/>
              </a:rPr>
              <a:t>}</a:t>
            </a:r>
            <a:endParaRPr lang="bg-BG" dirty="0">
              <a:solidFill>
                <a:schemeClr val="bg1"/>
              </a:solidFill>
              <a:effectLst/>
            </a:endParaRPr>
          </a:p>
          <a:p>
            <a:r>
              <a:rPr lang="en-US" dirty="0">
                <a:solidFill>
                  <a:schemeClr val="bg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92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9585" y="401741"/>
            <a:ext cx="10623666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Напишете програма на C#, която: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Създава </a:t>
            </a: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статичен клас SquareRootPrecalculator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в който се изчисляват и запазват квадратните корени на всички цели числа от </a:t>
            </a: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 до 1000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статичен масив.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Класът трябва да съдържа метод GetSqrt(int value), който връща квадратния корен на подадено число. Ако числото е извън интервала [0..1000], да се хвърля изключение.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основния клас Program да се демонстрира работата на метода, като се изведат квадратните корени на няколко примерни числа (например 9 и 100).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89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3139"/>
          </a:xfrm>
        </p:spPr>
        <p:txBody>
          <a:bodyPr>
            <a:noAutofit/>
          </a:bodyPr>
          <a:lstStyle/>
          <a:p>
            <a:r>
              <a:rPr lang="en-US" sz="1600" b="1" dirty="0"/>
              <a:t>public static class </a:t>
            </a:r>
            <a:r>
              <a:rPr lang="en-US" sz="1600" b="1" dirty="0" err="1"/>
              <a:t>SquareRootPrecalculator</a:t>
            </a:r>
            <a:r>
              <a:rPr lang="en-US" sz="1600" b="1" dirty="0"/>
              <a:t/>
            </a:r>
            <a:br>
              <a:rPr lang="en-US" sz="1600" b="1" dirty="0"/>
            </a:br>
            <a:r>
              <a:rPr lang="bg-BG" sz="1600" b="1" dirty="0"/>
              <a:t>{</a:t>
            </a:r>
            <a:br>
              <a:rPr lang="bg-BG" sz="1600" b="1" dirty="0"/>
            </a:br>
            <a:r>
              <a:rPr lang="en-US" sz="1600" b="1" dirty="0"/>
              <a:t>    public </a:t>
            </a:r>
            <a:r>
              <a:rPr lang="en-US" sz="1600" b="1" dirty="0" err="1"/>
              <a:t>const</a:t>
            </a:r>
            <a:r>
              <a:rPr lang="en-US" sz="1600" b="1" dirty="0"/>
              <a:t>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MaxValue</a:t>
            </a:r>
            <a:r>
              <a:rPr lang="en-US" sz="1600" b="1" dirty="0"/>
              <a:t> = 1000;</a:t>
            </a:r>
            <a:br>
              <a:rPr lang="en-US" sz="1600" b="1" dirty="0"/>
            </a:br>
            <a:r>
              <a:rPr lang="en-US" sz="1600" b="1" dirty="0"/>
              <a:t>    private static </a:t>
            </a:r>
            <a:r>
              <a:rPr lang="en-US" sz="1600" b="1" dirty="0" err="1"/>
              <a:t>readonly</a:t>
            </a:r>
            <a:r>
              <a:rPr lang="en-US" sz="1600" b="1" dirty="0"/>
              <a:t> double[] </a:t>
            </a:r>
            <a:r>
              <a:rPr lang="en-US" sz="1600" b="1" dirty="0" err="1"/>
              <a:t>sqrtValues</a:t>
            </a:r>
            <a:r>
              <a:rPr lang="en-US" sz="1600" b="1" dirty="0"/>
              <a:t>;</a:t>
            </a:r>
            <a:br>
              <a:rPr lang="en-US" sz="1600" b="1" dirty="0"/>
            </a:br>
            <a:r>
              <a:rPr lang="bg-BG" sz="1600" b="1" dirty="0"/>
              <a:t/>
            </a:r>
            <a:br>
              <a:rPr lang="bg-BG" sz="1600" b="1" dirty="0"/>
            </a:br>
            <a:r>
              <a:rPr lang="en-US" sz="1600" b="1" dirty="0"/>
              <a:t>    static </a:t>
            </a:r>
            <a:r>
              <a:rPr lang="en-US" sz="1600" b="1" dirty="0" err="1"/>
              <a:t>SquareRootPrecalculator</a:t>
            </a:r>
            <a:r>
              <a:rPr lang="en-US" sz="1600" b="1" dirty="0"/>
              <a:t>()</a:t>
            </a:r>
            <a:br>
              <a:rPr lang="en-US" sz="1600" b="1" dirty="0"/>
            </a:br>
            <a:r>
              <a:rPr lang="bg-BG" sz="1600" b="1" dirty="0"/>
              <a:t>    {</a:t>
            </a:r>
            <a:br>
              <a:rPr lang="bg-BG" sz="1600" b="1" dirty="0"/>
            </a:br>
            <a:r>
              <a:rPr lang="en-US" sz="1600" b="1" dirty="0"/>
              <a:t>        </a:t>
            </a:r>
            <a:r>
              <a:rPr lang="en-US" sz="1600" b="1" dirty="0" err="1"/>
              <a:t>sqrtValues</a:t>
            </a:r>
            <a:r>
              <a:rPr lang="en-US" sz="1600" b="1" dirty="0"/>
              <a:t> = new double[</a:t>
            </a:r>
            <a:r>
              <a:rPr lang="en-US" sz="1600" b="1" dirty="0" err="1"/>
              <a:t>MaxValue</a:t>
            </a:r>
            <a:r>
              <a:rPr lang="en-US" sz="1600" b="1" dirty="0"/>
              <a:t> + 1];</a:t>
            </a:r>
            <a:br>
              <a:rPr lang="en-US" sz="1600" b="1" dirty="0"/>
            </a:br>
            <a:r>
              <a:rPr lang="nn-NO" sz="1600" b="1" dirty="0"/>
              <a:t>        for (int i = 0; i &lt;= MaxValue; i++)</a:t>
            </a:r>
            <a:br>
              <a:rPr lang="nn-NO" sz="1600" b="1" dirty="0"/>
            </a:br>
            <a:r>
              <a:rPr lang="en-US" sz="1600" b="1" dirty="0"/>
              <a:t>            </a:t>
            </a:r>
            <a:r>
              <a:rPr lang="en-US" sz="1600" b="1" dirty="0" err="1"/>
              <a:t>sqrtValues</a:t>
            </a:r>
            <a:r>
              <a:rPr lang="en-US" sz="1600" b="1" dirty="0"/>
              <a:t>[</a:t>
            </a:r>
            <a:r>
              <a:rPr lang="en-US" sz="1600" b="1" dirty="0" err="1"/>
              <a:t>i</a:t>
            </a:r>
            <a:r>
              <a:rPr lang="en-US" sz="1600" b="1" dirty="0"/>
              <a:t>] = </a:t>
            </a:r>
            <a:r>
              <a:rPr lang="en-US" sz="1600" b="1" dirty="0" err="1"/>
              <a:t>Math.Sqrt</a:t>
            </a:r>
            <a:r>
              <a:rPr lang="en-US" sz="1600" b="1" dirty="0"/>
              <a:t>(</a:t>
            </a:r>
            <a:r>
              <a:rPr lang="en-US" sz="1600" b="1" dirty="0" err="1"/>
              <a:t>i</a:t>
            </a:r>
            <a:r>
              <a:rPr lang="en-US" sz="1600" b="1" dirty="0"/>
              <a:t>);</a:t>
            </a:r>
            <a:br>
              <a:rPr lang="en-US" sz="1600" b="1" dirty="0"/>
            </a:br>
            <a:r>
              <a:rPr lang="bg-BG" sz="1600" b="1" dirty="0"/>
              <a:t>    }</a:t>
            </a:r>
            <a:br>
              <a:rPr lang="bg-BG" sz="1600" b="1" dirty="0"/>
            </a:br>
            <a:r>
              <a:rPr lang="bg-BG" sz="1600" b="1" dirty="0"/>
              <a:t/>
            </a:r>
            <a:br>
              <a:rPr lang="bg-BG" sz="1600" b="1" dirty="0"/>
            </a:br>
            <a:r>
              <a:rPr lang="en-US" sz="1600" b="1" dirty="0"/>
              <a:t>    public static double </a:t>
            </a:r>
            <a:r>
              <a:rPr lang="en-US" sz="1600" b="1" dirty="0" err="1"/>
              <a:t>GetSqrt</a:t>
            </a:r>
            <a:r>
              <a:rPr lang="en-US" sz="1600" b="1" dirty="0"/>
              <a:t>(</a:t>
            </a:r>
            <a:r>
              <a:rPr lang="en-US" sz="1600" b="1" dirty="0" err="1"/>
              <a:t>int</a:t>
            </a:r>
            <a:r>
              <a:rPr lang="en-US" sz="1600" b="1" dirty="0"/>
              <a:t> value)</a:t>
            </a:r>
            <a:br>
              <a:rPr lang="en-US" sz="1600" b="1" dirty="0"/>
            </a:br>
            <a:r>
              <a:rPr lang="bg-BG" sz="1600" b="1" dirty="0"/>
              <a:t>    {</a:t>
            </a:r>
            <a:br>
              <a:rPr lang="bg-BG" sz="1600" b="1" dirty="0"/>
            </a:br>
            <a:r>
              <a:rPr lang="en-US" sz="1600" b="1" dirty="0"/>
              <a:t>        if (value &lt; 0 || value &gt; </a:t>
            </a:r>
            <a:r>
              <a:rPr lang="en-US" sz="1600" b="1" dirty="0" err="1"/>
              <a:t>MaxValue</a:t>
            </a:r>
            <a:r>
              <a:rPr lang="en-US" sz="1600" b="1" dirty="0"/>
              <a:t>)</a:t>
            </a:r>
            <a:br>
              <a:rPr lang="en-US" sz="1600" b="1" dirty="0"/>
            </a:br>
            <a:r>
              <a:rPr lang="en-US" sz="1600" b="1" dirty="0"/>
              <a:t>            throw new </a:t>
            </a:r>
            <a:r>
              <a:rPr lang="en-US" sz="1600" b="1" dirty="0" err="1"/>
              <a:t>ArgumentOutOfRangeException</a:t>
            </a:r>
            <a:r>
              <a:rPr lang="en-US" sz="1600" b="1" dirty="0"/>
              <a:t>(</a:t>
            </a:r>
            <a:r>
              <a:rPr lang="en-US" sz="1600" b="1" dirty="0" err="1"/>
              <a:t>nameof</a:t>
            </a:r>
            <a:r>
              <a:rPr lang="en-US" sz="1600" b="1" dirty="0"/>
              <a:t>(value));</a:t>
            </a:r>
            <a:br>
              <a:rPr lang="en-US" sz="1600" b="1" dirty="0"/>
            </a:br>
            <a:r>
              <a:rPr lang="en-US" sz="1600" b="1" dirty="0"/>
              <a:t>        return </a:t>
            </a:r>
            <a:r>
              <a:rPr lang="en-US" sz="1600" b="1" dirty="0" err="1"/>
              <a:t>sqrtValues</a:t>
            </a:r>
            <a:r>
              <a:rPr lang="en-US" sz="1600" b="1" dirty="0"/>
              <a:t>[value];</a:t>
            </a:r>
            <a:br>
              <a:rPr lang="en-US" sz="1600" b="1" dirty="0"/>
            </a:br>
            <a:r>
              <a:rPr lang="bg-BG" sz="1600" b="1" dirty="0"/>
              <a:t>    }</a:t>
            </a:r>
            <a:br>
              <a:rPr lang="bg-BG" sz="1600" b="1" dirty="0"/>
            </a:br>
            <a:r>
              <a:rPr lang="bg-BG" sz="1600" b="1" dirty="0"/>
              <a:t>}</a:t>
            </a:r>
            <a:br>
              <a:rPr lang="bg-BG" sz="1600" b="1" dirty="0"/>
            </a:br>
            <a:r>
              <a:rPr lang="bg-BG" sz="1600" b="1" dirty="0"/>
              <a:t/>
            </a:r>
            <a:br>
              <a:rPr lang="bg-BG" sz="1600" b="1" dirty="0"/>
            </a:br>
            <a:r>
              <a:rPr lang="en-US" sz="1600" b="1" dirty="0"/>
              <a:t>class Program</a:t>
            </a:r>
            <a:br>
              <a:rPr lang="en-US" sz="1600" b="1" dirty="0"/>
            </a:br>
            <a:r>
              <a:rPr lang="bg-BG" sz="1600" b="1" dirty="0"/>
              <a:t>{</a:t>
            </a:r>
            <a:br>
              <a:rPr lang="bg-BG" sz="1600" b="1" dirty="0"/>
            </a:br>
            <a:r>
              <a:rPr lang="en-US" sz="1600" b="1" dirty="0"/>
              <a:t>    static void Main(string[] </a:t>
            </a:r>
            <a:r>
              <a:rPr lang="en-US" sz="1600" b="1" dirty="0" err="1"/>
              <a:t>args</a:t>
            </a:r>
            <a:r>
              <a:rPr lang="en-US" sz="1600" b="1" dirty="0"/>
              <a:t>)</a:t>
            </a:r>
            <a:br>
              <a:rPr lang="en-US" sz="1600" b="1" dirty="0"/>
            </a:br>
            <a:r>
              <a:rPr lang="bg-BG" sz="1600" b="1" dirty="0"/>
              <a:t>    {</a:t>
            </a:r>
            <a:br>
              <a:rPr lang="bg-BG" sz="1600" b="1" dirty="0"/>
            </a:br>
            <a:r>
              <a:rPr lang="en-US" sz="1600" b="1" dirty="0"/>
              <a:t>        </a:t>
            </a:r>
            <a:r>
              <a:rPr lang="en-US" sz="1600" b="1" dirty="0" err="1"/>
              <a:t>Console.WriteLine</a:t>
            </a:r>
            <a:r>
              <a:rPr lang="en-US" sz="1600" b="1" dirty="0"/>
              <a:t>(</a:t>
            </a:r>
            <a:r>
              <a:rPr lang="en-US" sz="1600" b="1" dirty="0" err="1"/>
              <a:t>SquareRootPrecalculator.GetSqrt</a:t>
            </a:r>
            <a:r>
              <a:rPr lang="en-US" sz="1600" b="1" dirty="0"/>
              <a:t>(9));   // </a:t>
            </a:r>
            <a:r>
              <a:rPr lang="bg-BG" sz="1600" b="1" dirty="0"/>
              <a:t>ще изведе 3</a:t>
            </a:r>
            <a:br>
              <a:rPr lang="bg-BG" sz="1600" b="1" dirty="0"/>
            </a:br>
            <a:r>
              <a:rPr lang="en-US" sz="1600" b="1" dirty="0"/>
              <a:t>        </a:t>
            </a:r>
            <a:r>
              <a:rPr lang="en-US" sz="1600" b="1" dirty="0" err="1"/>
              <a:t>Console.WriteLine</a:t>
            </a:r>
            <a:r>
              <a:rPr lang="en-US" sz="1600" b="1" dirty="0"/>
              <a:t>(</a:t>
            </a:r>
            <a:r>
              <a:rPr lang="en-US" sz="1600" b="1" dirty="0" err="1"/>
              <a:t>SquareRootPrecalculator.GetSqrt</a:t>
            </a:r>
            <a:r>
              <a:rPr lang="en-US" sz="1600" b="1" dirty="0"/>
              <a:t>(100)); // </a:t>
            </a:r>
            <a:r>
              <a:rPr lang="bg-BG" sz="1600" b="1" dirty="0"/>
              <a:t>ще изведе 10</a:t>
            </a:r>
            <a:br>
              <a:rPr lang="bg-BG" sz="1600" b="1" dirty="0"/>
            </a:br>
            <a:r>
              <a:rPr lang="bg-BG" sz="1600" b="1" dirty="0"/>
              <a:t>    }</a:t>
            </a:r>
            <a:br>
              <a:rPr lang="bg-BG" sz="1600" b="1" dirty="0"/>
            </a:br>
            <a:r>
              <a:rPr lang="bg-BG" sz="1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60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2" y="995680"/>
            <a:ext cx="12762559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0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899883"/>
            <a:ext cx="11751777" cy="50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8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803" y="592932"/>
            <a:ext cx="10171200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1010399" y="1691243"/>
            <a:ext cx="10324597" cy="4371109"/>
          </a:xfrm>
        </p:spPr>
        <p:txBody>
          <a:bodyPr>
            <a:noAutofit/>
          </a:bodyPr>
          <a:lstStyle/>
          <a:p>
            <a:pPr marL="358775" indent="-358775">
              <a:lnSpc>
                <a:spcPct val="110000"/>
              </a:lnSpc>
            </a:pPr>
            <a:r>
              <a:rPr lang="bg-BG" sz="3000" b="1" dirty="0">
                <a:solidFill>
                  <a:srgbClr val="00B0F0"/>
                </a:solidFill>
                <a:latin typeface="Comfortaa" pitchFamily="2" charset="0"/>
              </a:rPr>
              <a:t>Статичните методи </a:t>
            </a:r>
            <a:r>
              <a:rPr lang="bg-BG" sz="3000" dirty="0">
                <a:latin typeface="Comfortaa" pitchFamily="2" charset="0"/>
              </a:rPr>
              <a:t>принадлежат на класа и могат да бъдат достъпени чрез името на класа, а не чрез създаване на обект.</a:t>
            </a:r>
          </a:p>
          <a:p>
            <a:pPr marL="358775" indent="-358775">
              <a:lnSpc>
                <a:spcPct val="110000"/>
              </a:lnSpc>
            </a:pPr>
            <a:r>
              <a:rPr lang="bg-BG" sz="3000" dirty="0">
                <a:latin typeface="Comfortaa" pitchFamily="2" charset="0"/>
              </a:rPr>
              <a:t>От статичен клас не може да се създаде обект</a:t>
            </a:r>
          </a:p>
          <a:p>
            <a:pPr marL="358775" indent="-358775">
              <a:lnSpc>
                <a:spcPct val="110000"/>
              </a:lnSpc>
            </a:pPr>
            <a:r>
              <a:rPr lang="bg-BG" sz="3000" b="1" dirty="0">
                <a:solidFill>
                  <a:srgbClr val="00B0F0"/>
                </a:solidFill>
                <a:latin typeface="Comfortaa" pitchFamily="2" charset="0"/>
              </a:rPr>
              <a:t>Статичните конструктори </a:t>
            </a:r>
            <a:r>
              <a:rPr lang="bg-BG" sz="3000" dirty="0">
                <a:latin typeface="Comfortaa" pitchFamily="2" charset="0"/>
              </a:rPr>
              <a:t>се изпълняват, когато за първи път се създаде обект от класа или се достъпи негов статичен член</a:t>
            </a:r>
          </a:p>
        </p:txBody>
      </p:sp>
    </p:spTree>
    <p:extLst>
      <p:ext uri="{BB962C8B-B14F-4D97-AF65-F5344CB8AC3E}">
        <p14:creationId xmlns:p14="http://schemas.microsoft.com/office/powerpoint/2010/main" val="20523458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966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040" y="335280"/>
            <a:ext cx="1114552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Създайте клас </a:t>
            </a:r>
            <a:r>
              <a:rPr lang="en-US" b="1" dirty="0"/>
              <a:t>Product </a:t>
            </a:r>
            <a:r>
              <a:rPr lang="bg-BG" dirty="0"/>
              <a:t>с полета за име на продукта и баркод – и двете са текстови низове, цена – </a:t>
            </a:r>
            <a:r>
              <a:rPr lang="en-US" dirty="0"/>
              <a:t>double</a:t>
            </a:r>
            <a:r>
              <a:rPr lang="bg-BG" dirty="0"/>
              <a:t> и  количество - </a:t>
            </a:r>
            <a:r>
              <a:rPr lang="en-US" dirty="0"/>
              <a:t>double. </a:t>
            </a:r>
            <a:r>
              <a:rPr lang="bg-BG" dirty="0"/>
              <a:t>Създайте статичен клас, който да поддържа информация за продуктите в магазина и следните функционалности:</a:t>
            </a:r>
          </a:p>
          <a:p>
            <a:pPr lvl="0"/>
            <a:r>
              <a:rPr lang="bg-BG" dirty="0"/>
              <a:t>Продажба на продукт – приема за параметри баркода и продаваното количество. Не допускайте продажба на продукта, ако той има по-малка наличност от желаното количество. Изведете подходящо съобщение на екрана (</a:t>
            </a:r>
            <a:r>
              <a:rPr lang="bg-BG" b="1" dirty="0"/>
              <a:t>Sell</a:t>
            </a:r>
            <a:r>
              <a:rPr lang="bg-BG" dirty="0"/>
              <a:t>).</a:t>
            </a:r>
          </a:p>
          <a:p>
            <a:pPr lvl="1"/>
            <a:r>
              <a:rPr lang="bg-BG" dirty="0"/>
              <a:t>Командата ще има вида: Sell &lt;</a:t>
            </a:r>
            <a:r>
              <a:rPr lang="bg-BG" b="1" dirty="0"/>
              <a:t>код</a:t>
            </a:r>
            <a:r>
              <a:rPr lang="bg-BG" dirty="0"/>
              <a:t>&gt; &lt;</a:t>
            </a:r>
            <a:r>
              <a:rPr lang="bg-BG" b="1" dirty="0"/>
              <a:t>количество</a:t>
            </a:r>
            <a:r>
              <a:rPr lang="bg-BG" dirty="0"/>
              <a:t>&gt;</a:t>
            </a:r>
          </a:p>
          <a:p>
            <a:pPr lvl="1"/>
            <a:r>
              <a:rPr lang="bg-BG" dirty="0"/>
              <a:t>Ако продуктът не съществува или няма достатъчно количество, изведете „Not enough quantity”.</a:t>
            </a:r>
          </a:p>
          <a:p>
            <a:pPr lvl="0"/>
            <a:r>
              <a:rPr lang="bg-BG" dirty="0"/>
              <a:t>Добавяне на нов продукт – добавя се информация за продукта; баркод, име, цена и количество (</a:t>
            </a:r>
            <a:r>
              <a:rPr lang="bg-BG" b="1" dirty="0"/>
              <a:t>Add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Командата ще има вида: Add &lt;</a:t>
            </a:r>
            <a:r>
              <a:rPr lang="bg-BG" b="1" dirty="0"/>
              <a:t>код</a:t>
            </a:r>
            <a:r>
              <a:rPr lang="bg-BG" dirty="0"/>
              <a:t>&gt; &lt;</a:t>
            </a:r>
            <a:r>
              <a:rPr lang="bg-BG" b="1" dirty="0"/>
              <a:t>име</a:t>
            </a:r>
            <a:r>
              <a:rPr lang="bg-BG" dirty="0"/>
              <a:t>&gt; &lt;</a:t>
            </a:r>
            <a:r>
              <a:rPr lang="bg-BG" b="1" dirty="0"/>
              <a:t>количество</a:t>
            </a:r>
            <a:r>
              <a:rPr lang="bg-BG" dirty="0"/>
              <a:t>&gt;</a:t>
            </a:r>
          </a:p>
          <a:p>
            <a:pPr lvl="0"/>
            <a:r>
              <a:rPr lang="bg-BG" dirty="0"/>
              <a:t>Зареждане на продукт – добавя се количество от даден продукт; параметрите са баркода и самото количество; не допускайте зареждане на продукт, ако той изобщо не съществува към момента (</a:t>
            </a:r>
            <a:r>
              <a:rPr lang="bg-BG" b="1" dirty="0"/>
              <a:t>Update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Командата ще има вида: Update &lt;</a:t>
            </a:r>
            <a:r>
              <a:rPr lang="bg-BG" b="1" dirty="0"/>
              <a:t>код</a:t>
            </a:r>
            <a:r>
              <a:rPr lang="bg-BG" dirty="0"/>
              <a:t>&gt; &lt;</a:t>
            </a:r>
            <a:r>
              <a:rPr lang="bg-BG" b="1" dirty="0"/>
              <a:t>количество</a:t>
            </a:r>
            <a:r>
              <a:rPr lang="bg-BG" dirty="0"/>
              <a:t>&gt;</a:t>
            </a:r>
          </a:p>
          <a:p>
            <a:pPr lvl="1"/>
            <a:r>
              <a:rPr lang="bg-BG" dirty="0"/>
              <a:t>Ако такъв продукт не съществува, изведете „Please add your product first!”</a:t>
            </a:r>
          </a:p>
          <a:p>
            <a:pPr lvl="0"/>
            <a:r>
              <a:rPr lang="bg-BG" dirty="0"/>
              <a:t>Изпечатване на </a:t>
            </a:r>
            <a:r>
              <a:rPr lang="bg-BG" b="1" dirty="0"/>
              <a:t>налични</a:t>
            </a:r>
            <a:r>
              <a:rPr lang="bg-BG" dirty="0"/>
              <a:t> продукти по азбучен ред (</a:t>
            </a:r>
            <a:r>
              <a:rPr lang="bg-BG" b="1" dirty="0"/>
              <a:t>PrintA</a:t>
            </a:r>
            <a:r>
              <a:rPr lang="bg-BG" dirty="0"/>
              <a:t>)</a:t>
            </a:r>
          </a:p>
          <a:p>
            <a:pPr lvl="0"/>
            <a:r>
              <a:rPr lang="bg-BG" dirty="0"/>
              <a:t>Изпечатване на информация за неналични продукти по азбучен ред (</a:t>
            </a:r>
            <a:r>
              <a:rPr lang="bg-BG" b="1" dirty="0"/>
              <a:t>PrintU</a:t>
            </a:r>
            <a:r>
              <a:rPr lang="bg-BG" dirty="0"/>
              <a:t>)</a:t>
            </a:r>
          </a:p>
          <a:p>
            <a:pPr lvl="0"/>
            <a:r>
              <a:rPr lang="bg-BG" dirty="0"/>
              <a:t>Изпечатване на всички продукти по намаляща наличност - тези от които има най-много са в началото (</a:t>
            </a:r>
            <a:r>
              <a:rPr lang="bg-BG" b="1" dirty="0"/>
              <a:t>PrintD</a:t>
            </a:r>
            <a:r>
              <a:rPr lang="bg-BG" dirty="0"/>
              <a:t>)</a:t>
            </a:r>
          </a:p>
          <a:p>
            <a:pPr lvl="0"/>
            <a:r>
              <a:rPr lang="bg-BG" dirty="0"/>
              <a:t>Изчисляване на стойността на всички налични продукти (</a:t>
            </a:r>
            <a:r>
              <a:rPr lang="bg-BG" b="1" dirty="0"/>
              <a:t>Calculate</a:t>
            </a:r>
            <a:r>
              <a:rPr lang="bg-BG" dirty="0"/>
              <a:t>)</a:t>
            </a:r>
          </a:p>
          <a:p>
            <a:r>
              <a:rPr lang="bg-BG" dirty="0"/>
              <a:t>За всичко това трябва да се създаде и програма, която приема команди и изпълнява съответните действия. Името на всяка команда е записано в скоби по-горе</a:t>
            </a:r>
            <a:r>
              <a:rPr lang="en-US" dirty="0"/>
              <a:t>. </a:t>
            </a:r>
            <a:r>
              <a:rPr lang="bg-BG" dirty="0"/>
              <a:t>Командата, която приключва въвеждането е „</a:t>
            </a:r>
            <a:r>
              <a:rPr lang="en-US" b="1" dirty="0"/>
              <a:t>Close</a:t>
            </a:r>
            <a:r>
              <a:rPr lang="en-US" dirty="0"/>
              <a:t>”. </a:t>
            </a:r>
            <a:r>
              <a:rPr lang="bg-BG" dirty="0"/>
              <a:t>Когато се въведе тя програмата приключва. Всички реални числа се извеждат закръглене и с точно 2 знака след запетаята.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7731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8068"/>
          </a:xfrm>
        </p:spPr>
        <p:txBody>
          <a:bodyPr>
            <a:noAutofit/>
          </a:bodyPr>
          <a:lstStyle/>
          <a:p>
            <a:r>
              <a:rPr lang="en-US" sz="1000" dirty="0"/>
              <a:t>using System;</a:t>
            </a:r>
            <a:br>
              <a:rPr lang="en-US" sz="1000" dirty="0"/>
            </a:br>
            <a:r>
              <a:rPr lang="en-US" sz="1000" dirty="0"/>
              <a:t>using </a:t>
            </a:r>
            <a:r>
              <a:rPr lang="en-US" sz="1000" dirty="0" err="1"/>
              <a:t>System.Collections.Generic</a:t>
            </a:r>
            <a:r>
              <a:rPr lang="en-US" sz="1000" dirty="0"/>
              <a:t>;</a:t>
            </a:r>
            <a:br>
              <a:rPr lang="en-US" sz="1000" dirty="0"/>
            </a:br>
            <a:r>
              <a:rPr lang="en-US" sz="1000" dirty="0"/>
              <a:t>using </a:t>
            </a:r>
            <a:r>
              <a:rPr lang="en-US" sz="1000" dirty="0" err="1"/>
              <a:t>System.Linq</a:t>
            </a:r>
            <a:r>
              <a:rPr lang="en-US" sz="1000" dirty="0"/>
              <a:t>;</a:t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class Program</a:t>
            </a:r>
            <a:br>
              <a:rPr lang="en-US" sz="1000" dirty="0"/>
            </a:br>
            <a:r>
              <a:rPr lang="en-US" sz="1000" dirty="0"/>
              <a:t>{</a:t>
            </a:r>
            <a:br>
              <a:rPr lang="en-US" sz="1000" dirty="0"/>
            </a:br>
            <a:r>
              <a:rPr lang="en-US" sz="1000" dirty="0"/>
              <a:t>    static void Main()</a:t>
            </a:r>
            <a:br>
              <a:rPr lang="en-US" sz="1000" dirty="0"/>
            </a:br>
            <a:r>
              <a:rPr lang="en-US" sz="1000" dirty="0"/>
              <a:t>    {</a:t>
            </a:r>
            <a:br>
              <a:rPr lang="en-US" sz="1000" dirty="0"/>
            </a:br>
            <a:r>
              <a:rPr lang="en-US" sz="1000" dirty="0"/>
              <a:t>        Dictionary&lt;string, </a:t>
            </a:r>
            <a:r>
              <a:rPr lang="en-US" sz="1000" dirty="0" err="1"/>
              <a:t>int</a:t>
            </a:r>
            <a:r>
              <a:rPr lang="en-US" sz="1000" dirty="0"/>
              <a:t>&gt; products = new Dictionary&lt;string, </a:t>
            </a:r>
            <a:r>
              <a:rPr lang="en-US" sz="1000" dirty="0" err="1"/>
              <a:t>int</a:t>
            </a:r>
            <a:r>
              <a:rPr lang="en-US" sz="1000" dirty="0"/>
              <a:t>&gt;()</a:t>
            </a:r>
            <a:br>
              <a:rPr lang="en-US" sz="1000" dirty="0"/>
            </a:br>
            <a:r>
              <a:rPr lang="en-US" sz="1000" dirty="0"/>
              <a:t>        {</a:t>
            </a:r>
            <a:br>
              <a:rPr lang="en-US" sz="1000" dirty="0"/>
            </a:br>
            <a:r>
              <a:rPr lang="en-US" sz="1000" dirty="0"/>
              <a:t>            { "</a:t>
            </a:r>
            <a:r>
              <a:rPr lang="bg-BG" sz="1000" dirty="0"/>
              <a:t>Хляб", 5 },</a:t>
            </a:r>
            <a:br>
              <a:rPr lang="bg-BG" sz="1000" dirty="0"/>
            </a:br>
            <a:r>
              <a:rPr lang="bg-BG" sz="1000" dirty="0"/>
              <a:t>            { "Мляко", 3 },</a:t>
            </a:r>
            <a:br>
              <a:rPr lang="bg-BG" sz="1000" dirty="0"/>
            </a:br>
            <a:r>
              <a:rPr lang="bg-BG" sz="1000" dirty="0"/>
              <a:t>            { "Ябълки", 4 }</a:t>
            </a:r>
            <a:br>
              <a:rPr lang="bg-BG" sz="1000" dirty="0"/>
            </a:br>
            <a:r>
              <a:rPr lang="bg-BG" sz="1000" dirty="0"/>
              <a:t>        };</a:t>
            </a:r>
            <a:br>
              <a:rPr lang="bg-BG" sz="10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1000" dirty="0"/>
              <a:t>        </a:t>
            </a:r>
            <a:r>
              <a:rPr lang="en-US" sz="1000" dirty="0" err="1"/>
              <a:t>Console.WriteLine</a:t>
            </a:r>
            <a:r>
              <a:rPr lang="en-US" sz="1000" dirty="0"/>
              <a:t>("</a:t>
            </a:r>
            <a:r>
              <a:rPr lang="bg-BG" sz="1000" dirty="0"/>
              <a:t>Добре дошли в магазина!");</a:t>
            </a:r>
            <a:br>
              <a:rPr lang="bg-BG" sz="10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1000" dirty="0"/>
              <a:t>        </a:t>
            </a:r>
            <a:r>
              <a:rPr lang="en-US" sz="1000" dirty="0"/>
              <a:t>while (true)</a:t>
            </a:r>
            <a:br>
              <a:rPr lang="en-US" sz="1000" dirty="0"/>
            </a:br>
            <a:r>
              <a:rPr lang="en-US" sz="1000" dirty="0"/>
              <a:t>        {</a:t>
            </a:r>
            <a:br>
              <a:rPr lang="en-US" sz="1000" dirty="0"/>
            </a:br>
            <a:r>
              <a:rPr lang="en-US" sz="1000" dirty="0"/>
              <a:t>            // </a:t>
            </a:r>
            <a:r>
              <a:rPr lang="bg-BG" sz="1000" dirty="0"/>
              <a:t>Проверка дали има наличности</a:t>
            </a:r>
            <a:br>
              <a:rPr lang="bg-BG" sz="1000" dirty="0"/>
            </a:br>
            <a:r>
              <a:rPr lang="bg-BG" sz="1000" dirty="0"/>
              <a:t>            </a:t>
            </a:r>
            <a:r>
              <a:rPr lang="en-US" sz="1000" dirty="0"/>
              <a:t>if (</a:t>
            </a:r>
            <a:r>
              <a:rPr lang="en-US" sz="1000" dirty="0" err="1"/>
              <a:t>products.Values.All</a:t>
            </a:r>
            <a:r>
              <a:rPr lang="en-US" sz="1000" dirty="0"/>
              <a:t>(</a:t>
            </a:r>
            <a:r>
              <a:rPr lang="en-US" sz="1000" dirty="0" err="1"/>
              <a:t>qty</a:t>
            </a:r>
            <a:r>
              <a:rPr lang="en-US" sz="1000" dirty="0"/>
              <a:t> =&gt; </a:t>
            </a:r>
            <a:r>
              <a:rPr lang="en-US" sz="1000" dirty="0" err="1"/>
              <a:t>qty</a:t>
            </a:r>
            <a:r>
              <a:rPr lang="en-US" sz="1000" dirty="0"/>
              <a:t> == 0))</a:t>
            </a:r>
            <a:br>
              <a:rPr lang="en-US" sz="1000" dirty="0"/>
            </a:br>
            <a:r>
              <a:rPr lang="en-US" sz="1000" dirty="0"/>
              <a:t>            {</a:t>
            </a:r>
            <a:br>
              <a:rPr lang="en-US" sz="1000" dirty="0"/>
            </a:br>
            <a:r>
              <a:rPr lang="en-US" sz="1000" dirty="0"/>
              <a:t>                </a:t>
            </a:r>
            <a:r>
              <a:rPr lang="en-US" sz="1000" dirty="0" err="1"/>
              <a:t>Console.WriteLine</a:t>
            </a:r>
            <a:r>
              <a:rPr lang="en-US" sz="1000" dirty="0"/>
              <a:t>("</a:t>
            </a:r>
            <a:r>
              <a:rPr lang="bg-BG" sz="1000" dirty="0"/>
              <a:t>Няма повече наличности. Магазинът затваря.");</a:t>
            </a:r>
            <a:br>
              <a:rPr lang="bg-BG" sz="1000" dirty="0"/>
            </a:br>
            <a:r>
              <a:rPr lang="bg-BG" sz="1000" dirty="0"/>
              <a:t>                </a:t>
            </a:r>
            <a:r>
              <a:rPr lang="en-US" sz="1000" dirty="0"/>
              <a:t>break;</a:t>
            </a:r>
            <a:br>
              <a:rPr lang="en-US" sz="1000" dirty="0"/>
            </a:br>
            <a:r>
              <a:rPr lang="en-US" sz="1000" dirty="0"/>
              <a:t>            }</a:t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            // </a:t>
            </a:r>
            <a:r>
              <a:rPr lang="bg-BG" sz="1000" dirty="0"/>
              <a:t>Показване на наличности</a:t>
            </a:r>
            <a:br>
              <a:rPr lang="bg-BG" sz="1000" dirty="0"/>
            </a:br>
            <a:r>
              <a:rPr lang="bg-BG" sz="1000" dirty="0"/>
              <a:t>            </a:t>
            </a:r>
            <a:r>
              <a:rPr lang="en-US" sz="1000" dirty="0" err="1"/>
              <a:t>Console.WriteLine</a:t>
            </a:r>
            <a:r>
              <a:rPr lang="en-US" sz="1000" dirty="0"/>
              <a:t>("\n</a:t>
            </a:r>
            <a:r>
              <a:rPr lang="bg-BG" sz="1000" dirty="0"/>
              <a:t>Налични продукти:");</a:t>
            </a:r>
            <a:br>
              <a:rPr lang="bg-BG" sz="1000" dirty="0"/>
            </a:br>
            <a:r>
              <a:rPr lang="bg-BG" sz="1000" dirty="0"/>
              <a:t>            </a:t>
            </a:r>
            <a:r>
              <a:rPr lang="en-US" sz="1000" dirty="0" err="1"/>
              <a:t>foreach</a:t>
            </a:r>
            <a:r>
              <a:rPr lang="en-US" sz="1000" dirty="0"/>
              <a:t> (</a:t>
            </a:r>
            <a:r>
              <a:rPr lang="en-US" sz="1000" dirty="0" err="1"/>
              <a:t>var</a:t>
            </a:r>
            <a:r>
              <a:rPr lang="en-US" sz="1000" dirty="0"/>
              <a:t> item in products)</a:t>
            </a:r>
            <a:br>
              <a:rPr lang="en-US" sz="1000" dirty="0"/>
            </a:br>
            <a:r>
              <a:rPr lang="en-US" sz="1000" dirty="0"/>
              <a:t>            {</a:t>
            </a:r>
            <a:br>
              <a:rPr lang="en-US" sz="1000" dirty="0"/>
            </a:br>
            <a:r>
              <a:rPr lang="en-US" sz="1000" dirty="0"/>
              <a:t>                </a:t>
            </a:r>
            <a:r>
              <a:rPr lang="en-US" sz="1000" dirty="0" err="1"/>
              <a:t>Console.WriteLine</a:t>
            </a:r>
            <a:r>
              <a:rPr lang="en-US" sz="1000" dirty="0"/>
              <a:t>($"- {</a:t>
            </a:r>
            <a:r>
              <a:rPr lang="en-US" sz="1000" dirty="0" err="1"/>
              <a:t>item.Key</a:t>
            </a:r>
            <a:r>
              <a:rPr lang="en-US" sz="1000" dirty="0"/>
              <a:t>}: {</a:t>
            </a:r>
            <a:r>
              <a:rPr lang="en-US" sz="1000" dirty="0" err="1"/>
              <a:t>item.Value</a:t>
            </a:r>
            <a:r>
              <a:rPr lang="en-US" sz="1000" dirty="0"/>
              <a:t>} </a:t>
            </a:r>
            <a:r>
              <a:rPr lang="bg-BG" sz="1000" dirty="0"/>
              <a:t>бр.");</a:t>
            </a:r>
            <a:br>
              <a:rPr lang="bg-BG" sz="1000" dirty="0"/>
            </a:br>
            <a:r>
              <a:rPr lang="bg-BG" sz="1000" dirty="0"/>
              <a:t>            }</a:t>
            </a:r>
            <a:br>
              <a:rPr lang="bg-BG" sz="10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1000" dirty="0"/>
              <a:t>            </a:t>
            </a:r>
            <a:r>
              <a:rPr lang="en-US" sz="1000" dirty="0" err="1"/>
              <a:t>Console.Write</a:t>
            </a:r>
            <a:r>
              <a:rPr lang="en-US" sz="1000" dirty="0"/>
              <a:t>("\n</a:t>
            </a:r>
            <a:r>
              <a:rPr lang="bg-BG" sz="1000" dirty="0"/>
              <a:t>Кой продукт искате да купите? (или 'изход' за затваряне): ");</a:t>
            </a:r>
            <a:br>
              <a:rPr lang="bg-BG" sz="1000" dirty="0"/>
            </a:br>
            <a:r>
              <a:rPr lang="bg-BG" sz="1000" dirty="0"/>
              <a:t>            </a:t>
            </a:r>
            <a:r>
              <a:rPr lang="en-US" sz="1000" dirty="0"/>
              <a:t>string choice = </a:t>
            </a:r>
            <a:r>
              <a:rPr lang="en-US" sz="1000" dirty="0" err="1"/>
              <a:t>Console.ReadLine</a:t>
            </a:r>
            <a:r>
              <a:rPr lang="en-US" sz="1000" dirty="0"/>
              <a:t>();</a:t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            if (</a:t>
            </a:r>
            <a:r>
              <a:rPr lang="en-US" sz="1000" dirty="0" err="1"/>
              <a:t>choice.ToLower</a:t>
            </a:r>
            <a:r>
              <a:rPr lang="en-US" sz="1000" dirty="0"/>
              <a:t>() == "</a:t>
            </a:r>
            <a:r>
              <a:rPr lang="bg-BG" sz="1000" dirty="0"/>
              <a:t>изход")</a:t>
            </a:r>
            <a:br>
              <a:rPr lang="bg-BG" sz="1000" dirty="0"/>
            </a:br>
            <a:r>
              <a:rPr lang="bg-BG" sz="1000" dirty="0"/>
              <a:t>            {</a:t>
            </a:r>
            <a:br>
              <a:rPr lang="bg-BG" sz="1000" dirty="0"/>
            </a:br>
            <a:r>
              <a:rPr lang="bg-BG" sz="1000" dirty="0"/>
              <a:t>                </a:t>
            </a:r>
            <a:r>
              <a:rPr lang="en-US" sz="1000" dirty="0" err="1"/>
              <a:t>Console.WriteLine</a:t>
            </a:r>
            <a:r>
              <a:rPr lang="en-US" sz="1000" dirty="0"/>
              <a:t>("</a:t>
            </a:r>
            <a:r>
              <a:rPr lang="bg-BG" sz="1000" dirty="0"/>
              <a:t>Благодарим за пазаруването! Магазинът затваря.");</a:t>
            </a:r>
            <a:br>
              <a:rPr lang="bg-BG" sz="1000" dirty="0"/>
            </a:br>
            <a:r>
              <a:rPr lang="bg-BG" sz="1000" dirty="0"/>
              <a:t>                </a:t>
            </a:r>
            <a:r>
              <a:rPr lang="en-US" sz="1000" dirty="0"/>
              <a:t>break;</a:t>
            </a:r>
            <a:br>
              <a:rPr lang="en-US" sz="1000" dirty="0"/>
            </a:br>
            <a:r>
              <a:rPr lang="en-US" sz="1000" dirty="0"/>
              <a:t>            }</a:t>
            </a:r>
            <a:br>
              <a:rPr lang="en-US" sz="10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            // </a:t>
            </a:r>
            <a:r>
              <a:rPr lang="bg-BG" sz="1000" dirty="0"/>
              <a:t>Проверка дали продуктът съществува</a:t>
            </a:r>
            <a:br>
              <a:rPr lang="bg-BG" sz="1000" dirty="0"/>
            </a:br>
            <a:r>
              <a:rPr lang="bg-BG" sz="1000" dirty="0"/>
              <a:t>            </a:t>
            </a:r>
            <a:r>
              <a:rPr lang="en-US" sz="1000" dirty="0"/>
              <a:t>if (</a:t>
            </a:r>
            <a:r>
              <a:rPr lang="en-US" sz="1000" dirty="0" err="1"/>
              <a:t>products.ContainsKey</a:t>
            </a:r>
            <a:r>
              <a:rPr lang="en-US" sz="1000" dirty="0"/>
              <a:t>(choice))</a:t>
            </a:r>
            <a:br>
              <a:rPr lang="en-US" sz="1000" dirty="0"/>
            </a:br>
            <a:r>
              <a:rPr lang="en-US" sz="1000" dirty="0"/>
              <a:t>            {</a:t>
            </a:r>
            <a:br>
              <a:rPr lang="en-US" sz="1000" dirty="0"/>
            </a:br>
            <a:r>
              <a:rPr lang="en-US" sz="1000" dirty="0"/>
              <a:t>                if (products[choice] &gt; 0)</a:t>
            </a:r>
            <a:br>
              <a:rPr lang="en-US" sz="1000" dirty="0"/>
            </a:br>
            <a:r>
              <a:rPr lang="en-US" sz="1000" dirty="0"/>
              <a:t>                {</a:t>
            </a:r>
            <a:br>
              <a:rPr lang="en-US" sz="1000" dirty="0"/>
            </a:br>
            <a:r>
              <a:rPr lang="en-US" sz="1000" dirty="0"/>
              <a:t>                    products[choice]--;</a:t>
            </a:r>
            <a:br>
              <a:rPr lang="en-US" sz="1000" dirty="0"/>
            </a:br>
            <a:r>
              <a:rPr lang="en-US" sz="1000" dirty="0"/>
              <a:t>                    </a:t>
            </a:r>
            <a:r>
              <a:rPr lang="en-US" sz="1000" dirty="0" err="1"/>
              <a:t>Console.WriteLine</a:t>
            </a:r>
            <a:r>
              <a:rPr lang="en-US" sz="1000" dirty="0"/>
              <a:t>($"</a:t>
            </a:r>
            <a:r>
              <a:rPr lang="bg-BG" sz="1000" dirty="0"/>
              <a:t>Купихте {</a:t>
            </a:r>
            <a:r>
              <a:rPr lang="en-US" sz="1000" dirty="0"/>
              <a:t>choice}.");</a:t>
            </a:r>
            <a:br>
              <a:rPr lang="en-US" sz="1000" dirty="0"/>
            </a:br>
            <a:r>
              <a:rPr lang="en-US" sz="1000" dirty="0"/>
              <a:t>                }</a:t>
            </a:r>
            <a:br>
              <a:rPr lang="en-US" sz="1000" dirty="0"/>
            </a:br>
            <a:r>
              <a:rPr lang="en-US" sz="1000" dirty="0"/>
              <a:t>                else</a:t>
            </a:r>
            <a:br>
              <a:rPr lang="en-US" sz="1000" dirty="0"/>
            </a:br>
            <a:r>
              <a:rPr lang="en-US" sz="1000" dirty="0"/>
              <a:t>                {</a:t>
            </a:r>
            <a:br>
              <a:rPr lang="en-US" sz="1000" dirty="0"/>
            </a:br>
            <a:r>
              <a:rPr lang="en-US" sz="1000" dirty="0"/>
              <a:t>                    </a:t>
            </a:r>
            <a:r>
              <a:rPr lang="en-US" sz="1000" dirty="0" err="1"/>
              <a:t>Console.WriteLine</a:t>
            </a:r>
            <a:r>
              <a:rPr lang="en-US" sz="1000" dirty="0"/>
              <a:t>($"{choice} </a:t>
            </a:r>
            <a:r>
              <a:rPr lang="bg-BG" sz="1000" dirty="0"/>
              <a:t>е изчерпан!");</a:t>
            </a:r>
            <a:br>
              <a:rPr lang="bg-BG" sz="1000" dirty="0"/>
            </a:br>
            <a:r>
              <a:rPr lang="bg-BG" sz="1000" dirty="0"/>
              <a:t>                }</a:t>
            </a:r>
            <a:br>
              <a:rPr lang="bg-BG" sz="1000" dirty="0"/>
            </a:br>
            <a:r>
              <a:rPr lang="bg-BG" sz="1000" dirty="0"/>
              <a:t>            }</a:t>
            </a:r>
            <a:br>
              <a:rPr lang="bg-BG" sz="1000" dirty="0"/>
            </a:br>
            <a:r>
              <a:rPr lang="bg-BG" sz="1000" dirty="0"/>
              <a:t>            </a:t>
            </a:r>
            <a:r>
              <a:rPr lang="en-US" sz="1000" dirty="0"/>
              <a:t>else</a:t>
            </a:r>
            <a:br>
              <a:rPr lang="en-US" sz="1000" dirty="0"/>
            </a:br>
            <a:r>
              <a:rPr lang="en-US" sz="1000" dirty="0"/>
              <a:t>            {</a:t>
            </a:r>
            <a:br>
              <a:rPr lang="en-US" sz="1000" dirty="0"/>
            </a:br>
            <a:r>
              <a:rPr lang="en-US" sz="1000" dirty="0"/>
              <a:t>                </a:t>
            </a:r>
            <a:r>
              <a:rPr lang="en-US" sz="1000" dirty="0" err="1"/>
              <a:t>Console.WriteLine</a:t>
            </a:r>
            <a:r>
              <a:rPr lang="en-US" sz="1000" dirty="0"/>
              <a:t>("</a:t>
            </a:r>
            <a:r>
              <a:rPr lang="bg-BG" sz="1000" dirty="0"/>
              <a:t>Няма такъв продукт в магазина.");</a:t>
            </a:r>
            <a:br>
              <a:rPr lang="bg-BG" sz="1000" dirty="0"/>
            </a:br>
            <a:r>
              <a:rPr lang="bg-BG" sz="1000" dirty="0"/>
              <a:t>            }</a:t>
            </a:r>
            <a:br>
              <a:rPr lang="bg-BG" sz="1000" dirty="0"/>
            </a:br>
            <a:r>
              <a:rPr lang="bg-BG" sz="1000" dirty="0"/>
              <a:t>        }</a:t>
            </a:r>
            <a:br>
              <a:rPr lang="bg-BG" sz="1000" dirty="0"/>
            </a:br>
            <a:r>
              <a:rPr lang="bg-BG" sz="1000" dirty="0"/>
              <a:t>    }</a:t>
            </a:r>
            <a:br>
              <a:rPr lang="bg-BG" sz="1000" dirty="0"/>
            </a:br>
            <a:r>
              <a:rPr lang="bg-BG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248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6105" y="2679589"/>
            <a:ext cx="10654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 smtClean="0"/>
              <a:t>БЛАГОДАРЯ ЗА ВНИМАНИЕТО!</a:t>
            </a:r>
            <a:endParaRPr lang="bg-BG" sz="6000" dirty="0"/>
          </a:p>
        </p:txBody>
      </p:sp>
    </p:spTree>
    <p:extLst>
      <p:ext uri="{BB962C8B-B14F-4D97-AF65-F5344CB8AC3E}">
        <p14:creationId xmlns:p14="http://schemas.microsoft.com/office/powerpoint/2010/main" val="203570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1495</TotalTime>
  <Words>979</Words>
  <Application>Microsoft Office PowerPoint</Application>
  <PresentationFormat>Widescreen</PresentationFormat>
  <Paragraphs>98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Статични методи</vt:lpstr>
      <vt:lpstr>Съдържание</vt:lpstr>
      <vt:lpstr>Статични методи</vt:lpstr>
      <vt:lpstr>Задача: Аритметични действия</vt:lpstr>
      <vt:lpstr>Решение: Аритметични действия</vt:lpstr>
      <vt:lpstr>Задача: Да се напише програма на C#, която: Чете от конзолата две цели числа, въведени от потребителя. Изчислява и извежда на екрана: сбора на двете числа, произведението на двете числа. За целта: Създайте клас Arithmetics, който съдържа два статични метода: Add(int a, int b) – връща сбора на двете числа. Multiply(int a, int b) – връща произведението на двете числа. В основния клас Program в метода Main прочетете въведените числа, извикайте методите на класа Arithmetics и изведете резултатите. </vt:lpstr>
      <vt:lpstr>class Program {     static void Main(string[] args)     {         Console.Write("Въведи първото число: ");         int a = int.Parse(Console.ReadLine());          Console.Write("Въведи второто число: ");         int b = int.Parse(Console.ReadLine());          int sum = Arithmetics.Add(a, b);         Console.WriteLine("Сборът е: " + sum);          int product = Arithmetics.Multiply(a, b);         Console.WriteLine("Произведението е: " + product);     } }  class Arithmetics {     public static int Add(int a, int b)     {         return a + b;     }      public static int Multiply(int a, int b)     {         return a * b;     } } </vt:lpstr>
      <vt:lpstr>Статични класове</vt:lpstr>
      <vt:lpstr>Статични конструктори</vt:lpstr>
      <vt:lpstr>Задача: Заявка за корен</vt:lpstr>
      <vt:lpstr>Решение: Заявка за корен</vt:lpstr>
      <vt:lpstr>Задача Напишете програма на C#, която: Създава статичен клас SquareRootPrecalculator, в който се изчисляват и запазват квадратните корени на всички цели числа от 0 до 1000 в статичен масив. Класът трябва да съдържа метод GetSqrt(int value), който връща квадратния корен на подадено число. Ако числото е извън интервала [0..1000], да се хвърля изключение. В основния клас Program да се демонстрира работата на метода, като се изведат квадратните корени на няколко примерни числа (например 9 и 100). </vt:lpstr>
      <vt:lpstr>public static class SquareRootPrecalculator {     public const int MaxValue = 1000;     private static readonly double[] sqrtValues;      static SquareRootPrecalculator()     {         sqrtValues = new double[MaxValue + 1];         for (int i = 0; i &lt;= MaxValue; i++)             sqrtValues[i] = Math.Sqrt(i);     }      public static double GetSqrt(int value)     {         if (value &lt; 0 || value &gt; MaxValue)             throw new ArgumentOutOfRangeException(nameof(value));         return sqrtValues[value];     } }  class Program {     static void Main(string[] args)     {         Console.WriteLine(SquareRootPrecalculator.GetSqrt(9));   // ще изведе 3         Console.WriteLine(SquareRootPrecalculator.GetSqrt(100)); // ще изведе 10     } }</vt:lpstr>
      <vt:lpstr>PowerPoint Presentation</vt:lpstr>
      <vt:lpstr>PowerPoint Presentation</vt:lpstr>
      <vt:lpstr>Какво научихме?</vt:lpstr>
      <vt:lpstr>PowerPoint Presentation</vt:lpstr>
      <vt:lpstr>PowerPoint Presentation</vt:lpstr>
      <vt:lpstr>using System; using System.Collections.Generic; using System.Linq;  class Program {     static void Main()     {         Dictionary&lt;string, int&gt; products = new Dictionary&lt;string, int&gt;()         {             { "Хляб", 5 },             { "Мляко", 3 },             { "Ябълки", 4 }         };          Console.WriteLine("Добре дошли в магазина!");          while (true)         {             // Проверка дали има наличности             if (products.Values.All(qty =&gt; qty == 0))             {                 Console.WriteLine("Няма повече наличности. Магазинът затваря.");                 break;             }              // Показване на наличности             Console.WriteLine("\nНалични продукти:");             foreach (var item in products)             {                 Console.WriteLine($"- {item.Key}: {item.Value} бр.");             }              Console.Write("\nКой продукт искате да купите? (или 'изход' за затваряне): ");             string choice = Console.ReadLine();              if (choice.ToLower() == "изход")             {                 Console.WriteLine("Благодарим за пазаруването! Магазинът затваря.");                 break;             }              // Проверка дали продуктът съществува             if (products.ContainsKey(choice))             {                 if (products[choice] &gt; 0)                 {                     products[choice]--;                     Console.WriteLine($"Купихте {choice}.");                 }                 else                 {                     Console.WriteLine($"{choice} е изчерпан!");                 }             }             else             {                 Console.WriteLine("Няма такъв продукт в магазина.");             }         }     } }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22</cp:revision>
  <dcterms:created xsi:type="dcterms:W3CDTF">2022-08-09T09:25:46Z</dcterms:created>
  <dcterms:modified xsi:type="dcterms:W3CDTF">2025-10-06T18:16:00Z</dcterms:modified>
</cp:coreProperties>
</file>