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58" r:id="rId2"/>
    <p:sldId id="571" r:id="rId3"/>
    <p:sldId id="578" r:id="rId4"/>
    <p:sldId id="589" r:id="rId5"/>
    <p:sldId id="591" r:id="rId6"/>
    <p:sldId id="592" r:id="rId7"/>
    <p:sldId id="593" r:id="rId8"/>
    <p:sldId id="594" r:id="rId9"/>
    <p:sldId id="595" r:id="rId10"/>
    <p:sldId id="486" r:id="rId11"/>
    <p:sldId id="57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</p14:sldIdLst>
        </p14:section>
        <p14:section name="Съдържание" id="{0B0C01F3-1F60-4ADB-AC1E-9589654EAEF3}">
          <p14:sldIdLst>
            <p14:sldId id="571"/>
            <p14:sldId id="578"/>
            <p14:sldId id="589"/>
            <p14:sldId id="591"/>
            <p14:sldId id="592"/>
            <p14:sldId id="593"/>
            <p14:sldId id="594"/>
            <p14:sldId id="595"/>
            <p14:sldId id="486"/>
          </p14:sldIdLst>
        </p14:section>
        <p14:section name="Заключение" id="{9315BEE7-605C-4839-996A-A4EEA70921D9}">
          <p14:sldIdLst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92" d="100"/>
          <a:sy n="92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7DE92751-F91C-4761-B543-0073BCCF9D6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546002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FC6EA937-C86C-4DAE-8BF5-E1117CB0458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194334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2AB6A9C9-48B5-4CE7-81E2-4BBB19E716E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187019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fld id="{7BE65B3B-E6E2-4525-8F2E-49AC8F612DB9}" type="slidenum">
              <a:rPr lang="en-US"/>
              <a:t>10</a:t>
            </a:fld>
            <a:r>
              <a:rPr lang="en-US" dirty="0"/>
              <a:t>##</a:t>
            </a:r>
          </a:p>
        </p:txBody>
      </p:sp>
      <p:sp>
        <p:nvSpPr>
          <p:cNvPr id="435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BC54A397-AD62-4423-AA0B-8B6521DE313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197165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14.9.2022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Методи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ru-RU" dirty="0" err="1">
                <a:latin typeface="Comfortaa" pitchFamily="2" charset="0"/>
              </a:rPr>
              <a:t>Описване</a:t>
            </a:r>
            <a:r>
              <a:rPr lang="ru-RU" dirty="0">
                <a:latin typeface="Comfortaa" pitchFamily="2" charset="0"/>
              </a:rPr>
              <a:t> на </a:t>
            </a:r>
            <a:r>
              <a:rPr lang="ru-RU" dirty="0" err="1">
                <a:latin typeface="Comfortaa" pitchFamily="2" charset="0"/>
              </a:rPr>
              <a:t>поведението</a:t>
            </a:r>
            <a:r>
              <a:rPr lang="ru-RU" dirty="0">
                <a:latin typeface="Comfortaa" pitchFamily="2" charset="0"/>
              </a:rPr>
              <a:t> на </a:t>
            </a:r>
            <a:r>
              <a:rPr lang="ru-RU" dirty="0" err="1">
                <a:latin typeface="Comfortaa" pitchFamily="2" charset="0"/>
              </a:rPr>
              <a:t>класа</a:t>
            </a:r>
            <a:endParaRPr lang="ru-RU" dirty="0">
              <a:latin typeface="Comfortaa" pitchFamily="2" charset="0"/>
            </a:endParaRPr>
          </a:p>
          <a:p>
            <a:endParaRPr lang="ru-RU" dirty="0">
              <a:latin typeface="Comfortaa" pitchFamily="2" charset="0"/>
            </a:endParaRPr>
          </a:p>
          <a:p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12803" y="753874"/>
            <a:ext cx="10171199" cy="111078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14401" y="1905001"/>
            <a:ext cx="10171199" cy="4142533"/>
          </a:xfrm>
        </p:spPr>
        <p:txBody>
          <a:bodyPr>
            <a:normAutofit/>
          </a:bodyPr>
          <a:lstStyle/>
          <a:p>
            <a:pPr marL="443230" indent="-443230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bg-BG" dirty="0">
                <a:latin typeface="Comfortaa" pitchFamily="2" charset="0"/>
              </a:rPr>
              <a:t>Методи</a:t>
            </a:r>
            <a:endParaRPr lang="en-US" dirty="0">
              <a:latin typeface="Comfortaa" pitchFamily="2" charset="0"/>
            </a:endParaRPr>
          </a:p>
          <a:p>
            <a:pPr marL="443230" indent="-443230">
              <a:lnSpc>
                <a:spcPct val="100000"/>
              </a:lnSpc>
              <a:spcBef>
                <a:spcPts val="500"/>
              </a:spcBef>
              <a:buFontTx/>
              <a:buAutoNum type="arabicPeriod"/>
            </a:pPr>
            <a:r>
              <a:rPr lang="en-US" dirty="0">
                <a:latin typeface="Comfortaa" pitchFamily="2" charset="0"/>
              </a:rPr>
              <a:t>Getter </a:t>
            </a:r>
            <a:r>
              <a:rPr lang="bg-BG" dirty="0">
                <a:latin typeface="Comfortaa" pitchFamily="2" charset="0"/>
              </a:rPr>
              <a:t>и </a:t>
            </a:r>
            <a:r>
              <a:rPr lang="en-US" dirty="0">
                <a:latin typeface="Comfortaa" pitchFamily="2" charset="0"/>
              </a:rPr>
              <a:t>Setter </a:t>
            </a:r>
            <a:r>
              <a:rPr lang="bg-BG" dirty="0">
                <a:latin typeface="Comfortaa" pitchFamily="2" charset="0"/>
              </a:rPr>
              <a:t>методи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464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453" y="1465996"/>
            <a:ext cx="10515600" cy="172983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Клас се дефинира чрез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състояние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поведение</a:t>
            </a:r>
          </a:p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Полетата</a:t>
            </a:r>
            <a:r>
              <a:rPr lang="en-GB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съхраняват състоянието</a:t>
            </a:r>
            <a:endParaRPr lang="en-GB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Методите</a:t>
            </a:r>
            <a:r>
              <a:rPr lang="en-GB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описват поведението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Елементи на класа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Text Placeholder 5"/>
          <p:cNvSpPr txBox="1"/>
          <p:nvPr/>
        </p:nvSpPr>
        <p:spPr>
          <a:xfrm>
            <a:off x="850863" y="3300740"/>
            <a:ext cx="10693778" cy="310006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3200" b="0"/>
            </a:lvl2pPr>
            <a:lvl3pPr marL="9144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charset="2"/>
              <a:buChar char="§"/>
              <a:defRPr sz="3000" b="0"/>
            </a:lvl3pPr>
            <a:lvl4pPr marL="12192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charset="2"/>
              <a:buChar char="§"/>
              <a:defRPr sz="2800" b="0"/>
            </a:lvl4pPr>
            <a:lvl5pPr marL="15240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charset="2"/>
              <a:buChar char="§"/>
              <a:defRPr sz="2600" b="0"/>
            </a:lvl5pPr>
            <a:lvl6pPr marL="18281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6pPr>
            <a:lvl7pPr marL="21329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7pPr>
            <a:lvl8pPr marL="24377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8pPr>
            <a:lvl9pPr marL="27425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9pPr>
          </a:lstStyle>
          <a:p>
            <a:r>
              <a:rPr lang="en-US" sz="3200" dirty="0">
                <a:solidFill>
                  <a:schemeClr val="bg1"/>
                </a:solidFill>
                <a:effectLst/>
              </a:rPr>
              <a:t>class Dice {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  int sides;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  string type;</a:t>
            </a:r>
          </a:p>
          <a:p>
            <a:endParaRPr lang="en-US" sz="3200" dirty="0">
              <a:solidFill>
                <a:schemeClr val="bg1"/>
              </a:solidFill>
              <a:effectLst/>
            </a:endParaRP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  void Roll(){ … }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}</a:t>
            </a: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4979375" y="3864203"/>
            <a:ext cx="1997755" cy="707148"/>
          </a:xfrm>
          <a:prstGeom prst="wedgeRoundRectCallout">
            <a:avLst>
              <a:gd name="adj1" fmla="val -85438"/>
              <a:gd name="adj2" fmla="val 29845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sz="2800" dirty="0">
                <a:solidFill>
                  <a:srgbClr val="FFFFFF"/>
                </a:solidFill>
                <a:latin typeface="Comfortaa" pitchFamily="2" charset="0"/>
              </a:rPr>
              <a:t>Полета</a:t>
            </a:r>
            <a:endParaRPr lang="en-US" sz="2800" b="1" noProof="1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10" name="AutoShape 6"/>
          <p:cNvSpPr>
            <a:spLocks noChangeArrowheads="1"/>
          </p:cNvSpPr>
          <p:nvPr/>
        </p:nvSpPr>
        <p:spPr bwMode="auto">
          <a:xfrm>
            <a:off x="5699434" y="5474255"/>
            <a:ext cx="2092886" cy="707148"/>
          </a:xfrm>
          <a:prstGeom prst="wedgeRoundRectCallout">
            <a:avLst>
              <a:gd name="adj1" fmla="val -76698"/>
              <a:gd name="adj2" fmla="val -27256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sz="2800" dirty="0">
                <a:solidFill>
                  <a:srgbClr val="FFFFFF"/>
                </a:solidFill>
                <a:latin typeface="Comfortaa" pitchFamily="2" charset="0"/>
              </a:rPr>
              <a:t>Метод</a:t>
            </a:r>
            <a:endParaRPr lang="en-US" sz="2800" b="1" noProof="1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249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320" y="1301192"/>
            <a:ext cx="11466599" cy="5097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sz="2400" dirty="0">
                <a:latin typeface="Comfortaa" pitchFamily="2" charset="0"/>
              </a:rPr>
              <a:t>Те са изпълним код</a:t>
            </a:r>
            <a:r>
              <a:rPr lang="en-US" sz="2400" dirty="0">
                <a:latin typeface="Comfortaa" pitchFamily="2" charset="0"/>
              </a:rPr>
              <a:t> (</a:t>
            </a:r>
            <a:r>
              <a:rPr lang="bg-BG" sz="2400" dirty="0">
                <a:latin typeface="Comfortaa" pitchFamily="2" charset="0"/>
              </a:rPr>
              <a:t>алгоритъм</a:t>
            </a:r>
            <a:r>
              <a:rPr lang="en-US" sz="2400" dirty="0">
                <a:latin typeface="Comfortaa" pitchFamily="2" charset="0"/>
              </a:rPr>
              <a:t>)</a:t>
            </a:r>
            <a:r>
              <a:rPr lang="bg-BG" sz="2400" dirty="0">
                <a:latin typeface="Comfortaa" pitchFamily="2" charset="0"/>
              </a:rPr>
              <a:t>, който променя състоянието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9619" y="422163"/>
            <a:ext cx="10568049" cy="946264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Методи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Text Placeholder 5"/>
          <p:cNvSpPr txBox="1"/>
          <p:nvPr/>
        </p:nvSpPr>
        <p:spPr>
          <a:xfrm>
            <a:off x="345007" y="1891001"/>
            <a:ext cx="11501986" cy="457738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3200" b="0"/>
            </a:lvl2pPr>
            <a:lvl3pPr marL="9144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charset="2"/>
              <a:buChar char="§"/>
              <a:defRPr sz="3000" b="0"/>
            </a:lvl3pPr>
            <a:lvl4pPr marL="12192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charset="2"/>
              <a:buChar char="§"/>
              <a:defRPr sz="2800" b="0"/>
            </a:lvl4pPr>
            <a:lvl5pPr marL="15240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charset="2"/>
              <a:buChar char="§"/>
              <a:defRPr sz="2600" b="0"/>
            </a:lvl5pPr>
            <a:lvl6pPr marL="18281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6pPr>
            <a:lvl7pPr marL="21329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7pPr>
            <a:lvl8pPr marL="24377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8pPr>
            <a:lvl9pPr marL="27425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9pPr>
          </a:lstStyle>
          <a:p>
            <a:r>
              <a:rPr lang="en-US" sz="3200" dirty="0">
                <a:solidFill>
                  <a:schemeClr val="bg1"/>
                </a:solidFill>
                <a:effectLst/>
              </a:rPr>
              <a:t>class Dice {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  public int sides;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  private Random rnd = new Random();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  </a:t>
            </a:r>
            <a:r>
              <a:rPr lang="en-US" sz="3200" dirty="0">
                <a:solidFill>
                  <a:srgbClr val="00B0F0"/>
                </a:solidFill>
                <a:effectLst/>
              </a:rPr>
              <a:t>public int Roll()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  {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     int rollResult = rnd.Next(1, </a:t>
            </a:r>
            <a:r>
              <a:rPr lang="en-US" sz="3200" dirty="0">
                <a:solidFill>
                  <a:srgbClr val="00B0F0"/>
                </a:solidFill>
                <a:effectLst/>
              </a:rPr>
              <a:t>this</a:t>
            </a:r>
            <a:r>
              <a:rPr lang="en-US" sz="3200" dirty="0">
                <a:solidFill>
                  <a:schemeClr val="bg1"/>
                </a:solidFill>
                <a:effectLst/>
              </a:rPr>
              <a:t>.sides + 1); 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     return rollResult;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  }</a:t>
            </a:r>
          </a:p>
          <a:p>
            <a:r>
              <a:rPr lang="en-US" sz="3200" dirty="0">
                <a:solidFill>
                  <a:schemeClr val="bg1"/>
                </a:solidFill>
                <a:effectLst/>
              </a:rPr>
              <a:t>}</a:t>
            </a: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auto">
          <a:xfrm>
            <a:off x="8879407" y="2966671"/>
            <a:ext cx="2743200" cy="1139519"/>
          </a:xfrm>
          <a:prstGeom prst="wedgeRoundRectCallout">
            <a:avLst>
              <a:gd name="adj1" fmla="val -67518"/>
              <a:gd name="adj2" fmla="val 67086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GB" sz="2000" b="1" noProof="1">
                <a:solidFill>
                  <a:schemeClr val="bg1"/>
                </a:solidFill>
                <a:latin typeface="Comfortaa" pitchFamily="2" charset="0"/>
              </a:rPr>
              <a:t>this</a:t>
            </a:r>
            <a:r>
              <a:rPr lang="en-GB" sz="2000" noProof="1">
                <a:solidFill>
                  <a:schemeClr val="bg1"/>
                </a:solidFill>
                <a:latin typeface="Comfortaa" pitchFamily="2" charset="0"/>
              </a:rPr>
              <a:t> </a:t>
            </a:r>
            <a:r>
              <a:rPr lang="bg-BG" sz="2000" noProof="1">
                <a:solidFill>
                  <a:schemeClr val="bg1"/>
                </a:solidFill>
                <a:latin typeface="Comfortaa" pitchFamily="2" charset="0"/>
              </a:rPr>
              <a:t>сочи към тази инстанция</a:t>
            </a:r>
            <a:endParaRPr lang="en-US" sz="2000" noProof="1">
              <a:solidFill>
                <a:schemeClr val="bg1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774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4017"/>
            <a:ext cx="9444825" cy="764261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bg-BG" dirty="0">
                <a:latin typeface="Comfortaa" pitchFamily="2" charset="0"/>
              </a:rPr>
              <a:t>Създайте клас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BankAccount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>
                <a:latin typeface="Comfortaa" pitchFamily="2" charset="0"/>
              </a:rPr>
              <a:t>Задача</a:t>
            </a:r>
            <a:r>
              <a:rPr lang="en-US" dirty="0">
                <a:latin typeface="Comfortaa" pitchFamily="2" charset="0"/>
              </a:rPr>
              <a:t>: Getter</a:t>
            </a:r>
            <a:r>
              <a:rPr lang="bg-BG" dirty="0">
                <a:latin typeface="Comfortaa" pitchFamily="2" charset="0"/>
              </a:rPr>
              <a:t>-и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</a:t>
            </a:r>
            <a:r>
              <a:rPr lang="en-US" dirty="0">
                <a:latin typeface="Comfortaa" pitchFamily="2" charset="0"/>
              </a:rPr>
              <a:t> Setter</a:t>
            </a:r>
            <a:r>
              <a:rPr lang="bg-BG" dirty="0">
                <a:latin typeface="Comfortaa" pitchFamily="2" charset="0"/>
              </a:rPr>
              <a:t>-и</a:t>
            </a:r>
            <a:endParaRPr lang="en-US" dirty="0">
              <a:latin typeface="Comfortaa" pitchFamily="2" charset="0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980206" y="2292929"/>
            <a:ext cx="5115794" cy="3286736"/>
            <a:chOff x="-306388" y="2077297"/>
            <a:chExt cx="3137848" cy="3286736"/>
          </a:xfrm>
        </p:grpSpPr>
        <p:sp>
          <p:nvSpPr>
            <p:cNvPr id="25" name="Rectangle 3"/>
            <p:cNvSpPr>
              <a:spLocks noChangeArrowheads="1"/>
            </p:cNvSpPr>
            <p:nvPr/>
          </p:nvSpPr>
          <p:spPr bwMode="auto">
            <a:xfrm>
              <a:off x="-306388" y="2077297"/>
              <a:ext cx="3137848" cy="582633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108000" tIns="108000" rIns="108000" bIns="108000">
              <a:noAutofit/>
            </a:bodyPr>
            <a:lstStyle/>
            <a:p>
              <a:pPr algn="ctr"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b="1" noProof="1">
                  <a:solidFill>
                    <a:schemeClr val="bg1"/>
                  </a:solidFill>
                  <a:latin typeface="Consolas" pitchFamily="49" charset="0"/>
                </a:rPr>
                <a:t>BankAccount</a:t>
              </a:r>
              <a:endParaRPr lang="en-US" sz="1600" b="1" noProof="1">
                <a:solidFill>
                  <a:schemeClr val="bg1"/>
                </a:solidFill>
                <a:latin typeface="Consolas" pitchFamily="49" charset="0"/>
              </a:endParaRPr>
            </a:p>
          </p:txBody>
        </p:sp>
        <p:sp>
          <p:nvSpPr>
            <p:cNvPr id="26" name="Rectangle 4"/>
            <p:cNvSpPr>
              <a:spLocks noChangeArrowheads="1"/>
            </p:cNvSpPr>
            <p:nvPr/>
          </p:nvSpPr>
          <p:spPr bwMode="auto">
            <a:xfrm>
              <a:off x="-306388" y="2668032"/>
              <a:ext cx="3137848" cy="966376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108000" tIns="108000" rIns="108000" bIns="108000">
              <a:noAutofit/>
            </a:bodyPr>
            <a:lstStyle/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b="1" noProof="1">
                  <a:solidFill>
                    <a:schemeClr val="bg1"/>
                  </a:solidFill>
                  <a:latin typeface="Consolas" pitchFamily="49" charset="0"/>
                </a:rPr>
                <a:t>-id:int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b="1" noProof="1">
                  <a:solidFill>
                    <a:schemeClr val="bg1"/>
                  </a:solidFill>
                  <a:latin typeface="Consolas" pitchFamily="49" charset="0"/>
                </a:rPr>
                <a:t>-balance:double</a:t>
              </a:r>
            </a:p>
          </p:txBody>
        </p:sp>
        <p:sp>
          <p:nvSpPr>
            <p:cNvPr id="27" name="Rectangle 4"/>
            <p:cNvSpPr>
              <a:spLocks noChangeArrowheads="1"/>
            </p:cNvSpPr>
            <p:nvPr/>
          </p:nvSpPr>
          <p:spPr bwMode="auto">
            <a:xfrm>
              <a:off x="-306388" y="3642511"/>
              <a:ext cx="3137848" cy="1721522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108000" tIns="108000" rIns="108000" bIns="108000">
              <a:noAutofit/>
            </a:bodyPr>
            <a:lstStyle/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b="1" noProof="1">
                  <a:solidFill>
                    <a:schemeClr val="bg1"/>
                  </a:solidFill>
                  <a:latin typeface="Consolas" pitchFamily="49" charset="0"/>
                </a:rPr>
                <a:t>+setI:void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b="1" noProof="1">
                  <a:solidFill>
                    <a:schemeClr val="bg1"/>
                  </a:solidFill>
                  <a:latin typeface="Consolas" pitchFamily="49" charset="0"/>
                </a:rPr>
                <a:t>+Balance:double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b="1" noProof="1">
                  <a:solidFill>
                    <a:schemeClr val="bg1"/>
                  </a:solidFill>
                  <a:latin typeface="Consolas" pitchFamily="49" charset="0"/>
                </a:rPr>
                <a:t>+Deposit(double amount):void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b="1" noProof="1">
                  <a:solidFill>
                    <a:schemeClr val="bg1"/>
                  </a:solidFill>
                  <a:latin typeface="Consolas" pitchFamily="49" charset="0"/>
                </a:rPr>
                <a:t>+Withdraw(double amount):void</a:t>
              </a:r>
            </a:p>
            <a:p>
              <a:pPr eaLnBrk="0" hangingPunct="0">
                <a:lnSpc>
                  <a:spcPts val="3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endParaRPr lang="en-US" b="1" noProof="1">
                <a:solidFill>
                  <a:schemeClr val="bg1"/>
                </a:solidFill>
                <a:latin typeface="Consolas" pitchFamily="49" charset="0"/>
              </a:endParaRPr>
            </a:p>
          </p:txBody>
        </p:sp>
      </p:grpSp>
      <p:sp>
        <p:nvSpPr>
          <p:cNvPr id="31" name="AutoShape 6"/>
          <p:cNvSpPr>
            <a:spLocks noChangeArrowheads="1"/>
          </p:cNvSpPr>
          <p:nvPr/>
        </p:nvSpPr>
        <p:spPr bwMode="auto">
          <a:xfrm>
            <a:off x="1105412" y="5812653"/>
            <a:ext cx="1854572" cy="426137"/>
          </a:xfrm>
          <a:prstGeom prst="wedgeRoundRectCallout">
            <a:avLst>
              <a:gd name="adj1" fmla="val -44045"/>
              <a:gd name="adj2" fmla="val -133860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2000" noProof="1">
                <a:solidFill>
                  <a:schemeClr val="bg1"/>
                </a:solidFill>
                <a:latin typeface="Comfortaa" pitchFamily="2" charset="0"/>
              </a:rPr>
              <a:t>+ == public</a:t>
            </a:r>
          </a:p>
        </p:txBody>
      </p:sp>
      <p:sp>
        <p:nvSpPr>
          <p:cNvPr id="14" name="AutoShape 6"/>
          <p:cNvSpPr>
            <a:spLocks noChangeArrowheads="1"/>
          </p:cNvSpPr>
          <p:nvPr/>
        </p:nvSpPr>
        <p:spPr bwMode="auto">
          <a:xfrm>
            <a:off x="572013" y="2108278"/>
            <a:ext cx="1878799" cy="426137"/>
          </a:xfrm>
          <a:prstGeom prst="wedgeRoundRectCallout">
            <a:avLst>
              <a:gd name="adj1" fmla="val -21423"/>
              <a:gd name="adj2" fmla="val 161185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sz="2000" noProof="1">
                <a:solidFill>
                  <a:schemeClr val="bg1"/>
                </a:solidFill>
                <a:latin typeface="Comfortaa" pitchFamily="2" charset="0"/>
              </a:rPr>
              <a:t>- == private</a:t>
            </a:r>
          </a:p>
        </p:txBody>
      </p:sp>
      <p:sp>
        <p:nvSpPr>
          <p:cNvPr id="16" name="AutoShape 6"/>
          <p:cNvSpPr>
            <a:spLocks noChangeArrowheads="1"/>
          </p:cNvSpPr>
          <p:nvPr/>
        </p:nvSpPr>
        <p:spPr bwMode="auto">
          <a:xfrm>
            <a:off x="3788863" y="3046357"/>
            <a:ext cx="2040949" cy="426137"/>
          </a:xfrm>
          <a:prstGeom prst="wedgeRoundRectCallout">
            <a:avLst>
              <a:gd name="adj1" fmla="val -57496"/>
              <a:gd name="adj2" fmla="val 53896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sz="2000" noProof="1">
                <a:solidFill>
                  <a:schemeClr val="bg1"/>
                </a:solidFill>
                <a:latin typeface="Comfortaa" pitchFamily="2" charset="0"/>
              </a:rPr>
              <a:t>Връщан тип</a:t>
            </a:r>
            <a:endParaRPr lang="en-US" sz="2000" noProof="1">
              <a:solidFill>
                <a:schemeClr val="bg1"/>
              </a:solidFill>
              <a:latin typeface="Comfortaa" pitchFamily="2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5526" y="2686083"/>
            <a:ext cx="4468275" cy="2500428"/>
          </a:xfrm>
          <a:prstGeom prst="rect">
            <a:avLst/>
          </a:prstGeom>
        </p:spPr>
      </p:pic>
      <p:sp>
        <p:nvSpPr>
          <p:cNvPr id="17" name="AutoShape 6"/>
          <p:cNvSpPr>
            <a:spLocks noChangeArrowheads="1"/>
          </p:cNvSpPr>
          <p:nvPr/>
        </p:nvSpPr>
        <p:spPr bwMode="auto">
          <a:xfrm>
            <a:off x="8801612" y="5433885"/>
            <a:ext cx="2552188" cy="757535"/>
          </a:xfrm>
          <a:prstGeom prst="wedgeRoundRectCallout">
            <a:avLst>
              <a:gd name="adj1" fmla="val -265"/>
              <a:gd name="adj2" fmla="val -123280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sz="1400" noProof="1">
                <a:solidFill>
                  <a:schemeClr val="bg1"/>
                </a:solidFill>
                <a:latin typeface="Comfortaa" pitchFamily="2" charset="0"/>
              </a:rPr>
              <a:t>Предефинирайте</a:t>
            </a:r>
            <a:r>
              <a:rPr lang="en-GB" sz="1400" noProof="1">
                <a:solidFill>
                  <a:schemeClr val="bg1"/>
                </a:solidFill>
                <a:latin typeface="Comfortaa" pitchFamily="2" charset="0"/>
              </a:rPr>
              <a:t> </a:t>
            </a:r>
            <a:br>
              <a:rPr lang="en-GB" sz="1400" noProof="1">
                <a:solidFill>
                  <a:schemeClr val="bg1"/>
                </a:solidFill>
                <a:latin typeface="Comfortaa" pitchFamily="2" charset="0"/>
              </a:rPr>
            </a:br>
            <a:r>
              <a:rPr lang="en-GB" sz="1400" noProof="1">
                <a:solidFill>
                  <a:schemeClr val="bg1"/>
                </a:solidFill>
                <a:latin typeface="Comfortaa" pitchFamily="2" charset="0"/>
              </a:rPr>
              <a:t>toString()</a:t>
            </a:r>
            <a:endParaRPr lang="en-US" sz="1400" noProof="1">
              <a:solidFill>
                <a:schemeClr val="bg1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60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49382"/>
            <a:ext cx="11277600" cy="71845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Getter</a:t>
            </a:r>
            <a:r>
              <a:rPr lang="bg-BG" dirty="0">
                <a:latin typeface="Comfortaa" pitchFamily="2" charset="0"/>
              </a:rPr>
              <a:t>-и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</a:t>
            </a:r>
            <a:r>
              <a:rPr lang="en-US" dirty="0">
                <a:latin typeface="Comfortaa" pitchFamily="2" charset="0"/>
              </a:rPr>
              <a:t> Setter</a:t>
            </a:r>
            <a:r>
              <a:rPr lang="bg-BG" dirty="0">
                <a:latin typeface="Comfortaa" pitchFamily="2" charset="0"/>
              </a:rPr>
              <a:t>-и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Text Placeholder 5"/>
          <p:cNvSpPr txBox="1"/>
          <p:nvPr/>
        </p:nvSpPr>
        <p:spPr>
          <a:xfrm>
            <a:off x="515237" y="1012177"/>
            <a:ext cx="11219563" cy="554688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3200" b="0"/>
            </a:lvl2pPr>
            <a:lvl3pPr marL="9144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charset="2"/>
              <a:buChar char="§"/>
              <a:defRPr sz="3000" b="0"/>
            </a:lvl3pPr>
            <a:lvl4pPr marL="12192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charset="2"/>
              <a:buChar char="§"/>
              <a:defRPr sz="2800" b="0"/>
            </a:lvl4pPr>
            <a:lvl5pPr marL="15240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charset="2"/>
              <a:buChar char="§"/>
              <a:defRPr sz="2600" b="0"/>
            </a:lvl5pPr>
            <a:lvl6pPr marL="18281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6pPr>
            <a:lvl7pPr marL="21329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7pPr>
            <a:lvl8pPr marL="24377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8pPr>
            <a:lvl9pPr marL="27425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9pPr>
          </a:lstStyle>
          <a:p>
            <a:r>
              <a:rPr lang="en-GB" sz="2700" dirty="0">
                <a:solidFill>
                  <a:schemeClr val="bg1"/>
                </a:solidFill>
                <a:effectLst/>
              </a:rPr>
              <a:t>private double balance;</a:t>
            </a:r>
          </a:p>
          <a:p>
            <a:r>
              <a:rPr lang="en-GB" sz="2700" dirty="0">
                <a:solidFill>
                  <a:srgbClr val="00B0F0"/>
                </a:solidFill>
                <a:effectLst/>
              </a:rPr>
              <a:t>public void Deposit</a:t>
            </a:r>
            <a:r>
              <a:rPr lang="en-GB" sz="2700" dirty="0">
                <a:solidFill>
                  <a:schemeClr val="bg1"/>
                </a:solidFill>
                <a:effectLst/>
              </a:rPr>
              <a:t>(double amount)</a:t>
            </a:r>
          </a:p>
          <a:p>
            <a:r>
              <a:rPr lang="en-GB" sz="2700" dirty="0">
                <a:solidFill>
                  <a:schemeClr val="bg1"/>
                </a:solidFill>
                <a:effectLst/>
              </a:rPr>
              <a:t>{</a:t>
            </a:r>
          </a:p>
          <a:p>
            <a:r>
              <a:rPr lang="en-GB" sz="2700" dirty="0">
                <a:solidFill>
                  <a:schemeClr val="bg1"/>
                </a:solidFill>
                <a:effectLst/>
              </a:rPr>
              <a:t>  </a:t>
            </a:r>
            <a:r>
              <a:rPr lang="en-GB" sz="2700" dirty="0">
                <a:solidFill>
                  <a:srgbClr val="00B0F0"/>
                </a:solidFill>
                <a:effectLst/>
              </a:rPr>
              <a:t>this.balance += amount;</a:t>
            </a:r>
          </a:p>
          <a:p>
            <a:r>
              <a:rPr lang="en-GB" sz="2700" dirty="0">
                <a:solidFill>
                  <a:schemeClr val="bg1"/>
                </a:solidFill>
                <a:effectLst/>
              </a:rPr>
              <a:t>}</a:t>
            </a:r>
          </a:p>
          <a:p>
            <a:r>
              <a:rPr lang="en-GB" sz="2700" dirty="0">
                <a:solidFill>
                  <a:srgbClr val="00B0F0"/>
                </a:solidFill>
                <a:effectLst/>
              </a:rPr>
              <a:t>public void Withdraw</a:t>
            </a:r>
            <a:r>
              <a:rPr lang="en-GB" sz="2700" dirty="0">
                <a:solidFill>
                  <a:schemeClr val="bg1"/>
                </a:solidFill>
                <a:effectLst/>
              </a:rPr>
              <a:t>(double amount)</a:t>
            </a:r>
          </a:p>
          <a:p>
            <a:r>
              <a:rPr lang="en-GB" sz="2700" dirty="0">
                <a:solidFill>
                  <a:schemeClr val="bg1"/>
                </a:solidFill>
                <a:effectLst/>
              </a:rPr>
              <a:t>{</a:t>
            </a:r>
          </a:p>
          <a:p>
            <a:r>
              <a:rPr lang="en-GB" sz="2700" dirty="0">
                <a:solidFill>
                  <a:schemeClr val="bg1"/>
                </a:solidFill>
                <a:effectLst/>
              </a:rPr>
              <a:t>  </a:t>
            </a:r>
            <a:r>
              <a:rPr lang="en-GB" sz="2700" dirty="0">
                <a:solidFill>
                  <a:srgbClr val="00B0F0"/>
                </a:solidFill>
                <a:effectLst/>
              </a:rPr>
              <a:t>this.balance -= amount; </a:t>
            </a:r>
          </a:p>
          <a:p>
            <a:r>
              <a:rPr lang="en-GB" sz="2700" dirty="0">
                <a:solidFill>
                  <a:srgbClr val="00B0F0"/>
                </a:solidFill>
                <a:effectLst/>
              </a:rPr>
              <a:t>}</a:t>
            </a:r>
          </a:p>
          <a:p>
            <a:r>
              <a:rPr lang="en-GB" sz="2700" dirty="0">
                <a:solidFill>
                  <a:srgbClr val="00B0F0"/>
                </a:solidFill>
                <a:effectLst/>
              </a:rPr>
              <a:t>public override string ToString</a:t>
            </a:r>
            <a:r>
              <a:rPr lang="en-GB" sz="2700" dirty="0">
                <a:solidFill>
                  <a:schemeClr val="bg1"/>
                </a:solidFill>
                <a:effectLst/>
              </a:rPr>
              <a:t>()</a:t>
            </a:r>
          </a:p>
          <a:p>
            <a:r>
              <a:rPr lang="en-GB" sz="2700" dirty="0">
                <a:solidFill>
                  <a:schemeClr val="bg1"/>
                </a:solidFill>
                <a:effectLst/>
              </a:rPr>
              <a:t>{ </a:t>
            </a:r>
          </a:p>
          <a:p>
            <a:r>
              <a:rPr lang="en-GB" sz="2700" dirty="0">
                <a:solidFill>
                  <a:schemeClr val="bg1"/>
                </a:solidFill>
                <a:effectLst/>
              </a:rPr>
              <a:t>  return $"Account {</a:t>
            </a:r>
            <a:r>
              <a:rPr lang="en-GB" sz="2700" dirty="0">
                <a:solidFill>
                  <a:srgbClr val="00B0F0"/>
                </a:solidFill>
                <a:effectLst/>
              </a:rPr>
              <a:t>this.id</a:t>
            </a:r>
            <a:r>
              <a:rPr lang="en-GB" sz="2700" dirty="0">
                <a:solidFill>
                  <a:schemeClr val="bg1"/>
                </a:solidFill>
                <a:effectLst/>
              </a:rPr>
              <a:t>}, balance {</a:t>
            </a:r>
            <a:r>
              <a:rPr lang="en-GB" sz="2700" dirty="0">
                <a:solidFill>
                  <a:srgbClr val="00B0F0"/>
                </a:solidFill>
                <a:effectLst/>
              </a:rPr>
              <a:t>this.balance</a:t>
            </a:r>
            <a:r>
              <a:rPr lang="en-GB" sz="2700" dirty="0">
                <a:solidFill>
                  <a:schemeClr val="bg1"/>
                </a:solidFill>
                <a:effectLst/>
              </a:rPr>
              <a:t>}";</a:t>
            </a:r>
          </a:p>
          <a:p>
            <a:r>
              <a:rPr lang="en-GB" sz="2700" dirty="0">
                <a:solidFill>
                  <a:schemeClr val="bg1"/>
                </a:solidFill>
                <a:effectLst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95006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037" y="1862172"/>
            <a:ext cx="5007017" cy="430090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Създайте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тестов клиент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за тестване на класа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BankAccount</a:t>
            </a:r>
            <a:endParaRPr lang="en-US" dirty="0">
              <a:solidFill>
                <a:srgbClr val="00B0F0"/>
              </a:solidFill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Поддържани команди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Create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{Id}</a:t>
            </a:r>
          </a:p>
          <a:p>
            <a:pPr lvl="1">
              <a:lnSpc>
                <a:spcPct val="100000"/>
              </a:lnSpc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Deposit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{Id} {Amount}</a:t>
            </a:r>
          </a:p>
          <a:p>
            <a:pPr lvl="1">
              <a:lnSpc>
                <a:spcPct val="100000"/>
              </a:lnSpc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Withdraw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{Id} {Amount}</a:t>
            </a:r>
          </a:p>
          <a:p>
            <a:pPr lvl="1">
              <a:lnSpc>
                <a:spcPct val="100000"/>
              </a:lnSpc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Print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{Id}</a:t>
            </a:r>
          </a:p>
          <a:p>
            <a:pPr lvl="1">
              <a:lnSpc>
                <a:spcPct val="100000"/>
              </a:lnSpc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End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3036" y="647206"/>
            <a:ext cx="10825927" cy="936695"/>
          </a:xfrm>
        </p:spPr>
        <p:txBody>
          <a:bodyPr>
            <a:normAutofit/>
          </a:bodyPr>
          <a:lstStyle/>
          <a:p>
            <a:r>
              <a:rPr lang="bg-BG" sz="3600" b="1" dirty="0">
                <a:latin typeface="Comfortaa" pitchFamily="2" charset="0"/>
              </a:rPr>
              <a:t>Задача</a:t>
            </a:r>
            <a:r>
              <a:rPr lang="en-GB" sz="3600" b="1" dirty="0">
                <a:latin typeface="Comfortaa" pitchFamily="2" charset="0"/>
              </a:rPr>
              <a:t> </a:t>
            </a:r>
            <a:r>
              <a:rPr lang="bg-BG" sz="3600" b="1" dirty="0">
                <a:latin typeface="Comfortaa" pitchFamily="2" charset="0"/>
              </a:rPr>
              <a:t>за напреднали</a:t>
            </a:r>
            <a:r>
              <a:rPr lang="en-US" sz="3600" b="1" dirty="0">
                <a:latin typeface="Comfortaa" pitchFamily="2" charset="0"/>
              </a:rPr>
              <a:t>: </a:t>
            </a:r>
            <a:r>
              <a:rPr lang="bg-BG" sz="3600" b="1" dirty="0">
                <a:latin typeface="Comfortaa" pitchFamily="2" charset="0"/>
              </a:rPr>
              <a:t>Тестов клиент</a:t>
            </a:r>
            <a:endParaRPr lang="en-US" sz="3600" b="1" dirty="0">
              <a:latin typeface="Comfortaa" pitchFamily="2" charset="0"/>
            </a:endParaRPr>
          </a:p>
        </p:txBody>
      </p:sp>
      <p:sp>
        <p:nvSpPr>
          <p:cNvPr id="30" name="Right Arrow 7"/>
          <p:cNvSpPr/>
          <p:nvPr/>
        </p:nvSpPr>
        <p:spPr>
          <a:xfrm rot="5400000">
            <a:off x="8359310" y="4431478"/>
            <a:ext cx="525513" cy="584277"/>
          </a:xfrm>
          <a:prstGeom prst="rightArrow">
            <a:avLst/>
          </a:prstGeom>
          <a:solidFill>
            <a:srgbClr val="00B0F0"/>
          </a:solidFill>
          <a:ln>
            <a:solidFill>
              <a:schemeClr val="bg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5870164" y="1862172"/>
            <a:ext cx="5638800" cy="2640723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0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Arial" charset="0"/>
              </a:rPr>
              <a:t>Create 1</a:t>
            </a:r>
          </a:p>
          <a:p>
            <a:pPr>
              <a:lnSpc>
                <a:spcPct val="115000"/>
              </a:lnSpc>
            </a:pPr>
            <a:r>
              <a:rPr lang="en-US" sz="20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Arial" charset="0"/>
              </a:rPr>
              <a:t>Create 1</a:t>
            </a:r>
          </a:p>
          <a:p>
            <a:pPr>
              <a:lnSpc>
                <a:spcPct val="115000"/>
              </a:lnSpc>
            </a:pPr>
            <a:r>
              <a:rPr lang="en-US" sz="20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Arial" charset="0"/>
              </a:rPr>
              <a:t>Deposit 1 20</a:t>
            </a:r>
          </a:p>
          <a:p>
            <a:pPr>
              <a:lnSpc>
                <a:spcPct val="115000"/>
              </a:lnSpc>
            </a:pPr>
            <a:r>
              <a:rPr lang="en-US" sz="20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Arial" charset="0"/>
              </a:rPr>
              <a:t>Withdraw 1 30</a:t>
            </a:r>
          </a:p>
          <a:p>
            <a:pPr>
              <a:lnSpc>
                <a:spcPct val="115000"/>
              </a:lnSpc>
            </a:pPr>
            <a:r>
              <a:rPr lang="en-US" sz="20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Arial" charset="0"/>
              </a:rPr>
              <a:t>Withdraw 1 10</a:t>
            </a:r>
          </a:p>
          <a:p>
            <a:pPr>
              <a:lnSpc>
                <a:spcPct val="115000"/>
              </a:lnSpc>
            </a:pPr>
            <a:r>
              <a:rPr lang="en-US" sz="20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Arial" charset="0"/>
              </a:rPr>
              <a:t>Print 1</a:t>
            </a:r>
          </a:p>
          <a:p>
            <a:pPr>
              <a:lnSpc>
                <a:spcPct val="115000"/>
              </a:lnSpc>
            </a:pPr>
            <a:r>
              <a:rPr lang="en-US" sz="20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Arial" charset="0"/>
              </a:rPr>
              <a:t>End</a:t>
            </a: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5870164" y="4986371"/>
            <a:ext cx="5638800" cy="115416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20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Arial" charset="0"/>
              </a:rPr>
              <a:t>Account already exists</a:t>
            </a:r>
          </a:p>
          <a:p>
            <a:pPr>
              <a:lnSpc>
                <a:spcPct val="115000"/>
              </a:lnSpc>
            </a:pPr>
            <a:r>
              <a:rPr lang="en-US" sz="20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Arial" charset="0"/>
              </a:rPr>
              <a:t>Insufficient balance</a:t>
            </a:r>
          </a:p>
          <a:p>
            <a:pPr>
              <a:lnSpc>
                <a:spcPct val="115000"/>
              </a:lnSpc>
            </a:pPr>
            <a:r>
              <a:rPr lang="en-US" sz="20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Arial" charset="0"/>
              </a:rPr>
              <a:t>Account </a:t>
            </a:r>
            <a:r>
              <a:rPr lang="en-GB" sz="20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Arial" charset="0"/>
              </a:rPr>
              <a:t>ID1</a:t>
            </a:r>
            <a:r>
              <a:rPr lang="en-US" sz="2000" b="1" noProof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Arial" charset="0"/>
              </a:rPr>
              <a:t>, balance 10.00</a:t>
            </a:r>
          </a:p>
        </p:txBody>
      </p:sp>
      <p:sp>
        <p:nvSpPr>
          <p:cNvPr id="17" name="AutoShape 6"/>
          <p:cNvSpPr>
            <a:spLocks noChangeArrowheads="1"/>
          </p:cNvSpPr>
          <p:nvPr/>
        </p:nvSpPr>
        <p:spPr bwMode="auto">
          <a:xfrm>
            <a:off x="9453152" y="5148628"/>
            <a:ext cx="762000" cy="376732"/>
          </a:xfrm>
          <a:prstGeom prst="wedgeRoundRectCallout">
            <a:avLst>
              <a:gd name="adj1" fmla="val -48598"/>
              <a:gd name="adj2" fmla="val 100613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GB" b="1" noProof="1">
                <a:solidFill>
                  <a:schemeClr val="bg1"/>
                </a:solidFill>
                <a:latin typeface="Comfortaa" pitchFamily="2" charset="0"/>
              </a:rPr>
              <a:t>.2f</a:t>
            </a:r>
            <a:endParaRPr lang="en-US" b="1" noProof="1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20" name="AutoShape 6"/>
          <p:cNvSpPr>
            <a:spLocks noChangeArrowheads="1"/>
          </p:cNvSpPr>
          <p:nvPr/>
        </p:nvSpPr>
        <p:spPr bwMode="auto">
          <a:xfrm>
            <a:off x="8653164" y="2777070"/>
            <a:ext cx="2247789" cy="800569"/>
          </a:xfrm>
          <a:prstGeom prst="wedgeRoundRectCallout">
            <a:avLst>
              <a:gd name="adj1" fmla="val -82062"/>
              <a:gd name="adj2" fmla="val -13066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noProof="1">
                <a:solidFill>
                  <a:schemeClr val="bg1"/>
                </a:solidFill>
                <a:latin typeface="Comfortaa" pitchFamily="2" charset="0"/>
              </a:rPr>
              <a:t>Недостатъчен баланс</a:t>
            </a:r>
            <a:endParaRPr lang="en-US" noProof="1">
              <a:solidFill>
                <a:schemeClr val="bg1"/>
              </a:solidFill>
              <a:latin typeface="Comfortaa" pitchFamily="2" charset="0"/>
            </a:endParaRPr>
          </a:p>
        </p:txBody>
      </p:sp>
      <p:sp>
        <p:nvSpPr>
          <p:cNvPr id="21" name="AutoShape 6"/>
          <p:cNvSpPr>
            <a:spLocks noChangeArrowheads="1"/>
          </p:cNvSpPr>
          <p:nvPr/>
        </p:nvSpPr>
        <p:spPr bwMode="auto">
          <a:xfrm>
            <a:off x="8062890" y="1972300"/>
            <a:ext cx="3124200" cy="709521"/>
          </a:xfrm>
          <a:prstGeom prst="wedgeRoundRectCallout">
            <a:avLst>
              <a:gd name="adj1" fmla="val -76731"/>
              <a:gd name="adj2" fmla="val 19357"/>
              <a:gd name="adj3" fmla="val 16667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bg-BG" noProof="1">
                <a:solidFill>
                  <a:schemeClr val="bg1"/>
                </a:solidFill>
                <a:latin typeface="Comfortaa" pitchFamily="2" charset="0"/>
              </a:rPr>
              <a:t>Съществуваща сметка</a:t>
            </a:r>
            <a:endParaRPr lang="en-US" noProof="1">
              <a:solidFill>
                <a:schemeClr val="bg1"/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147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1" y="323262"/>
            <a:ext cx="10667997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Тестов клиент</a:t>
            </a:r>
            <a:r>
              <a:rPr lang="en-US" dirty="0">
                <a:latin typeface="Comfortaa" pitchFamily="2" charset="0"/>
              </a:rPr>
              <a:t> [1/2]</a:t>
            </a:r>
          </a:p>
        </p:txBody>
      </p:sp>
      <p:sp>
        <p:nvSpPr>
          <p:cNvPr id="5" name="Text Placeholder 5"/>
          <p:cNvSpPr txBox="1"/>
          <p:nvPr/>
        </p:nvSpPr>
        <p:spPr>
          <a:xfrm>
            <a:off x="685802" y="1648825"/>
            <a:ext cx="10667998" cy="445427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3200" b="0"/>
            </a:lvl2pPr>
            <a:lvl3pPr marL="9144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charset="2"/>
              <a:buChar char="§"/>
              <a:defRPr sz="3000" b="0"/>
            </a:lvl3pPr>
            <a:lvl4pPr marL="12192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charset="2"/>
              <a:buChar char="§"/>
              <a:defRPr sz="2800" b="0"/>
            </a:lvl4pPr>
            <a:lvl5pPr marL="15240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charset="2"/>
              <a:buChar char="§"/>
              <a:defRPr sz="2600" b="0"/>
            </a:lvl5pPr>
            <a:lvl6pPr marL="18281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6pPr>
            <a:lvl7pPr marL="21329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7pPr>
            <a:lvl8pPr marL="24377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8pPr>
            <a:lvl9pPr marL="27425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9pPr>
          </a:lstStyle>
          <a:p>
            <a:r>
              <a:rPr lang="en-GB" sz="2000" dirty="0">
                <a:solidFill>
                  <a:schemeClr val="bg1"/>
                </a:solidFill>
                <a:effectLst/>
              </a:rPr>
              <a:t>var accounts = new Dictionary&lt;int, BankAccount&gt;();</a:t>
            </a:r>
          </a:p>
          <a:p>
            <a:r>
              <a:rPr lang="en-GB" sz="2000" dirty="0">
                <a:solidFill>
                  <a:schemeClr val="bg1"/>
                </a:solidFill>
                <a:effectLst/>
              </a:rPr>
              <a:t>string command;</a:t>
            </a:r>
          </a:p>
          <a:p>
            <a:r>
              <a:rPr lang="en-GB" sz="2000" dirty="0">
                <a:solidFill>
                  <a:schemeClr val="bg1"/>
                </a:solidFill>
                <a:effectLst/>
              </a:rPr>
              <a:t>while ((command = Console.ReadLine()) != "End")</a:t>
            </a:r>
          </a:p>
          <a:p>
            <a:r>
              <a:rPr lang="en-GB" sz="2000" dirty="0">
                <a:solidFill>
                  <a:schemeClr val="bg1"/>
                </a:solidFill>
                <a:effectLst/>
              </a:rPr>
              <a:t>{</a:t>
            </a:r>
          </a:p>
          <a:p>
            <a:r>
              <a:rPr lang="en-GB" sz="2000" dirty="0">
                <a:solidFill>
                  <a:schemeClr val="bg1"/>
                </a:solidFill>
                <a:effectLst/>
              </a:rPr>
              <a:t>  var cmdArgs = command.Split();</a:t>
            </a:r>
          </a:p>
          <a:p>
            <a:r>
              <a:rPr lang="en-GB" sz="2000" dirty="0">
                <a:solidFill>
                  <a:schemeClr val="bg1"/>
                </a:solidFill>
                <a:effectLst/>
              </a:rPr>
              <a:t>  var cmdType = cmdArgs[0];</a:t>
            </a:r>
          </a:p>
          <a:p>
            <a:r>
              <a:rPr lang="en-GB" sz="2000" dirty="0">
                <a:solidFill>
                  <a:schemeClr val="bg1"/>
                </a:solidFill>
                <a:effectLst/>
              </a:rPr>
              <a:t>  switch (cmdType)</a:t>
            </a:r>
          </a:p>
          <a:p>
            <a:r>
              <a:rPr lang="en-GB" sz="2000" dirty="0">
                <a:solidFill>
                  <a:schemeClr val="bg1"/>
                </a:solidFill>
                <a:effectLst/>
              </a:rPr>
              <a:t>  {</a:t>
            </a:r>
          </a:p>
          <a:p>
            <a:r>
              <a:rPr lang="en-GB" sz="2000" dirty="0">
                <a:solidFill>
                  <a:schemeClr val="bg1"/>
                </a:solidFill>
                <a:effectLst/>
              </a:rPr>
              <a:t>    case "Create": Create(cmdArgs, accounts); break;</a:t>
            </a:r>
          </a:p>
          <a:p>
            <a:r>
              <a:rPr lang="en-GB" sz="2000" dirty="0">
                <a:solidFill>
                  <a:schemeClr val="bg1"/>
                </a:solidFill>
                <a:effectLst/>
              </a:rPr>
              <a:t>    case "Deposit": Deposit(cmdArgs, accounts); break;</a:t>
            </a:r>
          </a:p>
          <a:p>
            <a:r>
              <a:rPr lang="en-GB" sz="2000" dirty="0">
                <a:solidFill>
                  <a:schemeClr val="bg1"/>
                </a:solidFill>
                <a:effectLst/>
              </a:rPr>
              <a:t>    case "Withdraw": Withdraw(cmdArgs, accounts); break;</a:t>
            </a:r>
          </a:p>
          <a:p>
            <a:r>
              <a:rPr lang="en-GB" sz="2000" dirty="0">
                <a:solidFill>
                  <a:schemeClr val="bg1"/>
                </a:solidFill>
                <a:effectLst/>
              </a:rPr>
              <a:t>    case "Print": Print(cmdArgs, accounts); break;</a:t>
            </a:r>
          </a:p>
          <a:p>
            <a:r>
              <a:rPr lang="en-GB" sz="2000" dirty="0">
                <a:solidFill>
                  <a:schemeClr val="bg1"/>
                </a:solidFill>
                <a:effectLst/>
              </a:rPr>
              <a:t>  }</a:t>
            </a:r>
          </a:p>
          <a:p>
            <a:r>
              <a:rPr lang="en-GB" sz="2000" dirty="0">
                <a:solidFill>
                  <a:schemeClr val="bg1"/>
                </a:solidFill>
                <a:effectLst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0119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 txBox="1"/>
          <p:nvPr/>
        </p:nvSpPr>
        <p:spPr>
          <a:xfrm>
            <a:off x="762001" y="1381838"/>
            <a:ext cx="10667998" cy="488516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72000" rIns="144000" bIns="72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charset="2"/>
              <a:buChar char="§"/>
              <a:defRPr sz="3200" b="0"/>
            </a:lvl2pPr>
            <a:lvl3pPr marL="9144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charset="2"/>
              <a:buChar char="§"/>
              <a:defRPr sz="3000" b="0"/>
            </a:lvl3pPr>
            <a:lvl4pPr marL="12192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charset="2"/>
              <a:buChar char="§"/>
              <a:defRPr sz="2800" b="0"/>
            </a:lvl4pPr>
            <a:lvl5pPr marL="1524000" indent="-231775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charset="2"/>
              <a:buChar char="§"/>
              <a:defRPr sz="2600" b="0"/>
            </a:lvl5pPr>
            <a:lvl6pPr marL="18281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6pPr>
            <a:lvl7pPr marL="21329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/>
            </a:lvl7pPr>
            <a:lvl8pPr marL="24377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8pPr>
            <a:lvl9pPr marL="2742565" indent="-231775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charset="0"/>
              <a:buChar char="•"/>
              <a:defRPr sz="2000" baseline="0"/>
            </a:lvl9pPr>
          </a:lstStyle>
          <a:p>
            <a:r>
              <a:rPr lang="en-GB" sz="2800" i="1" dirty="0">
                <a:solidFill>
                  <a:srgbClr val="00B0F0"/>
                </a:solidFill>
                <a:effectLst/>
              </a:rPr>
              <a:t>// </a:t>
            </a:r>
            <a:r>
              <a:rPr lang="bg-BG" sz="2800" i="1" dirty="0">
                <a:solidFill>
                  <a:srgbClr val="00B0F0"/>
                </a:solidFill>
                <a:effectLst/>
              </a:rPr>
              <a:t>създаване на сметката</a:t>
            </a:r>
            <a:endParaRPr lang="en-GB" sz="2800" i="1" dirty="0">
              <a:solidFill>
                <a:srgbClr val="00B0F0"/>
              </a:solidFill>
              <a:effectLst/>
            </a:endParaRPr>
          </a:p>
          <a:p>
            <a:r>
              <a:rPr lang="en-GB" sz="2800" dirty="0">
                <a:solidFill>
                  <a:schemeClr val="bg1"/>
                </a:solidFill>
                <a:effectLst/>
              </a:rPr>
              <a:t>var id = int.Parse(cmdArgs[1]);</a:t>
            </a:r>
          </a:p>
          <a:p>
            <a:r>
              <a:rPr lang="en-GB" sz="2800" dirty="0">
                <a:solidFill>
                  <a:schemeClr val="bg1"/>
                </a:solidFill>
                <a:effectLst/>
              </a:rPr>
              <a:t>if (accounts.ContainsKey(id))   </a:t>
            </a:r>
          </a:p>
          <a:p>
            <a:r>
              <a:rPr lang="en-GB" sz="2800" dirty="0">
                <a:solidFill>
                  <a:schemeClr val="bg1"/>
                </a:solidFill>
                <a:effectLst/>
              </a:rPr>
              <a:t>  Console.WriteLine("Account already exists");</a:t>
            </a:r>
          </a:p>
          <a:p>
            <a:r>
              <a:rPr lang="en-GB" sz="2800" dirty="0">
                <a:solidFill>
                  <a:schemeClr val="bg1"/>
                </a:solidFill>
                <a:effectLst/>
              </a:rPr>
              <a:t>else</a:t>
            </a:r>
          </a:p>
          <a:p>
            <a:r>
              <a:rPr lang="en-GB" sz="2800" dirty="0">
                <a:solidFill>
                  <a:schemeClr val="bg1"/>
                </a:solidFill>
                <a:effectLst/>
              </a:rPr>
              <a:t>{</a:t>
            </a:r>
          </a:p>
          <a:p>
            <a:r>
              <a:rPr lang="en-GB" sz="2800" dirty="0">
                <a:solidFill>
                  <a:schemeClr val="bg1"/>
                </a:solidFill>
                <a:effectLst/>
              </a:rPr>
              <a:t>  var acc = new BankAccount();</a:t>
            </a:r>
          </a:p>
          <a:p>
            <a:r>
              <a:rPr lang="en-GB" sz="2800" dirty="0">
                <a:solidFill>
                  <a:schemeClr val="bg1"/>
                </a:solidFill>
                <a:effectLst/>
              </a:rPr>
              <a:t>  acc.ID = id;</a:t>
            </a:r>
          </a:p>
          <a:p>
            <a:r>
              <a:rPr lang="en-GB" sz="2800" dirty="0">
                <a:solidFill>
                  <a:schemeClr val="bg1"/>
                </a:solidFill>
                <a:effectLst/>
              </a:rPr>
              <a:t>  accounts.Add(id, acc);</a:t>
            </a:r>
          </a:p>
          <a:p>
            <a:r>
              <a:rPr lang="en-GB" sz="2800" dirty="0">
                <a:solidFill>
                  <a:schemeClr val="bg1"/>
                </a:solidFill>
                <a:effectLst/>
              </a:rPr>
              <a:t>}</a:t>
            </a:r>
          </a:p>
          <a:p>
            <a:r>
              <a:rPr lang="en-US" sz="2800" i="1" dirty="0">
                <a:solidFill>
                  <a:srgbClr val="00B0F0"/>
                </a:solidFill>
                <a:effectLst/>
              </a:rPr>
              <a:t>// TODO: </a:t>
            </a:r>
            <a:r>
              <a:rPr lang="bg-BG" sz="2800" i="1" dirty="0">
                <a:solidFill>
                  <a:srgbClr val="00B0F0"/>
                </a:solidFill>
                <a:effectLst/>
              </a:rPr>
              <a:t>разписване на останалите команди</a:t>
            </a:r>
            <a:r>
              <a:rPr lang="en-US" sz="2800" i="1" dirty="0">
                <a:solidFill>
                  <a:srgbClr val="00B0F0"/>
                </a:solidFill>
                <a:effectLst/>
              </a:rPr>
              <a:t>…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F6083099-8873-8A7B-4667-3D57B1627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323262"/>
            <a:ext cx="10667997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Тестов клиент</a:t>
            </a:r>
            <a:r>
              <a:rPr lang="en-US" dirty="0">
                <a:latin typeface="Comfortaa" pitchFamily="2" charset="0"/>
              </a:rPr>
              <a:t> [2/2]</a:t>
            </a:r>
          </a:p>
        </p:txBody>
      </p:sp>
    </p:spTree>
    <p:extLst>
      <p:ext uri="{BB962C8B-B14F-4D97-AF65-F5344CB8AC3E}">
        <p14:creationId xmlns:p14="http://schemas.microsoft.com/office/powerpoint/2010/main" val="3818117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Grp="1" noChangeArrowheads="1"/>
          </p:cNvSpPr>
          <p:nvPr>
            <p:ph type="title"/>
          </p:nvPr>
        </p:nvSpPr>
        <p:spPr>
          <a:xfrm>
            <a:off x="760403" y="654288"/>
            <a:ext cx="10476000" cy="111078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Какво научихме днес?</a:t>
            </a:r>
          </a:p>
        </p:txBody>
      </p:sp>
      <p:sp>
        <p:nvSpPr>
          <p:cNvPr id="434179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752600"/>
            <a:ext cx="10476000" cy="4343400"/>
          </a:xfrm>
        </p:spPr>
        <p:txBody>
          <a:bodyPr>
            <a:noAutofit/>
          </a:bodyPr>
          <a:lstStyle/>
          <a:p>
            <a:pPr marL="358775" indent="-358775">
              <a:lnSpc>
                <a:spcPct val="110000"/>
              </a:lnSpc>
            </a:pPr>
            <a:r>
              <a:rPr lang="bg-BG" sz="3200" dirty="0">
                <a:latin typeface="Comfortaa" pitchFamily="2" charset="0"/>
              </a:rPr>
              <a:t>Методите</a:t>
            </a:r>
            <a:r>
              <a:rPr lang="en-GB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описват поведението на обектите</a:t>
            </a:r>
          </a:p>
          <a:p>
            <a:pPr marL="358775" indent="-358775">
              <a:lnSpc>
                <a:spcPct val="110000"/>
              </a:lnSpc>
            </a:pPr>
            <a:r>
              <a:rPr lang="bg-BG" sz="3200" dirty="0">
                <a:latin typeface="Comfortaa" pitchFamily="2" charset="0"/>
              </a:rPr>
              <a:t>Методите може да променят  състоянието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на обектите или да го достъпват и анализират </a:t>
            </a:r>
            <a:endParaRPr lang="en-US" sz="3200" dirty="0">
              <a:latin typeface="Comfortaa" pitchFamily="2" charset="0"/>
            </a:endParaRPr>
          </a:p>
          <a:p>
            <a:pPr marL="358775" indent="-358775">
              <a:lnSpc>
                <a:spcPct val="110000"/>
              </a:lnSpc>
            </a:pPr>
            <a:r>
              <a:rPr lang="en-US" sz="3200" dirty="0">
                <a:latin typeface="Comfortaa" pitchFamily="2" charset="0"/>
              </a:rPr>
              <a:t>Getter </a:t>
            </a:r>
            <a:r>
              <a:rPr lang="bg-BG" sz="3200" dirty="0">
                <a:latin typeface="Comfortaa" pitchFamily="2" charset="0"/>
              </a:rPr>
              <a:t>и</a:t>
            </a:r>
            <a:r>
              <a:rPr lang="en-US" sz="3200" dirty="0">
                <a:latin typeface="Comfortaa" pitchFamily="2" charset="0"/>
              </a:rPr>
              <a:t> Setter</a:t>
            </a:r>
            <a:r>
              <a:rPr lang="bg-BG" sz="3200" dirty="0">
                <a:latin typeface="Comfortaa" pitchFamily="2" charset="0"/>
              </a:rPr>
              <a:t> методите са за достъп до</a:t>
            </a:r>
            <a:br>
              <a:rPr lang="bg-BG" sz="3200" dirty="0">
                <a:latin typeface="Comfortaa" pitchFamily="2" charset="0"/>
              </a:rPr>
            </a:br>
            <a:r>
              <a:rPr lang="bg-BG" sz="3200" dirty="0">
                <a:latin typeface="Comfortaa" pitchFamily="2" charset="0"/>
              </a:rPr>
              <a:t>и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промяна на полетата на обекта</a:t>
            </a:r>
          </a:p>
        </p:txBody>
      </p:sp>
    </p:spTree>
    <p:extLst>
      <p:ext uri="{BB962C8B-B14F-4D97-AF65-F5344CB8AC3E}">
        <p14:creationId xmlns:p14="http://schemas.microsoft.com/office/powerpoint/2010/main" val="179940942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</TotalTime>
  <Words>716</Words>
  <Application>Microsoft Office PowerPoint</Application>
  <PresentationFormat>Widescreen</PresentationFormat>
  <Paragraphs>131</Paragraphs>
  <Slides>11</Slides>
  <Notes>4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Comfortaa</vt:lpstr>
      <vt:lpstr>Consolas</vt:lpstr>
      <vt:lpstr>Wingdings</vt:lpstr>
      <vt:lpstr>Office Theme</vt:lpstr>
      <vt:lpstr>Методи</vt:lpstr>
      <vt:lpstr>Съдържание</vt:lpstr>
      <vt:lpstr>Елементи на класа</vt:lpstr>
      <vt:lpstr>Методи</vt:lpstr>
      <vt:lpstr>Задача: Getter-и и Setter-и</vt:lpstr>
      <vt:lpstr>Решение: Getter-и и Setter-и</vt:lpstr>
      <vt:lpstr>Задача за напреднали: Тестов клиент</vt:lpstr>
      <vt:lpstr>Решение: Тестов клиент [1/2]</vt:lpstr>
      <vt:lpstr>Решение: Тестов клиент [2/2]</vt:lpstr>
      <vt:lpstr>Какво научихме днес?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12</cp:revision>
  <dcterms:created xsi:type="dcterms:W3CDTF">2022-08-09T09:25:46Z</dcterms:created>
  <dcterms:modified xsi:type="dcterms:W3CDTF">2022-09-14T15:41:32Z</dcterms:modified>
</cp:coreProperties>
</file>