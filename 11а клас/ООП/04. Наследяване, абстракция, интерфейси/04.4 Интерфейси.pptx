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0"/>
  </p:notesMasterIdLst>
  <p:sldIdLst>
    <p:sldId id="258" r:id="rId2"/>
    <p:sldId id="607" r:id="rId3"/>
    <p:sldId id="608" r:id="rId4"/>
    <p:sldId id="609" r:id="rId5"/>
    <p:sldId id="610" r:id="rId6"/>
    <p:sldId id="611" r:id="rId7"/>
    <p:sldId id="612" r:id="rId8"/>
    <p:sldId id="613" r:id="rId9"/>
    <p:sldId id="614" r:id="rId10"/>
    <p:sldId id="615" r:id="rId11"/>
    <p:sldId id="616" r:id="rId12"/>
    <p:sldId id="617" r:id="rId13"/>
    <p:sldId id="618" r:id="rId14"/>
    <p:sldId id="619" r:id="rId15"/>
    <p:sldId id="620" r:id="rId16"/>
    <p:sldId id="621" r:id="rId17"/>
    <p:sldId id="622" r:id="rId18"/>
    <p:sldId id="572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B53E63A6-15B2-40C3-A9DC-5006FD089CC5}">
          <p14:sldIdLst>
            <p14:sldId id="258"/>
          </p14:sldIdLst>
        </p14:section>
        <p14:section name="Съдържание" id="{0B0C01F3-1F60-4ADB-AC1E-9589654EAEF3}">
          <p14:sldIdLst>
            <p14:sldId id="607"/>
            <p14:sldId id="608"/>
            <p14:sldId id="609"/>
            <p14:sldId id="610"/>
            <p14:sldId id="611"/>
            <p14:sldId id="612"/>
            <p14:sldId id="613"/>
            <p14:sldId id="614"/>
            <p14:sldId id="615"/>
            <p14:sldId id="616"/>
            <p14:sldId id="617"/>
            <p14:sldId id="618"/>
            <p14:sldId id="619"/>
            <p14:sldId id="620"/>
            <p14:sldId id="621"/>
            <p14:sldId id="622"/>
          </p14:sldIdLst>
        </p14:section>
        <p14:section name="Заключение" id="{9315BEE7-605C-4839-996A-A4EEA70921D9}">
          <p14:sldIdLst>
            <p14:sldId id="5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8A51F5-6E34-4A9B-8787-8C29D4F40D1D}" v="1" dt="2022-08-10T06:34:56.1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4660"/>
  </p:normalViewPr>
  <p:slideViewPr>
    <p:cSldViewPr snapToGrid="0">
      <p:cViewPr varScale="1">
        <p:scale>
          <a:sx n="92" d="100"/>
          <a:sy n="92" d="100"/>
        </p:scale>
        <p:origin x="5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Димитър Минчев" userId="6da192e4-d32c-454b-8615-bbadf07b6639" providerId="ADAL" clId="{508A51F5-6E34-4A9B-8787-8C29D4F40D1D}"/>
    <pc:docChg chg="addSld modSld">
      <pc:chgData name="Димитър Минчев" userId="6da192e4-d32c-454b-8615-bbadf07b6639" providerId="ADAL" clId="{508A51F5-6E34-4A9B-8787-8C29D4F40D1D}" dt="2022-08-10T06:34:56.108" v="0"/>
      <pc:docMkLst>
        <pc:docMk/>
      </pc:docMkLst>
      <pc:sldChg chg="add">
        <pc:chgData name="Димитър Минчев" userId="6da192e4-d32c-454b-8615-bbadf07b6639" providerId="ADAL" clId="{508A51F5-6E34-4A9B-8787-8C29D4F40D1D}" dt="2022-08-10T06:34:56.108" v="0"/>
        <pc:sldMkLst>
          <pc:docMk/>
          <pc:sldMk cId="2002111910" sldId="43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0D3FF-81AC-477B-919E-75762E6B2153}" type="datetimeFigureOut">
              <a:rPr lang="bg-BG" smtClean="0"/>
              <a:t>27.9.2022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142EC-5991-4235-A99B-961F17902D6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37940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bg-BG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2E28E38A-03DE-4F46-BB68-EF534BB53D8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7388176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There</a:t>
            </a:r>
            <a:r>
              <a:rPr lang="en-GB" baseline="0" dirty="0"/>
              <a:t> are two ways to achieve abstraction </a:t>
            </a:r>
          </a:p>
          <a:p>
            <a:r>
              <a:rPr lang="en-GB" baseline="0" dirty="0"/>
              <a:t>- Using Abstract Classes</a:t>
            </a:r>
          </a:p>
          <a:p>
            <a:r>
              <a:rPr lang="en-GB" baseline="0" dirty="0"/>
              <a:t>- Using Interfaces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157118D8-7DEB-4B2A-BFD3-CE3B4761CBD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20490674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There</a:t>
            </a:r>
            <a:r>
              <a:rPr lang="en-GB" baseline="0" dirty="0"/>
              <a:t> are two ways to achieve abstraction </a:t>
            </a:r>
          </a:p>
          <a:p>
            <a:r>
              <a:rPr lang="en-GB" baseline="0" dirty="0"/>
              <a:t>- Using Abstract Classes</a:t>
            </a:r>
          </a:p>
          <a:p>
            <a:r>
              <a:rPr lang="en-GB" baseline="0" dirty="0"/>
              <a:t>- Using Interfaces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8FF443FC-B60A-4E78-BF54-1AAEE45C887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10239900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There</a:t>
            </a:r>
            <a:r>
              <a:rPr lang="en-GB" baseline="0" dirty="0"/>
              <a:t> are two ways to achieve abstraction </a:t>
            </a:r>
          </a:p>
          <a:p>
            <a:r>
              <a:rPr lang="en-GB" baseline="0" dirty="0"/>
              <a:t>- Using Abstract Classes</a:t>
            </a:r>
          </a:p>
          <a:p>
            <a:r>
              <a:rPr lang="en-GB" baseline="0" dirty="0"/>
              <a:t>- Using Interfaces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E91F277-10D4-4300-BB26-3B6B989D6C0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2723292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There</a:t>
            </a:r>
            <a:r>
              <a:rPr lang="en-GB" baseline="0" dirty="0"/>
              <a:t> are two ways to achieve abstraction </a:t>
            </a:r>
          </a:p>
          <a:p>
            <a:r>
              <a:rPr lang="en-GB" baseline="0" dirty="0"/>
              <a:t>- Using Abstract Classes</a:t>
            </a:r>
          </a:p>
          <a:p>
            <a:r>
              <a:rPr lang="en-GB" baseline="0" dirty="0"/>
              <a:t>- Using Interfaces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666E7F96-7101-4796-A2E1-51E66DAA1C3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21624585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There</a:t>
            </a:r>
            <a:r>
              <a:rPr lang="en-GB" baseline="0" dirty="0"/>
              <a:t> are two ways to achieve abstraction </a:t>
            </a:r>
          </a:p>
          <a:p>
            <a:r>
              <a:rPr lang="en-GB" baseline="0" dirty="0"/>
              <a:t>- Using Abstract Classes</a:t>
            </a:r>
          </a:p>
          <a:p>
            <a:r>
              <a:rPr lang="en-GB" baseline="0" dirty="0"/>
              <a:t>- Using Interfaces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5453E1E7-DCD2-4CFB-BCBA-968DB980096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2353531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There</a:t>
            </a:r>
            <a:r>
              <a:rPr lang="en-GB" baseline="0" dirty="0"/>
              <a:t> are two ways to achieve abstraction </a:t>
            </a:r>
          </a:p>
          <a:p>
            <a:r>
              <a:rPr lang="en-GB" baseline="0" dirty="0"/>
              <a:t>- Using Abstract Classes</a:t>
            </a:r>
          </a:p>
          <a:p>
            <a:r>
              <a:rPr lang="en-GB" baseline="0" dirty="0"/>
              <a:t>- Using Interfaces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CD46D09A-AD0D-4849-B644-6109BFBAC0B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38595799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There</a:t>
            </a:r>
            <a:r>
              <a:rPr lang="en-GB" baseline="0" dirty="0"/>
              <a:t> are two ways to achieve abstraction </a:t>
            </a:r>
          </a:p>
          <a:p>
            <a:r>
              <a:rPr lang="en-GB" baseline="0" dirty="0"/>
              <a:t>- Using Abstract Classes</a:t>
            </a:r>
          </a:p>
          <a:p>
            <a:r>
              <a:rPr lang="en-GB" baseline="0" dirty="0"/>
              <a:t>- Using Interfaces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30B59501-7CC2-4311-BDD2-D3E929D43E0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24738362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There</a:t>
            </a:r>
            <a:r>
              <a:rPr lang="en-GB" baseline="0" dirty="0"/>
              <a:t> are two ways to achieve abstraction </a:t>
            </a:r>
          </a:p>
          <a:p>
            <a:r>
              <a:rPr lang="en-GB" baseline="0" dirty="0"/>
              <a:t>- Using Abstract Classes</a:t>
            </a:r>
          </a:p>
          <a:p>
            <a:r>
              <a:rPr lang="en-GB" baseline="0" dirty="0"/>
              <a:t>- Using Interfaces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BB10725E-A4CC-41D1-AD7E-B5B67180294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26606651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There</a:t>
            </a:r>
            <a:r>
              <a:rPr lang="en-GB" baseline="0" dirty="0"/>
              <a:t> are two ways to achieve abstraction </a:t>
            </a:r>
          </a:p>
          <a:p>
            <a:r>
              <a:rPr lang="en-GB" baseline="0" dirty="0"/>
              <a:t>- Using Abstract Classes</a:t>
            </a:r>
          </a:p>
          <a:p>
            <a:r>
              <a:rPr lang="en-GB" baseline="0" dirty="0"/>
              <a:t>- Using Interfaces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3E5B8844-4BAA-430B-A559-2669CF06CEA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19371743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There</a:t>
            </a:r>
            <a:r>
              <a:rPr lang="en-GB" baseline="0" dirty="0"/>
              <a:t> are two ways to achieve abstraction </a:t>
            </a:r>
          </a:p>
          <a:p>
            <a:r>
              <a:rPr lang="en-GB" baseline="0" dirty="0"/>
              <a:t>- Using Abstract Classes</a:t>
            </a:r>
          </a:p>
          <a:p>
            <a:r>
              <a:rPr lang="en-GB" baseline="0" dirty="0"/>
              <a:t>- Using Interfaces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FCC3919C-3471-4C46-B99C-13802B1750D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25442146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There</a:t>
            </a:r>
            <a:r>
              <a:rPr lang="en-GB" baseline="0" dirty="0"/>
              <a:t> are two ways to achieve abstraction </a:t>
            </a:r>
          </a:p>
          <a:p>
            <a:r>
              <a:rPr lang="en-GB" baseline="0" dirty="0"/>
              <a:t>- Using Abstract Classes</a:t>
            </a:r>
          </a:p>
          <a:p>
            <a:r>
              <a:rPr lang="en-GB" baseline="0" dirty="0"/>
              <a:t>- Using Interfaces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4524A034-5820-472A-A2E9-215DF252088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35327628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There</a:t>
            </a:r>
            <a:r>
              <a:rPr lang="en-GB" baseline="0" dirty="0"/>
              <a:t> are two ways to achieve abstraction </a:t>
            </a:r>
          </a:p>
          <a:p>
            <a:r>
              <a:rPr lang="en-GB" baseline="0" dirty="0"/>
              <a:t>- Using Abstract Classes</a:t>
            </a:r>
          </a:p>
          <a:p>
            <a:r>
              <a:rPr lang="en-GB" baseline="0" dirty="0"/>
              <a:t>- Using Interfaces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CDE05FA6-AC56-4225-ADA0-E3606FADF94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38596929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There</a:t>
            </a:r>
            <a:r>
              <a:rPr lang="en-GB" baseline="0" dirty="0"/>
              <a:t> are two ways to achieve abstraction </a:t>
            </a:r>
          </a:p>
          <a:p>
            <a:r>
              <a:rPr lang="en-GB" baseline="0" dirty="0"/>
              <a:t>- Using Abstract Classes</a:t>
            </a:r>
          </a:p>
          <a:p>
            <a:r>
              <a:rPr lang="en-GB" baseline="0" dirty="0"/>
              <a:t>- Using Interfaces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466CDE2C-B891-42C2-96E2-E9C8D594CD2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2601974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There</a:t>
            </a:r>
            <a:r>
              <a:rPr lang="en-GB" baseline="0" dirty="0"/>
              <a:t> are two ways to achieve abstraction </a:t>
            </a:r>
          </a:p>
          <a:p>
            <a:r>
              <a:rPr lang="en-GB" baseline="0" dirty="0"/>
              <a:t>- Using Abstract Classes</a:t>
            </a:r>
          </a:p>
          <a:p>
            <a:r>
              <a:rPr lang="en-GB" baseline="0" dirty="0"/>
              <a:t>- Using Interfaces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9E5EFBAE-1C41-4309-AAF3-79CF058CC78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32584652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313B534A-0790-480D-A192-80B3B04F292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11320768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27.9.2022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71436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27.9.2022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34437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27.9.2022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40543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27.9.2022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29758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27.9.2022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6114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27.9.2022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86021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27.9.2022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63839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27.9.2022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23708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27.9.2022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97053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27.9.2022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28007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27.9.2022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69803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069AEA-C8BE-4DD6-B9AB-21EA40DF5D87}" type="datetimeFigureOut">
              <a:rPr lang="bg-BG" smtClean="0"/>
              <a:t>27.9.2022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52542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mon.bg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hyperlink" Target="https://creativecommons.org/licenses/by-nc-sa/4.0" TargetMode="External"/><Relationship Id="rId4" Type="http://schemas.openxmlformats.org/officeDocument/2006/relationships/hyperlink" Target="https://www.mon.b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A11B2B-6DC7-2642-A5E2-7E3177B71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24336"/>
            <a:ext cx="9144000" cy="2387600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Интерфейси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D72CEAD-2598-2D6F-7FF9-AF95330D8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04011"/>
            <a:ext cx="9144000" cy="1655762"/>
          </a:xfrm>
        </p:spPr>
        <p:txBody>
          <a:bodyPr/>
          <a:lstStyle/>
          <a:p>
            <a:r>
              <a:rPr lang="en-US" dirty="0">
                <a:latin typeface="Comfortaa" pitchFamily="2" charset="0"/>
              </a:rPr>
              <a:t>Interfaces</a:t>
            </a:r>
            <a:endParaRPr lang="bg-BG" dirty="0">
              <a:latin typeface="Comfortaa" pitchFamily="2" charset="0"/>
            </a:endParaRPr>
          </a:p>
        </p:txBody>
      </p:sp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959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626764" y="5427800"/>
            <a:ext cx="8938472" cy="820600"/>
          </a:xfrm>
        </p:spPr>
        <p:txBody>
          <a:bodyPr>
            <a:normAutofit fontScale="90000"/>
          </a:bodyPr>
          <a:lstStyle/>
          <a:p>
            <a:r>
              <a:rPr lang="bg-BG" noProof="1">
                <a:latin typeface="Comfortaa" pitchFamily="2" charset="0"/>
                <a:cs typeface="Consolas" panose="020B0609020204030204" pitchFamily="49" charset="0"/>
              </a:rPr>
              <a:t>Интерфейси</a:t>
            </a:r>
            <a:endParaRPr lang="en-US" noProof="1">
              <a:latin typeface="Comfortaa" pitchFamily="2" charset="0"/>
              <a:cs typeface="Consolas" panose="020B0609020204030204" pitchFamily="49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1323" y="914400"/>
            <a:ext cx="6909354" cy="4220230"/>
          </a:xfrm>
          <a:prstGeom prst="rect">
            <a:avLst/>
          </a:prstGeom>
        </p:spPr>
      </p:pic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911E3AE-F1A5-4482-9A77-5746CAEA240B}"/>
              </a:ext>
            </a:extLst>
          </p:cNvPr>
          <p:cNvSpPr txBox="1">
            <a:spLocks/>
          </p:cNvSpPr>
          <p:nvPr/>
        </p:nvSpPr>
        <p:spPr>
          <a:xfrm>
            <a:off x="11568000" y="6525003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1218987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>
                <a:solidFill>
                  <a:prstClr val="white">
                    <a:tint val="75000"/>
                  </a:prstClr>
                </a:solidFill>
              </a:rPr>
              <a:pPr/>
              <a:t>2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92768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506890" y="1183950"/>
            <a:ext cx="6066295" cy="539566"/>
          </a:xfrm>
        </p:spPr>
        <p:txBody>
          <a:bodyPr/>
          <a:lstStyle/>
          <a:p>
            <a:pPr marL="0" indent="0">
              <a:buNone/>
            </a:pPr>
            <a:r>
              <a:rPr lang="bg-BG" sz="2400" dirty="0">
                <a:latin typeface="Comfortaa" pitchFamily="2" charset="0"/>
              </a:rPr>
              <a:t>Компилатора вътрешно добавя</a:t>
            </a:r>
            <a:endParaRPr lang="en-US" sz="2400" dirty="0">
              <a:latin typeface="Comfortaa" pitchFamily="2" charset="0"/>
            </a:endParaRPr>
          </a:p>
        </p:txBody>
      </p:sp>
      <p:sp>
        <p:nvSpPr>
          <p:cNvPr id="793602" name="Rectangle 2"/>
          <p:cNvSpPr>
            <a:spLocks noGrp="1" noChangeArrowheads="1"/>
          </p:cNvSpPr>
          <p:nvPr>
            <p:ph type="title"/>
          </p:nvPr>
        </p:nvSpPr>
        <p:spPr>
          <a:xfrm>
            <a:off x="506890" y="547843"/>
            <a:ext cx="10515600" cy="704768"/>
          </a:xfrm>
        </p:spPr>
        <p:txBody>
          <a:bodyPr/>
          <a:lstStyle/>
          <a:p>
            <a:r>
              <a:rPr lang="bg-BG" sz="4000" dirty="0">
                <a:latin typeface="Comfortaa" pitchFamily="2" charset="0"/>
              </a:rPr>
              <a:t>Интерфейс</a:t>
            </a:r>
            <a:endParaRPr lang="en-US" sz="4000" dirty="0">
              <a:latin typeface="Comfortaa" pitchFamily="2" charset="0"/>
            </a:endParaRP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3540038" y="2044005"/>
            <a:ext cx="6462845" cy="1384995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fontAlgn="base"/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</a:t>
            </a:r>
            <a:r>
              <a:rPr lang="en-US" sz="28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interface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IPrintable {</a:t>
            </a:r>
          </a:p>
          <a:p>
            <a:pPr fontAlgn="base"/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void Print();</a:t>
            </a:r>
          </a:p>
          <a:p>
            <a:pPr fontAlgn="base"/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3548610" y="4246240"/>
            <a:ext cx="6462845" cy="1384995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fontAlgn="base"/>
            <a:r>
              <a:rPr lang="en-US" sz="2800" b="1" noProof="1">
                <a:solidFill>
                  <a:schemeClr val="bg1"/>
                </a:solidFill>
                <a:latin typeface="Consolas" pitchFamily="49" charset="0"/>
              </a:rPr>
              <a:t>public interface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IPrintable {</a:t>
            </a:r>
          </a:p>
          <a:p>
            <a:pPr fontAlgn="base"/>
            <a:r>
              <a:rPr lang="en-US" sz="2800" b="1" noProof="1">
                <a:solidFill>
                  <a:srgbClr val="FBEEDC"/>
                </a:solidFill>
                <a:latin typeface="Consolas" pitchFamily="49" charset="0"/>
                <a:cs typeface="Consolas" pitchFamily="49" charset="0"/>
              </a:rPr>
              <a:t>  </a:t>
            </a:r>
            <a:r>
              <a:rPr lang="en-US" sz="28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public abstract 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void Print();</a:t>
            </a:r>
          </a:p>
          <a:p>
            <a:pPr fontAlgn="base"/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5" name="Arrow: Down 4"/>
          <p:cNvSpPr/>
          <p:nvPr/>
        </p:nvSpPr>
        <p:spPr>
          <a:xfrm>
            <a:off x="4593551" y="3429000"/>
            <a:ext cx="4159108" cy="812163"/>
          </a:xfrm>
          <a:prstGeom prst="downArrow">
            <a:avLst>
              <a:gd name="adj1" fmla="val 50000"/>
              <a:gd name="adj2" fmla="val 10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28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компилатор</a:t>
            </a:r>
          </a:p>
        </p:txBody>
      </p:sp>
      <p:sp>
        <p:nvSpPr>
          <p:cNvPr id="13" name="AutoShape 20"/>
          <p:cNvSpPr>
            <a:spLocks noChangeArrowheads="1"/>
          </p:cNvSpPr>
          <p:nvPr/>
        </p:nvSpPr>
        <p:spPr bwMode="auto">
          <a:xfrm>
            <a:off x="7914459" y="5406373"/>
            <a:ext cx="3871800" cy="1042102"/>
          </a:xfrm>
          <a:prstGeom prst="wedgeRoundRectCallout">
            <a:avLst>
              <a:gd name="adj1" fmla="val -123148"/>
              <a:gd name="adj2" fmla="val -77931"/>
              <a:gd name="adj3" fmla="val 16667"/>
            </a:avLst>
          </a:prstGeom>
          <a:solidFill>
            <a:srgbClr val="00B0F0"/>
          </a:solidFill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bg-BG" sz="2800" b="1" dirty="0">
                <a:solidFill>
                  <a:schemeClr val="bg1"/>
                </a:solidFill>
                <a:latin typeface="Comfortaa" pitchFamily="2" charset="0"/>
              </a:rPr>
              <a:t>Добавя </a:t>
            </a:r>
            <a:r>
              <a:rPr lang="en-US" sz="2800" b="1" dirty="0">
                <a:solidFill>
                  <a:schemeClr val="bg1"/>
                </a:solidFill>
                <a:latin typeface="Comfortaa" pitchFamily="2" charset="0"/>
              </a:rPr>
              <a:t>public </a:t>
            </a:r>
            <a:r>
              <a:rPr lang="bg-BG" sz="2800" b="1" dirty="0">
                <a:solidFill>
                  <a:schemeClr val="bg1"/>
                </a:solidFill>
                <a:latin typeface="Comfortaa" pitchFamily="2" charset="0"/>
              </a:rPr>
              <a:t>за всички членове</a:t>
            </a:r>
          </a:p>
        </p:txBody>
      </p:sp>
      <p:sp>
        <p:nvSpPr>
          <p:cNvPr id="15" name="AutoShape 20"/>
          <p:cNvSpPr>
            <a:spLocks noChangeArrowheads="1"/>
          </p:cNvSpPr>
          <p:nvPr/>
        </p:nvSpPr>
        <p:spPr bwMode="auto">
          <a:xfrm>
            <a:off x="480950" y="2018070"/>
            <a:ext cx="2808071" cy="1260423"/>
          </a:xfrm>
          <a:prstGeom prst="wedgeRoundRectCallout">
            <a:avLst>
              <a:gd name="adj1" fmla="val 61782"/>
              <a:gd name="adj2" fmla="val -28229"/>
              <a:gd name="adj3" fmla="val 16667"/>
            </a:avLst>
          </a:prstGeom>
          <a:solidFill>
            <a:srgbClr val="00B0F0"/>
          </a:solidFill>
          <a:ln>
            <a:noFill/>
            <a:headEnd/>
            <a:tailE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bg-BG" sz="2400" b="1" dirty="0">
                <a:latin typeface="Comfortaa" pitchFamily="2" charset="0"/>
              </a:rPr>
              <a:t>Модификатор за достъп</a:t>
            </a:r>
          </a:p>
        </p:txBody>
      </p:sp>
      <p:sp>
        <p:nvSpPr>
          <p:cNvPr id="16" name="AutoShape 20"/>
          <p:cNvSpPr>
            <a:spLocks noChangeArrowheads="1"/>
          </p:cNvSpPr>
          <p:nvPr/>
        </p:nvSpPr>
        <p:spPr bwMode="auto">
          <a:xfrm>
            <a:off x="7031083" y="1293608"/>
            <a:ext cx="2971800" cy="511799"/>
          </a:xfrm>
          <a:prstGeom prst="wedgeRoundRectCallout">
            <a:avLst>
              <a:gd name="adj1" fmla="val -70191"/>
              <a:gd name="adj2" fmla="val 121342"/>
              <a:gd name="adj3" fmla="val 16667"/>
            </a:avLst>
          </a:prstGeom>
          <a:solidFill>
            <a:srgbClr val="00B0F0"/>
          </a:solidFill>
          <a:ln>
            <a:noFill/>
            <a:headEnd/>
            <a:tailE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bg-BG" sz="2400" b="1" dirty="0">
                <a:latin typeface="Comfortaa" pitchFamily="2" charset="0"/>
              </a:rPr>
              <a:t>Ключова дума</a:t>
            </a:r>
          </a:p>
        </p:txBody>
      </p:sp>
      <p:sp>
        <p:nvSpPr>
          <p:cNvPr id="17" name="AutoShape 20"/>
          <p:cNvSpPr>
            <a:spLocks noChangeArrowheads="1"/>
          </p:cNvSpPr>
          <p:nvPr/>
        </p:nvSpPr>
        <p:spPr bwMode="auto">
          <a:xfrm>
            <a:off x="9281324" y="2622647"/>
            <a:ext cx="1460262" cy="511799"/>
          </a:xfrm>
          <a:prstGeom prst="wedgeRoundRectCallout">
            <a:avLst>
              <a:gd name="adj1" fmla="val -108155"/>
              <a:gd name="adj2" fmla="val -74769"/>
              <a:gd name="adj3" fmla="val 16667"/>
            </a:avLst>
          </a:prstGeom>
          <a:solidFill>
            <a:srgbClr val="00B0F0"/>
          </a:solidFill>
          <a:ln>
            <a:noFill/>
            <a:headEnd/>
            <a:tailE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bg-BG" sz="2400" b="1" dirty="0">
                <a:latin typeface="Comfortaa" pitchFamily="2" charset="0"/>
              </a:rPr>
              <a:t>Име</a:t>
            </a:r>
          </a:p>
        </p:txBody>
      </p:sp>
    </p:spTree>
    <p:extLst>
      <p:ext uri="{BB962C8B-B14F-4D97-AF65-F5344CB8AC3E}">
        <p14:creationId xmlns:p14="http://schemas.microsoft.com/office/powerpoint/2010/main" val="3680064828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468483" y="1707397"/>
            <a:ext cx="5579407" cy="2061153"/>
          </a:xfrm>
        </p:spPr>
        <p:txBody>
          <a:bodyPr/>
          <a:lstStyle/>
          <a:p>
            <a:pPr marL="0" indent="0">
              <a:buNone/>
            </a:pPr>
            <a:r>
              <a:rPr lang="bg-BG" dirty="0">
                <a:latin typeface="Comfortaa" pitchFamily="2" charset="0"/>
              </a:rPr>
              <a:t>Имплементацията на</a:t>
            </a:r>
            <a:br>
              <a:rPr lang="en-US" dirty="0">
                <a:latin typeface="Comfortaa" pitchFamily="2" charset="0"/>
              </a:rPr>
            </a:br>
            <a:r>
              <a:rPr lang="en-US" dirty="0">
                <a:latin typeface="Comfortaa" pitchFamily="2" charset="0"/>
              </a:rPr>
              <a:t>Print()</a:t>
            </a:r>
            <a:r>
              <a:rPr lang="bg-BG" dirty="0">
                <a:latin typeface="Comfortaa" pitchFamily="2" charset="0"/>
              </a:rPr>
              <a:t> се задава</a:t>
            </a:r>
            <a:br>
              <a:rPr lang="en-US" dirty="0">
                <a:latin typeface="Comfortaa" pitchFamily="2" charset="0"/>
              </a:rPr>
            </a:br>
            <a:r>
              <a:rPr lang="bg-BG" dirty="0">
                <a:latin typeface="Comfortaa" pitchFamily="2" charset="0"/>
              </a:rPr>
              <a:t>в класа </a:t>
            </a:r>
            <a:r>
              <a:rPr lang="en-US" dirty="0">
                <a:latin typeface="Comfortaa" pitchFamily="2" charset="0"/>
              </a:rPr>
              <a:t>Document</a:t>
            </a:r>
          </a:p>
        </p:txBody>
      </p:sp>
      <p:sp>
        <p:nvSpPr>
          <p:cNvPr id="7936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6528" y="805312"/>
            <a:ext cx="10515600" cy="757093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Пример за интерфейс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5714328" y="1757536"/>
            <a:ext cx="5867400" cy="1815882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fontAlgn="base"/>
            <a:r>
              <a:rPr lang="en-US" sz="28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public interface 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IPrintable</a:t>
            </a:r>
          </a:p>
          <a:p>
            <a:pPr fontAlgn="base"/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fontAlgn="base"/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void Print();</a:t>
            </a:r>
          </a:p>
          <a:p>
            <a:pPr fontAlgn="base"/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456528" y="3768550"/>
            <a:ext cx="11182725" cy="2554545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fontAlgn="base"/>
            <a:r>
              <a:rPr lang="en-US" sz="3200" b="1" noProof="1">
                <a:solidFill>
                  <a:schemeClr val="bg1"/>
                </a:solidFill>
                <a:latin typeface="Consolas" pitchFamily="49" charset="0"/>
              </a:rPr>
              <a:t>class Document : IPrintable</a:t>
            </a:r>
          </a:p>
          <a:p>
            <a:pPr fontAlgn="base"/>
            <a:r>
              <a:rPr lang="en-US" sz="3200" b="1" noProof="1">
                <a:solidFill>
                  <a:schemeClr val="bg1"/>
                </a:solidFill>
                <a:latin typeface="Consolas" pitchFamily="49" charset="0"/>
              </a:rPr>
              <a:t>{  </a:t>
            </a:r>
          </a:p>
          <a:p>
            <a:pPr fontAlgn="base"/>
            <a:r>
              <a:rPr lang="en-US" sz="3200" b="1" noProof="1">
                <a:solidFill>
                  <a:schemeClr val="bg1"/>
                </a:solidFill>
                <a:latin typeface="Consolas" pitchFamily="49" charset="0"/>
              </a:rPr>
              <a:t>  public void </a:t>
            </a:r>
            <a:r>
              <a:rPr lang="en-US" sz="3200" b="1" noProof="1">
                <a:solidFill>
                  <a:srgbClr val="00B0F0"/>
                </a:solidFill>
                <a:latin typeface="Consolas" pitchFamily="49" charset="0"/>
              </a:rPr>
              <a:t>Print() </a:t>
            </a:r>
          </a:p>
          <a:p>
            <a:pPr fontAlgn="base"/>
            <a:r>
              <a:rPr lang="en-US" sz="3200" b="1" noProof="1">
                <a:solidFill>
                  <a:schemeClr val="bg1"/>
                </a:solidFill>
                <a:latin typeface="Consolas" pitchFamily="49" charset="0"/>
              </a:rPr>
              <a:t>  { Console.ReadLine("Hello"); }</a:t>
            </a:r>
          </a:p>
          <a:p>
            <a:pPr fontAlgn="base"/>
            <a:r>
              <a:rPr lang="en-US" sz="3200" b="1" noProof="1">
                <a:solidFill>
                  <a:schemeClr val="bg1"/>
                </a:solidFill>
                <a:latin typeface="Consolas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07569712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1022472" y="1116315"/>
            <a:ext cx="10103906" cy="5343861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Връзка между класове и интерфейси</a:t>
            </a:r>
            <a:endParaRPr lang="en-US" dirty="0">
              <a:latin typeface="Comfortaa" pitchFamily="2" charset="0"/>
            </a:endParaRPr>
          </a:p>
          <a:p>
            <a:endParaRPr lang="en-US" dirty="0">
              <a:latin typeface="Comfortaa" pitchFamily="2" charset="0"/>
            </a:endParaRPr>
          </a:p>
          <a:p>
            <a:endParaRPr lang="en-US" dirty="0">
              <a:latin typeface="Comfortaa" pitchFamily="2" charset="0"/>
            </a:endParaRPr>
          </a:p>
          <a:p>
            <a:endParaRPr lang="en-US" dirty="0">
              <a:latin typeface="Comfortaa" pitchFamily="2" charset="0"/>
            </a:endParaRPr>
          </a:p>
          <a:p>
            <a:endParaRPr lang="en-US" dirty="0">
              <a:latin typeface="Comfortaa" pitchFamily="2" charset="0"/>
            </a:endParaRPr>
          </a:p>
          <a:p>
            <a:endParaRPr lang="en-US" sz="2000" dirty="0"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Множествено наследяване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793602" name="Rectangle 2"/>
          <p:cNvSpPr>
            <a:spLocks noGrp="1" noChangeArrowheads="1"/>
          </p:cNvSpPr>
          <p:nvPr>
            <p:ph type="title"/>
          </p:nvPr>
        </p:nvSpPr>
        <p:spPr>
          <a:xfrm>
            <a:off x="1069769" y="241765"/>
            <a:ext cx="9839449" cy="872168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Множествено наследяване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23" name="Text Box 18"/>
          <p:cNvSpPr txBox="1">
            <a:spLocks noChangeArrowheads="1"/>
          </p:cNvSpPr>
          <p:nvPr/>
        </p:nvSpPr>
        <p:spPr bwMode="auto">
          <a:xfrm>
            <a:off x="4800601" y="1905001"/>
            <a:ext cx="2146218" cy="427473"/>
          </a:xfrm>
          <a:prstGeom prst="roundRect">
            <a:avLst/>
          </a:prstGeom>
          <a:solidFill>
            <a:srgbClr val="00B0F0"/>
          </a:solidFill>
          <a:ln>
            <a:noFill/>
            <a:headEnd/>
            <a:tailE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lnSpc>
                <a:spcPct val="95000"/>
              </a:lnSpc>
              <a:defRPr/>
            </a:pPr>
            <a:r>
              <a:rPr lang="bg-BG" b="1" noProof="1">
                <a:latin typeface="Comfortaa" pitchFamily="2" charset="0"/>
              </a:rPr>
              <a:t>Интерфейс</a:t>
            </a:r>
            <a:endParaRPr lang="en-US" b="1" noProof="1">
              <a:latin typeface="Comfortaa" pitchFamily="2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404926" y="2394985"/>
            <a:ext cx="27831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2400" dirty="0">
                <a:solidFill>
                  <a:srgbClr val="00B0F0"/>
                </a:solidFill>
                <a:latin typeface="Comfortaa" pitchFamily="2" charset="0"/>
              </a:rPr>
              <a:t>имплементира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4450" y="2384805"/>
            <a:ext cx="20585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2400" dirty="0">
                <a:solidFill>
                  <a:srgbClr val="00B0F0"/>
                </a:solidFill>
                <a:latin typeface="Comfortaa" pitchFamily="2" charset="0"/>
              </a:rPr>
              <a:t>разширява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67801" y="2389529"/>
            <a:ext cx="205857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2400" dirty="0">
                <a:solidFill>
                  <a:srgbClr val="00B0F0"/>
                </a:solidFill>
                <a:latin typeface="Comfortaa" pitchFamily="2" charset="0"/>
              </a:rPr>
              <a:t>разширява</a:t>
            </a:r>
          </a:p>
          <a:p>
            <a:endParaRPr lang="bg-BG" sz="2400" dirty="0">
              <a:solidFill>
                <a:srgbClr val="00B0F0"/>
              </a:solidFill>
              <a:latin typeface="Comfortaa" pitchFamily="2" charset="0"/>
            </a:endParaRPr>
          </a:p>
        </p:txBody>
      </p:sp>
      <p:cxnSp>
        <p:nvCxnSpPr>
          <p:cNvPr id="29" name="Straight Arrow Connector 28"/>
          <p:cNvCxnSpPr>
            <a:cxnSpLocks/>
          </p:cNvCxnSpPr>
          <p:nvPr/>
        </p:nvCxnSpPr>
        <p:spPr>
          <a:xfrm flipV="1">
            <a:off x="1371601" y="2350266"/>
            <a:ext cx="1" cy="695027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Box 18"/>
          <p:cNvSpPr txBox="1">
            <a:spLocks noChangeArrowheads="1"/>
          </p:cNvSpPr>
          <p:nvPr/>
        </p:nvSpPr>
        <p:spPr bwMode="auto">
          <a:xfrm>
            <a:off x="8468928" y="3046066"/>
            <a:ext cx="2146218" cy="439968"/>
          </a:xfrm>
          <a:prstGeom prst="roundRect">
            <a:avLst/>
          </a:prstGeom>
          <a:solidFill>
            <a:srgbClr val="00B0F0"/>
          </a:solidFill>
          <a:ln>
            <a:noFill/>
            <a:headEnd/>
            <a:tailE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lnSpc>
                <a:spcPct val="95000"/>
              </a:lnSpc>
              <a:defRPr/>
            </a:pPr>
            <a:r>
              <a:rPr lang="bg-BG" b="1" noProof="1">
                <a:latin typeface="Comfortaa" pitchFamily="2" charset="0"/>
              </a:rPr>
              <a:t>Интерфейс</a:t>
            </a:r>
            <a:endParaRPr lang="en-US" b="1" noProof="1">
              <a:latin typeface="Comfortaa" pitchFamily="2" charset="0"/>
            </a:endParaRPr>
          </a:p>
        </p:txBody>
      </p:sp>
      <p:sp>
        <p:nvSpPr>
          <p:cNvPr id="33" name="Text Box 18"/>
          <p:cNvSpPr txBox="1">
            <a:spLocks noChangeArrowheads="1"/>
          </p:cNvSpPr>
          <p:nvPr/>
        </p:nvSpPr>
        <p:spPr bwMode="auto">
          <a:xfrm>
            <a:off x="8468928" y="1909211"/>
            <a:ext cx="2146218" cy="423263"/>
          </a:xfrm>
          <a:prstGeom prst="roundRect">
            <a:avLst/>
          </a:prstGeom>
          <a:solidFill>
            <a:srgbClr val="00B0F0"/>
          </a:solidFill>
          <a:ln>
            <a:noFill/>
            <a:headEnd/>
            <a:tailE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lnSpc>
                <a:spcPct val="95000"/>
              </a:lnSpc>
              <a:defRPr/>
            </a:pPr>
            <a:r>
              <a:rPr lang="bg-BG" b="1" noProof="1">
                <a:latin typeface="Comfortaa" pitchFamily="2" charset="0"/>
              </a:rPr>
              <a:t>Интерфейс</a:t>
            </a:r>
            <a:endParaRPr lang="en-US" b="1" noProof="1">
              <a:latin typeface="Comfortaa" pitchFamily="2" charset="0"/>
            </a:endParaRPr>
          </a:p>
        </p:txBody>
      </p:sp>
      <p:sp>
        <p:nvSpPr>
          <p:cNvPr id="34" name="Text Box 18"/>
          <p:cNvSpPr txBox="1">
            <a:spLocks noChangeArrowheads="1"/>
          </p:cNvSpPr>
          <p:nvPr/>
        </p:nvSpPr>
        <p:spPr bwMode="auto">
          <a:xfrm>
            <a:off x="4800601" y="3063086"/>
            <a:ext cx="2146218" cy="422949"/>
          </a:xfrm>
          <a:prstGeom prst="roundRect">
            <a:avLst/>
          </a:prstGeom>
          <a:solidFill>
            <a:srgbClr val="00B0F0"/>
          </a:solidFill>
          <a:ln>
            <a:noFill/>
            <a:headEnd/>
            <a:tailE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lnSpc>
                <a:spcPct val="95000"/>
              </a:lnSpc>
              <a:defRPr/>
            </a:pPr>
            <a:r>
              <a:rPr lang="bg-BG" b="1" noProof="1">
                <a:latin typeface="Comfortaa" pitchFamily="2" charset="0"/>
              </a:rPr>
              <a:t>Клас</a:t>
            </a:r>
            <a:endParaRPr lang="en-US" b="1" noProof="1">
              <a:latin typeface="Comfortaa" pitchFamily="2" charset="0"/>
            </a:endParaRPr>
          </a:p>
        </p:txBody>
      </p:sp>
      <p:sp>
        <p:nvSpPr>
          <p:cNvPr id="35" name="Text Box 18"/>
          <p:cNvSpPr txBox="1">
            <a:spLocks noChangeArrowheads="1"/>
          </p:cNvSpPr>
          <p:nvPr/>
        </p:nvSpPr>
        <p:spPr bwMode="auto">
          <a:xfrm>
            <a:off x="1127136" y="3063086"/>
            <a:ext cx="2146218" cy="422949"/>
          </a:xfrm>
          <a:prstGeom prst="roundRect">
            <a:avLst/>
          </a:prstGeom>
          <a:solidFill>
            <a:srgbClr val="00B0F0"/>
          </a:solidFill>
          <a:ln>
            <a:noFill/>
            <a:headEnd/>
            <a:tailE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lnSpc>
                <a:spcPct val="95000"/>
              </a:lnSpc>
              <a:defRPr/>
            </a:pPr>
            <a:r>
              <a:rPr lang="bg-BG" b="1" noProof="1">
                <a:latin typeface="Comfortaa" pitchFamily="2" charset="0"/>
              </a:rPr>
              <a:t>Клас</a:t>
            </a:r>
            <a:endParaRPr lang="en-US" b="1" noProof="1">
              <a:latin typeface="Comfortaa" pitchFamily="2" charset="0"/>
            </a:endParaRPr>
          </a:p>
        </p:txBody>
      </p:sp>
      <p:sp>
        <p:nvSpPr>
          <p:cNvPr id="36" name="Text Box 18"/>
          <p:cNvSpPr txBox="1">
            <a:spLocks noChangeArrowheads="1"/>
          </p:cNvSpPr>
          <p:nvPr/>
        </p:nvSpPr>
        <p:spPr bwMode="auto">
          <a:xfrm>
            <a:off x="1132273" y="1905001"/>
            <a:ext cx="2146218" cy="427473"/>
          </a:xfrm>
          <a:prstGeom prst="roundRect">
            <a:avLst/>
          </a:prstGeom>
          <a:solidFill>
            <a:srgbClr val="00B0F0"/>
          </a:solidFill>
          <a:ln>
            <a:noFill/>
            <a:headEnd/>
            <a:tailE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lnSpc>
                <a:spcPct val="95000"/>
              </a:lnSpc>
              <a:defRPr/>
            </a:pPr>
            <a:r>
              <a:rPr lang="bg-BG" b="1" noProof="1">
                <a:latin typeface="Comfortaa" pitchFamily="2" charset="0"/>
              </a:rPr>
              <a:t>Клас</a:t>
            </a:r>
            <a:endParaRPr lang="en-US" b="1" noProof="1">
              <a:latin typeface="Comfortaa" pitchFamily="2" charset="0"/>
            </a:endParaRPr>
          </a:p>
        </p:txBody>
      </p:sp>
      <p:sp>
        <p:nvSpPr>
          <p:cNvPr id="39" name="Text Box 18"/>
          <p:cNvSpPr txBox="1">
            <a:spLocks noChangeArrowheads="1"/>
          </p:cNvSpPr>
          <p:nvPr/>
        </p:nvSpPr>
        <p:spPr bwMode="auto">
          <a:xfrm>
            <a:off x="1887834" y="5904056"/>
            <a:ext cx="2146218" cy="457200"/>
          </a:xfrm>
          <a:prstGeom prst="roundRect">
            <a:avLst/>
          </a:prstGeom>
          <a:solidFill>
            <a:srgbClr val="00B0F0"/>
          </a:solidFill>
          <a:ln>
            <a:noFill/>
            <a:headEnd/>
            <a:tailE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lnSpc>
                <a:spcPct val="95000"/>
              </a:lnSpc>
              <a:defRPr/>
            </a:pPr>
            <a:r>
              <a:rPr lang="bg-BG" b="1" noProof="1">
                <a:latin typeface="Comfortaa" pitchFamily="2" charset="0"/>
              </a:rPr>
              <a:t>Клас</a:t>
            </a:r>
            <a:endParaRPr lang="en-US" b="1" noProof="1">
              <a:latin typeface="Comfortaa" pitchFamily="2" charset="0"/>
            </a:endParaRPr>
          </a:p>
        </p:txBody>
      </p:sp>
      <p:sp>
        <p:nvSpPr>
          <p:cNvPr id="42" name="Text Box 18"/>
          <p:cNvSpPr txBox="1">
            <a:spLocks noChangeArrowheads="1"/>
          </p:cNvSpPr>
          <p:nvPr/>
        </p:nvSpPr>
        <p:spPr bwMode="auto">
          <a:xfrm>
            <a:off x="3107034" y="4711989"/>
            <a:ext cx="2146218" cy="475766"/>
          </a:xfrm>
          <a:prstGeom prst="roundRect">
            <a:avLst/>
          </a:prstGeom>
          <a:solidFill>
            <a:srgbClr val="00B0F0"/>
          </a:solidFill>
          <a:ln>
            <a:noFill/>
            <a:headEnd/>
            <a:tailE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lnSpc>
                <a:spcPct val="95000"/>
              </a:lnSpc>
              <a:defRPr/>
            </a:pPr>
            <a:r>
              <a:rPr lang="bg-BG" b="1" noProof="1">
                <a:latin typeface="Comfortaa" pitchFamily="2" charset="0"/>
              </a:rPr>
              <a:t>Интерфейс</a:t>
            </a:r>
            <a:endParaRPr lang="en-US" b="1" noProof="1">
              <a:latin typeface="Comfortaa" pitchFamily="2" charset="0"/>
            </a:endParaRPr>
          </a:p>
        </p:txBody>
      </p:sp>
      <p:sp>
        <p:nvSpPr>
          <p:cNvPr id="43" name="Text Box 18"/>
          <p:cNvSpPr txBox="1">
            <a:spLocks noChangeArrowheads="1"/>
          </p:cNvSpPr>
          <p:nvPr/>
        </p:nvSpPr>
        <p:spPr bwMode="auto">
          <a:xfrm>
            <a:off x="509925" y="4713601"/>
            <a:ext cx="2146218" cy="475766"/>
          </a:xfrm>
          <a:prstGeom prst="roundRect">
            <a:avLst/>
          </a:prstGeom>
          <a:solidFill>
            <a:srgbClr val="00B0F0"/>
          </a:solidFill>
          <a:ln>
            <a:noFill/>
            <a:headEnd/>
            <a:tailE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lnSpc>
                <a:spcPct val="95000"/>
              </a:lnSpc>
              <a:defRPr/>
            </a:pPr>
            <a:r>
              <a:rPr lang="bg-BG" b="1" noProof="1">
                <a:latin typeface="Comfortaa" pitchFamily="2" charset="0"/>
              </a:rPr>
              <a:t>Интерфейс</a:t>
            </a:r>
            <a:endParaRPr lang="en-US" b="1" noProof="1">
              <a:latin typeface="Comfortaa" pitchFamily="2" charset="0"/>
            </a:endParaRPr>
          </a:p>
        </p:txBody>
      </p:sp>
      <p:sp>
        <p:nvSpPr>
          <p:cNvPr id="44" name="Text Box 18"/>
          <p:cNvSpPr txBox="1">
            <a:spLocks noChangeArrowheads="1"/>
          </p:cNvSpPr>
          <p:nvPr/>
        </p:nvSpPr>
        <p:spPr bwMode="auto">
          <a:xfrm>
            <a:off x="6128859" y="4711989"/>
            <a:ext cx="2146218" cy="475766"/>
          </a:xfrm>
          <a:prstGeom prst="roundRect">
            <a:avLst/>
          </a:prstGeom>
          <a:solidFill>
            <a:srgbClr val="00B0F0"/>
          </a:solidFill>
          <a:ln>
            <a:noFill/>
            <a:headEnd/>
            <a:tailE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lnSpc>
                <a:spcPct val="95000"/>
              </a:lnSpc>
              <a:defRPr/>
            </a:pPr>
            <a:r>
              <a:rPr lang="bg-BG" b="1" noProof="1">
                <a:latin typeface="Comfortaa" pitchFamily="2" charset="0"/>
              </a:rPr>
              <a:t>Интерфейс</a:t>
            </a:r>
            <a:endParaRPr lang="en-US" b="1" noProof="1">
              <a:latin typeface="Comfortaa" pitchFamily="2" charset="0"/>
            </a:endParaRPr>
          </a:p>
        </p:txBody>
      </p:sp>
      <p:sp>
        <p:nvSpPr>
          <p:cNvPr id="45" name="Text Box 18"/>
          <p:cNvSpPr txBox="1">
            <a:spLocks noChangeArrowheads="1"/>
          </p:cNvSpPr>
          <p:nvPr/>
        </p:nvSpPr>
        <p:spPr bwMode="auto">
          <a:xfrm>
            <a:off x="8745834" y="4711989"/>
            <a:ext cx="2146218" cy="475766"/>
          </a:xfrm>
          <a:prstGeom prst="roundRect">
            <a:avLst/>
          </a:prstGeom>
          <a:solidFill>
            <a:srgbClr val="00B0F0"/>
          </a:solidFill>
          <a:ln>
            <a:noFill/>
            <a:headEnd/>
            <a:tailE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lnSpc>
                <a:spcPct val="95000"/>
              </a:lnSpc>
              <a:defRPr/>
            </a:pPr>
            <a:r>
              <a:rPr lang="bg-BG" b="1" noProof="1">
                <a:latin typeface="Comfortaa" pitchFamily="2" charset="0"/>
              </a:rPr>
              <a:t>Интерфейс</a:t>
            </a:r>
            <a:endParaRPr lang="en-US" b="1" noProof="1">
              <a:latin typeface="Comfortaa" pitchFamily="2" charset="0"/>
            </a:endParaRPr>
          </a:p>
        </p:txBody>
      </p:sp>
      <p:sp>
        <p:nvSpPr>
          <p:cNvPr id="46" name="Text Box 18"/>
          <p:cNvSpPr txBox="1">
            <a:spLocks noChangeArrowheads="1"/>
          </p:cNvSpPr>
          <p:nvPr/>
        </p:nvSpPr>
        <p:spPr bwMode="auto">
          <a:xfrm>
            <a:off x="7415165" y="5885490"/>
            <a:ext cx="2146218" cy="475766"/>
          </a:xfrm>
          <a:prstGeom prst="roundRect">
            <a:avLst/>
          </a:prstGeom>
          <a:solidFill>
            <a:srgbClr val="00B0F0"/>
          </a:solidFill>
          <a:ln>
            <a:noFill/>
            <a:headEnd/>
            <a:tailE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lnSpc>
                <a:spcPct val="95000"/>
              </a:lnSpc>
              <a:defRPr/>
            </a:pPr>
            <a:r>
              <a:rPr lang="bg-BG" b="1" noProof="1">
                <a:latin typeface="Comfortaa" pitchFamily="2" charset="0"/>
              </a:rPr>
              <a:t>Интерфейс</a:t>
            </a:r>
            <a:endParaRPr lang="en-US" b="1" noProof="1">
              <a:latin typeface="Comfortaa" pitchFamily="2" charset="0"/>
            </a:endParaRPr>
          </a:p>
        </p:txBody>
      </p:sp>
      <p:cxnSp>
        <p:nvCxnSpPr>
          <p:cNvPr id="47" name="Straight Arrow Connector 46"/>
          <p:cNvCxnSpPr>
            <a:cxnSpLocks/>
          </p:cNvCxnSpPr>
          <p:nvPr/>
        </p:nvCxnSpPr>
        <p:spPr>
          <a:xfrm flipV="1">
            <a:off x="8861333" y="2335183"/>
            <a:ext cx="1" cy="695027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cxnSpLocks/>
          </p:cNvCxnSpPr>
          <p:nvPr/>
        </p:nvCxnSpPr>
        <p:spPr>
          <a:xfrm flipV="1">
            <a:off x="5181601" y="2347733"/>
            <a:ext cx="1" cy="695027"/>
          </a:xfrm>
          <a:prstGeom prst="straightConnector1">
            <a:avLst/>
          </a:prstGeom>
          <a:ln w="38100">
            <a:solidFill>
              <a:srgbClr val="00B0F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cxnSpLocks/>
            <a:endCxn id="43" idx="2"/>
          </p:cNvCxnSpPr>
          <p:nvPr/>
        </p:nvCxnSpPr>
        <p:spPr>
          <a:xfrm flipH="1" flipV="1">
            <a:off x="1583034" y="5189367"/>
            <a:ext cx="1355944" cy="714688"/>
          </a:xfrm>
          <a:prstGeom prst="straightConnector1">
            <a:avLst/>
          </a:prstGeom>
          <a:ln w="38100">
            <a:solidFill>
              <a:srgbClr val="00B0F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cxnSpLocks/>
            <a:stCxn id="39" idx="0"/>
            <a:endCxn id="42" idx="2"/>
          </p:cNvCxnSpPr>
          <p:nvPr/>
        </p:nvCxnSpPr>
        <p:spPr>
          <a:xfrm flipV="1">
            <a:off x="2960943" y="5187756"/>
            <a:ext cx="1219200" cy="716301"/>
          </a:xfrm>
          <a:prstGeom prst="straightConnector1">
            <a:avLst/>
          </a:prstGeom>
          <a:ln w="38100">
            <a:solidFill>
              <a:srgbClr val="00B0F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cxnSpLocks/>
            <a:stCxn id="46" idx="0"/>
            <a:endCxn id="45" idx="2"/>
          </p:cNvCxnSpPr>
          <p:nvPr/>
        </p:nvCxnSpPr>
        <p:spPr>
          <a:xfrm flipV="1">
            <a:off x="8488275" y="5187756"/>
            <a:ext cx="1330669" cy="697735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cxnSpLocks/>
            <a:stCxn id="46" idx="0"/>
          </p:cNvCxnSpPr>
          <p:nvPr/>
        </p:nvCxnSpPr>
        <p:spPr>
          <a:xfrm flipH="1" flipV="1">
            <a:off x="7144580" y="5168834"/>
            <a:ext cx="1343694" cy="716656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9507835" y="5265552"/>
            <a:ext cx="20585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2400" dirty="0">
                <a:solidFill>
                  <a:srgbClr val="00B0F0"/>
                </a:solidFill>
                <a:latin typeface="Comfortaa" pitchFamily="2" charset="0"/>
              </a:rPr>
              <a:t>разширява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36057" y="5284295"/>
            <a:ext cx="27831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2400" dirty="0">
                <a:solidFill>
                  <a:srgbClr val="00B0F0"/>
                </a:solidFill>
                <a:latin typeface="Comfortaa" pitchFamily="2" charset="0"/>
              </a:rPr>
              <a:t>имплементира</a:t>
            </a:r>
          </a:p>
        </p:txBody>
      </p:sp>
    </p:spTree>
    <p:extLst>
      <p:ext uri="{BB962C8B-B14F-4D97-AF65-F5344CB8AC3E}">
        <p14:creationId xmlns:p14="http://schemas.microsoft.com/office/powerpoint/2010/main" val="1959746367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811780" y="1411959"/>
            <a:ext cx="8462849" cy="2827112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Създайте проект, който съдържа интерфейс за рисуваеми обекти</a:t>
            </a:r>
            <a:endParaRPr lang="en-US" dirty="0">
              <a:latin typeface="Comfortaa" pitchFamily="2" charset="0"/>
            </a:endParaRPr>
          </a:p>
          <a:p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Имплементирайте</a:t>
            </a:r>
            <a:r>
              <a:rPr lang="bg-BG" dirty="0">
                <a:latin typeface="Comfortaa" pitchFamily="2" charset="0"/>
              </a:rPr>
              <a:t> два типа фигури</a:t>
            </a:r>
            <a:r>
              <a:rPr lang="en-US" dirty="0">
                <a:latin typeface="Comfortaa" pitchFamily="2" charset="0"/>
              </a:rPr>
              <a:t>: </a:t>
            </a:r>
            <a:br>
              <a:rPr lang="en-US" dirty="0">
                <a:latin typeface="Comfortaa" pitchFamily="2" charset="0"/>
              </a:rPr>
            </a:b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кръг</a:t>
            </a:r>
            <a:r>
              <a:rPr lang="bg-BG" dirty="0">
                <a:latin typeface="Comfortaa" pitchFamily="2" charset="0"/>
              </a:rPr>
              <a:t> и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правоъгълник</a:t>
            </a:r>
            <a:endParaRPr lang="en-US" b="1" dirty="0">
              <a:solidFill>
                <a:srgbClr val="00B0F0"/>
              </a:solidFill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И двата класа трябва да отпечатват на конзолата фигурата си със</a:t>
            </a:r>
            <a:r>
              <a:rPr lang="en-US" dirty="0">
                <a:latin typeface="Comfortaa" pitchFamily="2" charset="0"/>
              </a:rPr>
              <a:t> "*".</a:t>
            </a:r>
          </a:p>
        </p:txBody>
      </p:sp>
      <p:sp>
        <p:nvSpPr>
          <p:cNvPr id="793602" name="Rectangle 2"/>
          <p:cNvSpPr>
            <a:spLocks noGrp="1" noChangeArrowheads="1"/>
          </p:cNvSpPr>
          <p:nvPr>
            <p:ph type="title"/>
          </p:nvPr>
        </p:nvSpPr>
        <p:spPr>
          <a:xfrm>
            <a:off x="811780" y="588012"/>
            <a:ext cx="9606148" cy="863712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Задача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bg-BG" dirty="0">
                <a:latin typeface="Comfortaa" pitchFamily="2" charset="0"/>
              </a:rPr>
              <a:t>Фигури</a:t>
            </a:r>
            <a:endParaRPr lang="en-US" dirty="0">
              <a:latin typeface="Comfortaa" pitchFamily="2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4290697" y="4603090"/>
            <a:ext cx="3598731" cy="1630467"/>
            <a:chOff x="-307258" y="1714897"/>
            <a:chExt cx="1971792" cy="1630467"/>
          </a:xfrm>
        </p:grpSpPr>
        <p:sp>
          <p:nvSpPr>
            <p:cNvPr id="9" name="Rectangle 3"/>
            <p:cNvSpPr>
              <a:spLocks noChangeArrowheads="1"/>
            </p:cNvSpPr>
            <p:nvPr/>
          </p:nvSpPr>
          <p:spPr bwMode="auto">
            <a:xfrm>
              <a:off x="-306388" y="1714897"/>
              <a:ext cx="1970922" cy="1066800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108000" tIns="108000" rIns="108000" bIns="108000">
              <a:noAutofit/>
            </a:bodyPr>
            <a:lstStyle/>
            <a:p>
              <a:pPr algn="ctr" eaLnBrk="0" hangingPunct="0">
                <a:lnSpc>
                  <a:spcPts val="3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800" b="1" noProof="1">
                  <a:latin typeface="Consolas" panose="020B0609020204030204" pitchFamily="49" charset="0"/>
                </a:rPr>
                <a:t>&lt;&lt;Drawable&gt;&gt;</a:t>
              </a:r>
            </a:p>
            <a:p>
              <a:pPr algn="ctr" eaLnBrk="0" hangingPunct="0">
                <a:lnSpc>
                  <a:spcPts val="3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800" b="1" noProof="1">
                  <a:latin typeface="Consolas" panose="020B0609020204030204" pitchFamily="49" charset="0"/>
                </a:rPr>
                <a:t>Circle</a:t>
              </a:r>
              <a:endParaRPr lang="en-US" b="1" noProof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0" name="Rectangle 4"/>
            <p:cNvSpPr>
              <a:spLocks noChangeArrowheads="1"/>
            </p:cNvSpPr>
            <p:nvPr/>
          </p:nvSpPr>
          <p:spPr bwMode="auto">
            <a:xfrm>
              <a:off x="-307258" y="2781697"/>
              <a:ext cx="1970922" cy="563667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108000" tIns="108000" rIns="108000" bIns="108000">
              <a:noAutofit/>
            </a:bodyPr>
            <a:lstStyle/>
            <a:p>
              <a:pPr eaLnBrk="0" hangingPunct="0">
                <a:lnSpc>
                  <a:spcPts val="3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bg-BG" sz="2800" b="1" noProof="1">
                  <a:latin typeface="Consolas" panose="020B0609020204030204" pitchFamily="49" charset="0"/>
                </a:rPr>
                <a:t>+</a:t>
              </a:r>
              <a:r>
                <a:rPr lang="en-US" sz="2800" b="1" noProof="1">
                  <a:latin typeface="Consolas" panose="020B0609020204030204" pitchFamily="49" charset="0"/>
                </a:rPr>
                <a:t>Radius: int</a:t>
              </a:r>
              <a:endParaRPr lang="en-US" sz="2000" b="1" noProof="1">
                <a:latin typeface="Consolas" panose="020B0609020204030204" pitchFamily="49" charset="0"/>
              </a:endParaRP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8238207" y="4221981"/>
            <a:ext cx="3429001" cy="2011576"/>
            <a:chOff x="-306388" y="1581920"/>
            <a:chExt cx="1878795" cy="2011576"/>
          </a:xfrm>
        </p:grpSpPr>
        <p:sp>
          <p:nvSpPr>
            <p:cNvPr id="17" name="Rectangle 3"/>
            <p:cNvSpPr>
              <a:spLocks noChangeArrowheads="1"/>
            </p:cNvSpPr>
            <p:nvPr/>
          </p:nvSpPr>
          <p:spPr bwMode="auto">
            <a:xfrm>
              <a:off x="-306388" y="1581920"/>
              <a:ext cx="1878795" cy="1066800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108000" tIns="108000" rIns="108000" bIns="108000">
              <a:noAutofit/>
            </a:bodyPr>
            <a:lstStyle/>
            <a:p>
              <a:pPr algn="ctr" eaLnBrk="0" hangingPunct="0">
                <a:lnSpc>
                  <a:spcPts val="3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800" b="1" noProof="1">
                  <a:latin typeface="Consolas" panose="020B0609020204030204" pitchFamily="49" charset="0"/>
                </a:rPr>
                <a:t>&lt;&lt;Drawable&gt;&gt;</a:t>
              </a:r>
            </a:p>
            <a:p>
              <a:pPr algn="ctr" eaLnBrk="0" hangingPunct="0">
                <a:lnSpc>
                  <a:spcPts val="3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800" b="1" noProof="1">
                  <a:latin typeface="Consolas" panose="020B0609020204030204" pitchFamily="49" charset="0"/>
                </a:rPr>
                <a:t>Rectangle</a:t>
              </a:r>
            </a:p>
          </p:txBody>
        </p:sp>
        <p:sp>
          <p:nvSpPr>
            <p:cNvPr id="20" name="Rectangle 4"/>
            <p:cNvSpPr>
              <a:spLocks noChangeArrowheads="1"/>
            </p:cNvSpPr>
            <p:nvPr/>
          </p:nvSpPr>
          <p:spPr bwMode="auto">
            <a:xfrm>
              <a:off x="-306388" y="2651771"/>
              <a:ext cx="1878795" cy="941725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108000" tIns="108000" rIns="108000" bIns="108000">
              <a:noAutofit/>
            </a:bodyPr>
            <a:lstStyle/>
            <a:p>
              <a:pPr eaLnBrk="0" hangingPunct="0">
                <a:lnSpc>
                  <a:spcPts val="3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800" b="1" noProof="1">
                  <a:latin typeface="Consolas" panose="020B0609020204030204" pitchFamily="49" charset="0"/>
                </a:rPr>
                <a:t>-Width: int</a:t>
              </a:r>
            </a:p>
            <a:p>
              <a:pPr eaLnBrk="0" hangingPunct="0">
                <a:lnSpc>
                  <a:spcPts val="3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800" b="1" noProof="1">
                  <a:latin typeface="Consolas" panose="020B0609020204030204" pitchFamily="49" charset="0"/>
                </a:rPr>
                <a:t>-Height: int</a:t>
              </a: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762300" y="4603090"/>
            <a:ext cx="3178030" cy="1630467"/>
            <a:chOff x="5561362" y="1464774"/>
            <a:chExt cx="3124200" cy="1523811"/>
          </a:xfrm>
        </p:grpSpPr>
        <p:sp>
          <p:nvSpPr>
            <p:cNvPr id="38" name="Rectangle 3"/>
            <p:cNvSpPr>
              <a:spLocks noChangeArrowheads="1"/>
            </p:cNvSpPr>
            <p:nvPr/>
          </p:nvSpPr>
          <p:spPr bwMode="auto">
            <a:xfrm>
              <a:off x="5561362" y="1464774"/>
              <a:ext cx="3124200" cy="945033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108000" tIns="108000" rIns="108000" bIns="108000">
              <a:noAutofit/>
            </a:bodyPr>
            <a:lstStyle/>
            <a:p>
              <a:pPr algn="ctr" eaLnBrk="0" hangingPunct="0">
                <a:lnSpc>
                  <a:spcPts val="3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800" b="1" noProof="1">
                  <a:latin typeface="Consolas" panose="020B0609020204030204" pitchFamily="49" charset="0"/>
                </a:rPr>
                <a:t>&lt;&lt;interface&gt;&gt;</a:t>
              </a:r>
            </a:p>
            <a:p>
              <a:pPr algn="ctr" eaLnBrk="0" hangingPunct="0">
                <a:lnSpc>
                  <a:spcPts val="3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800" b="1" noProof="1">
                  <a:latin typeface="Consolas" panose="020B0609020204030204" pitchFamily="49" charset="0"/>
                </a:rPr>
                <a:t>Drawable</a:t>
              </a:r>
              <a:endParaRPr lang="en-US" b="1" noProof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37" name="Rectangle 4"/>
            <p:cNvSpPr>
              <a:spLocks noChangeArrowheads="1"/>
            </p:cNvSpPr>
            <p:nvPr/>
          </p:nvSpPr>
          <p:spPr bwMode="auto">
            <a:xfrm>
              <a:off x="5561362" y="2424918"/>
              <a:ext cx="3124200" cy="563667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108000" tIns="108000" rIns="108000" bIns="108000">
              <a:noAutofit/>
            </a:bodyPr>
            <a:lstStyle/>
            <a:p>
              <a:pPr eaLnBrk="0" hangingPunct="0">
                <a:lnSpc>
                  <a:spcPts val="3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800" b="1" noProof="1">
                  <a:latin typeface="Consolas" panose="020B0609020204030204" pitchFamily="49" charset="0"/>
                </a:rPr>
                <a:t>+Draw()</a:t>
              </a:r>
              <a:endParaRPr lang="en-US" sz="2000" b="1" noProof="1">
                <a:latin typeface="Consolas" panose="020B0609020204030204" pitchFamily="49" charset="0"/>
              </a:endParaRPr>
            </a:p>
          </p:txBody>
        </p:sp>
      </p:grpSp>
      <p:sp>
        <p:nvSpPr>
          <p:cNvPr id="34" name="Rectangle 33"/>
          <p:cNvSpPr/>
          <p:nvPr/>
        </p:nvSpPr>
        <p:spPr>
          <a:xfrm>
            <a:off x="9358218" y="1925703"/>
            <a:ext cx="1789588" cy="1311780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sz="2800"/>
          </a:p>
        </p:txBody>
      </p:sp>
      <p:sp>
        <p:nvSpPr>
          <p:cNvPr id="40" name="Oval 39"/>
          <p:cNvSpPr/>
          <p:nvPr/>
        </p:nvSpPr>
        <p:spPr>
          <a:xfrm>
            <a:off x="10669218" y="1501253"/>
            <a:ext cx="914400" cy="914400"/>
          </a:xfrm>
          <a:prstGeom prst="ellipse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sz="2800"/>
          </a:p>
        </p:txBody>
      </p:sp>
      <p:sp>
        <p:nvSpPr>
          <p:cNvPr id="47" name="Oval 46"/>
          <p:cNvSpPr/>
          <p:nvPr/>
        </p:nvSpPr>
        <p:spPr>
          <a:xfrm>
            <a:off x="9371754" y="2323083"/>
            <a:ext cx="914400" cy="914400"/>
          </a:xfrm>
          <a:prstGeom prst="ellipse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sz="2800"/>
          </a:p>
        </p:txBody>
      </p:sp>
    </p:spTree>
    <p:extLst>
      <p:ext uri="{BB962C8B-B14F-4D97-AF65-F5344CB8AC3E}">
        <p14:creationId xmlns:p14="http://schemas.microsoft.com/office/powerpoint/2010/main" val="2668586477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602" name="Rectangle 2"/>
          <p:cNvSpPr>
            <a:spLocks noGrp="1" noChangeArrowheads="1"/>
          </p:cNvSpPr>
          <p:nvPr>
            <p:ph type="title"/>
          </p:nvPr>
        </p:nvSpPr>
        <p:spPr>
          <a:xfrm>
            <a:off x="580900" y="712519"/>
            <a:ext cx="11125200" cy="811135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Решение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bg-BG" dirty="0">
                <a:latin typeface="Comfortaa" pitchFamily="2" charset="0"/>
              </a:rPr>
              <a:t>Фигури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580901" y="1653639"/>
            <a:ext cx="11125200" cy="1384995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fontAlgn="base"/>
            <a:r>
              <a:rPr lang="en-US" sz="28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public interface </a:t>
            </a:r>
            <a:r>
              <a:rPr lang="en-US" sz="2800" b="1" noProof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IDrawable</a:t>
            </a:r>
            <a:r>
              <a:rPr lang="en-US" sz="28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{</a:t>
            </a:r>
          </a:p>
          <a:p>
            <a:pPr fontAlgn="base"/>
            <a:r>
              <a:rPr lang="en-US" sz="28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void </a:t>
            </a:r>
            <a:r>
              <a:rPr lang="en-US" sz="2800" b="1" noProof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Draw</a:t>
            </a:r>
            <a:r>
              <a:rPr lang="en-US" sz="28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();</a:t>
            </a:r>
          </a:p>
          <a:p>
            <a:pPr fontAlgn="base"/>
            <a:r>
              <a:rPr lang="en-US" sz="28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}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580900" y="4837097"/>
            <a:ext cx="11125200" cy="1323439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fontAlgn="base"/>
            <a:r>
              <a:rPr lang="en-US" sz="28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public class Circle </a:t>
            </a:r>
            <a:r>
              <a:rPr lang="bg-BG" sz="28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:</a:t>
            </a:r>
            <a:r>
              <a:rPr lang="en-US" sz="28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</a:t>
            </a:r>
            <a:r>
              <a:rPr lang="en-US" sz="2800" b="1" noProof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IDrawable</a:t>
            </a:r>
            <a:r>
              <a:rPr lang="en-US" sz="28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{</a:t>
            </a:r>
          </a:p>
          <a:p>
            <a:pPr fontAlgn="base"/>
            <a:r>
              <a:rPr lang="en-US" sz="2400" b="1" noProof="1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//</a:t>
            </a:r>
            <a:r>
              <a:rPr lang="bg-BG" sz="2400" b="1" noProof="1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</a:t>
            </a:r>
            <a:r>
              <a:rPr lang="en-US" sz="2400" b="1" noProof="1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TODO: </a:t>
            </a:r>
            <a:r>
              <a:rPr lang="bg-BG" sz="2400" b="1" noProof="1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добавете полета и конструктор</a:t>
            </a:r>
          </a:p>
          <a:p>
            <a:pPr fontAlgn="base"/>
            <a:r>
              <a:rPr lang="en-US" sz="28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public void </a:t>
            </a:r>
            <a:r>
              <a:rPr lang="en-US" sz="2800" b="1" noProof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Draw</a:t>
            </a:r>
            <a:r>
              <a:rPr lang="en-US" sz="28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() { </a:t>
            </a:r>
            <a:r>
              <a:rPr lang="bg-BG" sz="28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…</a:t>
            </a:r>
            <a:endParaRPr lang="en-US" sz="2800" b="1" noProof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580900" y="3245368"/>
            <a:ext cx="11125200" cy="1323439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fontAlgn="base"/>
            <a:r>
              <a:rPr lang="en-US" sz="28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public class Rectangle : </a:t>
            </a:r>
            <a:r>
              <a:rPr lang="en-US" sz="2800" b="1" noProof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IDrawable</a:t>
            </a:r>
            <a:r>
              <a:rPr lang="en-US" sz="28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{</a:t>
            </a:r>
          </a:p>
          <a:p>
            <a:pPr fontAlgn="base"/>
            <a:r>
              <a:rPr lang="en-US" sz="2400" b="1" noProof="1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//</a:t>
            </a:r>
            <a:r>
              <a:rPr lang="bg-BG" sz="2400" b="1" noProof="1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</a:t>
            </a:r>
            <a:r>
              <a:rPr lang="en-US" sz="2400" b="1" noProof="1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TODO: </a:t>
            </a:r>
            <a:r>
              <a:rPr lang="bg-BG" sz="2400" b="1" noProof="1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добавете полета и конструктор</a:t>
            </a:r>
          </a:p>
          <a:p>
            <a:pPr fontAlgn="base"/>
            <a:r>
              <a:rPr lang="en-US" sz="28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public void </a:t>
            </a:r>
            <a:r>
              <a:rPr lang="en-US" sz="2800" b="1" noProof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Draw</a:t>
            </a:r>
            <a:r>
              <a:rPr lang="en-US" sz="28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() { </a:t>
            </a:r>
            <a:r>
              <a:rPr lang="bg-BG" sz="28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…</a:t>
            </a:r>
            <a:endParaRPr lang="en-US" sz="2800" b="1" noProof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4509522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602" name="Rectangle 2"/>
          <p:cNvSpPr>
            <a:spLocks noGrp="1" noChangeArrowheads="1"/>
          </p:cNvSpPr>
          <p:nvPr>
            <p:ph type="title"/>
          </p:nvPr>
        </p:nvSpPr>
        <p:spPr>
          <a:xfrm>
            <a:off x="783211" y="136523"/>
            <a:ext cx="10409284" cy="694614"/>
          </a:xfrm>
        </p:spPr>
        <p:txBody>
          <a:bodyPr>
            <a:normAutofit/>
          </a:bodyPr>
          <a:lstStyle/>
          <a:p>
            <a:r>
              <a:rPr lang="bg-BG" sz="3200" dirty="0">
                <a:latin typeface="Comfortaa" pitchFamily="2" charset="0"/>
              </a:rPr>
              <a:t>Решение</a:t>
            </a:r>
            <a:r>
              <a:rPr lang="en-US" sz="3200" dirty="0">
                <a:latin typeface="Comfortaa" pitchFamily="2" charset="0"/>
              </a:rPr>
              <a:t>: </a:t>
            </a:r>
            <a:r>
              <a:rPr lang="bg-BG" sz="3200" dirty="0">
                <a:latin typeface="Comfortaa" pitchFamily="2" charset="0"/>
              </a:rPr>
              <a:t>Фигури</a:t>
            </a:r>
            <a:r>
              <a:rPr lang="en-US" sz="3200" dirty="0">
                <a:latin typeface="Comfortaa" pitchFamily="2" charset="0"/>
              </a:rPr>
              <a:t> – </a:t>
            </a:r>
            <a:r>
              <a:rPr lang="bg-BG" sz="3200" dirty="0">
                <a:latin typeface="Comfortaa" pitchFamily="2" charset="0"/>
              </a:rPr>
              <a:t>Чертане на правоъгълник</a:t>
            </a:r>
            <a:endParaRPr lang="en-US" sz="3200" dirty="0">
              <a:latin typeface="Comfortaa" pitchFamily="2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783211" y="831136"/>
            <a:ext cx="10409284" cy="5693866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fontAlgn="base"/>
            <a:r>
              <a:rPr lang="en-US" sz="26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public void </a:t>
            </a:r>
            <a:r>
              <a:rPr lang="en-US" sz="2600" b="1" noProof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Draw</a:t>
            </a:r>
            <a:r>
              <a:rPr lang="en-US" sz="26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()</a:t>
            </a:r>
          </a:p>
          <a:p>
            <a:pPr fontAlgn="base"/>
            <a:r>
              <a:rPr lang="en-US" sz="26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{</a:t>
            </a:r>
          </a:p>
          <a:p>
            <a:pPr fontAlgn="base"/>
            <a:r>
              <a:rPr lang="en-US" sz="26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DrawLine(this.Width, '*', '*');</a:t>
            </a:r>
          </a:p>
          <a:p>
            <a:pPr fontAlgn="base"/>
            <a:r>
              <a:rPr lang="en-US" sz="26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for (int i = 1; i &lt; this.Height - 1; ++i)</a:t>
            </a:r>
          </a:p>
          <a:p>
            <a:pPr fontAlgn="base"/>
            <a:r>
              <a:rPr lang="en-US" sz="26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 DrawLine(this.Width, '*', ' ');</a:t>
            </a:r>
          </a:p>
          <a:p>
            <a:pPr fontAlgn="base"/>
            <a:r>
              <a:rPr lang="en-US" sz="26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DrawLine(this.Width, '*', '*');</a:t>
            </a:r>
          </a:p>
          <a:p>
            <a:pPr fontAlgn="base"/>
            <a:r>
              <a:rPr lang="en-US" sz="26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}</a:t>
            </a:r>
          </a:p>
          <a:p>
            <a:pPr fontAlgn="base"/>
            <a:r>
              <a:rPr lang="en-US" sz="26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private void </a:t>
            </a:r>
            <a:r>
              <a:rPr lang="en-US" sz="2600" b="1" noProof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DrawLine</a:t>
            </a:r>
            <a:r>
              <a:rPr lang="en-US" sz="26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(int width, char end, char mid)</a:t>
            </a:r>
          </a:p>
          <a:p>
            <a:pPr fontAlgn="base"/>
            <a:r>
              <a:rPr lang="en-US" sz="26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{</a:t>
            </a:r>
          </a:p>
          <a:p>
            <a:pPr fontAlgn="base"/>
            <a:r>
              <a:rPr lang="en-US" sz="26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Console.Write(end);</a:t>
            </a:r>
          </a:p>
          <a:p>
            <a:pPr fontAlgn="base"/>
            <a:r>
              <a:rPr lang="en-US" sz="26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for (int i = 1; i &lt; width - 1; ++i)</a:t>
            </a:r>
          </a:p>
          <a:p>
            <a:pPr fontAlgn="base"/>
            <a:r>
              <a:rPr lang="en-US" sz="26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 Console.Write(mid);</a:t>
            </a:r>
          </a:p>
          <a:p>
            <a:pPr fontAlgn="base"/>
            <a:r>
              <a:rPr lang="en-US" sz="26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Console.WriteLine(end);</a:t>
            </a:r>
          </a:p>
          <a:p>
            <a:pPr fontAlgn="base"/>
            <a:r>
              <a:rPr lang="en-US" sz="26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}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33ADCBF2-4EED-4410-82F8-5C0D2CF8AF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1218987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8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5403243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602" name="Rectangle 2"/>
          <p:cNvSpPr>
            <a:spLocks noGrp="1" noChangeArrowheads="1"/>
          </p:cNvSpPr>
          <p:nvPr>
            <p:ph type="title"/>
          </p:nvPr>
        </p:nvSpPr>
        <p:spPr>
          <a:xfrm>
            <a:off x="717741" y="249383"/>
            <a:ext cx="10848671" cy="675242"/>
          </a:xfrm>
        </p:spPr>
        <p:txBody>
          <a:bodyPr>
            <a:noAutofit/>
          </a:bodyPr>
          <a:lstStyle/>
          <a:p>
            <a:r>
              <a:rPr lang="bg-BG" sz="3600" dirty="0">
                <a:latin typeface="Comfortaa" pitchFamily="2" charset="0"/>
              </a:rPr>
              <a:t>Решение</a:t>
            </a:r>
            <a:r>
              <a:rPr lang="en-US" sz="3600" dirty="0">
                <a:latin typeface="Comfortaa" pitchFamily="2" charset="0"/>
              </a:rPr>
              <a:t>: </a:t>
            </a:r>
            <a:r>
              <a:rPr lang="bg-BG" sz="3600" dirty="0">
                <a:latin typeface="Comfortaa" pitchFamily="2" charset="0"/>
              </a:rPr>
              <a:t>Фигури</a:t>
            </a:r>
            <a:r>
              <a:rPr lang="en-US" sz="3600" dirty="0">
                <a:latin typeface="Comfortaa" pitchFamily="2" charset="0"/>
              </a:rPr>
              <a:t> – </a:t>
            </a:r>
            <a:r>
              <a:rPr lang="bg-BG" sz="3600" dirty="0">
                <a:latin typeface="Comfortaa" pitchFamily="2" charset="0"/>
              </a:rPr>
              <a:t>чертане на кръг</a:t>
            </a:r>
            <a:endParaRPr lang="en-US" sz="3600" dirty="0">
              <a:latin typeface="Comfortaa" pitchFamily="2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717741" y="924624"/>
            <a:ext cx="10848671" cy="5693866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fontAlgn="base"/>
            <a:r>
              <a:rPr lang="en-US" sz="2600" b="1" noProof="1">
                <a:solidFill>
                  <a:schemeClr val="bg1"/>
                </a:solidFill>
                <a:latin typeface="Consolas" pitchFamily="49" charset="0"/>
              </a:rPr>
              <a:t>double r_in = this.Radius - 0.4;</a:t>
            </a:r>
          </a:p>
          <a:p>
            <a:pPr fontAlgn="base"/>
            <a:r>
              <a:rPr lang="en-US" sz="2600" b="1" noProof="1">
                <a:solidFill>
                  <a:schemeClr val="bg1"/>
                </a:solidFill>
                <a:latin typeface="Consolas" pitchFamily="49" charset="0"/>
              </a:rPr>
              <a:t>double r_out = this.Radius + 0.4;</a:t>
            </a:r>
          </a:p>
          <a:p>
            <a:pPr fontAlgn="base"/>
            <a:r>
              <a:rPr lang="en-US" sz="2600" b="1" noProof="1">
                <a:solidFill>
                  <a:schemeClr val="bg1"/>
                </a:solidFill>
                <a:latin typeface="Consolas" pitchFamily="49" charset="0"/>
              </a:rPr>
              <a:t>for (double y = this.Radius; y &gt;= -this.Radius; --y)</a:t>
            </a:r>
          </a:p>
          <a:p>
            <a:pPr fontAlgn="base"/>
            <a:r>
              <a:rPr lang="en-US" sz="2600" b="1" noProof="1">
                <a:solidFill>
                  <a:schemeClr val="bg1"/>
                </a:solidFill>
                <a:latin typeface="Consolas" pitchFamily="49" charset="0"/>
              </a:rPr>
              <a:t>{</a:t>
            </a:r>
          </a:p>
          <a:p>
            <a:pPr fontAlgn="base"/>
            <a:r>
              <a:rPr lang="en-US" sz="2600" b="1" noProof="1">
                <a:solidFill>
                  <a:schemeClr val="bg1"/>
                </a:solidFill>
                <a:latin typeface="Consolas" pitchFamily="49" charset="0"/>
              </a:rPr>
              <a:t>  for (double x = -this.Radius; x &lt; r_out; x += 0.5)</a:t>
            </a:r>
          </a:p>
          <a:p>
            <a:pPr fontAlgn="base"/>
            <a:r>
              <a:rPr lang="en-US" sz="2600" b="1" noProof="1">
                <a:solidFill>
                  <a:schemeClr val="bg1"/>
                </a:solidFill>
                <a:latin typeface="Consolas" pitchFamily="49" charset="0"/>
              </a:rPr>
              <a:t>  {</a:t>
            </a:r>
          </a:p>
          <a:p>
            <a:pPr fontAlgn="base"/>
            <a:r>
              <a:rPr lang="en-US" sz="2600" b="1" noProof="1">
                <a:solidFill>
                  <a:schemeClr val="bg1"/>
                </a:solidFill>
                <a:latin typeface="Consolas" pitchFamily="49" charset="0"/>
              </a:rPr>
              <a:t>    double value = x * x + y * y;</a:t>
            </a:r>
          </a:p>
          <a:p>
            <a:pPr fontAlgn="base"/>
            <a:r>
              <a:rPr lang="en-US" sz="2600" b="1" noProof="1">
                <a:solidFill>
                  <a:schemeClr val="bg1"/>
                </a:solidFill>
                <a:latin typeface="Consolas" pitchFamily="49" charset="0"/>
              </a:rPr>
              <a:t>    if (value &gt;= r_in * r_in &amp;&amp; value &lt;= r_out * r_out) </a:t>
            </a:r>
          </a:p>
          <a:p>
            <a:pPr fontAlgn="base"/>
            <a:r>
              <a:rPr lang="en-US" sz="2600" b="1" noProof="1">
                <a:solidFill>
                  <a:schemeClr val="bg1"/>
                </a:solidFill>
                <a:latin typeface="Consolas" pitchFamily="49" charset="0"/>
              </a:rPr>
              <a:t>      Console.Write("*");</a:t>
            </a:r>
          </a:p>
          <a:p>
            <a:pPr fontAlgn="base"/>
            <a:r>
              <a:rPr lang="en-US" sz="2600" b="1" noProof="1">
                <a:solidFill>
                  <a:schemeClr val="bg1"/>
                </a:solidFill>
                <a:latin typeface="Consolas" pitchFamily="49" charset="0"/>
              </a:rPr>
              <a:t>    else</a:t>
            </a:r>
          </a:p>
          <a:p>
            <a:pPr fontAlgn="base"/>
            <a:r>
              <a:rPr lang="en-US" sz="2600" b="1" noProof="1">
                <a:solidFill>
                  <a:schemeClr val="bg1"/>
                </a:solidFill>
                <a:latin typeface="Consolas" pitchFamily="49" charset="0"/>
              </a:rPr>
              <a:t>      Console.Write(" ");</a:t>
            </a:r>
          </a:p>
          <a:p>
            <a:pPr fontAlgn="base"/>
            <a:r>
              <a:rPr lang="en-US" sz="2600" b="1" noProof="1">
                <a:solidFill>
                  <a:schemeClr val="bg1"/>
                </a:solidFill>
                <a:latin typeface="Consolas" pitchFamily="49" charset="0"/>
              </a:rPr>
              <a:t>    Console.WriteLine();</a:t>
            </a:r>
          </a:p>
          <a:p>
            <a:pPr fontAlgn="base"/>
            <a:r>
              <a:rPr lang="en-US" sz="2600" b="1" noProof="1">
                <a:solidFill>
                  <a:schemeClr val="bg1"/>
                </a:solidFill>
                <a:latin typeface="Consolas" pitchFamily="49" charset="0"/>
              </a:rPr>
              <a:t>  }</a:t>
            </a:r>
          </a:p>
          <a:p>
            <a:pPr fontAlgn="base"/>
            <a:r>
              <a:rPr lang="en-US" sz="2600" b="1" noProof="1">
                <a:solidFill>
                  <a:schemeClr val="bg1"/>
                </a:solidFill>
                <a:latin typeface="Consolas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54840777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267195" y="1512124"/>
            <a:ext cx="5561011" cy="479367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bg-BG" sz="3200" b="1" dirty="0">
                <a:latin typeface="Comfortaa" pitchFamily="2" charset="0"/>
              </a:rPr>
              <a:t>Абстрактен клас</a:t>
            </a:r>
            <a:endParaRPr lang="en-US" sz="3200" b="1" dirty="0"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Класът може да наследи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само един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абстрактен клас</a:t>
            </a:r>
            <a:r>
              <a:rPr lang="en-US" dirty="0">
                <a:latin typeface="Comfortaa" pitchFamily="2" charset="0"/>
              </a:rPr>
              <a:t>.</a:t>
            </a:r>
          </a:p>
          <a:p>
            <a:r>
              <a:rPr lang="bg-BG" dirty="0">
                <a:latin typeface="Comfortaa" pitchFamily="2" charset="0"/>
              </a:rPr>
              <a:t>Абстрактните класове могат да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предоставят целия код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и</a:t>
            </a:r>
            <a:r>
              <a:rPr lang="en-US" dirty="0">
                <a:latin typeface="Comfortaa" pitchFamily="2" charset="0"/>
              </a:rPr>
              <a:t>/</a:t>
            </a:r>
            <a:r>
              <a:rPr lang="bg-BG" dirty="0">
                <a:latin typeface="Comfortaa" pitchFamily="2" charset="0"/>
              </a:rPr>
              <a:t>или само детайлите, които трябва да се презапишат</a:t>
            </a:r>
            <a:r>
              <a:rPr lang="en-US" dirty="0">
                <a:latin typeface="Comfortaa" pitchFamily="2" charset="0"/>
              </a:rPr>
              <a:t>.</a:t>
            </a:r>
          </a:p>
        </p:txBody>
      </p:sp>
      <p:sp>
        <p:nvSpPr>
          <p:cNvPr id="793602" name="Rectangle 2"/>
          <p:cNvSpPr>
            <a:spLocks noGrp="1" noChangeArrowheads="1"/>
          </p:cNvSpPr>
          <p:nvPr>
            <p:ph type="title"/>
          </p:nvPr>
        </p:nvSpPr>
        <p:spPr>
          <a:xfrm>
            <a:off x="267195" y="445280"/>
            <a:ext cx="11566565" cy="733803"/>
          </a:xfrm>
        </p:spPr>
        <p:txBody>
          <a:bodyPr>
            <a:normAutofit/>
          </a:bodyPr>
          <a:lstStyle/>
          <a:p>
            <a:pPr algn="ctr"/>
            <a:r>
              <a:rPr lang="bg-BG" sz="3600" b="1" dirty="0">
                <a:latin typeface="Comfortaa" pitchFamily="2" charset="0"/>
              </a:rPr>
              <a:t>Интерфейс с/у абстрактен клас </a:t>
            </a:r>
            <a:r>
              <a:rPr lang="en-US" sz="3600" b="1" dirty="0">
                <a:latin typeface="Comfortaa" pitchFamily="2" charset="0"/>
              </a:rPr>
              <a:t>[1/3]</a:t>
            </a:r>
          </a:p>
        </p:txBody>
      </p:sp>
      <p:sp>
        <p:nvSpPr>
          <p:cNvPr id="6" name="Content Placeholder 10"/>
          <p:cNvSpPr txBox="1">
            <a:spLocks/>
          </p:cNvSpPr>
          <p:nvPr/>
        </p:nvSpPr>
        <p:spPr>
          <a:xfrm>
            <a:off x="6020391" y="1512126"/>
            <a:ext cx="6053222" cy="4793672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>
            <a:lvl1pPr marL="304747" indent="-304747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Char char="§"/>
              <a:defRPr sz="3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40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8987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733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28480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3227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37972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2720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bg-BG" sz="3200" b="1" dirty="0">
                <a:latin typeface="Comfortaa" pitchFamily="2" charset="0"/>
              </a:rPr>
              <a:t>Интерфейс</a:t>
            </a:r>
            <a:endParaRPr lang="en-US" sz="3200" b="1" dirty="0">
              <a:latin typeface="Comfortaa" pitchFamily="2" charset="0"/>
            </a:endParaRPr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bg-BG" sz="2800" dirty="0">
                <a:latin typeface="Comfortaa" pitchFamily="2" charset="0"/>
              </a:rPr>
              <a:t>Класът може да </a:t>
            </a:r>
            <a:r>
              <a:rPr lang="bg-BG" sz="2800" b="1" dirty="0">
                <a:solidFill>
                  <a:srgbClr val="00B0F0"/>
                </a:solidFill>
                <a:latin typeface="Comfortaa" pitchFamily="2" charset="0"/>
              </a:rPr>
              <a:t>имплементира няколко интерфейса</a:t>
            </a:r>
            <a:r>
              <a:rPr lang="en-US" sz="2800" dirty="0">
                <a:latin typeface="Comfortaa" pitchFamily="2" charset="0"/>
              </a:rPr>
              <a:t>.</a:t>
            </a:r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bg-BG" sz="2800" dirty="0">
                <a:latin typeface="Comfortaa" pitchFamily="2" charset="0"/>
              </a:rPr>
              <a:t>Интерфейсът</a:t>
            </a:r>
            <a:r>
              <a:rPr lang="en-US" sz="2800" dirty="0">
                <a:latin typeface="Comfortaa" pitchFamily="2" charset="0"/>
              </a:rPr>
              <a:t> </a:t>
            </a:r>
            <a:r>
              <a:rPr lang="bg-BG" sz="2800" b="1" dirty="0">
                <a:solidFill>
                  <a:srgbClr val="00B0F0"/>
                </a:solidFill>
                <a:latin typeface="Comfortaa" pitchFamily="2" charset="0"/>
              </a:rPr>
              <a:t>не може да предоставя никакъв код</a:t>
            </a:r>
            <a:r>
              <a:rPr lang="bg-BG" sz="2800" dirty="0">
                <a:latin typeface="Comfortaa" pitchFamily="2" charset="0"/>
              </a:rPr>
              <a:t>, предоставя само описание</a:t>
            </a:r>
            <a:r>
              <a:rPr lang="en-US" sz="2800" dirty="0">
                <a:latin typeface="Comfortaa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55206249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188816" y="1479099"/>
            <a:ext cx="5561011" cy="474588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bg-BG" sz="3200" b="1" dirty="0">
                <a:latin typeface="Comfortaa" pitchFamily="2" charset="0"/>
              </a:rPr>
              <a:t>Абстрактен клас</a:t>
            </a:r>
            <a:endParaRPr lang="en-US" sz="3200" b="1" dirty="0">
              <a:latin typeface="Comfortaa" pitchFamily="2" charset="0"/>
            </a:endParaRPr>
          </a:p>
          <a:p>
            <a:r>
              <a:rPr lang="bg-BG" sz="2400" dirty="0">
                <a:latin typeface="Comfortaa" pitchFamily="2" charset="0"/>
              </a:rPr>
              <a:t>Абстрактния клас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bg-BG" sz="2400" b="1" dirty="0">
                <a:solidFill>
                  <a:srgbClr val="00B0F0"/>
                </a:solidFill>
                <a:latin typeface="Comfortaa" pitchFamily="2" charset="0"/>
              </a:rPr>
              <a:t>може да съдържа модификатори за достъп</a:t>
            </a:r>
            <a:endParaRPr lang="en-US" sz="2400" b="1" dirty="0">
              <a:solidFill>
                <a:srgbClr val="00B0F0"/>
              </a:solidFill>
              <a:latin typeface="Comfortaa" pitchFamily="2" charset="0"/>
            </a:endParaRPr>
          </a:p>
          <a:p>
            <a:r>
              <a:rPr lang="bg-BG" sz="2400" dirty="0">
                <a:latin typeface="Comfortaa" pitchFamily="2" charset="0"/>
              </a:rPr>
              <a:t>Ако множество имплементации са от сходен вид и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bg-BG" sz="2400" b="1" dirty="0">
                <a:solidFill>
                  <a:srgbClr val="00B0F0"/>
                </a:solidFill>
                <a:latin typeface="Comfortaa" pitchFamily="2" charset="0"/>
              </a:rPr>
              <a:t>имат общо поведение или статут</a:t>
            </a:r>
            <a:r>
              <a:rPr lang="bg-BG" sz="24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,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bg-BG" sz="2400" dirty="0">
                <a:latin typeface="Comfortaa" pitchFamily="2" charset="0"/>
              </a:rPr>
              <a:t>то абстрактния клас е по-добър избор</a:t>
            </a:r>
            <a:r>
              <a:rPr lang="en-US" sz="2400" dirty="0">
                <a:latin typeface="Comfortaa" pitchFamily="2" charset="0"/>
              </a:rPr>
              <a:t>.</a:t>
            </a:r>
          </a:p>
        </p:txBody>
      </p:sp>
      <p:sp>
        <p:nvSpPr>
          <p:cNvPr id="6" name="Content Placeholder 10"/>
          <p:cNvSpPr txBox="1">
            <a:spLocks/>
          </p:cNvSpPr>
          <p:nvPr/>
        </p:nvSpPr>
        <p:spPr>
          <a:xfrm>
            <a:off x="5942012" y="1479100"/>
            <a:ext cx="6053222" cy="4745885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>
            <a:lvl1pPr marL="304747" indent="-304747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Char char="§"/>
              <a:defRPr sz="3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40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8987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733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28480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3227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37972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2720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bg-BG" sz="3200" b="1" dirty="0">
                <a:latin typeface="Comfortaa" pitchFamily="2" charset="0"/>
              </a:rPr>
              <a:t>Интерфейс</a:t>
            </a:r>
            <a:endParaRPr lang="en-US" sz="3200" b="1" dirty="0">
              <a:latin typeface="Comfortaa" pitchFamily="2" charset="0"/>
            </a:endParaRPr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bg-BG" sz="2400" dirty="0">
                <a:latin typeface="Comfortaa" pitchFamily="2" charset="0"/>
              </a:rPr>
              <a:t>Интерфейсите </a:t>
            </a:r>
            <a:r>
              <a:rPr lang="bg-BG" sz="24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нямат </a:t>
            </a:r>
            <a:r>
              <a:rPr lang="bg-BG" sz="2400" b="1" dirty="0">
                <a:solidFill>
                  <a:srgbClr val="00B0F0"/>
                </a:solidFill>
                <a:latin typeface="Comfortaa" pitchFamily="2" charset="0"/>
              </a:rPr>
              <a:t>модификатори за достъп</a:t>
            </a:r>
            <a:r>
              <a:rPr lang="en-US" sz="2400" dirty="0">
                <a:latin typeface="Comfortaa" pitchFamily="2" charset="0"/>
              </a:rPr>
              <a:t>. </a:t>
            </a:r>
            <a:r>
              <a:rPr lang="bg-BG" sz="2400" dirty="0">
                <a:latin typeface="Comfortaa" pitchFamily="2" charset="0"/>
              </a:rPr>
              <a:t>Всичко е публично по подразбиране.</a:t>
            </a:r>
            <a:endParaRPr lang="en-US" sz="2400" dirty="0">
              <a:latin typeface="Comfortaa" pitchFamily="2" charset="0"/>
            </a:endParaRPr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bg-BG" sz="2400" dirty="0">
                <a:latin typeface="Comfortaa" pitchFamily="2" charset="0"/>
              </a:rPr>
              <a:t>Ако множество имплементации споделят само </a:t>
            </a:r>
            <a:r>
              <a:rPr lang="bg-BG" sz="2400" b="1" dirty="0">
                <a:solidFill>
                  <a:srgbClr val="00B0F0"/>
                </a:solidFill>
                <a:latin typeface="Comfortaa" pitchFamily="2" charset="0"/>
              </a:rPr>
              <a:t>сигнатурата на методите и нищо друго</a:t>
            </a:r>
            <a:r>
              <a:rPr lang="bg-BG" sz="24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, </a:t>
            </a:r>
            <a:r>
              <a:rPr lang="bg-BG" sz="2400" dirty="0">
                <a:latin typeface="Comfortaa" pitchFamily="2" charset="0"/>
              </a:rPr>
              <a:t>то тогава интерфейсът е по-добър избор</a:t>
            </a:r>
            <a:r>
              <a:rPr lang="en-US" sz="2400" dirty="0">
                <a:latin typeface="Comfortaa" pitchFamily="2" charset="0"/>
              </a:rPr>
              <a:t>.</a:t>
            </a:r>
          </a:p>
          <a:p>
            <a:endParaRPr lang="en-US" sz="2400" dirty="0">
              <a:latin typeface="Comfortaa" pitchFamily="2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D96C447-4136-60FC-3225-ABDF24F4E3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7195" y="445280"/>
            <a:ext cx="11566565" cy="733803"/>
          </a:xfrm>
        </p:spPr>
        <p:txBody>
          <a:bodyPr>
            <a:normAutofit/>
          </a:bodyPr>
          <a:lstStyle/>
          <a:p>
            <a:pPr algn="ctr"/>
            <a:r>
              <a:rPr lang="bg-BG" sz="3600" b="1" dirty="0">
                <a:latin typeface="Comfortaa" pitchFamily="2" charset="0"/>
              </a:rPr>
              <a:t>Интерфейс с/у абстрактен клас </a:t>
            </a:r>
            <a:r>
              <a:rPr lang="en-US" sz="3600" b="1" dirty="0">
                <a:latin typeface="Comfortaa" pitchFamily="2" charset="0"/>
              </a:rPr>
              <a:t>[2/3]</a:t>
            </a:r>
          </a:p>
        </p:txBody>
      </p:sp>
    </p:spTree>
    <p:extLst>
      <p:ext uri="{BB962C8B-B14F-4D97-AF65-F5344CB8AC3E}">
        <p14:creationId xmlns:p14="http://schemas.microsoft.com/office/powerpoint/2010/main" val="3914087089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267195" y="1603126"/>
            <a:ext cx="5679658" cy="461726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bg-BG" sz="3200" b="1" dirty="0">
                <a:latin typeface="Comfortaa" pitchFamily="2" charset="0"/>
              </a:rPr>
              <a:t>Абстрактен клас</a:t>
            </a:r>
            <a:endParaRPr lang="en-US" sz="3200" b="1" dirty="0">
              <a:latin typeface="Comfortaa" pitchFamily="2" charset="0"/>
            </a:endParaRPr>
          </a:p>
          <a:p>
            <a:r>
              <a:rPr lang="bg-BG" sz="2400" dirty="0">
                <a:latin typeface="Comfortaa" pitchFamily="2" charset="0"/>
              </a:rPr>
              <a:t>Абстрактният клас </a:t>
            </a:r>
            <a:r>
              <a:rPr lang="bg-BG" sz="2400" b="1" dirty="0">
                <a:solidFill>
                  <a:srgbClr val="00B0F0"/>
                </a:solidFill>
                <a:latin typeface="Comfortaa" pitchFamily="2" charset="0"/>
              </a:rPr>
              <a:t>може да притежава полета и константи</a:t>
            </a:r>
            <a:endParaRPr lang="en-US" sz="2400" b="1" dirty="0">
              <a:solidFill>
                <a:srgbClr val="00B0F0"/>
              </a:solidFill>
              <a:latin typeface="Comfortaa" pitchFamily="2" charset="0"/>
            </a:endParaRPr>
          </a:p>
          <a:p>
            <a:r>
              <a:rPr lang="bg-BG" sz="2400" dirty="0">
                <a:latin typeface="Comfortaa" pitchFamily="2" charset="0"/>
              </a:rPr>
              <a:t>Ако добавим </a:t>
            </a:r>
            <a:r>
              <a:rPr lang="bg-BG" sz="2400" b="1" dirty="0">
                <a:solidFill>
                  <a:srgbClr val="00B0F0"/>
                </a:solidFill>
                <a:latin typeface="Comfortaa" pitchFamily="2" charset="0"/>
              </a:rPr>
              <a:t>нов метод</a:t>
            </a:r>
            <a:r>
              <a:rPr lang="en-US" sz="2400" b="1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sz="2400" dirty="0">
                <a:latin typeface="Comfortaa" pitchFamily="2" charset="0"/>
              </a:rPr>
              <a:t>към абстрактен клас, то имаме опцията да </a:t>
            </a:r>
            <a:r>
              <a:rPr lang="bg-BG" sz="24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създадем </a:t>
            </a:r>
            <a:r>
              <a:rPr lang="bg-BG" sz="2400" b="1" dirty="0">
                <a:solidFill>
                  <a:srgbClr val="00B0F0"/>
                </a:solidFill>
                <a:latin typeface="Comfortaa" pitchFamily="2" charset="0"/>
              </a:rPr>
              <a:t>имплементация по подразбиране</a:t>
            </a:r>
            <a:r>
              <a:rPr lang="en-US" sz="2400" b="1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sz="2400" dirty="0">
                <a:latin typeface="Comfortaa" pitchFamily="2" charset="0"/>
              </a:rPr>
              <a:t>и така съществуващият код ще може да работи коректно</a:t>
            </a:r>
            <a:r>
              <a:rPr lang="en-US" sz="2400" dirty="0">
                <a:latin typeface="Comfortaa" pitchFamily="2" charset="0"/>
              </a:rPr>
              <a:t>.</a:t>
            </a:r>
            <a:endParaRPr lang="en-US" sz="2400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</p:txBody>
      </p:sp>
      <p:sp>
        <p:nvSpPr>
          <p:cNvPr id="6" name="Content Placeholder 10"/>
          <p:cNvSpPr txBox="1">
            <a:spLocks/>
          </p:cNvSpPr>
          <p:nvPr/>
        </p:nvSpPr>
        <p:spPr>
          <a:xfrm>
            <a:off x="5946853" y="1581661"/>
            <a:ext cx="6129422" cy="4617259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>
            <a:lvl1pPr marL="304747" indent="-304747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Char char="§"/>
              <a:defRPr sz="3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40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8987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733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28480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3227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37972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2720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bg-BG" sz="3200" b="1" dirty="0">
                <a:latin typeface="Comfortaa" pitchFamily="2" charset="0"/>
              </a:rPr>
              <a:t>Интерфейс</a:t>
            </a:r>
            <a:endParaRPr lang="en-US" sz="2400" b="1" dirty="0">
              <a:latin typeface="Comfortaa" pitchFamily="2" charset="0"/>
            </a:endParaRPr>
          </a:p>
          <a:p>
            <a:r>
              <a:rPr lang="bg-BG" sz="24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Не </a:t>
            </a:r>
            <a:r>
              <a:rPr lang="bg-BG" sz="2400" b="1" dirty="0">
                <a:solidFill>
                  <a:srgbClr val="00B0F0"/>
                </a:solidFill>
                <a:latin typeface="Comfortaa" pitchFamily="2" charset="0"/>
              </a:rPr>
              <a:t>поддържа</a:t>
            </a:r>
            <a:r>
              <a:rPr lang="bg-BG" sz="24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bg-BG" sz="2400" b="1" dirty="0">
                <a:solidFill>
                  <a:srgbClr val="00B0F0"/>
                </a:solidFill>
                <a:latin typeface="Comfortaa" pitchFamily="2" charset="0"/>
              </a:rPr>
              <a:t>полета</a:t>
            </a:r>
            <a:endParaRPr lang="en-US" sz="2400" b="1" dirty="0">
              <a:solidFill>
                <a:srgbClr val="00B0F0"/>
              </a:solidFill>
              <a:latin typeface="Comfortaa" pitchFamily="2" charset="0"/>
            </a:endParaRPr>
          </a:p>
          <a:p>
            <a:r>
              <a:rPr lang="bg-BG" sz="2400" dirty="0">
                <a:latin typeface="Comfortaa" pitchFamily="2" charset="0"/>
              </a:rPr>
              <a:t>Ако добавим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bg-BG" sz="2400" b="1" dirty="0">
                <a:solidFill>
                  <a:srgbClr val="00B0F0"/>
                </a:solidFill>
                <a:latin typeface="Comfortaa" pitchFamily="2" charset="0"/>
              </a:rPr>
              <a:t>нов метод</a:t>
            </a:r>
            <a:r>
              <a:rPr lang="en-US" sz="2400" b="1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sz="2400" dirty="0">
                <a:latin typeface="Comfortaa" pitchFamily="2" charset="0"/>
              </a:rPr>
              <a:t>към интерйфес, то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bg-BG" sz="24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трябва да </a:t>
            </a:r>
            <a:r>
              <a:rPr lang="bg-BG" sz="2400" b="1" dirty="0">
                <a:solidFill>
                  <a:srgbClr val="00B0F0"/>
                </a:solidFill>
                <a:latin typeface="Comfortaa" pitchFamily="2" charset="0"/>
              </a:rPr>
              <a:t>проследим всичките </a:t>
            </a:r>
            <a:r>
              <a:rPr lang="bg-BG" sz="24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му имплементации </a:t>
            </a:r>
            <a:r>
              <a:rPr lang="bg-BG" sz="2400" dirty="0">
                <a:latin typeface="Comfortaa" pitchFamily="2" charset="0"/>
              </a:rPr>
              <a:t>и да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bg-BG" sz="2400" b="1" dirty="0">
                <a:solidFill>
                  <a:srgbClr val="00B0F0"/>
                </a:solidFill>
                <a:latin typeface="Comfortaa" pitchFamily="2" charset="0"/>
              </a:rPr>
              <a:t>дефинираме имплементация</a:t>
            </a:r>
            <a:r>
              <a:rPr lang="en-US" sz="2400" b="1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sz="2400" dirty="0">
                <a:latin typeface="Comfortaa" pitchFamily="2" charset="0"/>
              </a:rPr>
              <a:t>за новия метод</a:t>
            </a:r>
            <a:r>
              <a:rPr lang="en-US" sz="2400" dirty="0">
                <a:latin typeface="Comfortaa" pitchFamily="2" charset="0"/>
              </a:rPr>
              <a:t>.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5BE4802-6A95-D76F-99E0-BE988B86A5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7195" y="445280"/>
            <a:ext cx="11566565" cy="733803"/>
          </a:xfrm>
        </p:spPr>
        <p:txBody>
          <a:bodyPr>
            <a:normAutofit/>
          </a:bodyPr>
          <a:lstStyle/>
          <a:p>
            <a:pPr algn="ctr"/>
            <a:r>
              <a:rPr lang="bg-BG" sz="3600" b="1" dirty="0">
                <a:latin typeface="Comfortaa" pitchFamily="2" charset="0"/>
              </a:rPr>
              <a:t>Интерфейс с/у абстрактен клас </a:t>
            </a:r>
            <a:r>
              <a:rPr lang="en-US" sz="3600" b="1" dirty="0">
                <a:latin typeface="Comfortaa" pitchFamily="2" charset="0"/>
              </a:rPr>
              <a:t>[3/3]</a:t>
            </a:r>
          </a:p>
        </p:txBody>
      </p:sp>
    </p:spTree>
    <p:extLst>
      <p:ext uri="{BB962C8B-B14F-4D97-AF65-F5344CB8AC3E}">
        <p14:creationId xmlns:p14="http://schemas.microsoft.com/office/powerpoint/2010/main" val="3352691406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1067789" y="1401605"/>
            <a:ext cx="9942598" cy="609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bg-BG" dirty="0">
                <a:latin typeface="Comfortaa" pitchFamily="2" charset="0"/>
              </a:rPr>
              <a:t>Постройте йерархия от интерфейси и класове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793602" name="Rectangle 2"/>
          <p:cNvSpPr>
            <a:spLocks noGrp="1" noChangeArrowheads="1"/>
          </p:cNvSpPr>
          <p:nvPr>
            <p:ph type="title"/>
          </p:nvPr>
        </p:nvSpPr>
        <p:spPr>
          <a:xfrm>
            <a:off x="1067789" y="510496"/>
            <a:ext cx="10056422" cy="935857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Задача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bg-BG" dirty="0">
                <a:latin typeface="Comfortaa" pitchFamily="2" charset="0"/>
              </a:rPr>
              <a:t>Коли</a:t>
            </a:r>
            <a:endParaRPr lang="en-US" dirty="0">
              <a:latin typeface="Comfortaa" pitchFamily="2" charset="0"/>
            </a:endParaRPr>
          </a:p>
        </p:txBody>
      </p:sp>
      <p:grpSp>
        <p:nvGrpSpPr>
          <p:cNvPr id="23" name="Group 22"/>
          <p:cNvGrpSpPr/>
          <p:nvPr/>
        </p:nvGrpSpPr>
        <p:grpSpPr>
          <a:xfrm>
            <a:off x="1067789" y="2171639"/>
            <a:ext cx="3658600" cy="1156899"/>
            <a:chOff x="4683210" y="1333424"/>
            <a:chExt cx="3658600" cy="1156899"/>
          </a:xfrm>
          <a:solidFill>
            <a:srgbClr val="00B0F0"/>
          </a:solidFill>
        </p:grpSpPr>
        <p:sp>
          <p:nvSpPr>
            <p:cNvPr id="24" name="Rectangle 3"/>
            <p:cNvSpPr>
              <a:spLocks noChangeArrowheads="1"/>
            </p:cNvSpPr>
            <p:nvPr/>
          </p:nvSpPr>
          <p:spPr bwMode="auto">
            <a:xfrm>
              <a:off x="4683210" y="1333424"/>
              <a:ext cx="3658600" cy="60960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108000" tIns="108000" rIns="108000" bIns="108000">
              <a:noAutofit/>
            </a:bodyPr>
            <a:lstStyle/>
            <a:p>
              <a:pPr algn="ctr" eaLnBrk="0" hangingPunct="0">
                <a:lnSpc>
                  <a:spcPts val="3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800" b="1" noProof="1">
                  <a:latin typeface="Consolas" panose="020B0609020204030204" pitchFamily="49" charset="0"/>
                </a:rPr>
                <a:t>&lt;&lt;IElectricCar&gt;&gt;</a:t>
              </a:r>
            </a:p>
          </p:txBody>
        </p:sp>
        <p:sp>
          <p:nvSpPr>
            <p:cNvPr id="25" name="Rectangle 4"/>
            <p:cNvSpPr>
              <a:spLocks noChangeArrowheads="1"/>
            </p:cNvSpPr>
            <p:nvPr/>
          </p:nvSpPr>
          <p:spPr bwMode="auto">
            <a:xfrm>
              <a:off x="4683210" y="1943023"/>
              <a:ext cx="3658600" cy="54730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108000" tIns="108000" rIns="108000" bIns="108000">
              <a:noAutofit/>
            </a:bodyPr>
            <a:lstStyle/>
            <a:p>
              <a:pPr eaLnBrk="0" hangingPunct="0">
                <a:lnSpc>
                  <a:spcPts val="3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800" b="1" noProof="1">
                  <a:latin typeface="Consolas" panose="020B0609020204030204" pitchFamily="49" charset="0"/>
                </a:rPr>
                <a:t>+Battery</a:t>
              </a: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6401789" y="2171639"/>
            <a:ext cx="4608598" cy="2277881"/>
            <a:chOff x="5180012" y="1653737"/>
            <a:chExt cx="4608598" cy="2277881"/>
          </a:xfrm>
          <a:solidFill>
            <a:srgbClr val="00B0F0"/>
          </a:solidFill>
        </p:grpSpPr>
        <p:sp>
          <p:nvSpPr>
            <p:cNvPr id="31" name="Rectangle 3"/>
            <p:cNvSpPr>
              <a:spLocks noChangeArrowheads="1"/>
            </p:cNvSpPr>
            <p:nvPr/>
          </p:nvSpPr>
          <p:spPr bwMode="auto">
            <a:xfrm>
              <a:off x="5180012" y="1653737"/>
              <a:ext cx="4608598" cy="557835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108000" tIns="108000" rIns="108000" bIns="108000">
              <a:noAutofit/>
            </a:bodyPr>
            <a:lstStyle/>
            <a:p>
              <a:pPr algn="ctr" eaLnBrk="0" hangingPunct="0">
                <a:lnSpc>
                  <a:spcPts val="3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800" b="1" noProof="1">
                  <a:latin typeface="Consolas" panose="020B0609020204030204" pitchFamily="49" charset="0"/>
                </a:rPr>
                <a:t>&lt;&lt;Car&gt;&gt;</a:t>
              </a:r>
            </a:p>
          </p:txBody>
        </p:sp>
        <p:sp>
          <p:nvSpPr>
            <p:cNvPr id="30" name="Rectangle 4"/>
            <p:cNvSpPr>
              <a:spLocks noChangeArrowheads="1"/>
            </p:cNvSpPr>
            <p:nvPr/>
          </p:nvSpPr>
          <p:spPr bwMode="auto">
            <a:xfrm>
              <a:off x="5184286" y="2211134"/>
              <a:ext cx="4604324" cy="1720484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108000" tIns="108000" rIns="108000" bIns="108000">
              <a:noAutofit/>
            </a:bodyPr>
            <a:lstStyle/>
            <a:p>
              <a:pPr eaLnBrk="0" hangingPunct="0">
                <a:lnSpc>
                  <a:spcPts val="3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800" b="1" noProof="1">
                  <a:latin typeface="Consolas" panose="020B0609020204030204" pitchFamily="49" charset="0"/>
                </a:rPr>
                <a:t>+Model: string</a:t>
              </a:r>
            </a:p>
            <a:p>
              <a:pPr eaLnBrk="0" hangingPunct="0">
                <a:lnSpc>
                  <a:spcPts val="3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800" b="1" noProof="1">
                  <a:latin typeface="Consolas" panose="020B0609020204030204" pitchFamily="49" charset="0"/>
                </a:rPr>
                <a:t>+Color: string</a:t>
              </a:r>
            </a:p>
            <a:p>
              <a:pPr eaLnBrk="0" hangingPunct="0">
                <a:lnSpc>
                  <a:spcPts val="3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800" b="1" noProof="1">
                  <a:latin typeface="Consolas" panose="020B0609020204030204" pitchFamily="49" charset="0"/>
                </a:rPr>
                <a:t>+Start(): string</a:t>
              </a:r>
            </a:p>
            <a:p>
              <a:pPr eaLnBrk="0" hangingPunct="0">
                <a:lnSpc>
                  <a:spcPts val="3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800" b="1" noProof="1">
                  <a:latin typeface="Consolas" panose="020B0609020204030204" pitchFamily="49" charset="0"/>
                </a:rPr>
                <a:t>+Stop(): string</a:t>
              </a:r>
            </a:p>
          </p:txBody>
        </p:sp>
      </p:grpSp>
      <p:sp>
        <p:nvSpPr>
          <p:cNvPr id="20" name="Rectangle 3"/>
          <p:cNvSpPr>
            <a:spLocks noChangeArrowheads="1"/>
          </p:cNvSpPr>
          <p:nvPr/>
        </p:nvSpPr>
        <p:spPr bwMode="auto">
          <a:xfrm>
            <a:off x="6876788" y="5740730"/>
            <a:ext cx="3658600" cy="609600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108000" tIns="108000" rIns="108000" bIns="108000">
            <a:noAutofit/>
          </a:bodyPr>
          <a:lstStyle/>
          <a:p>
            <a:pPr algn="ctr" eaLnBrk="0" hangingPunct="0">
              <a:lnSpc>
                <a:spcPts val="3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anose="020B0609020204030204" pitchFamily="49" charset="0"/>
              </a:rPr>
              <a:t>Seat</a:t>
            </a:r>
          </a:p>
        </p:txBody>
      </p:sp>
      <p:sp>
        <p:nvSpPr>
          <p:cNvPr id="26" name="Rectangle 3"/>
          <p:cNvSpPr>
            <a:spLocks noChangeArrowheads="1"/>
          </p:cNvSpPr>
          <p:nvPr/>
        </p:nvSpPr>
        <p:spPr bwMode="auto">
          <a:xfrm>
            <a:off x="1067789" y="5740730"/>
            <a:ext cx="3658600" cy="609600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108000" tIns="108000" rIns="108000" bIns="108000">
            <a:noAutofit/>
          </a:bodyPr>
          <a:lstStyle/>
          <a:p>
            <a:pPr algn="ctr" eaLnBrk="0" hangingPunct="0">
              <a:lnSpc>
                <a:spcPts val="3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anose="020B0609020204030204" pitchFamily="49" charset="0"/>
              </a:rPr>
              <a:t>Tesla</a:t>
            </a:r>
          </a:p>
        </p:txBody>
      </p:sp>
      <p:cxnSp>
        <p:nvCxnSpPr>
          <p:cNvPr id="8" name="Straight Arrow Connector 7"/>
          <p:cNvCxnSpPr>
            <a:stCxn id="26" idx="0"/>
            <a:endCxn id="25" idx="2"/>
          </p:cNvCxnSpPr>
          <p:nvPr/>
        </p:nvCxnSpPr>
        <p:spPr>
          <a:xfrm flipV="1">
            <a:off x="2897089" y="3328538"/>
            <a:ext cx="0" cy="241219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lbow Connector 13"/>
          <p:cNvCxnSpPr/>
          <p:nvPr/>
        </p:nvCxnSpPr>
        <p:spPr>
          <a:xfrm flipV="1">
            <a:off x="3734789" y="3759530"/>
            <a:ext cx="2667000" cy="1981200"/>
          </a:xfrm>
          <a:prstGeom prst="bentConnector3">
            <a:avLst>
              <a:gd name="adj1" fmla="val -612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20" idx="0"/>
          </p:cNvCxnSpPr>
          <p:nvPr/>
        </p:nvCxnSpPr>
        <p:spPr>
          <a:xfrm flipV="1">
            <a:off x="8706088" y="4467072"/>
            <a:ext cx="0" cy="127365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3521851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602" name="Rectangle 2"/>
          <p:cNvSpPr>
            <a:spLocks noGrp="1" noChangeArrowheads="1"/>
          </p:cNvSpPr>
          <p:nvPr>
            <p:ph type="title"/>
          </p:nvPr>
        </p:nvSpPr>
        <p:spPr>
          <a:xfrm>
            <a:off x="630677" y="246124"/>
            <a:ext cx="11125200" cy="742208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Решение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bg-BG" dirty="0">
                <a:latin typeface="Comfortaa" pitchFamily="2" charset="0"/>
              </a:rPr>
              <a:t>Коли</a:t>
            </a:r>
            <a:r>
              <a:rPr lang="en-US" dirty="0">
                <a:latin typeface="Comfortaa" pitchFamily="2" charset="0"/>
              </a:rPr>
              <a:t> [1/2]</a:t>
            </a: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767243" y="1110781"/>
            <a:ext cx="10668696" cy="3108543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fontAlgn="base"/>
            <a:r>
              <a:rPr lang="en-US" sz="2800" b="1" noProof="1">
                <a:solidFill>
                  <a:schemeClr val="bg1"/>
                </a:solidFill>
                <a:latin typeface="Consolas" pitchFamily="49" charset="0"/>
              </a:rPr>
              <a:t>public </a:t>
            </a:r>
            <a:r>
              <a:rPr lang="en-US" sz="2800" b="1" noProof="1">
                <a:solidFill>
                  <a:srgbClr val="00B0F0"/>
                </a:solidFill>
                <a:latin typeface="Consolas" pitchFamily="49" charset="0"/>
              </a:rPr>
              <a:t>interface ICar</a:t>
            </a:r>
          </a:p>
          <a:p>
            <a:pPr fontAlgn="base"/>
            <a:r>
              <a:rPr lang="en-US" sz="2800" b="1" noProof="1">
                <a:solidFill>
                  <a:schemeClr val="bg1"/>
                </a:solidFill>
                <a:latin typeface="Consolas" pitchFamily="49" charset="0"/>
              </a:rPr>
              <a:t>{</a:t>
            </a:r>
          </a:p>
          <a:p>
            <a:pPr fontAlgn="base"/>
            <a:r>
              <a:rPr lang="en-US" sz="2800" b="1" noProof="1">
                <a:solidFill>
                  <a:schemeClr val="bg1"/>
                </a:solidFill>
                <a:latin typeface="Consolas" pitchFamily="49" charset="0"/>
              </a:rPr>
              <a:t>  string Model { get; }</a:t>
            </a:r>
          </a:p>
          <a:p>
            <a:pPr fontAlgn="base"/>
            <a:r>
              <a:rPr lang="en-US" sz="2800" b="1" noProof="1">
                <a:solidFill>
                  <a:schemeClr val="bg1"/>
                </a:solidFill>
                <a:latin typeface="Consolas" pitchFamily="49" charset="0"/>
              </a:rPr>
              <a:t>  string Color { get; }</a:t>
            </a:r>
          </a:p>
          <a:p>
            <a:pPr fontAlgn="base"/>
            <a:r>
              <a:rPr lang="en-US" sz="2800" b="1" noProof="1">
                <a:solidFill>
                  <a:schemeClr val="bg1"/>
                </a:solidFill>
                <a:latin typeface="Consolas" pitchFamily="49" charset="0"/>
              </a:rPr>
              <a:t>  string Start();</a:t>
            </a:r>
          </a:p>
          <a:p>
            <a:pPr fontAlgn="base"/>
            <a:r>
              <a:rPr lang="en-US" sz="2800" b="1" noProof="1">
                <a:solidFill>
                  <a:schemeClr val="bg1"/>
                </a:solidFill>
                <a:latin typeface="Consolas" pitchFamily="49" charset="0"/>
              </a:rPr>
              <a:t>  string Stop();</a:t>
            </a:r>
          </a:p>
          <a:p>
            <a:pPr fontAlgn="base"/>
            <a:r>
              <a:rPr lang="en-US" sz="2800" b="1" noProof="1">
                <a:solidFill>
                  <a:schemeClr val="bg1"/>
                </a:solidFill>
                <a:latin typeface="Consolas" pitchFamily="49" charset="0"/>
              </a:rPr>
              <a:t>}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767243" y="4464221"/>
            <a:ext cx="10668696" cy="1815882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fontAlgn="base"/>
            <a:r>
              <a:rPr lang="en-US" sz="2800" b="1" noProof="1">
                <a:solidFill>
                  <a:schemeClr val="bg1"/>
                </a:solidFill>
                <a:latin typeface="Consolas" pitchFamily="49" charset="0"/>
              </a:rPr>
              <a:t>public interface IElectricCar</a:t>
            </a:r>
          </a:p>
          <a:p>
            <a:pPr fontAlgn="base"/>
            <a:r>
              <a:rPr lang="en-US" sz="2800" b="1" noProof="1">
                <a:solidFill>
                  <a:schemeClr val="bg1"/>
                </a:solidFill>
                <a:latin typeface="Consolas" pitchFamily="49" charset="0"/>
              </a:rPr>
              <a:t>{</a:t>
            </a:r>
          </a:p>
          <a:p>
            <a:pPr fontAlgn="base"/>
            <a:r>
              <a:rPr lang="en-US" sz="2800" b="1" noProof="1">
                <a:solidFill>
                  <a:schemeClr val="bg1"/>
                </a:solidFill>
                <a:latin typeface="Consolas" pitchFamily="49" charset="0"/>
              </a:rPr>
              <a:t>  int Batteries { get; }</a:t>
            </a:r>
          </a:p>
          <a:p>
            <a:pPr fontAlgn="base"/>
            <a:r>
              <a:rPr lang="en-US" sz="2800" b="1" noProof="1">
                <a:solidFill>
                  <a:schemeClr val="bg1"/>
                </a:solidFill>
                <a:latin typeface="Consolas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18108822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797624" y="1148260"/>
            <a:ext cx="10400807" cy="5216813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fontAlgn="base"/>
            <a:r>
              <a:rPr lang="en-US" sz="2400" b="1" noProof="1">
                <a:solidFill>
                  <a:schemeClr val="bg1"/>
                </a:solidFill>
                <a:latin typeface="Consolas" pitchFamily="49" charset="0"/>
              </a:rPr>
              <a:t>public class Tesla : ICar, IElectricCar</a:t>
            </a:r>
          </a:p>
          <a:p>
            <a:pPr fontAlgn="base"/>
            <a:r>
              <a:rPr lang="en-US" sz="2400" b="1" noProof="1">
                <a:solidFill>
                  <a:schemeClr val="bg1"/>
                </a:solidFill>
                <a:latin typeface="Consolas" pitchFamily="49" charset="0"/>
              </a:rPr>
              <a:t>{</a:t>
            </a:r>
          </a:p>
          <a:p>
            <a:pPr fontAlgn="base">
              <a:spcAft>
                <a:spcPts val="600"/>
              </a:spcAft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</a:rPr>
              <a:t>  public string Model { get; private set; }</a:t>
            </a:r>
          </a:p>
          <a:p>
            <a:pPr fontAlgn="base">
              <a:spcAft>
                <a:spcPts val="600"/>
              </a:spcAft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</a:rPr>
              <a:t>  public string Color { get; private set; }</a:t>
            </a:r>
          </a:p>
          <a:p>
            <a:pPr fontAlgn="base">
              <a:spcAft>
                <a:spcPts val="600"/>
              </a:spcAft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</a:rPr>
              <a:t>  public int Batteries { get; private set; }</a:t>
            </a:r>
          </a:p>
          <a:p>
            <a:pPr fontAlgn="base">
              <a:spcAft>
                <a:spcPts val="600"/>
              </a:spcAft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</a:rPr>
              <a:t>  public Tesla(string model, string color, int batteries)</a:t>
            </a:r>
          </a:p>
          <a:p>
            <a:pPr fontAlgn="base">
              <a:spcAft>
                <a:spcPts val="600"/>
              </a:spcAft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</a:rPr>
              <a:t>  { // TODO: Add Logic here }</a:t>
            </a:r>
          </a:p>
          <a:p>
            <a:pPr fontAlgn="base">
              <a:spcAft>
                <a:spcPts val="600"/>
              </a:spcAft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</a:rPr>
              <a:t>  public string Start()</a:t>
            </a:r>
          </a:p>
          <a:p>
            <a:pPr fontAlgn="base">
              <a:spcAft>
                <a:spcPts val="600"/>
              </a:spcAft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</a:rPr>
              <a:t>  { // TODO: Add Logic here }</a:t>
            </a:r>
          </a:p>
          <a:p>
            <a:pPr fontAlgn="base">
              <a:spcAft>
                <a:spcPts val="600"/>
              </a:spcAft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</a:rPr>
              <a:t>  public string Stop()</a:t>
            </a:r>
          </a:p>
          <a:p>
            <a:pPr fontAlgn="base">
              <a:spcAft>
                <a:spcPts val="600"/>
              </a:spcAft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</a:rPr>
              <a:t>  { // TODO: Add Logic here }</a:t>
            </a:r>
          </a:p>
          <a:p>
            <a:pPr fontAlgn="base"/>
            <a:r>
              <a:rPr lang="en-US" sz="2400" b="1" noProof="1">
                <a:solidFill>
                  <a:schemeClr val="bg1"/>
                </a:solidFill>
                <a:latin typeface="Consolas" pitchFamily="49" charset="0"/>
              </a:rPr>
              <a:t>}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71445988-986B-BD3E-2ACB-27D0FE5405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30677" y="246124"/>
            <a:ext cx="11125200" cy="742208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Решение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bg-BG" dirty="0">
                <a:latin typeface="Comfortaa" pitchFamily="2" charset="0"/>
              </a:rPr>
              <a:t>Коли</a:t>
            </a:r>
            <a:r>
              <a:rPr lang="en-US" dirty="0">
                <a:latin typeface="Comfortaa" pitchFamily="2" charset="0"/>
              </a:rPr>
              <a:t> [2/2]</a:t>
            </a:r>
          </a:p>
        </p:txBody>
      </p:sp>
    </p:spTree>
    <p:extLst>
      <p:ext uri="{BB962C8B-B14F-4D97-AF65-F5344CB8AC3E}">
        <p14:creationId xmlns:p14="http://schemas.microsoft.com/office/powerpoint/2010/main" val="187234961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757173" y="1032844"/>
            <a:ext cx="10536261" cy="5447645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fontAlgn="base"/>
            <a:r>
              <a:rPr lang="en-US" sz="2800" b="1" noProof="1">
                <a:solidFill>
                  <a:schemeClr val="bg1"/>
                </a:solidFill>
                <a:latin typeface="Consolas" pitchFamily="49" charset="0"/>
              </a:rPr>
              <a:t>public class Seat : ICar</a:t>
            </a:r>
          </a:p>
          <a:p>
            <a:pPr fontAlgn="base"/>
            <a:r>
              <a:rPr lang="en-US" sz="2800" b="1" noProof="1">
                <a:solidFill>
                  <a:schemeClr val="bg1"/>
                </a:solidFill>
                <a:latin typeface="Consolas" pitchFamily="49" charset="0"/>
              </a:rPr>
              <a:t>{</a:t>
            </a:r>
          </a:p>
          <a:p>
            <a:pPr fontAlgn="base">
              <a:spcAft>
                <a:spcPts val="600"/>
              </a:spcAft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</a:rPr>
              <a:t>  public string Model { get; private set; }</a:t>
            </a:r>
          </a:p>
          <a:p>
            <a:pPr fontAlgn="base">
              <a:spcAft>
                <a:spcPts val="600"/>
              </a:spcAft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</a:rPr>
              <a:t>  public string Color { get; private set; } </a:t>
            </a:r>
          </a:p>
          <a:p>
            <a:pPr fontAlgn="base">
              <a:spcAft>
                <a:spcPts val="600"/>
              </a:spcAft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</a:rPr>
              <a:t>  public Tesla(string model, string color)</a:t>
            </a:r>
          </a:p>
          <a:p>
            <a:pPr fontAlgn="base">
              <a:spcAft>
                <a:spcPts val="600"/>
              </a:spcAft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</a:rPr>
              <a:t>  { //TODO: Add Logic here }</a:t>
            </a:r>
          </a:p>
          <a:p>
            <a:pPr fontAlgn="base">
              <a:spcAft>
                <a:spcPts val="600"/>
              </a:spcAft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</a:rPr>
              <a:t>  public string Start()</a:t>
            </a:r>
          </a:p>
          <a:p>
            <a:pPr fontAlgn="base">
              <a:spcAft>
                <a:spcPts val="600"/>
              </a:spcAft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</a:rPr>
              <a:t>  { //TODO: Add Logic here }</a:t>
            </a:r>
          </a:p>
          <a:p>
            <a:pPr fontAlgn="base">
              <a:spcAft>
                <a:spcPts val="600"/>
              </a:spcAft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</a:rPr>
              <a:t>  public string Stop()</a:t>
            </a:r>
          </a:p>
          <a:p>
            <a:pPr fontAlgn="base">
              <a:spcAft>
                <a:spcPts val="600"/>
              </a:spcAft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</a:rPr>
              <a:t>  { //TODO: Add Logic here }</a:t>
            </a:r>
          </a:p>
          <a:p>
            <a:pPr fontAlgn="base"/>
            <a:r>
              <a:rPr lang="en-US" sz="2800" b="1" noProof="1">
                <a:solidFill>
                  <a:schemeClr val="bg1"/>
                </a:solidFill>
                <a:latin typeface="Consolas" pitchFamily="49" charset="0"/>
              </a:rPr>
              <a:t>}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543DD1C-A95A-AB82-09C1-08E30DBAE5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30677" y="246124"/>
            <a:ext cx="11125200" cy="742208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Решение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bg-BG" dirty="0">
                <a:latin typeface="Comfortaa" pitchFamily="2" charset="0"/>
              </a:rPr>
              <a:t>Коли</a:t>
            </a:r>
            <a:r>
              <a:rPr lang="en-US" dirty="0">
                <a:latin typeface="Comfortaa" pitchFamily="2" charset="0"/>
              </a:rPr>
              <a:t> [3/2]</a:t>
            </a:r>
          </a:p>
        </p:txBody>
      </p:sp>
    </p:spTree>
    <p:extLst>
      <p:ext uri="{BB962C8B-B14F-4D97-AF65-F5344CB8AC3E}">
        <p14:creationId xmlns:p14="http://schemas.microsoft.com/office/powerpoint/2010/main" val="468657728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3672" y="5011646"/>
            <a:ext cx="9806728" cy="774883"/>
          </a:xfrm>
        </p:spPr>
        <p:txBody>
          <a:bodyPr>
            <a:normAutofit fontScale="90000"/>
          </a:bodyPr>
          <a:lstStyle/>
          <a:p>
            <a:pPr>
              <a:lnSpc>
                <a:spcPts val="5400"/>
              </a:lnSpc>
            </a:pPr>
            <a:r>
              <a:rPr lang="bg-BG" dirty="0">
                <a:latin typeface="Comfortaa" pitchFamily="2" charset="0"/>
              </a:rPr>
              <a:t>Интерфейси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1013672" y="5831062"/>
            <a:ext cx="9806728" cy="719034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Лаб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B456F3C4-7792-4A8B-A1E9-29EABB81A882}"/>
              </a:ext>
            </a:extLst>
          </p:cNvPr>
          <p:cNvSpPr txBox="1">
            <a:spLocks/>
          </p:cNvSpPr>
          <p:nvPr/>
        </p:nvSpPr>
        <p:spPr>
          <a:xfrm>
            <a:off x="11568000" y="6525003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1218987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>
                <a:solidFill>
                  <a:prstClr val="white">
                    <a:tint val="75000"/>
                  </a:prstClr>
                </a:solidFill>
              </a:rPr>
              <a:pPr/>
              <a:t>17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BD1A4FC-C8D4-4F47-A1F8-9587B27C2F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0639" y="972483"/>
            <a:ext cx="5606478" cy="3561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7642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  <p:pic>
        <p:nvPicPr>
          <p:cNvPr id="2" name="Logo CC-BY-NC-SA">
            <a:hlinkClick r:id="rId5"/>
            <a:extLst>
              <a:ext uri="{FF2B5EF4-FFF2-40B4-BE49-F238E27FC236}">
                <a16:creationId xmlns:a16="http://schemas.microsoft.com/office/drawing/2014/main" id="{39F87C09-7AAD-A59F-33F5-8BECE165CB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7447" y="2650021"/>
            <a:ext cx="4017104" cy="144081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DBEA407-2EEF-D82D-ADB6-D20902F79FA2}"/>
              </a:ext>
            </a:extLst>
          </p:cNvPr>
          <p:cNvSpPr txBox="1"/>
          <p:nvPr/>
        </p:nvSpPr>
        <p:spPr>
          <a:xfrm>
            <a:off x="262246" y="5452243"/>
            <a:ext cx="116675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bg-BG" sz="1800" dirty="0">
                <a:latin typeface="Comfortaa" pitchFamily="2" charset="0"/>
              </a:rPr>
              <a:t>Документът е разработен за нуждите на Национална програма "Обучение за ИТ умения и кариера" на Министерството на образованието и науката (МОН)</a:t>
            </a:r>
            <a:r>
              <a:rPr lang="en-US" sz="1800" dirty="0">
                <a:latin typeface="Comfortaa" pitchFamily="2" charset="0"/>
              </a:rPr>
              <a:t> </a:t>
            </a:r>
            <a:r>
              <a:rPr lang="bg-BG" sz="1800" dirty="0">
                <a:latin typeface="Comfortaa" pitchFamily="2" charset="0"/>
              </a:rPr>
              <a:t>и се разпространява под свободен лиценз CC-BY-NC-SA (</a:t>
            </a:r>
            <a:r>
              <a:rPr lang="bg-BG" sz="1800" dirty="0" err="1">
                <a:latin typeface="Comfortaa" pitchFamily="2" charset="0"/>
              </a:rPr>
              <a:t>Creative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Commons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Attribution-Non-Commercial-Share-Alike</a:t>
            </a:r>
            <a:r>
              <a:rPr lang="bg-BG" sz="1800" dirty="0">
                <a:latin typeface="Comfortaa" pitchFamily="2" charset="0"/>
              </a:rPr>
              <a:t> 4.0 International).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241344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112</TotalTime>
  <Words>1603</Words>
  <Application>Microsoft Office PowerPoint</Application>
  <PresentationFormat>Widescreen</PresentationFormat>
  <Paragraphs>281</Paragraphs>
  <Slides>18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Calibri Light</vt:lpstr>
      <vt:lpstr>Comfortaa</vt:lpstr>
      <vt:lpstr>Consolas</vt:lpstr>
      <vt:lpstr>Wingdings</vt:lpstr>
      <vt:lpstr>Office Theme</vt:lpstr>
      <vt:lpstr>Интерфейси</vt:lpstr>
      <vt:lpstr>Интерфейси</vt:lpstr>
      <vt:lpstr>Интерфейс</vt:lpstr>
      <vt:lpstr>Пример за интерфейс</vt:lpstr>
      <vt:lpstr>Множествено наследяване</vt:lpstr>
      <vt:lpstr>Задача: Фигури</vt:lpstr>
      <vt:lpstr>Решение: Фигури</vt:lpstr>
      <vt:lpstr>Решение: Фигури – Чертане на правоъгълник</vt:lpstr>
      <vt:lpstr>Решение: Фигури – чертане на кръг</vt:lpstr>
      <vt:lpstr>Интерфейс с/у абстрактен клас [1/3]</vt:lpstr>
      <vt:lpstr>Интерфейс с/у абстрактен клас [2/3]</vt:lpstr>
      <vt:lpstr>Интерфейс с/у абстрактен клас [3/3]</vt:lpstr>
      <vt:lpstr>Задача: Коли</vt:lpstr>
      <vt:lpstr>Решение: Коли [1/2]</vt:lpstr>
      <vt:lpstr>Решение: Коли [2/2]</vt:lpstr>
      <vt:lpstr>Решение: Коли [3/2]</vt:lpstr>
      <vt:lpstr>Интерфейси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Димитър Минчев</dc:creator>
  <cp:lastModifiedBy>Димитър Минчев</cp:lastModifiedBy>
  <cp:revision>13</cp:revision>
  <dcterms:created xsi:type="dcterms:W3CDTF">2022-08-09T09:25:46Z</dcterms:created>
  <dcterms:modified xsi:type="dcterms:W3CDTF">2022-09-27T05:19:44Z</dcterms:modified>
</cp:coreProperties>
</file>