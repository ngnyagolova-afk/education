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3"/>
  </p:notesMasterIdLst>
  <p:sldIdLst>
    <p:sldId id="258" r:id="rId2"/>
    <p:sldId id="571" r:id="rId3"/>
    <p:sldId id="607" r:id="rId4"/>
    <p:sldId id="608" r:id="rId5"/>
    <p:sldId id="609" r:id="rId6"/>
    <p:sldId id="610" r:id="rId7"/>
    <p:sldId id="611" r:id="rId8"/>
    <p:sldId id="612" r:id="rId9"/>
    <p:sldId id="613" r:id="rId10"/>
    <p:sldId id="614" r:id="rId11"/>
    <p:sldId id="615" r:id="rId12"/>
    <p:sldId id="616" r:id="rId13"/>
    <p:sldId id="617" r:id="rId14"/>
    <p:sldId id="618" r:id="rId15"/>
    <p:sldId id="619" r:id="rId16"/>
    <p:sldId id="620" r:id="rId17"/>
    <p:sldId id="621" r:id="rId18"/>
    <p:sldId id="622" r:id="rId19"/>
    <p:sldId id="623" r:id="rId20"/>
    <p:sldId id="624" r:id="rId21"/>
    <p:sldId id="57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Lst>
        </p14:section>
        <p14:section name="Съдържание" id="{0B0C01F3-1F60-4ADB-AC1E-9589654EAEF3}">
          <p14:sldIdLst>
            <p14:sldId id="571"/>
            <p14:sldId id="607"/>
            <p14:sldId id="608"/>
            <p14:sldId id="609"/>
            <p14:sldId id="610"/>
            <p14:sldId id="611"/>
            <p14:sldId id="612"/>
            <p14:sldId id="613"/>
            <p14:sldId id="614"/>
            <p14:sldId id="615"/>
            <p14:sldId id="616"/>
            <p14:sldId id="617"/>
            <p14:sldId id="618"/>
            <p14:sldId id="619"/>
            <p14:sldId id="620"/>
            <p14:sldId id="621"/>
            <p14:sldId id="622"/>
            <p14:sldId id="623"/>
            <p14:sldId id="624"/>
          </p14:sldIdLst>
        </p14:section>
        <p14:section name="Заключение" id="{9315BEE7-605C-4839-996A-A4EEA70921D9}">
          <p14:sldIdLst>
            <p14:sldId id="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92" d="100"/>
          <a:sy n="92" d="100"/>
        </p:scale>
        <p:origin x="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14.9.2022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4" name="Footer Placeholder">
            <a:extLst>
              <a:ext uri="{FF2B5EF4-FFF2-40B4-BE49-F238E27FC236}">
                <a16:creationId xmlns:a16="http://schemas.microsoft.com/office/drawing/2014/main" id="{4E2C3297-1B0D-485A-8A19-B1F31B432739}"/>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963972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7131C5E-1E6B-46FF-9756-44B6556E2A79}" type="slidenum">
              <a:rPr lang="en-US"/>
              <a:pPr/>
              <a:t>4</a:t>
            </a:fld>
            <a:r>
              <a:rPr lang="en-US" dirty="0"/>
              <a:t>##</a:t>
            </a:r>
          </a:p>
        </p:txBody>
      </p:sp>
      <p:sp>
        <p:nvSpPr>
          <p:cNvPr id="1234946" name="Rectangle 2"/>
          <p:cNvSpPr>
            <a:spLocks noGrp="1" noRot="1" noChangeAspect="1" noChangeArrowheads="1" noTextEdit="1"/>
          </p:cNvSpPr>
          <p:nvPr>
            <p:ph type="sldImg"/>
          </p:nvPr>
        </p:nvSpPr>
        <p:spPr>
          <a:xfrm>
            <a:off x="381000" y="685800"/>
            <a:ext cx="6096000" cy="3429000"/>
          </a:xfrm>
          <a:ln/>
        </p:spPr>
      </p:sp>
      <p:sp>
        <p:nvSpPr>
          <p:cNvPr id="1234947" name="Rectangle 3"/>
          <p:cNvSpPr>
            <a:spLocks noGrp="1" noChangeArrowheads="1"/>
          </p:cNvSpPr>
          <p:nvPr>
            <p:ph type="body" idx="1"/>
          </p:nvPr>
        </p:nvSpPr>
        <p:spPr/>
        <p:txBody>
          <a:bodyPr/>
          <a:lstStyle/>
          <a:p>
            <a:endParaRPr lang="bg-BG"/>
          </a:p>
        </p:txBody>
      </p:sp>
      <p:sp>
        <p:nvSpPr>
          <p:cNvPr id="6" name="Footer Placeholder">
            <a:extLst>
              <a:ext uri="{FF2B5EF4-FFF2-40B4-BE49-F238E27FC236}">
                <a16:creationId xmlns:a16="http://schemas.microsoft.com/office/drawing/2014/main" id="{2AE292F6-33E3-41D6-8661-7DBE51CBB696}"/>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36315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8</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8</a:t>
            </a:fld>
            <a:r>
              <a:rPr lang="en-US" sz="1000" i="1" dirty="0"/>
              <a:t>##</a:t>
            </a:r>
            <a:endParaRPr lang="en-US" sz="1200" i="1" dirty="0"/>
          </a:p>
        </p:txBody>
      </p:sp>
      <p:sp>
        <p:nvSpPr>
          <p:cNvPr id="10" name="Footer Placeholder">
            <a:extLst>
              <a:ext uri="{FF2B5EF4-FFF2-40B4-BE49-F238E27FC236}">
                <a16:creationId xmlns:a16="http://schemas.microsoft.com/office/drawing/2014/main" id="{0D9BE70E-9674-420B-933E-7D698706DC27}"/>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839776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9</a:t>
            </a:fld>
            <a:endParaRPr lang="en-US" dirty="0"/>
          </a:p>
        </p:txBody>
      </p:sp>
      <p:sp>
        <p:nvSpPr>
          <p:cNvPr id="6" name="Footer Placeholder">
            <a:extLst>
              <a:ext uri="{FF2B5EF4-FFF2-40B4-BE49-F238E27FC236}">
                <a16:creationId xmlns:a16="http://schemas.microsoft.com/office/drawing/2014/main" id="{27D9E5B6-C338-4382-8407-C3206936C3E5}"/>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067130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10</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10</a:t>
            </a:fld>
            <a:r>
              <a:rPr lang="en-US" sz="1000" i="1" dirty="0"/>
              <a:t>##</a:t>
            </a:r>
            <a:endParaRPr lang="en-US" sz="1200" i="1" dirty="0"/>
          </a:p>
        </p:txBody>
      </p:sp>
      <p:sp>
        <p:nvSpPr>
          <p:cNvPr id="10" name="Footer Placeholder">
            <a:extLst>
              <a:ext uri="{FF2B5EF4-FFF2-40B4-BE49-F238E27FC236}">
                <a16:creationId xmlns:a16="http://schemas.microsoft.com/office/drawing/2014/main" id="{D5B3BA0B-EA5A-40B1-BB19-0C911174F53C}"/>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085012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11</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11</a:t>
            </a:fld>
            <a:r>
              <a:rPr lang="en-US" sz="1000" i="1" dirty="0"/>
              <a:t>##</a:t>
            </a:r>
            <a:endParaRPr lang="en-US" sz="1200" i="1" dirty="0"/>
          </a:p>
        </p:txBody>
      </p:sp>
      <p:sp>
        <p:nvSpPr>
          <p:cNvPr id="10" name="Footer Placeholder">
            <a:extLst>
              <a:ext uri="{FF2B5EF4-FFF2-40B4-BE49-F238E27FC236}">
                <a16:creationId xmlns:a16="http://schemas.microsoft.com/office/drawing/2014/main" id="{72C4BAFA-FC9E-4881-9FD6-C9E3B89DF14E}"/>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886321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5" name="Slide Number Placeholder 4"/>
          <p:cNvSpPr>
            <a:spLocks noGrp="1"/>
          </p:cNvSpPr>
          <p:nvPr>
            <p:ph type="sldNum" sz="quarter" idx="11"/>
          </p:nvPr>
        </p:nvSpPr>
        <p:spPr/>
        <p:txBody>
          <a:bodyPr/>
          <a:lstStyle/>
          <a:p>
            <a:fld id="{3EBA5BD7-F043-4D1B-AA17-CD412FC534DE}" type="slidenum">
              <a:rPr lang="en-US" smtClean="0"/>
              <a:pPr/>
              <a:t>12</a:t>
            </a:fld>
            <a:endParaRPr lang="en-US" dirty="0"/>
          </a:p>
        </p:txBody>
      </p:sp>
      <p:sp>
        <p:nvSpPr>
          <p:cNvPr id="6" name="Footer Placeholder">
            <a:extLst>
              <a:ext uri="{FF2B5EF4-FFF2-40B4-BE49-F238E27FC236}">
                <a16:creationId xmlns:a16="http://schemas.microsoft.com/office/drawing/2014/main" id="{F3BB736C-A31A-43E2-86AC-D1EE70043546}"/>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877153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13</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13</a:t>
            </a:fld>
            <a:r>
              <a:rPr lang="en-US" sz="1000" i="1" dirty="0"/>
              <a:t>##</a:t>
            </a:r>
            <a:endParaRPr lang="en-US" sz="1200" i="1" dirty="0"/>
          </a:p>
        </p:txBody>
      </p:sp>
      <p:sp>
        <p:nvSpPr>
          <p:cNvPr id="10" name="Footer Placeholder">
            <a:extLst>
              <a:ext uri="{FF2B5EF4-FFF2-40B4-BE49-F238E27FC236}">
                <a16:creationId xmlns:a16="http://schemas.microsoft.com/office/drawing/2014/main" id="{7A73BC19-7594-4274-BC78-E9631479417D}"/>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772905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14</a:t>
            </a:fld>
            <a:r>
              <a:rPr lang="en-US" sz="1000" i="1" dirty="0"/>
              <a:t>##</a:t>
            </a:r>
            <a:endParaRPr lang="en-US" sz="1200" i="1" dirty="0"/>
          </a:p>
        </p:txBody>
      </p:sp>
      <p:sp>
        <p:nvSpPr>
          <p:cNvPr id="10" name="Footer Placeholder">
            <a:extLst>
              <a:ext uri="{FF2B5EF4-FFF2-40B4-BE49-F238E27FC236}">
                <a16:creationId xmlns:a16="http://schemas.microsoft.com/office/drawing/2014/main" id="{F8055D62-C95D-48C6-A76C-A2C1C12CFB2C}"/>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528409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15</a:t>
            </a:fld>
            <a:r>
              <a:rPr lang="en-US" sz="1000" i="1" dirty="0"/>
              <a:t>##</a:t>
            </a:r>
            <a:endParaRPr lang="en-US" sz="1200" i="1" dirty="0"/>
          </a:p>
        </p:txBody>
      </p:sp>
      <p:sp>
        <p:nvSpPr>
          <p:cNvPr id="10" name="Footer Placeholder">
            <a:extLst>
              <a:ext uri="{FF2B5EF4-FFF2-40B4-BE49-F238E27FC236}">
                <a16:creationId xmlns:a16="http://schemas.microsoft.com/office/drawing/2014/main" id="{85ED47AF-7D31-48B2-8221-D0DD8B0AC76A}"/>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047471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16</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16</a:t>
            </a:fld>
            <a:r>
              <a:rPr lang="en-US" sz="1000" i="1" dirty="0"/>
              <a:t>##</a:t>
            </a:r>
            <a:endParaRPr lang="en-US" sz="1200" i="1" dirty="0"/>
          </a:p>
        </p:txBody>
      </p:sp>
      <p:sp>
        <p:nvSpPr>
          <p:cNvPr id="10" name="Footer Placeholder">
            <a:extLst>
              <a:ext uri="{FF2B5EF4-FFF2-40B4-BE49-F238E27FC236}">
                <a16:creationId xmlns:a16="http://schemas.microsoft.com/office/drawing/2014/main" id="{03D9DF00-292E-4854-9DC0-2B3F9856E50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975771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17</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17</a:t>
            </a:fld>
            <a:r>
              <a:rPr lang="en-US" sz="1000" i="1" dirty="0"/>
              <a:t>##</a:t>
            </a:r>
            <a:endParaRPr lang="en-US" sz="1200" i="1" dirty="0"/>
          </a:p>
        </p:txBody>
      </p:sp>
      <p:sp>
        <p:nvSpPr>
          <p:cNvPr id="10" name="Footer Placeholder">
            <a:extLst>
              <a:ext uri="{FF2B5EF4-FFF2-40B4-BE49-F238E27FC236}">
                <a16:creationId xmlns:a16="http://schemas.microsoft.com/office/drawing/2014/main" id="{CE030EB3-E484-448F-813C-94766129DBA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845062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18</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18</a:t>
            </a:fld>
            <a:r>
              <a:rPr lang="en-US" sz="1000" i="1" dirty="0"/>
              <a:t>##</a:t>
            </a:r>
            <a:endParaRPr lang="en-US" sz="1200" i="1" dirty="0"/>
          </a:p>
        </p:txBody>
      </p:sp>
      <p:sp>
        <p:nvSpPr>
          <p:cNvPr id="10" name="Footer Placeholder">
            <a:extLst>
              <a:ext uri="{FF2B5EF4-FFF2-40B4-BE49-F238E27FC236}">
                <a16:creationId xmlns:a16="http://schemas.microsoft.com/office/drawing/2014/main" id="{9F49CDB4-D5DF-46DA-965F-1B2861FE39F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5641556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BA5BD7-F043-4D1B-AA17-CD412FC534DE}" type="slidenum">
              <a:rPr lang="en-US" smtClean="0"/>
              <a:pPr/>
              <a:t>19</a:t>
            </a:fld>
            <a:endParaRPr lang="en-US" dirty="0"/>
          </a:p>
        </p:txBody>
      </p:sp>
      <p:sp>
        <p:nvSpPr>
          <p:cNvPr id="6" name="Footer Placeholder">
            <a:extLst>
              <a:ext uri="{FF2B5EF4-FFF2-40B4-BE49-F238E27FC236}">
                <a16:creationId xmlns:a16="http://schemas.microsoft.com/office/drawing/2014/main" id="{4A6919AC-5373-4D92-AFEA-ED6726690840}"/>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0287283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a:extLst>
              <a:ext uri="{FF2B5EF4-FFF2-40B4-BE49-F238E27FC236}">
                <a16:creationId xmlns:a16="http://schemas.microsoft.com/office/drawing/2014/main" id="{D0735646-A6B2-4F94-8730-490C061B75D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300207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14.9.2022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14.9.2022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14.9.2022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14.9.2022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mon.b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https://creativecommons.org/licenses/by-nc-sa/4.0" TargetMode="External"/><Relationship Id="rId4" Type="http://schemas.openxmlformats.org/officeDocument/2006/relationships/hyperlink" Target="https://www.mon.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1524000" y="1924336"/>
            <a:ext cx="9144000" cy="2387600"/>
          </a:xfrm>
        </p:spPr>
        <p:txBody>
          <a:bodyPr/>
          <a:lstStyle/>
          <a:p>
            <a:r>
              <a:rPr lang="bg-BG" dirty="0">
                <a:latin typeface="Comfortaa" pitchFamily="2" charset="0"/>
              </a:rPr>
              <a:t>Наследяване</a:t>
            </a: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524000" y="4404011"/>
            <a:ext cx="9144000" cy="1655762"/>
          </a:xfrm>
        </p:spPr>
        <p:txBody>
          <a:bodyPr/>
          <a:lstStyle/>
          <a:p>
            <a:r>
              <a:rPr lang="ru-RU" dirty="0" err="1">
                <a:latin typeface="Comfortaa" pitchFamily="2" charset="0"/>
              </a:rPr>
              <a:t>Йерархии</a:t>
            </a:r>
            <a:r>
              <a:rPr lang="ru-RU" dirty="0">
                <a:latin typeface="Comfortaa" pitchFamily="2" charset="0"/>
              </a:rPr>
              <a:t> от </a:t>
            </a:r>
            <a:r>
              <a:rPr lang="ru-RU" dirty="0" err="1">
                <a:latin typeface="Comfortaa" pitchFamily="2" charset="0"/>
              </a:rPr>
              <a:t>класове</a:t>
            </a:r>
            <a:endParaRPr lang="ru-RU" dirty="0">
              <a:latin typeface="Comfortaa" pitchFamily="2" charset="0"/>
            </a:endParaRPr>
          </a:p>
        </p:txBody>
      </p:sp>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818303" y="830074"/>
            <a:ext cx="10552199" cy="1110780"/>
          </a:xfrm>
        </p:spPr>
        <p:txBody>
          <a:bodyPr>
            <a:normAutofit/>
          </a:bodyPr>
          <a:lstStyle/>
          <a:p>
            <a:r>
              <a:rPr lang="bg-BG" dirty="0">
                <a:latin typeface="Comfortaa" pitchFamily="2" charset="0"/>
              </a:rPr>
              <a:t>Съдържание</a:t>
            </a:r>
          </a:p>
        </p:txBody>
      </p:sp>
      <p:sp>
        <p:nvSpPr>
          <p:cNvPr id="8" name="Rectangle 3"/>
          <p:cNvSpPr>
            <a:spLocks noGrp="1" noChangeArrowheads="1"/>
          </p:cNvSpPr>
          <p:nvPr>
            <p:ph idx="4294967295"/>
          </p:nvPr>
        </p:nvSpPr>
        <p:spPr>
          <a:xfrm>
            <a:off x="819901" y="1981201"/>
            <a:ext cx="10552199" cy="3913933"/>
          </a:xfrm>
        </p:spPr>
        <p:txBody>
          <a:bodyPr>
            <a:normAutofit/>
          </a:bodyPr>
          <a:lstStyle/>
          <a:p>
            <a:pPr marL="442913" indent="-442913">
              <a:lnSpc>
                <a:spcPct val="100000"/>
              </a:lnSpc>
              <a:spcBef>
                <a:spcPts val="500"/>
              </a:spcBef>
              <a:buFontTx/>
              <a:buAutoNum type="arabicPeriod"/>
            </a:pPr>
            <a:r>
              <a:rPr lang="bg-BG" dirty="0">
                <a:latin typeface="Comfortaa" pitchFamily="2" charset="0"/>
              </a:rPr>
              <a:t>Наследяване</a:t>
            </a:r>
            <a:endParaRPr lang="en-US" dirty="0">
              <a:latin typeface="Comfortaa" pitchFamily="2" charset="0"/>
            </a:endParaRPr>
          </a:p>
          <a:p>
            <a:pPr marL="442913" indent="-442913">
              <a:lnSpc>
                <a:spcPct val="100000"/>
              </a:lnSpc>
              <a:spcBef>
                <a:spcPts val="500"/>
              </a:spcBef>
              <a:buFontTx/>
              <a:buAutoNum type="arabicPeriod"/>
            </a:pPr>
            <a:r>
              <a:rPr lang="bg-BG" dirty="0">
                <a:latin typeface="Comfortaa" pitchFamily="2" charset="0"/>
              </a:rPr>
              <a:t>Йерархии от класове</a:t>
            </a:r>
            <a:endParaRPr lang="en-US" dirty="0">
              <a:latin typeface="Comfortaa" pitchFamily="2" charset="0"/>
            </a:endParaRPr>
          </a:p>
          <a:p>
            <a:pPr marL="442913" indent="-442913">
              <a:lnSpc>
                <a:spcPct val="100000"/>
              </a:lnSpc>
              <a:spcBef>
                <a:spcPts val="500"/>
              </a:spcBef>
              <a:buFontTx/>
              <a:buAutoNum type="arabicPeriod"/>
            </a:pPr>
            <a:r>
              <a:rPr lang="bg-BG" dirty="0">
                <a:latin typeface="Comfortaa" pitchFamily="2" charset="0"/>
              </a:rPr>
              <a:t>Наследяване в </a:t>
            </a:r>
            <a:r>
              <a:rPr lang="en-US" dirty="0">
                <a:latin typeface="Comfortaa" pitchFamily="2" charset="0"/>
              </a:rPr>
              <a:t>C#</a:t>
            </a:r>
          </a:p>
          <a:p>
            <a:pPr marL="442913" indent="-442913">
              <a:lnSpc>
                <a:spcPct val="100000"/>
              </a:lnSpc>
              <a:spcBef>
                <a:spcPts val="500"/>
              </a:spcBef>
              <a:buFontTx/>
              <a:buAutoNum type="arabicPeriod"/>
            </a:pPr>
            <a:r>
              <a:rPr lang="bg-BG" dirty="0">
                <a:latin typeface="Comfortaa" pitchFamily="2" charset="0"/>
              </a:rPr>
              <a:t>Достъп до членове на базовия клас</a:t>
            </a:r>
            <a:endParaRPr lang="en-US" dirty="0">
              <a:latin typeface="Comfortaa" pitchFamily="2" charset="0"/>
            </a:endParaRPr>
          </a:p>
        </p:txBody>
      </p:sp>
    </p:spTree>
    <p:extLst>
      <p:ext uri="{BB962C8B-B14F-4D97-AF65-F5344CB8AC3E}">
        <p14:creationId xmlns:p14="http://schemas.microsoft.com/office/powerpoint/2010/main" val="1892834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4625439"/>
            <a:ext cx="10134600" cy="1003465"/>
          </a:xfrm>
        </p:spPr>
        <p:txBody>
          <a:bodyPr>
            <a:normAutofit/>
          </a:bodyPr>
          <a:lstStyle/>
          <a:p>
            <a:pPr>
              <a:lnSpc>
                <a:spcPts val="5400"/>
              </a:lnSpc>
            </a:pPr>
            <a:r>
              <a:rPr lang="bg-BG" dirty="0">
                <a:latin typeface="Comfortaa" pitchFamily="2" charset="0"/>
              </a:rPr>
              <a:t>Наследяване</a:t>
            </a:r>
            <a:endParaRPr lang="en-US" dirty="0">
              <a:latin typeface="Comfortaa" pitchFamily="2" charset="0"/>
            </a:endParaRPr>
          </a:p>
        </p:txBody>
      </p:sp>
      <p:sp>
        <p:nvSpPr>
          <p:cNvPr id="7" name="Text Placeholder 6"/>
          <p:cNvSpPr>
            <a:spLocks noGrp="1"/>
          </p:cNvSpPr>
          <p:nvPr>
            <p:ph type="body" idx="1"/>
          </p:nvPr>
        </p:nvSpPr>
        <p:spPr>
          <a:xfrm>
            <a:off x="1351809" y="5628904"/>
            <a:ext cx="9144000" cy="562773"/>
          </a:xfrm>
        </p:spPr>
        <p:txBody>
          <a:bodyPr/>
          <a:lstStyle/>
          <a:p>
            <a:r>
              <a:rPr lang="bg-BG" dirty="0">
                <a:latin typeface="Comfortaa" pitchFamily="2" charset="0"/>
              </a:rPr>
              <a:t>Разширяване на класове</a:t>
            </a:r>
            <a:endParaRPr lang="en-GB" dirty="0">
              <a:latin typeface="Comfortaa" pitchFamily="2" charset="0"/>
            </a:endParaRPr>
          </a:p>
        </p:txBody>
      </p:sp>
      <p:pic>
        <p:nvPicPr>
          <p:cNvPr id="4" name="Picture 2" descr="http://faculty.ycp.edu/~dhovemey/fall2013/cs201/lecture/figures/classHier.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131" t="-9580" r="-4131" b="-9580"/>
          <a:stretch/>
        </p:blipFill>
        <p:spPr bwMode="auto">
          <a:xfrm>
            <a:off x="3010216" y="431327"/>
            <a:ext cx="5942968" cy="3829791"/>
          </a:xfrm>
          <a:prstGeom prst="rect">
            <a:avLst/>
          </a:prstGeom>
        </p:spPr>
      </p:pic>
    </p:spTree>
    <p:extLst>
      <p:ext uri="{BB962C8B-B14F-4D97-AF65-F5344CB8AC3E}">
        <p14:creationId xmlns:p14="http://schemas.microsoft.com/office/powerpoint/2010/main" val="3414295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row: Up 1">
            <a:extLst>
              <a:ext uri="{FF2B5EF4-FFF2-40B4-BE49-F238E27FC236}">
                <a16:creationId xmlns:a16="http://schemas.microsoft.com/office/drawing/2014/main" id="{9443A452-D5F3-4683-ACF0-39FA84589049}"/>
              </a:ext>
            </a:extLst>
          </p:cNvPr>
          <p:cNvSpPr/>
          <p:nvPr/>
        </p:nvSpPr>
        <p:spPr>
          <a:xfrm>
            <a:off x="6121716" y="5012793"/>
            <a:ext cx="522514" cy="554389"/>
          </a:xfrm>
          <a:prstGeom prst="upArrow">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33923" name="Rectangle 3"/>
          <p:cNvSpPr>
            <a:spLocks noGrp="1" noChangeArrowheads="1"/>
          </p:cNvSpPr>
          <p:nvPr>
            <p:ph idx="1"/>
          </p:nvPr>
        </p:nvSpPr>
        <p:spPr>
          <a:xfrm>
            <a:off x="814950" y="1765832"/>
            <a:ext cx="10948060" cy="1998230"/>
          </a:xfrm>
        </p:spPr>
        <p:txBody>
          <a:bodyPr>
            <a:normAutofit lnSpcReduction="10000"/>
          </a:bodyPr>
          <a:lstStyle/>
          <a:p>
            <a:pPr>
              <a:lnSpc>
                <a:spcPct val="110000"/>
              </a:lnSpc>
            </a:pPr>
            <a:r>
              <a:rPr lang="bg-BG" b="1" dirty="0">
                <a:solidFill>
                  <a:srgbClr val="00B0F0"/>
                </a:solidFill>
                <a:latin typeface="Comfortaa" pitchFamily="2" charset="0"/>
              </a:rPr>
              <a:t>Суперклас</a:t>
            </a:r>
            <a:r>
              <a:rPr lang="bg-BG" dirty="0">
                <a:solidFill>
                  <a:schemeClr val="tx2">
                    <a:lumMod val="75000"/>
                  </a:schemeClr>
                </a:solidFill>
                <a:effectLst>
                  <a:outerShdw blurRad="38100" dist="38100" dir="2700000" algn="tl">
                    <a:srgbClr val="000000"/>
                  </a:outerShdw>
                </a:effectLst>
                <a:latin typeface="Comfortaa" pitchFamily="2" charset="0"/>
              </a:rPr>
              <a:t> </a:t>
            </a:r>
            <a:r>
              <a:rPr lang="en-US" dirty="0">
                <a:latin typeface="Comfortaa" pitchFamily="2" charset="0"/>
              </a:rPr>
              <a:t>– </a:t>
            </a:r>
            <a:r>
              <a:rPr lang="bg-BG" dirty="0">
                <a:latin typeface="Comfortaa" pitchFamily="2" charset="0"/>
              </a:rPr>
              <a:t>родителски клас, базов клас</a:t>
            </a:r>
            <a:endParaRPr lang="en-US" dirty="0">
              <a:latin typeface="Comfortaa" pitchFamily="2" charset="0"/>
            </a:endParaRPr>
          </a:p>
          <a:p>
            <a:pPr lvl="1">
              <a:lnSpc>
                <a:spcPct val="110000"/>
              </a:lnSpc>
            </a:pPr>
            <a:r>
              <a:rPr lang="bg-BG" dirty="0">
                <a:latin typeface="Comfortaa" pitchFamily="2" charset="0"/>
              </a:rPr>
              <a:t>Класът, който дава своите членове на дъщерния си клас</a:t>
            </a:r>
          </a:p>
          <a:p>
            <a:pPr>
              <a:lnSpc>
                <a:spcPct val="110000"/>
              </a:lnSpc>
            </a:pPr>
            <a:r>
              <a:rPr lang="bg-BG" b="1" dirty="0">
                <a:solidFill>
                  <a:srgbClr val="00B0F0"/>
                </a:solidFill>
                <a:latin typeface="Comfortaa" pitchFamily="2" charset="0"/>
              </a:rPr>
              <a:t>Подклас</a:t>
            </a:r>
            <a:r>
              <a:rPr lang="en-US" dirty="0">
                <a:solidFill>
                  <a:schemeClr val="tx2">
                    <a:lumMod val="75000"/>
                  </a:schemeClr>
                </a:solidFill>
                <a:latin typeface="Comfortaa" pitchFamily="2" charset="0"/>
              </a:rPr>
              <a:t> </a:t>
            </a:r>
            <a:r>
              <a:rPr lang="en-US" dirty="0">
                <a:latin typeface="Comfortaa" pitchFamily="2" charset="0"/>
              </a:rPr>
              <a:t>– </a:t>
            </a:r>
            <a:r>
              <a:rPr lang="bg-BG" dirty="0">
                <a:latin typeface="Comfortaa" pitchFamily="2" charset="0"/>
              </a:rPr>
              <a:t>Дъщерен клас</a:t>
            </a:r>
            <a:r>
              <a:rPr lang="en-US" dirty="0">
                <a:latin typeface="Comfortaa" pitchFamily="2" charset="0"/>
              </a:rPr>
              <a:t>, </a:t>
            </a:r>
            <a:r>
              <a:rPr lang="bg-BG" dirty="0">
                <a:latin typeface="Comfortaa" pitchFamily="2" charset="0"/>
              </a:rPr>
              <a:t>производен клас</a:t>
            </a:r>
            <a:endParaRPr lang="en-US" dirty="0">
              <a:latin typeface="Comfortaa" pitchFamily="2" charset="0"/>
            </a:endParaRPr>
          </a:p>
          <a:p>
            <a:pPr lvl="1">
              <a:lnSpc>
                <a:spcPct val="110000"/>
              </a:lnSpc>
            </a:pPr>
            <a:r>
              <a:rPr lang="bg-BG" dirty="0">
                <a:latin typeface="Comfortaa" pitchFamily="2" charset="0"/>
              </a:rPr>
              <a:t>Класът, който получава членове от своя базов клас</a:t>
            </a:r>
            <a:endParaRPr lang="en-US" dirty="0">
              <a:solidFill>
                <a:schemeClr val="tx2">
                  <a:lumMod val="75000"/>
                </a:schemeClr>
              </a:solidFill>
              <a:latin typeface="Comfortaa" pitchFamily="2" charset="0"/>
            </a:endParaRPr>
          </a:p>
        </p:txBody>
      </p:sp>
      <p:sp>
        <p:nvSpPr>
          <p:cNvPr id="1233922" name="Rectangle 2"/>
          <p:cNvSpPr>
            <a:spLocks noGrp="1" noChangeArrowheads="1"/>
          </p:cNvSpPr>
          <p:nvPr>
            <p:ph type="title"/>
          </p:nvPr>
        </p:nvSpPr>
        <p:spPr>
          <a:xfrm>
            <a:off x="820387" y="602632"/>
            <a:ext cx="10515600" cy="1325563"/>
          </a:xfrm>
        </p:spPr>
        <p:txBody>
          <a:bodyPr/>
          <a:lstStyle/>
          <a:p>
            <a:r>
              <a:rPr lang="bg-BG" dirty="0">
                <a:latin typeface="Comfortaa" pitchFamily="2" charset="0"/>
              </a:rPr>
              <a:t>Наследяване</a:t>
            </a:r>
          </a:p>
        </p:txBody>
      </p:sp>
      <p:sp>
        <p:nvSpPr>
          <p:cNvPr id="5" name="Rectangle: Rounded Corners 4"/>
          <p:cNvSpPr>
            <a:spLocks noChangeArrowheads="1"/>
          </p:cNvSpPr>
          <p:nvPr/>
        </p:nvSpPr>
        <p:spPr bwMode="auto">
          <a:xfrm>
            <a:off x="3925292" y="4137195"/>
            <a:ext cx="5007904" cy="875598"/>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bg-BG" sz="4000" b="1" noProof="1">
                <a:solidFill>
                  <a:schemeClr val="bg1"/>
                </a:solidFill>
                <a:latin typeface="Comfortaa" pitchFamily="2" charset="0"/>
              </a:rPr>
              <a:t>Суперклас</a:t>
            </a:r>
            <a:endParaRPr lang="en-GB" sz="4000" b="1" noProof="1">
              <a:solidFill>
                <a:schemeClr val="bg1"/>
              </a:solidFill>
              <a:latin typeface="Comfortaa" pitchFamily="2" charset="0"/>
            </a:endParaRPr>
          </a:p>
        </p:txBody>
      </p:sp>
      <p:sp>
        <p:nvSpPr>
          <p:cNvPr id="6" name="Rectangle: Rounded Corners 5"/>
          <p:cNvSpPr>
            <a:spLocks noChangeArrowheads="1"/>
          </p:cNvSpPr>
          <p:nvPr/>
        </p:nvSpPr>
        <p:spPr bwMode="auto">
          <a:xfrm>
            <a:off x="3925292" y="5414762"/>
            <a:ext cx="5007910" cy="799398"/>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bg-BG" sz="4000" b="1" noProof="1">
                <a:solidFill>
                  <a:schemeClr val="bg1"/>
                </a:solidFill>
                <a:latin typeface="Comfortaa" pitchFamily="2" charset="0"/>
              </a:rPr>
              <a:t>Подклас</a:t>
            </a:r>
            <a:endParaRPr lang="en-US" sz="4000" b="1" noProof="1">
              <a:solidFill>
                <a:schemeClr val="bg1"/>
              </a:solidFill>
              <a:latin typeface="Comfortaa" pitchFamily="2" charset="0"/>
            </a:endParaRPr>
          </a:p>
        </p:txBody>
      </p:sp>
      <p:sp>
        <p:nvSpPr>
          <p:cNvPr id="9" name="AutoShape 6"/>
          <p:cNvSpPr>
            <a:spLocks noChangeArrowheads="1"/>
          </p:cNvSpPr>
          <p:nvPr/>
        </p:nvSpPr>
        <p:spPr bwMode="auto">
          <a:xfrm>
            <a:off x="814950" y="5457104"/>
            <a:ext cx="2808514" cy="757055"/>
          </a:xfrm>
          <a:prstGeom prst="wedgeRoundRectCallout">
            <a:avLst>
              <a:gd name="adj1" fmla="val 74214"/>
              <a:gd name="adj2" fmla="val 629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3200" dirty="0">
                <a:solidFill>
                  <a:schemeClr val="bg1"/>
                </a:solidFill>
                <a:latin typeface="Comfortaa" pitchFamily="2" charset="0"/>
              </a:rPr>
              <a:t>Дъщерен</a:t>
            </a:r>
          </a:p>
        </p:txBody>
      </p:sp>
      <p:sp>
        <p:nvSpPr>
          <p:cNvPr id="10" name="AutoShape 6"/>
          <p:cNvSpPr>
            <a:spLocks noChangeArrowheads="1"/>
          </p:cNvSpPr>
          <p:nvPr/>
        </p:nvSpPr>
        <p:spPr bwMode="auto">
          <a:xfrm>
            <a:off x="9213734" y="4137194"/>
            <a:ext cx="1951512" cy="875597"/>
          </a:xfrm>
          <a:prstGeom prst="wedgeRoundRectCallout">
            <a:avLst>
              <a:gd name="adj1" fmla="val -89198"/>
              <a:gd name="adj2" fmla="val 11858"/>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3200" dirty="0">
                <a:solidFill>
                  <a:schemeClr val="bg1"/>
                </a:solidFill>
                <a:latin typeface="Comfortaa" pitchFamily="2" charset="0"/>
              </a:rPr>
              <a:t>Базов</a:t>
            </a:r>
          </a:p>
        </p:txBody>
      </p:sp>
    </p:spTree>
    <p:extLst>
      <p:ext uri="{BB962C8B-B14F-4D97-AF65-F5344CB8AC3E}">
        <p14:creationId xmlns:p14="http://schemas.microsoft.com/office/powerpoint/2010/main" val="99594799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738" y="441171"/>
            <a:ext cx="11206749" cy="1101478"/>
          </a:xfrm>
        </p:spPr>
        <p:txBody>
          <a:bodyPr/>
          <a:lstStyle/>
          <a:p>
            <a:pPr algn="ctr"/>
            <a:r>
              <a:rPr lang="bg-BG" dirty="0">
                <a:latin typeface="Comfortaa" pitchFamily="2" charset="0"/>
              </a:rPr>
              <a:t>Наследяване </a:t>
            </a:r>
            <a:r>
              <a:rPr lang="en-US" dirty="0">
                <a:latin typeface="Comfortaa" pitchFamily="2" charset="0"/>
              </a:rPr>
              <a:t>– </a:t>
            </a:r>
            <a:r>
              <a:rPr lang="bg-BG" dirty="0">
                <a:latin typeface="Comfortaa" pitchFamily="2" charset="0"/>
              </a:rPr>
              <a:t>пример</a:t>
            </a:r>
            <a:endParaRPr lang="en-US" dirty="0">
              <a:latin typeface="Comfortaa" pitchFamily="2" charset="0"/>
            </a:endParaRPr>
          </a:p>
        </p:txBody>
      </p:sp>
      <p:sp>
        <p:nvSpPr>
          <p:cNvPr id="5" name="Rectangle 4"/>
          <p:cNvSpPr>
            <a:spLocks noChangeArrowheads="1"/>
          </p:cNvSpPr>
          <p:nvPr/>
        </p:nvSpPr>
        <p:spPr bwMode="auto">
          <a:xfrm>
            <a:off x="4574509" y="1814780"/>
            <a:ext cx="3265165" cy="576262"/>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GB" sz="3200" b="1" noProof="1">
                <a:solidFill>
                  <a:schemeClr val="bg1"/>
                </a:solidFill>
                <a:latin typeface="Consolas" pitchFamily="49" charset="0"/>
              </a:rPr>
              <a:t>Person</a:t>
            </a:r>
          </a:p>
        </p:txBody>
      </p:sp>
      <p:sp>
        <p:nvSpPr>
          <p:cNvPr id="6" name="Rectangle 5"/>
          <p:cNvSpPr>
            <a:spLocks noChangeArrowheads="1"/>
          </p:cNvSpPr>
          <p:nvPr/>
        </p:nvSpPr>
        <p:spPr bwMode="auto">
          <a:xfrm>
            <a:off x="4574509" y="2391044"/>
            <a:ext cx="3265165" cy="792163"/>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r>
              <a:rPr lang="en-GB" b="1" noProof="1">
                <a:solidFill>
                  <a:schemeClr val="bg1"/>
                </a:solidFill>
                <a:latin typeface="Consolas" pitchFamily="49" charset="0"/>
              </a:rPr>
              <a:t>+Name: </a:t>
            </a:r>
            <a:r>
              <a:rPr lang="en-US" b="1" noProof="1">
                <a:solidFill>
                  <a:schemeClr val="bg1"/>
                </a:solidFill>
                <a:latin typeface="Consolas" pitchFamily="49" charset="0"/>
              </a:rPr>
              <a:t>s</a:t>
            </a:r>
            <a:r>
              <a:rPr lang="en-GB" b="1" noProof="1">
                <a:solidFill>
                  <a:schemeClr val="bg1"/>
                </a:solidFill>
                <a:latin typeface="Consolas" pitchFamily="49" charset="0"/>
              </a:rPr>
              <a:t>tring</a:t>
            </a:r>
          </a:p>
          <a:p>
            <a:pPr>
              <a:lnSpc>
                <a:spcPct val="95000"/>
              </a:lnSpc>
              <a:defRPr/>
            </a:pPr>
            <a:r>
              <a:rPr lang="en-GB" b="1" noProof="1">
                <a:solidFill>
                  <a:schemeClr val="bg1"/>
                </a:solidFill>
                <a:latin typeface="Consolas" pitchFamily="49" charset="0"/>
              </a:rPr>
              <a:t>+Address: string</a:t>
            </a:r>
          </a:p>
        </p:txBody>
      </p:sp>
      <p:sp>
        <p:nvSpPr>
          <p:cNvPr id="7" name="Rectangle 6"/>
          <p:cNvSpPr>
            <a:spLocks noChangeArrowheads="1"/>
          </p:cNvSpPr>
          <p:nvPr/>
        </p:nvSpPr>
        <p:spPr bwMode="auto">
          <a:xfrm>
            <a:off x="4574509" y="3183207"/>
            <a:ext cx="3265165" cy="358775"/>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endParaRPr lang="bg-BG" b="1" noProof="1">
              <a:solidFill>
                <a:schemeClr val="bg1"/>
              </a:solidFill>
              <a:latin typeface="Consolas" pitchFamily="49" charset="0"/>
            </a:endParaRPr>
          </a:p>
        </p:txBody>
      </p:sp>
      <p:sp>
        <p:nvSpPr>
          <p:cNvPr id="8" name="Rectangle 7"/>
          <p:cNvSpPr>
            <a:spLocks noChangeArrowheads="1"/>
          </p:cNvSpPr>
          <p:nvPr/>
        </p:nvSpPr>
        <p:spPr bwMode="auto">
          <a:xfrm>
            <a:off x="2545154" y="4561155"/>
            <a:ext cx="3265167" cy="576262"/>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3200" b="1" noProof="1">
                <a:solidFill>
                  <a:schemeClr val="bg1"/>
                </a:solidFill>
                <a:latin typeface="Consolas" pitchFamily="49" charset="0"/>
              </a:rPr>
              <a:t>Employee</a:t>
            </a:r>
          </a:p>
        </p:txBody>
      </p:sp>
      <p:sp>
        <p:nvSpPr>
          <p:cNvPr id="9" name="Rectangle 8"/>
          <p:cNvSpPr>
            <a:spLocks noChangeArrowheads="1"/>
          </p:cNvSpPr>
          <p:nvPr/>
        </p:nvSpPr>
        <p:spPr bwMode="auto">
          <a:xfrm>
            <a:off x="2545154" y="5137419"/>
            <a:ext cx="3265167" cy="792163"/>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r>
              <a:rPr lang="bg-BG" b="1" noProof="1">
                <a:solidFill>
                  <a:schemeClr val="bg1"/>
                </a:solidFill>
                <a:latin typeface="Consolas" pitchFamily="49" charset="0"/>
              </a:rPr>
              <a:t>+</a:t>
            </a:r>
            <a:r>
              <a:rPr lang="en-US" b="1" noProof="1">
                <a:solidFill>
                  <a:schemeClr val="bg1"/>
                </a:solidFill>
                <a:latin typeface="Consolas" pitchFamily="49" charset="0"/>
              </a:rPr>
              <a:t>Company: string</a:t>
            </a:r>
          </a:p>
          <a:p>
            <a:pPr>
              <a:lnSpc>
                <a:spcPct val="95000"/>
              </a:lnSpc>
              <a:defRPr/>
            </a:pPr>
            <a:endParaRPr lang="en-US" b="1" noProof="1">
              <a:solidFill>
                <a:schemeClr val="bg1"/>
              </a:solidFill>
              <a:latin typeface="Consolas" pitchFamily="49" charset="0"/>
            </a:endParaRPr>
          </a:p>
        </p:txBody>
      </p:sp>
      <p:sp>
        <p:nvSpPr>
          <p:cNvPr id="10" name="Rectangle 9"/>
          <p:cNvSpPr>
            <a:spLocks noChangeArrowheads="1"/>
          </p:cNvSpPr>
          <p:nvPr/>
        </p:nvSpPr>
        <p:spPr bwMode="auto">
          <a:xfrm>
            <a:off x="2545154" y="5929582"/>
            <a:ext cx="3265167" cy="358775"/>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endParaRPr lang="bg-BG" sz="2000" b="1" noProof="1">
              <a:solidFill>
                <a:schemeClr val="bg1"/>
              </a:solidFill>
              <a:latin typeface="Consolas" pitchFamily="49" charset="0"/>
            </a:endParaRPr>
          </a:p>
        </p:txBody>
      </p:sp>
      <p:sp>
        <p:nvSpPr>
          <p:cNvPr id="11" name="Rectangle 10"/>
          <p:cNvSpPr>
            <a:spLocks noChangeArrowheads="1"/>
          </p:cNvSpPr>
          <p:nvPr/>
        </p:nvSpPr>
        <p:spPr bwMode="auto">
          <a:xfrm>
            <a:off x="6608096" y="4570680"/>
            <a:ext cx="3265167" cy="576262"/>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defRPr/>
            </a:pPr>
            <a:r>
              <a:rPr lang="en-US" sz="3200" b="1" noProof="1">
                <a:solidFill>
                  <a:schemeClr val="bg1"/>
                </a:solidFill>
                <a:latin typeface="Consolas" pitchFamily="49" charset="0"/>
              </a:rPr>
              <a:t>Student</a:t>
            </a:r>
          </a:p>
        </p:txBody>
      </p:sp>
      <p:sp>
        <p:nvSpPr>
          <p:cNvPr id="12" name="Rectangle 11"/>
          <p:cNvSpPr>
            <a:spLocks noChangeArrowheads="1"/>
          </p:cNvSpPr>
          <p:nvPr/>
        </p:nvSpPr>
        <p:spPr bwMode="auto">
          <a:xfrm>
            <a:off x="6608096" y="5146944"/>
            <a:ext cx="3265167" cy="792163"/>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r>
              <a:rPr lang="bg-BG" b="1" noProof="1">
                <a:solidFill>
                  <a:schemeClr val="bg1"/>
                </a:solidFill>
                <a:latin typeface="Consolas" pitchFamily="49" charset="0"/>
              </a:rPr>
              <a:t>+</a:t>
            </a:r>
            <a:r>
              <a:rPr lang="en-US" b="1" noProof="1">
                <a:solidFill>
                  <a:schemeClr val="bg1"/>
                </a:solidFill>
                <a:latin typeface="Consolas" pitchFamily="49" charset="0"/>
              </a:rPr>
              <a:t>School: string</a:t>
            </a:r>
          </a:p>
          <a:p>
            <a:pPr>
              <a:lnSpc>
                <a:spcPct val="95000"/>
              </a:lnSpc>
              <a:defRPr/>
            </a:pPr>
            <a:endParaRPr lang="en-US" b="1" noProof="1">
              <a:solidFill>
                <a:schemeClr val="bg1"/>
              </a:solidFill>
              <a:latin typeface="Consolas" pitchFamily="49" charset="0"/>
            </a:endParaRPr>
          </a:p>
        </p:txBody>
      </p:sp>
      <p:sp>
        <p:nvSpPr>
          <p:cNvPr id="13" name="Rectangle 12"/>
          <p:cNvSpPr>
            <a:spLocks noChangeArrowheads="1"/>
          </p:cNvSpPr>
          <p:nvPr/>
        </p:nvSpPr>
        <p:spPr bwMode="auto">
          <a:xfrm>
            <a:off x="6608096" y="5939107"/>
            <a:ext cx="3265167" cy="358775"/>
          </a:xfrm>
          <a:prstGeom prst="rect">
            <a:avLst/>
          </a:prstGeom>
          <a:ln>
            <a:solidFill>
              <a:schemeClr val="bg1"/>
            </a:solid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nSpc>
                <a:spcPct val="95000"/>
              </a:lnSpc>
              <a:defRPr/>
            </a:pPr>
            <a:endParaRPr lang="bg-BG" sz="2000" b="1" noProof="1">
              <a:solidFill>
                <a:schemeClr val="bg1"/>
              </a:solidFill>
              <a:latin typeface="Consolas" pitchFamily="49" charset="0"/>
            </a:endParaRPr>
          </a:p>
        </p:txBody>
      </p:sp>
      <p:sp>
        <p:nvSpPr>
          <p:cNvPr id="21" name="AutoShape 6"/>
          <p:cNvSpPr>
            <a:spLocks noChangeArrowheads="1"/>
          </p:cNvSpPr>
          <p:nvPr/>
        </p:nvSpPr>
        <p:spPr bwMode="auto">
          <a:xfrm>
            <a:off x="609198" y="3606182"/>
            <a:ext cx="3565967" cy="596198"/>
          </a:xfrm>
          <a:prstGeom prst="wedgeRoundRectCallout">
            <a:avLst>
              <a:gd name="adj1" fmla="val 39497"/>
              <a:gd name="adj2" fmla="val 91104"/>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Производен клас</a:t>
            </a:r>
            <a:endParaRPr lang="bg-BG" sz="2400" dirty="0">
              <a:solidFill>
                <a:schemeClr val="tx2">
                  <a:lumMod val="75000"/>
                </a:schemeClr>
              </a:solidFill>
              <a:latin typeface="Comfortaa" pitchFamily="2" charset="0"/>
            </a:endParaRPr>
          </a:p>
        </p:txBody>
      </p:sp>
      <p:sp>
        <p:nvSpPr>
          <p:cNvPr id="22" name="AutoShape 6"/>
          <p:cNvSpPr>
            <a:spLocks noChangeArrowheads="1"/>
          </p:cNvSpPr>
          <p:nvPr/>
        </p:nvSpPr>
        <p:spPr bwMode="auto">
          <a:xfrm>
            <a:off x="8165963" y="3620079"/>
            <a:ext cx="3414600" cy="596198"/>
          </a:xfrm>
          <a:prstGeom prst="wedgeRoundRectCallout">
            <a:avLst>
              <a:gd name="adj1" fmla="val -46412"/>
              <a:gd name="adj2" fmla="val 95673"/>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Производен клас</a:t>
            </a:r>
            <a:endParaRPr lang="bg-BG" sz="2400" dirty="0">
              <a:solidFill>
                <a:schemeClr val="tx2">
                  <a:lumMod val="75000"/>
                </a:schemeClr>
              </a:solidFill>
              <a:latin typeface="Comfortaa" pitchFamily="2" charset="0"/>
            </a:endParaRPr>
          </a:p>
        </p:txBody>
      </p:sp>
      <p:sp>
        <p:nvSpPr>
          <p:cNvPr id="23" name="AutoShape 6"/>
          <p:cNvSpPr>
            <a:spLocks noChangeArrowheads="1"/>
          </p:cNvSpPr>
          <p:nvPr/>
        </p:nvSpPr>
        <p:spPr bwMode="auto">
          <a:xfrm>
            <a:off x="8530925" y="1792349"/>
            <a:ext cx="2286000" cy="596198"/>
          </a:xfrm>
          <a:prstGeom prst="wedgeRoundRectCallout">
            <a:avLst>
              <a:gd name="adj1" fmla="val -76932"/>
              <a:gd name="adj2" fmla="val 10024"/>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Базов клас</a:t>
            </a:r>
            <a:endParaRPr lang="bg-BG" sz="2400" dirty="0">
              <a:solidFill>
                <a:schemeClr val="tx2">
                  <a:lumMod val="75000"/>
                </a:schemeClr>
              </a:solidFill>
              <a:latin typeface="Comfortaa" pitchFamily="2" charset="0"/>
            </a:endParaRPr>
          </a:p>
        </p:txBody>
      </p:sp>
      <p:sp>
        <p:nvSpPr>
          <p:cNvPr id="3" name="Arrow: Up 2">
            <a:extLst>
              <a:ext uri="{FF2B5EF4-FFF2-40B4-BE49-F238E27FC236}">
                <a16:creationId xmlns:a16="http://schemas.microsoft.com/office/drawing/2014/main" id="{8CFC5393-3D0F-75D3-06A6-F9BDF6603158}"/>
              </a:ext>
            </a:extLst>
          </p:cNvPr>
          <p:cNvSpPr/>
          <p:nvPr/>
        </p:nvSpPr>
        <p:spPr>
          <a:xfrm>
            <a:off x="4993573" y="3541982"/>
            <a:ext cx="368135" cy="1019171"/>
          </a:xfrm>
          <a:prstGeom prst="upArrow">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Arrow: Up 13">
            <a:extLst>
              <a:ext uri="{FF2B5EF4-FFF2-40B4-BE49-F238E27FC236}">
                <a16:creationId xmlns:a16="http://schemas.microsoft.com/office/drawing/2014/main" id="{2C790D61-3E96-B9C5-2E49-7D5560E46DE8}"/>
              </a:ext>
            </a:extLst>
          </p:cNvPr>
          <p:cNvSpPr/>
          <p:nvPr/>
        </p:nvSpPr>
        <p:spPr>
          <a:xfrm>
            <a:off x="6998524" y="3539119"/>
            <a:ext cx="368135" cy="1019171"/>
          </a:xfrm>
          <a:prstGeom prst="upArrow">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1611269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5" name="Rectangle 3"/>
          <p:cNvSpPr>
            <a:spLocks noGrp="1" noChangeArrowheads="1"/>
          </p:cNvSpPr>
          <p:nvPr>
            <p:ph idx="1"/>
          </p:nvPr>
        </p:nvSpPr>
        <p:spPr>
          <a:xfrm>
            <a:off x="879764" y="1333440"/>
            <a:ext cx="10668990" cy="1030409"/>
          </a:xfrm>
          <a:prstGeom prst="rect">
            <a:avLst/>
          </a:prstGeom>
        </p:spPr>
        <p:txBody>
          <a:bodyPr/>
          <a:lstStyle/>
          <a:p>
            <a:pPr marL="0" indent="0">
              <a:lnSpc>
                <a:spcPct val="100000"/>
              </a:lnSpc>
              <a:spcBef>
                <a:spcPct val="50000"/>
              </a:spcBef>
              <a:buNone/>
              <a:defRPr/>
            </a:pPr>
            <a:r>
              <a:rPr lang="bg-BG" dirty="0">
                <a:solidFill>
                  <a:srgbClr val="00B0F0"/>
                </a:solidFill>
                <a:latin typeface="Comfortaa" pitchFamily="2" charset="0"/>
              </a:rPr>
              <a:t>Наследяването</a:t>
            </a:r>
            <a:r>
              <a:rPr lang="bg-BG" dirty="0">
                <a:solidFill>
                  <a:schemeClr val="tx2">
                    <a:lumMod val="75000"/>
                  </a:schemeClr>
                </a:solidFill>
                <a:latin typeface="Comfortaa" pitchFamily="2" charset="0"/>
              </a:rPr>
              <a:t> </a:t>
            </a:r>
            <a:r>
              <a:rPr lang="bg-BG" dirty="0">
                <a:latin typeface="Comfortaa" pitchFamily="2" charset="0"/>
              </a:rPr>
              <a:t>води до </a:t>
            </a:r>
            <a:r>
              <a:rPr lang="bg-BG" dirty="0">
                <a:solidFill>
                  <a:srgbClr val="00B0F0"/>
                </a:solidFill>
                <a:latin typeface="Comfortaa" pitchFamily="2" charset="0"/>
              </a:rPr>
              <a:t>йерархии</a:t>
            </a:r>
            <a:r>
              <a:rPr lang="en-US" dirty="0">
                <a:latin typeface="Comfortaa" pitchFamily="2" charset="0"/>
              </a:rPr>
              <a:t> </a:t>
            </a:r>
            <a:r>
              <a:rPr lang="bg-BG" dirty="0">
                <a:latin typeface="Comfortaa" pitchFamily="2" charset="0"/>
              </a:rPr>
              <a:t>от класове и/или интерфейси в приложението</a:t>
            </a:r>
            <a:r>
              <a:rPr lang="en-US" dirty="0">
                <a:latin typeface="Comfortaa" pitchFamily="2" charset="0"/>
              </a:rPr>
              <a:t>:</a:t>
            </a:r>
            <a:endParaRPr lang="bg-BG" dirty="0">
              <a:latin typeface="Comfortaa" pitchFamily="2" charset="0"/>
            </a:endParaRPr>
          </a:p>
        </p:txBody>
      </p:sp>
      <p:sp>
        <p:nvSpPr>
          <p:cNvPr id="796674" name="Rectangle 2"/>
          <p:cNvSpPr>
            <a:spLocks noGrp="1" noChangeArrowheads="1"/>
          </p:cNvSpPr>
          <p:nvPr>
            <p:ph type="title"/>
          </p:nvPr>
        </p:nvSpPr>
        <p:spPr>
          <a:xfrm>
            <a:off x="879764" y="496726"/>
            <a:ext cx="10515600" cy="960151"/>
          </a:xfrm>
          <a:prstGeom prst="rect">
            <a:avLst/>
          </a:prstGeom>
        </p:spPr>
        <p:txBody>
          <a:bodyPr anchor="ctr" anchorCtr="0"/>
          <a:lstStyle/>
          <a:p>
            <a:pPr>
              <a:lnSpc>
                <a:spcPts val="4000"/>
              </a:lnSpc>
              <a:defRPr/>
            </a:pPr>
            <a:r>
              <a:rPr lang="bg-BG" sz="4000" dirty="0">
                <a:latin typeface="Comfortaa" pitchFamily="2" charset="0"/>
              </a:rPr>
              <a:t>Йерархия от класове</a:t>
            </a:r>
          </a:p>
        </p:txBody>
      </p:sp>
      <p:sp>
        <p:nvSpPr>
          <p:cNvPr id="34" name="AutoShape 6"/>
          <p:cNvSpPr>
            <a:spLocks noChangeArrowheads="1"/>
          </p:cNvSpPr>
          <p:nvPr/>
        </p:nvSpPr>
        <p:spPr bwMode="auto">
          <a:xfrm>
            <a:off x="7887322" y="2228188"/>
            <a:ext cx="3508042" cy="1339143"/>
          </a:xfrm>
          <a:prstGeom prst="wedgeRoundRectCallout">
            <a:avLst>
              <a:gd name="adj1" fmla="val -59262"/>
              <a:gd name="adj2" fmla="val -4439"/>
              <a:gd name="adj3" fmla="val 16667"/>
            </a:avLst>
          </a:prstGeom>
          <a:solidFill>
            <a:srgbClr val="00B0F0">
              <a:alpha val="94902"/>
            </a:srgbClr>
          </a:solidFill>
          <a:ln w="19050">
            <a:solidFill>
              <a:schemeClr val="bg1">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400" dirty="0">
                <a:solidFill>
                  <a:srgbClr val="FFFFFF"/>
                </a:solidFill>
                <a:latin typeface="Comfortaa" pitchFamily="2" charset="0"/>
              </a:rPr>
              <a:t>Базовите класове съдържат общи характеристики</a:t>
            </a:r>
            <a:endParaRPr lang="bg-BG" sz="2400" dirty="0">
              <a:solidFill>
                <a:schemeClr val="tx2">
                  <a:lumMod val="75000"/>
                </a:schemeClr>
              </a:solidFill>
              <a:latin typeface="Comfortaa" pitchFamily="2" charset="0"/>
            </a:endParaRPr>
          </a:p>
        </p:txBody>
      </p:sp>
      <p:grpSp>
        <p:nvGrpSpPr>
          <p:cNvPr id="16" name="Group 15">
            <a:extLst>
              <a:ext uri="{FF2B5EF4-FFF2-40B4-BE49-F238E27FC236}">
                <a16:creationId xmlns:a16="http://schemas.microsoft.com/office/drawing/2014/main" id="{FD13D4C7-A3D0-0BF3-04EE-712504F0391E}"/>
              </a:ext>
            </a:extLst>
          </p:cNvPr>
          <p:cNvGrpSpPr/>
          <p:nvPr/>
        </p:nvGrpSpPr>
        <p:grpSpPr>
          <a:xfrm>
            <a:off x="1023258" y="2662052"/>
            <a:ext cx="9141619" cy="3810000"/>
            <a:chOff x="1219201" y="2590800"/>
            <a:chExt cx="9141619" cy="3810000"/>
          </a:xfrm>
        </p:grpSpPr>
        <p:sp>
          <p:nvSpPr>
            <p:cNvPr id="6" name="Arrow: Up 5">
              <a:extLst>
                <a:ext uri="{FF2B5EF4-FFF2-40B4-BE49-F238E27FC236}">
                  <a16:creationId xmlns:a16="http://schemas.microsoft.com/office/drawing/2014/main" id="{1C75E5C0-A2ED-3158-5F9B-466C95064D91}"/>
                </a:ext>
              </a:extLst>
            </p:cNvPr>
            <p:cNvSpPr/>
            <p:nvPr/>
          </p:nvSpPr>
          <p:spPr>
            <a:xfrm>
              <a:off x="2943344" y="4133980"/>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nvGrpSpPr>
            <p:cNvPr id="56" name="Group 55"/>
            <p:cNvGrpSpPr/>
            <p:nvPr/>
          </p:nvGrpSpPr>
          <p:grpSpPr>
            <a:xfrm>
              <a:off x="1219201" y="2590800"/>
              <a:ext cx="9141619" cy="3810000"/>
              <a:chOff x="457200" y="2587625"/>
              <a:chExt cx="6858000" cy="3387725"/>
            </a:xfrm>
          </p:grpSpPr>
          <p:sp>
            <p:nvSpPr>
              <p:cNvPr id="2058" name="Text Box 16"/>
              <p:cNvSpPr txBox="1">
                <a:spLocks noChangeArrowheads="1"/>
              </p:cNvSpPr>
              <p:nvPr/>
            </p:nvSpPr>
            <p:spPr bwMode="auto">
              <a:xfrm>
                <a:off x="2943226" y="2587625"/>
                <a:ext cx="2314574"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Game</a:t>
                </a:r>
              </a:p>
            </p:txBody>
          </p:sp>
          <p:sp>
            <p:nvSpPr>
              <p:cNvPr id="2059" name="Text Box 17"/>
              <p:cNvSpPr txBox="1">
                <a:spLocks noChangeArrowheads="1"/>
              </p:cNvSpPr>
              <p:nvPr/>
            </p:nvSpPr>
            <p:spPr bwMode="auto">
              <a:xfrm>
                <a:off x="4476750" y="3590925"/>
                <a:ext cx="283845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MultiplePlayersGame</a:t>
                </a:r>
              </a:p>
            </p:txBody>
          </p:sp>
          <p:sp>
            <p:nvSpPr>
              <p:cNvPr id="2060" name="Text Box 18"/>
              <p:cNvSpPr txBox="1">
                <a:spLocks noChangeArrowheads="1"/>
              </p:cNvSpPr>
              <p:nvPr/>
            </p:nvSpPr>
            <p:spPr bwMode="auto">
              <a:xfrm>
                <a:off x="4419600" y="4591050"/>
                <a:ext cx="16002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BoardGame</a:t>
                </a:r>
              </a:p>
            </p:txBody>
          </p:sp>
          <p:sp>
            <p:nvSpPr>
              <p:cNvPr id="2061" name="Text Box 19"/>
              <p:cNvSpPr txBox="1">
                <a:spLocks noChangeArrowheads="1"/>
              </p:cNvSpPr>
              <p:nvPr/>
            </p:nvSpPr>
            <p:spPr bwMode="auto">
              <a:xfrm>
                <a:off x="3733800" y="5591175"/>
                <a:ext cx="13716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Chess</a:t>
                </a:r>
              </a:p>
            </p:txBody>
          </p:sp>
          <p:sp>
            <p:nvSpPr>
              <p:cNvPr id="2062" name="Text Box 20"/>
              <p:cNvSpPr txBox="1">
                <a:spLocks noChangeArrowheads="1"/>
              </p:cNvSpPr>
              <p:nvPr/>
            </p:nvSpPr>
            <p:spPr bwMode="auto">
              <a:xfrm>
                <a:off x="5334000" y="5588000"/>
                <a:ext cx="16002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Backgammon</a:t>
                </a:r>
              </a:p>
            </p:txBody>
          </p:sp>
          <p:sp>
            <p:nvSpPr>
              <p:cNvPr id="2063" name="Text Box 21"/>
              <p:cNvSpPr txBox="1">
                <a:spLocks noChangeArrowheads="1"/>
              </p:cNvSpPr>
              <p:nvPr/>
            </p:nvSpPr>
            <p:spPr bwMode="auto">
              <a:xfrm>
                <a:off x="1143000" y="3590925"/>
                <a:ext cx="25146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SinglePlayerGame</a:t>
                </a:r>
              </a:p>
            </p:txBody>
          </p:sp>
          <p:sp>
            <p:nvSpPr>
              <p:cNvPr id="40" name="Text Box 18"/>
              <p:cNvSpPr txBox="1">
                <a:spLocks noChangeArrowheads="1"/>
              </p:cNvSpPr>
              <p:nvPr/>
            </p:nvSpPr>
            <p:spPr bwMode="auto">
              <a:xfrm>
                <a:off x="457200" y="4581525"/>
                <a:ext cx="17526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Minesweeper</a:t>
                </a:r>
              </a:p>
            </p:txBody>
          </p:sp>
          <p:sp>
            <p:nvSpPr>
              <p:cNvPr id="41" name="Text Box 18"/>
              <p:cNvSpPr txBox="1">
                <a:spLocks noChangeArrowheads="1"/>
              </p:cNvSpPr>
              <p:nvPr/>
            </p:nvSpPr>
            <p:spPr bwMode="auto">
              <a:xfrm>
                <a:off x="2590800" y="4591050"/>
                <a:ext cx="1600200" cy="384175"/>
              </a:xfrm>
              <a:prstGeom prst="roundRect">
                <a:avLst/>
              </a:prstGeom>
              <a:ln>
                <a:noFill/>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pPr algn="ctr">
                  <a:lnSpc>
                    <a:spcPct val="95000"/>
                  </a:lnSpc>
                  <a:defRPr/>
                </a:pPr>
                <a:r>
                  <a:rPr lang="en-US" b="1" noProof="1">
                    <a:solidFill>
                      <a:schemeClr val="bg1"/>
                    </a:solidFill>
                    <a:effectLst>
                      <a:outerShdw blurRad="38100" dist="38100" dir="2700000" algn="tl">
                        <a:srgbClr val="000000">
                          <a:alpha val="43137"/>
                        </a:srgbClr>
                      </a:outerShdw>
                    </a:effectLst>
                    <a:latin typeface="Consolas" pitchFamily="49" charset="0"/>
                  </a:rPr>
                  <a:t>Solitaire</a:t>
                </a:r>
              </a:p>
            </p:txBody>
          </p:sp>
        </p:grpSp>
        <p:sp>
          <p:nvSpPr>
            <p:cNvPr id="2" name="Arrow: Up 1">
              <a:extLst>
                <a:ext uri="{FF2B5EF4-FFF2-40B4-BE49-F238E27FC236}">
                  <a16:creationId xmlns:a16="http://schemas.microsoft.com/office/drawing/2014/main" id="{DEE2237F-2801-9273-B70A-3CEFEE17AFD3}"/>
                </a:ext>
              </a:extLst>
            </p:cNvPr>
            <p:cNvSpPr/>
            <p:nvPr/>
          </p:nvSpPr>
          <p:spPr>
            <a:xfrm>
              <a:off x="4821382" y="3016332"/>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 name="Arrow: Up 3">
              <a:extLst>
                <a:ext uri="{FF2B5EF4-FFF2-40B4-BE49-F238E27FC236}">
                  <a16:creationId xmlns:a16="http://schemas.microsoft.com/office/drawing/2014/main" id="{3D93D5E6-54E7-4680-F40C-E3097955F129}"/>
                </a:ext>
              </a:extLst>
            </p:cNvPr>
            <p:cNvSpPr/>
            <p:nvPr/>
          </p:nvSpPr>
          <p:spPr>
            <a:xfrm>
              <a:off x="6871420" y="3019893"/>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8" name="Arrow: Up 7">
              <a:extLst>
                <a:ext uri="{FF2B5EF4-FFF2-40B4-BE49-F238E27FC236}">
                  <a16:creationId xmlns:a16="http://schemas.microsoft.com/office/drawing/2014/main" id="{803D98EE-1C60-29B6-B6EA-FD8BF5ACD614}"/>
                </a:ext>
              </a:extLst>
            </p:cNvPr>
            <p:cNvSpPr/>
            <p:nvPr/>
          </p:nvSpPr>
          <p:spPr>
            <a:xfrm>
              <a:off x="4299589" y="4151222"/>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0" name="Arrow: Up 9">
              <a:extLst>
                <a:ext uri="{FF2B5EF4-FFF2-40B4-BE49-F238E27FC236}">
                  <a16:creationId xmlns:a16="http://schemas.microsoft.com/office/drawing/2014/main" id="{8CA636BF-5F82-4905-260F-98FC7B0B5901}"/>
                </a:ext>
              </a:extLst>
            </p:cNvPr>
            <p:cNvSpPr/>
            <p:nvPr/>
          </p:nvSpPr>
          <p:spPr>
            <a:xfrm>
              <a:off x="7446776" y="4154793"/>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Arrow: Up 11">
              <a:extLst>
                <a:ext uri="{FF2B5EF4-FFF2-40B4-BE49-F238E27FC236}">
                  <a16:creationId xmlns:a16="http://schemas.microsoft.com/office/drawing/2014/main" id="{9070818F-4F77-A871-A814-4C51B1643A34}"/>
                </a:ext>
              </a:extLst>
            </p:cNvPr>
            <p:cNvSpPr/>
            <p:nvPr/>
          </p:nvSpPr>
          <p:spPr>
            <a:xfrm>
              <a:off x="6867664" y="5265910"/>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4" name="Arrow: Up 13">
              <a:extLst>
                <a:ext uri="{FF2B5EF4-FFF2-40B4-BE49-F238E27FC236}">
                  <a16:creationId xmlns:a16="http://schemas.microsoft.com/office/drawing/2014/main" id="{DA534C30-B7D5-8814-3B82-0673FC79BDA3}"/>
                </a:ext>
              </a:extLst>
            </p:cNvPr>
            <p:cNvSpPr/>
            <p:nvPr/>
          </p:nvSpPr>
          <p:spPr>
            <a:xfrm>
              <a:off x="7994299" y="5265910"/>
              <a:ext cx="273132" cy="699257"/>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grpSp>
    </p:spTree>
    <p:extLst>
      <p:ext uri="{BB962C8B-B14F-4D97-AF65-F5344CB8AC3E}">
        <p14:creationId xmlns:p14="http://schemas.microsoft.com/office/powerpoint/2010/main" val="316115430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a:xfrm>
            <a:off x="442769" y="365125"/>
            <a:ext cx="11390992" cy="1325563"/>
          </a:xfrm>
          <a:prstGeom prst="rect">
            <a:avLst/>
          </a:prstGeom>
        </p:spPr>
        <p:txBody>
          <a:bodyPr anchor="ctr" anchorCtr="0"/>
          <a:lstStyle/>
          <a:p>
            <a:pPr>
              <a:lnSpc>
                <a:spcPts val="4000"/>
              </a:lnSpc>
              <a:defRPr/>
            </a:pPr>
            <a:r>
              <a:rPr lang="bg-BG" dirty="0">
                <a:latin typeface="Comfortaa" pitchFamily="2" charset="0"/>
              </a:rPr>
              <a:t>Йерархия от класове </a:t>
            </a:r>
            <a:r>
              <a:rPr lang="en-US" dirty="0">
                <a:latin typeface="Comfortaa" pitchFamily="2" charset="0"/>
              </a:rPr>
              <a:t>C# Collection</a:t>
            </a:r>
            <a:endParaRPr lang="bg-BG" sz="4000" dirty="0">
              <a:latin typeface="Comfortaa" pitchFamily="2" charset="0"/>
            </a:endParaRPr>
          </a:p>
        </p:txBody>
      </p:sp>
      <p:pic>
        <p:nvPicPr>
          <p:cNvPr id="2" name="Picture 1"/>
          <p:cNvPicPr>
            <a:picLocks noChangeAspect="1"/>
          </p:cNvPicPr>
          <p:nvPr/>
        </p:nvPicPr>
        <p:blipFill>
          <a:blip r:embed="rId2">
            <a:grayscl/>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442769" y="1896092"/>
            <a:ext cx="11306461" cy="4391891"/>
          </a:xfrm>
          <a:prstGeom prst="rect">
            <a:avLst/>
          </a:prstGeom>
          <a:effectLst>
            <a:glow>
              <a:schemeClr val="accent1"/>
            </a:glow>
            <a:softEdge rad="0"/>
          </a:effectLst>
        </p:spPr>
      </p:pic>
    </p:spTree>
    <p:extLst>
      <p:ext uri="{BB962C8B-B14F-4D97-AF65-F5344CB8AC3E}">
        <p14:creationId xmlns:p14="http://schemas.microsoft.com/office/powerpoint/2010/main" val="396382486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2862" y="1653432"/>
            <a:ext cx="10606276" cy="680201"/>
          </a:xfrm>
          <a:prstGeom prst="rect">
            <a:avLst/>
          </a:prstGeom>
        </p:spPr>
        <p:txBody>
          <a:bodyPr>
            <a:normAutofit/>
          </a:bodyPr>
          <a:lstStyle/>
          <a:p>
            <a:pPr marL="0" indent="0">
              <a:buNone/>
            </a:pPr>
            <a:r>
              <a:rPr lang="bg-BG" dirty="0">
                <a:latin typeface="Comfortaa" pitchFamily="2" charset="0"/>
              </a:rPr>
              <a:t>В </a:t>
            </a:r>
            <a:r>
              <a:rPr lang="en-US" dirty="0">
                <a:latin typeface="Comfortaa" pitchFamily="2" charset="0"/>
              </a:rPr>
              <a:t>C# </a:t>
            </a:r>
            <a:r>
              <a:rPr lang="bg-BG" dirty="0">
                <a:latin typeface="Comfortaa" pitchFamily="2" charset="0"/>
              </a:rPr>
              <a:t>наследяването се отбелязва чрез</a:t>
            </a:r>
            <a:r>
              <a:rPr lang="en-US" dirty="0">
                <a:latin typeface="Comfortaa" pitchFamily="2" charset="0"/>
              </a:rPr>
              <a:t> </a:t>
            </a:r>
            <a:r>
              <a:rPr lang="en-US" b="1" dirty="0">
                <a:solidFill>
                  <a:srgbClr val="00B0F0"/>
                </a:solidFill>
                <a:latin typeface="Comfortaa" pitchFamily="2" charset="0"/>
              </a:rPr>
              <a:t>:</a:t>
            </a:r>
            <a:r>
              <a:rPr lang="en-US" dirty="0">
                <a:latin typeface="Comfortaa" pitchFamily="2" charset="0"/>
              </a:rPr>
              <a:t> </a:t>
            </a:r>
            <a:r>
              <a:rPr lang="bg-BG" dirty="0">
                <a:latin typeface="Comfortaa" pitchFamily="2" charset="0"/>
              </a:rPr>
              <a:t>оператора</a:t>
            </a:r>
            <a:endParaRPr lang="en-US" noProof="1">
              <a:solidFill>
                <a:schemeClr val="tx1">
                  <a:lumMod val="40000"/>
                  <a:lumOff val="60000"/>
                </a:schemeClr>
              </a:solidFill>
              <a:latin typeface="Comfortaa" pitchFamily="2" charset="0"/>
            </a:endParaRPr>
          </a:p>
        </p:txBody>
      </p:sp>
      <p:sp>
        <p:nvSpPr>
          <p:cNvPr id="2" name="Title 1"/>
          <p:cNvSpPr>
            <a:spLocks noGrp="1"/>
          </p:cNvSpPr>
          <p:nvPr>
            <p:ph type="title"/>
          </p:nvPr>
        </p:nvSpPr>
        <p:spPr>
          <a:xfrm>
            <a:off x="838200" y="754336"/>
            <a:ext cx="10515600" cy="939658"/>
          </a:xfrm>
          <a:prstGeom prst="rect">
            <a:avLst/>
          </a:prstGeom>
        </p:spPr>
        <p:txBody>
          <a:bodyPr anchor="ctr" anchorCtr="0"/>
          <a:lstStyle/>
          <a:p>
            <a:pPr>
              <a:lnSpc>
                <a:spcPts val="4000"/>
              </a:lnSpc>
              <a:defRPr/>
            </a:pPr>
            <a:r>
              <a:rPr lang="bg-BG" dirty="0">
                <a:latin typeface="Comfortaa" pitchFamily="2" charset="0"/>
              </a:rPr>
              <a:t>Наследяване в </a:t>
            </a:r>
            <a:r>
              <a:rPr lang="en-US" sz="4000" dirty="0">
                <a:latin typeface="Comfortaa" pitchFamily="2" charset="0"/>
              </a:rPr>
              <a:t>C#</a:t>
            </a:r>
            <a:endParaRPr lang="bg-BG" sz="4000" dirty="0">
              <a:latin typeface="Comfortaa" pitchFamily="2" charset="0"/>
            </a:endParaRPr>
          </a:p>
        </p:txBody>
      </p:sp>
      <p:sp>
        <p:nvSpPr>
          <p:cNvPr id="7" name="Text Placeholder 5"/>
          <p:cNvSpPr txBox="1">
            <a:spLocks/>
          </p:cNvSpPr>
          <p:nvPr/>
        </p:nvSpPr>
        <p:spPr>
          <a:xfrm>
            <a:off x="792862" y="2333634"/>
            <a:ext cx="10606277" cy="1868955"/>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class Person { … }</a:t>
            </a:r>
          </a:p>
          <a:p>
            <a:endParaRPr lang="en-US" sz="2800" dirty="0">
              <a:solidFill>
                <a:schemeClr val="bg1"/>
              </a:solidFill>
              <a:effectLst/>
            </a:endParaRPr>
          </a:p>
          <a:p>
            <a:r>
              <a:rPr lang="en-US" sz="2800" dirty="0">
                <a:solidFill>
                  <a:schemeClr val="bg1"/>
                </a:solidFill>
                <a:effectLst/>
              </a:rPr>
              <a:t>class Student </a:t>
            </a:r>
            <a:r>
              <a:rPr lang="en-US" sz="2800" dirty="0">
                <a:solidFill>
                  <a:srgbClr val="00B0F0"/>
                </a:solidFill>
                <a:effectLst/>
              </a:rPr>
              <a:t>:</a:t>
            </a:r>
            <a:r>
              <a:rPr lang="en-US" sz="2800" dirty="0">
                <a:solidFill>
                  <a:schemeClr val="bg1"/>
                </a:solidFill>
                <a:effectLst/>
              </a:rPr>
              <a:t> Person { … }</a:t>
            </a:r>
          </a:p>
          <a:p>
            <a:r>
              <a:rPr lang="en-US" sz="2800" dirty="0">
                <a:solidFill>
                  <a:schemeClr val="bg1"/>
                </a:solidFill>
                <a:effectLst/>
              </a:rPr>
              <a:t>class Employee </a:t>
            </a:r>
            <a:r>
              <a:rPr lang="en-US" sz="2800" dirty="0">
                <a:solidFill>
                  <a:srgbClr val="00B0F0"/>
                </a:solidFill>
                <a:effectLst/>
              </a:rPr>
              <a:t>:</a:t>
            </a:r>
            <a:r>
              <a:rPr lang="en-US" sz="2800" dirty="0">
                <a:solidFill>
                  <a:schemeClr val="bg1"/>
                </a:solidFill>
                <a:effectLst/>
              </a:rPr>
              <a:t> Person { … }</a:t>
            </a:r>
          </a:p>
        </p:txBody>
      </p:sp>
      <p:grpSp>
        <p:nvGrpSpPr>
          <p:cNvPr id="8" name="Group 7">
            <a:extLst>
              <a:ext uri="{FF2B5EF4-FFF2-40B4-BE49-F238E27FC236}">
                <a16:creationId xmlns:a16="http://schemas.microsoft.com/office/drawing/2014/main" id="{6C4511F1-7586-F233-BBE9-BAD6E46879BD}"/>
              </a:ext>
            </a:extLst>
          </p:cNvPr>
          <p:cNvGrpSpPr/>
          <p:nvPr/>
        </p:nvGrpSpPr>
        <p:grpSpPr>
          <a:xfrm>
            <a:off x="1945391" y="4544616"/>
            <a:ext cx="7975128" cy="1756959"/>
            <a:chOff x="2784764" y="4223983"/>
            <a:chExt cx="7975128" cy="1756959"/>
          </a:xfrm>
        </p:grpSpPr>
        <p:sp>
          <p:nvSpPr>
            <p:cNvPr id="4" name="Arrow: Up 3">
              <a:extLst>
                <a:ext uri="{FF2B5EF4-FFF2-40B4-BE49-F238E27FC236}">
                  <a16:creationId xmlns:a16="http://schemas.microsoft.com/office/drawing/2014/main" id="{3FD282C4-E273-86F6-CBDD-0148C2F1C80D}"/>
                </a:ext>
              </a:extLst>
            </p:cNvPr>
            <p:cNvSpPr/>
            <p:nvPr/>
          </p:nvSpPr>
          <p:spPr>
            <a:xfrm>
              <a:off x="7178634" y="4816290"/>
              <a:ext cx="350322" cy="916004"/>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6" name="Arrow: Up 5">
              <a:extLst>
                <a:ext uri="{FF2B5EF4-FFF2-40B4-BE49-F238E27FC236}">
                  <a16:creationId xmlns:a16="http://schemas.microsoft.com/office/drawing/2014/main" id="{85E16A64-185B-C980-6DC0-4101EDB7BBD6}"/>
                </a:ext>
              </a:extLst>
            </p:cNvPr>
            <p:cNvSpPr/>
            <p:nvPr/>
          </p:nvSpPr>
          <p:spPr>
            <a:xfrm>
              <a:off x="8411689" y="4816290"/>
              <a:ext cx="350322" cy="916004"/>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9" name="Rectangle: Rounded Corners 8"/>
            <p:cNvSpPr/>
            <p:nvPr/>
          </p:nvSpPr>
          <p:spPr>
            <a:xfrm>
              <a:off x="6629401" y="4223983"/>
              <a:ext cx="2682691" cy="592307"/>
            </a:xfrm>
            <a:prstGeom prst="roundRect">
              <a:avLst>
                <a:gd name="adj" fmla="val 5385"/>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latin typeface="Consolas" panose="020B0609020204030204" pitchFamily="49" charset="0"/>
                </a:rPr>
                <a:t>Person</a:t>
              </a:r>
              <a:endParaRPr lang="en-US" sz="2800" b="1" dirty="0">
                <a:latin typeface="Consolas" panose="020B0609020204030204" pitchFamily="49" charset="0"/>
              </a:endParaRPr>
            </a:p>
          </p:txBody>
        </p:sp>
        <p:sp>
          <p:nvSpPr>
            <p:cNvPr id="12" name="Rectangle: Rounded Corners 11"/>
            <p:cNvSpPr/>
            <p:nvPr/>
          </p:nvSpPr>
          <p:spPr>
            <a:xfrm>
              <a:off x="8077201" y="5388635"/>
              <a:ext cx="2682691" cy="592307"/>
            </a:xfrm>
            <a:prstGeom prst="roundRect">
              <a:avLst>
                <a:gd name="adj" fmla="val 5385"/>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latin typeface="Consolas" panose="020B0609020204030204" pitchFamily="49" charset="0"/>
                </a:rPr>
                <a:t>Employee</a:t>
              </a:r>
              <a:endParaRPr lang="en-US" sz="2800" b="1" dirty="0">
                <a:latin typeface="Consolas" panose="020B0609020204030204" pitchFamily="49" charset="0"/>
              </a:endParaRPr>
            </a:p>
          </p:txBody>
        </p:sp>
        <p:sp>
          <p:nvSpPr>
            <p:cNvPr id="17" name="AutoShape 6"/>
            <p:cNvSpPr>
              <a:spLocks noChangeArrowheads="1"/>
            </p:cNvSpPr>
            <p:nvPr/>
          </p:nvSpPr>
          <p:spPr bwMode="auto">
            <a:xfrm>
              <a:off x="2784764" y="4223983"/>
              <a:ext cx="3510148" cy="625997"/>
            </a:xfrm>
            <a:prstGeom prst="wedgeRoundRectCallout">
              <a:avLst>
                <a:gd name="adj1" fmla="val 33478"/>
                <a:gd name="adj2" fmla="val 117556"/>
                <a:gd name="adj3" fmla="val 16667"/>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800" b="1" dirty="0">
                  <a:solidFill>
                    <a:schemeClr val="bg1"/>
                  </a:solidFill>
                  <a:latin typeface="Consolas" panose="020B0609020204030204" pitchFamily="49" charset="0"/>
                </a:rPr>
                <a:t>Student : Person</a:t>
              </a:r>
              <a:endParaRPr lang="bg-BG" sz="2800" b="1" dirty="0">
                <a:solidFill>
                  <a:schemeClr val="bg1"/>
                </a:solidFill>
                <a:latin typeface="Consolas" panose="020B0609020204030204" pitchFamily="49" charset="0"/>
              </a:endParaRPr>
            </a:p>
          </p:txBody>
        </p:sp>
        <p:sp>
          <p:nvSpPr>
            <p:cNvPr id="21" name="Rectangle: Rounded Corners 20"/>
            <p:cNvSpPr/>
            <p:nvPr/>
          </p:nvSpPr>
          <p:spPr>
            <a:xfrm>
              <a:off x="5105401" y="5388635"/>
              <a:ext cx="2682691" cy="592307"/>
            </a:xfrm>
            <a:prstGeom prst="roundRect">
              <a:avLst>
                <a:gd name="adj" fmla="val 5385"/>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latin typeface="Consolas" panose="020B0609020204030204" pitchFamily="49" charset="0"/>
                </a:rPr>
                <a:t>Student</a:t>
              </a:r>
              <a:endParaRPr lang="en-US" sz="2800" b="1" dirty="0">
                <a:latin typeface="Consolas" panose="020B0609020204030204" pitchFamily="49" charset="0"/>
              </a:endParaRPr>
            </a:p>
          </p:txBody>
        </p:sp>
      </p:grpSp>
    </p:spTree>
    <p:extLst>
      <p:ext uri="{BB962C8B-B14F-4D97-AF65-F5344CB8AC3E}">
        <p14:creationId xmlns:p14="http://schemas.microsoft.com/office/powerpoint/2010/main" val="206386443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3891"/>
            <a:ext cx="10515600" cy="571782"/>
          </a:xfrm>
        </p:spPr>
        <p:txBody>
          <a:bodyPr>
            <a:normAutofit fontScale="85000" lnSpcReduction="10000"/>
          </a:bodyPr>
          <a:lstStyle/>
          <a:p>
            <a:pPr marL="0" indent="0">
              <a:lnSpc>
                <a:spcPct val="110000"/>
              </a:lnSpc>
              <a:buNone/>
            </a:pPr>
            <a:r>
              <a:rPr lang="bg-BG" dirty="0">
                <a:latin typeface="Comfortaa" pitchFamily="2" charset="0"/>
              </a:rPr>
              <a:t>Класът </a:t>
            </a:r>
            <a:r>
              <a:rPr lang="bg-BG" b="1" dirty="0">
                <a:solidFill>
                  <a:srgbClr val="00B0F0"/>
                </a:solidFill>
                <a:latin typeface="Comfortaa" pitchFamily="2" charset="0"/>
              </a:rPr>
              <a:t>получава всички членове</a:t>
            </a:r>
            <a:r>
              <a:rPr lang="en-US" b="1" dirty="0">
                <a:solidFill>
                  <a:srgbClr val="00B0F0"/>
                </a:solidFill>
                <a:latin typeface="Comfortaa" pitchFamily="2" charset="0"/>
              </a:rPr>
              <a:t> </a:t>
            </a:r>
            <a:r>
              <a:rPr lang="bg-BG" dirty="0">
                <a:latin typeface="Comfortaa" pitchFamily="2" charset="0"/>
              </a:rPr>
              <a:t>от родителския си клас</a:t>
            </a:r>
            <a:endParaRPr lang="en-US" dirty="0">
              <a:latin typeface="Comfortaa" pitchFamily="2" charset="0"/>
            </a:endParaRPr>
          </a:p>
        </p:txBody>
      </p:sp>
      <p:sp>
        <p:nvSpPr>
          <p:cNvPr id="4" name="Title 3"/>
          <p:cNvSpPr>
            <a:spLocks noGrp="1"/>
          </p:cNvSpPr>
          <p:nvPr>
            <p:ph type="title"/>
          </p:nvPr>
        </p:nvSpPr>
        <p:spPr>
          <a:xfrm>
            <a:off x="838200" y="365125"/>
            <a:ext cx="10515600" cy="725493"/>
          </a:xfrm>
        </p:spPr>
        <p:txBody>
          <a:bodyPr>
            <a:normAutofit/>
          </a:bodyPr>
          <a:lstStyle/>
          <a:p>
            <a:r>
              <a:rPr lang="bg-BG" dirty="0">
                <a:latin typeface="Comfortaa" pitchFamily="2" charset="0"/>
              </a:rPr>
              <a:t>Наследяване </a:t>
            </a:r>
            <a:r>
              <a:rPr lang="en-US" dirty="0">
                <a:latin typeface="Comfortaa" pitchFamily="2" charset="0"/>
              </a:rPr>
              <a:t>– </a:t>
            </a:r>
            <a:r>
              <a:rPr lang="bg-BG" dirty="0">
                <a:latin typeface="Comfortaa" pitchFamily="2" charset="0"/>
              </a:rPr>
              <a:t>дъщерен клас</a:t>
            </a:r>
            <a:endParaRPr lang="en-US" dirty="0">
              <a:latin typeface="Comfortaa" pitchFamily="2" charset="0"/>
            </a:endParaRPr>
          </a:p>
        </p:txBody>
      </p:sp>
      <p:grpSp>
        <p:nvGrpSpPr>
          <p:cNvPr id="11" name="Group 10">
            <a:extLst>
              <a:ext uri="{FF2B5EF4-FFF2-40B4-BE49-F238E27FC236}">
                <a16:creationId xmlns:a16="http://schemas.microsoft.com/office/drawing/2014/main" id="{8723CFBE-3861-476C-0BAF-30B6ABE93748}"/>
              </a:ext>
            </a:extLst>
          </p:cNvPr>
          <p:cNvGrpSpPr/>
          <p:nvPr/>
        </p:nvGrpSpPr>
        <p:grpSpPr>
          <a:xfrm>
            <a:off x="1979222" y="1806858"/>
            <a:ext cx="7570199" cy="4686017"/>
            <a:chOff x="2133601" y="1790984"/>
            <a:chExt cx="7570199" cy="4686017"/>
          </a:xfrm>
        </p:grpSpPr>
        <p:grpSp>
          <p:nvGrpSpPr>
            <p:cNvPr id="5" name="Group 4"/>
            <p:cNvGrpSpPr/>
            <p:nvPr/>
          </p:nvGrpSpPr>
          <p:grpSpPr>
            <a:xfrm>
              <a:off x="2133601" y="1790984"/>
              <a:ext cx="7570199" cy="4686017"/>
              <a:chOff x="4037012" y="1333783"/>
              <a:chExt cx="7570199" cy="4686017"/>
            </a:xfrm>
          </p:grpSpPr>
          <p:sp>
            <p:nvSpPr>
              <p:cNvPr id="7" name="Rectangle: Rounded Corners 6"/>
              <p:cNvSpPr/>
              <p:nvPr/>
            </p:nvSpPr>
            <p:spPr>
              <a:xfrm>
                <a:off x="5366836" y="1333783"/>
                <a:ext cx="4815935" cy="2323817"/>
              </a:xfrm>
              <a:prstGeom prst="roundRect">
                <a:avLst>
                  <a:gd name="adj" fmla="val 5385"/>
                </a:avLst>
              </a:prstGeom>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4400" dirty="0"/>
                  <a:t>Person</a:t>
                </a:r>
              </a:p>
            </p:txBody>
          </p:sp>
          <p:sp>
            <p:nvSpPr>
              <p:cNvPr id="8" name="Rectangle: Rounded Corners 7"/>
              <p:cNvSpPr/>
              <p:nvPr/>
            </p:nvSpPr>
            <p:spPr>
              <a:xfrm>
                <a:off x="4037012" y="4533617"/>
                <a:ext cx="3600000" cy="1486183"/>
              </a:xfrm>
              <a:prstGeom prst="roundRect">
                <a:avLst>
                  <a:gd name="adj" fmla="val 5385"/>
                </a:avLst>
              </a:prstGeom>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600" dirty="0"/>
                  <a:t>Student</a:t>
                </a:r>
                <a:endParaRPr lang="en-US" sz="3600" dirty="0"/>
              </a:p>
            </p:txBody>
          </p:sp>
          <p:sp>
            <p:nvSpPr>
              <p:cNvPr id="9" name="Rectangle: Rounded Corners 8"/>
              <p:cNvSpPr/>
              <p:nvPr/>
            </p:nvSpPr>
            <p:spPr>
              <a:xfrm>
                <a:off x="8007211" y="4533617"/>
                <a:ext cx="3600000" cy="1486183"/>
              </a:xfrm>
              <a:prstGeom prst="roundRect">
                <a:avLst>
                  <a:gd name="adj" fmla="val 5385"/>
                </a:avLst>
              </a:prstGeom>
              <a:ln>
                <a:no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600" dirty="0"/>
                  <a:t>Employee</a:t>
                </a:r>
                <a:endParaRPr lang="en-US" sz="3600" dirty="0"/>
              </a:p>
            </p:txBody>
          </p:sp>
          <p:sp>
            <p:nvSpPr>
              <p:cNvPr id="13" name="Rectangle: Rounded Corners 12"/>
              <p:cNvSpPr/>
              <p:nvPr/>
            </p:nvSpPr>
            <p:spPr>
              <a:xfrm>
                <a:off x="5651871" y="2171983"/>
                <a:ext cx="4302299" cy="557218"/>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dirty="0"/>
                  <a:t>Mother : Person</a:t>
                </a:r>
                <a:endParaRPr lang="en-US" sz="3200" dirty="0"/>
              </a:p>
            </p:txBody>
          </p:sp>
          <p:sp>
            <p:nvSpPr>
              <p:cNvPr id="14" name="Rectangle: Rounded Corners 13"/>
              <p:cNvSpPr/>
              <p:nvPr/>
            </p:nvSpPr>
            <p:spPr>
              <a:xfrm>
                <a:off x="5651871" y="2891726"/>
                <a:ext cx="4302299" cy="557218"/>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dirty="0"/>
                  <a:t>Father : Person</a:t>
                </a:r>
                <a:endParaRPr lang="en-US" sz="3200" dirty="0"/>
              </a:p>
            </p:txBody>
          </p:sp>
          <p:sp>
            <p:nvSpPr>
              <p:cNvPr id="15" name="Rectangle: Rounded Corners 14"/>
              <p:cNvSpPr/>
              <p:nvPr/>
            </p:nvSpPr>
            <p:spPr>
              <a:xfrm>
                <a:off x="4230513" y="5233982"/>
                <a:ext cx="3235499" cy="557218"/>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dirty="0"/>
                  <a:t>School: School</a:t>
                </a:r>
                <a:endParaRPr lang="en-US" sz="3200" dirty="0"/>
              </a:p>
            </p:txBody>
          </p:sp>
          <p:sp>
            <p:nvSpPr>
              <p:cNvPr id="16" name="Rectangle: Rounded Corners 15"/>
              <p:cNvSpPr/>
              <p:nvPr/>
            </p:nvSpPr>
            <p:spPr>
              <a:xfrm>
                <a:off x="8189461" y="5226135"/>
                <a:ext cx="3235499" cy="557218"/>
              </a:xfrm>
              <a:prstGeom prst="roundRect">
                <a:avLst>
                  <a:gd name="adj" fmla="val 5385"/>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dirty="0"/>
                  <a:t>Org: Organization</a:t>
                </a:r>
                <a:endParaRPr lang="en-US" sz="3200" dirty="0"/>
              </a:p>
            </p:txBody>
          </p:sp>
        </p:grpSp>
        <p:sp>
          <p:nvSpPr>
            <p:cNvPr id="2" name="Arrow: Up 1">
              <a:extLst>
                <a:ext uri="{FF2B5EF4-FFF2-40B4-BE49-F238E27FC236}">
                  <a16:creationId xmlns:a16="http://schemas.microsoft.com/office/drawing/2014/main" id="{9237CAEF-A66B-3BBE-6E35-D3471116D61C}"/>
                </a:ext>
              </a:extLst>
            </p:cNvPr>
            <p:cNvSpPr/>
            <p:nvPr/>
          </p:nvSpPr>
          <p:spPr>
            <a:xfrm>
              <a:off x="4156362" y="4127666"/>
              <a:ext cx="623455" cy="863151"/>
            </a:xfrm>
            <a:prstGeom prst="upArrow">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bg-BG"/>
            </a:p>
          </p:txBody>
        </p:sp>
        <p:sp>
          <p:nvSpPr>
            <p:cNvPr id="10" name="Arrow: Up 9">
              <a:extLst>
                <a:ext uri="{FF2B5EF4-FFF2-40B4-BE49-F238E27FC236}">
                  <a16:creationId xmlns:a16="http://schemas.microsoft.com/office/drawing/2014/main" id="{50F70B8B-8D58-EEA9-1D3E-D5728FD41803}"/>
                </a:ext>
              </a:extLst>
            </p:cNvPr>
            <p:cNvSpPr/>
            <p:nvPr/>
          </p:nvSpPr>
          <p:spPr>
            <a:xfrm>
              <a:off x="6891645" y="4114801"/>
              <a:ext cx="623455" cy="876016"/>
            </a:xfrm>
            <a:prstGeom prst="upArrow">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bg-BG"/>
            </a:p>
          </p:txBody>
        </p:sp>
      </p:grpSp>
      <p:sp>
        <p:nvSpPr>
          <p:cNvPr id="31" name="AutoShape 6"/>
          <p:cNvSpPr>
            <a:spLocks noChangeArrowheads="1"/>
          </p:cNvSpPr>
          <p:nvPr/>
        </p:nvSpPr>
        <p:spPr bwMode="auto">
          <a:xfrm>
            <a:off x="8477003" y="1806858"/>
            <a:ext cx="3048000" cy="1557943"/>
          </a:xfrm>
          <a:prstGeom prst="wedgeRoundRectCallout">
            <a:avLst>
              <a:gd name="adj1" fmla="val -75535"/>
              <a:gd name="adj2" fmla="val -21144"/>
              <a:gd name="adj3" fmla="val 16667"/>
            </a:avLst>
          </a:prstGeom>
          <a:solidFill>
            <a:srgbClr val="00B0F0">
              <a:alpha val="94902"/>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bg-BG" sz="2800" dirty="0">
                <a:solidFill>
                  <a:srgbClr val="FFFFFF"/>
                </a:solidFill>
                <a:latin typeface="Comfortaa" pitchFamily="2" charset="0"/>
              </a:rPr>
              <a:t>Преизползване на </a:t>
            </a:r>
            <a:r>
              <a:rPr lang="en-US" sz="2800" dirty="0">
                <a:solidFill>
                  <a:srgbClr val="FFFFFF"/>
                </a:solidFill>
                <a:latin typeface="Comfortaa" pitchFamily="2" charset="0"/>
              </a:rPr>
              <a:t>Person</a:t>
            </a:r>
            <a:endParaRPr lang="bg-BG" sz="2800" dirty="0">
              <a:solidFill>
                <a:schemeClr val="tx2">
                  <a:lumMod val="75000"/>
                </a:schemeClr>
              </a:solidFill>
              <a:latin typeface="Comfortaa" pitchFamily="2" charset="0"/>
            </a:endParaRPr>
          </a:p>
        </p:txBody>
      </p:sp>
    </p:spTree>
    <p:extLst>
      <p:ext uri="{BB962C8B-B14F-4D97-AF65-F5344CB8AC3E}">
        <p14:creationId xmlns:p14="http://schemas.microsoft.com/office/powerpoint/2010/main" val="2301779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773883" y="1376754"/>
            <a:ext cx="10693778" cy="539566"/>
          </a:xfrm>
          <a:prstGeom prst="rect">
            <a:avLst/>
          </a:prstGeom>
        </p:spPr>
        <p:txBody>
          <a:bodyPr>
            <a:normAutofit/>
          </a:bodyPr>
          <a:lstStyle/>
          <a:p>
            <a:pPr marL="0" indent="0">
              <a:buNone/>
            </a:pPr>
            <a:r>
              <a:rPr lang="bg-BG" sz="2400" noProof="1">
                <a:latin typeface="Comfortaa" pitchFamily="2" charset="0"/>
              </a:rPr>
              <a:t>Наследените членове се използват както обикновено:</a:t>
            </a:r>
            <a:endParaRPr lang="en-US" sz="2400" noProof="1">
              <a:latin typeface="Comfortaa" pitchFamily="2" charset="0"/>
            </a:endParaRPr>
          </a:p>
        </p:txBody>
      </p:sp>
      <p:sp>
        <p:nvSpPr>
          <p:cNvPr id="2" name="Title 1"/>
          <p:cNvSpPr>
            <a:spLocks noGrp="1"/>
          </p:cNvSpPr>
          <p:nvPr>
            <p:ph type="title"/>
          </p:nvPr>
        </p:nvSpPr>
        <p:spPr>
          <a:xfrm>
            <a:off x="724339" y="600466"/>
            <a:ext cx="10743322" cy="766660"/>
          </a:xfrm>
          <a:prstGeom prst="rect">
            <a:avLst/>
          </a:prstGeom>
        </p:spPr>
        <p:txBody>
          <a:bodyPr anchor="ctr" anchorCtr="0">
            <a:normAutofit/>
          </a:bodyPr>
          <a:lstStyle/>
          <a:p>
            <a:pPr>
              <a:lnSpc>
                <a:spcPts val="4000"/>
              </a:lnSpc>
              <a:defRPr/>
            </a:pPr>
            <a:r>
              <a:rPr lang="bg-BG" sz="4000" dirty="0">
                <a:latin typeface="Comfortaa" pitchFamily="2" charset="0"/>
              </a:rPr>
              <a:t>Използване на наследени членове</a:t>
            </a:r>
            <a:endParaRPr lang="bg-BG" sz="3600" dirty="0">
              <a:latin typeface="Comfortaa" pitchFamily="2" charset="0"/>
            </a:endParaRPr>
          </a:p>
        </p:txBody>
      </p:sp>
      <p:sp>
        <p:nvSpPr>
          <p:cNvPr id="7" name="Text Placeholder 5"/>
          <p:cNvSpPr txBox="1">
            <a:spLocks/>
          </p:cNvSpPr>
          <p:nvPr/>
        </p:nvSpPr>
        <p:spPr>
          <a:xfrm>
            <a:off x="778143" y="1981200"/>
            <a:ext cx="10693778" cy="1622734"/>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class Person { public void </a:t>
            </a:r>
            <a:r>
              <a:rPr lang="en-US" sz="3200" dirty="0">
                <a:solidFill>
                  <a:srgbClr val="00B0F0"/>
                </a:solidFill>
                <a:effectLst/>
              </a:rPr>
              <a:t>Sleep</a:t>
            </a:r>
            <a:r>
              <a:rPr lang="en-US" sz="3200" dirty="0">
                <a:solidFill>
                  <a:schemeClr val="bg1"/>
                </a:solidFill>
                <a:effectLst/>
              </a:rPr>
              <a:t>() { … } }</a:t>
            </a:r>
          </a:p>
          <a:p>
            <a:r>
              <a:rPr lang="en-US" sz="3200" dirty="0">
                <a:solidFill>
                  <a:schemeClr val="bg1"/>
                </a:solidFill>
                <a:effectLst/>
              </a:rPr>
              <a:t>class Student </a:t>
            </a:r>
            <a:r>
              <a:rPr lang="en-US" sz="3200" dirty="0">
                <a:solidFill>
                  <a:srgbClr val="00B0F0"/>
                </a:solidFill>
                <a:effectLst/>
              </a:rPr>
              <a:t>:</a:t>
            </a:r>
            <a:r>
              <a:rPr lang="en-US" sz="3200" dirty="0">
                <a:solidFill>
                  <a:schemeClr val="bg1"/>
                </a:solidFill>
                <a:effectLst/>
              </a:rPr>
              <a:t> Person { … }</a:t>
            </a:r>
          </a:p>
          <a:p>
            <a:r>
              <a:rPr lang="en-US" sz="3200" dirty="0">
                <a:solidFill>
                  <a:schemeClr val="bg1"/>
                </a:solidFill>
                <a:effectLst/>
              </a:rPr>
              <a:t>class Employee </a:t>
            </a:r>
            <a:r>
              <a:rPr lang="en-US" sz="3200" dirty="0">
                <a:solidFill>
                  <a:srgbClr val="00B0F0"/>
                </a:solidFill>
                <a:effectLst/>
              </a:rPr>
              <a:t>:</a:t>
            </a:r>
            <a:r>
              <a:rPr lang="en-US" sz="3200" dirty="0">
                <a:solidFill>
                  <a:schemeClr val="bg1"/>
                </a:solidFill>
                <a:effectLst/>
              </a:rPr>
              <a:t> Person { … }</a:t>
            </a:r>
          </a:p>
        </p:txBody>
      </p:sp>
      <p:sp>
        <p:nvSpPr>
          <p:cNvPr id="10" name="Text Placeholder 5"/>
          <p:cNvSpPr txBox="1">
            <a:spLocks/>
          </p:cNvSpPr>
          <p:nvPr/>
        </p:nvSpPr>
        <p:spPr>
          <a:xfrm>
            <a:off x="778143" y="3886200"/>
            <a:ext cx="10693778" cy="2361398"/>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600" dirty="0">
                <a:solidFill>
                  <a:schemeClr val="bg1"/>
                </a:solidFill>
                <a:effectLst/>
              </a:rPr>
              <a:t>Student student = new Student();</a:t>
            </a:r>
          </a:p>
          <a:p>
            <a:r>
              <a:rPr lang="en-US" sz="3600" dirty="0">
                <a:solidFill>
                  <a:schemeClr val="bg1"/>
                </a:solidFill>
                <a:effectLst/>
              </a:rPr>
              <a:t>student.</a:t>
            </a:r>
            <a:r>
              <a:rPr lang="en-US" sz="3600" dirty="0">
                <a:solidFill>
                  <a:srgbClr val="00B0F0"/>
                </a:solidFill>
                <a:effectLst/>
              </a:rPr>
              <a:t>Sleep</a:t>
            </a:r>
            <a:r>
              <a:rPr lang="en-US" sz="3600" dirty="0">
                <a:solidFill>
                  <a:schemeClr val="bg1"/>
                </a:solidFill>
                <a:effectLst/>
              </a:rPr>
              <a:t>();</a:t>
            </a:r>
            <a:endParaRPr lang="en-GB" sz="3600" dirty="0">
              <a:solidFill>
                <a:schemeClr val="bg1"/>
              </a:solidFill>
              <a:effectLst/>
            </a:endParaRPr>
          </a:p>
          <a:p>
            <a:r>
              <a:rPr lang="en-US" sz="3600" dirty="0">
                <a:solidFill>
                  <a:schemeClr val="bg1"/>
                </a:solidFill>
                <a:effectLst/>
              </a:rPr>
              <a:t>Employee employee = new Employee();</a:t>
            </a:r>
          </a:p>
          <a:p>
            <a:r>
              <a:rPr lang="en-GB" sz="3600" dirty="0">
                <a:solidFill>
                  <a:schemeClr val="bg1"/>
                </a:solidFill>
                <a:effectLst/>
              </a:rPr>
              <a:t>employee.</a:t>
            </a:r>
            <a:r>
              <a:rPr lang="en-GB" sz="3600" dirty="0">
                <a:solidFill>
                  <a:srgbClr val="00B0F0"/>
                </a:solidFill>
                <a:effectLst/>
              </a:rPr>
              <a:t>Sleep</a:t>
            </a:r>
            <a:r>
              <a:rPr lang="en-GB" sz="3600" dirty="0">
                <a:solidFill>
                  <a:schemeClr val="bg1"/>
                </a:solidFill>
                <a:effectLst/>
              </a:rPr>
              <a:t>();</a:t>
            </a:r>
            <a:endParaRPr lang="en-US" sz="3600" dirty="0">
              <a:solidFill>
                <a:schemeClr val="bg1"/>
              </a:solidFill>
              <a:effectLst/>
            </a:endParaRPr>
          </a:p>
        </p:txBody>
      </p:sp>
    </p:spTree>
    <p:extLst>
      <p:ext uri="{BB962C8B-B14F-4D97-AF65-F5344CB8AC3E}">
        <p14:creationId xmlns:p14="http://schemas.microsoft.com/office/powerpoint/2010/main" val="286322004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482" y="1192483"/>
            <a:ext cx="10693778" cy="1345812"/>
          </a:xfrm>
          <a:prstGeom prst="rect">
            <a:avLst/>
          </a:prstGeom>
        </p:spPr>
        <p:txBody>
          <a:bodyPr>
            <a:noAutofit/>
          </a:bodyPr>
          <a:lstStyle/>
          <a:p>
            <a:pPr marL="361950" indent="-361950">
              <a:lnSpc>
                <a:spcPct val="110000"/>
              </a:lnSpc>
            </a:pPr>
            <a:r>
              <a:rPr lang="bg-BG" sz="2000" dirty="0">
                <a:latin typeface="Comfortaa" pitchFamily="2" charset="0"/>
              </a:rPr>
              <a:t>Конструкторите </a:t>
            </a:r>
            <a:r>
              <a:rPr lang="bg-BG" sz="2000" b="1" dirty="0">
                <a:solidFill>
                  <a:srgbClr val="00B0F0"/>
                </a:solidFill>
                <a:latin typeface="Comfortaa" pitchFamily="2" charset="0"/>
              </a:rPr>
              <a:t>не се наследяват</a:t>
            </a:r>
            <a:endParaRPr lang="en-US" sz="2000" b="1" dirty="0">
              <a:solidFill>
                <a:srgbClr val="00B0F0"/>
              </a:solidFill>
              <a:latin typeface="Comfortaa" pitchFamily="2" charset="0"/>
            </a:endParaRPr>
          </a:p>
          <a:p>
            <a:pPr marL="361950" indent="-361950">
              <a:lnSpc>
                <a:spcPct val="110000"/>
              </a:lnSpc>
            </a:pPr>
            <a:r>
              <a:rPr lang="bg-BG" sz="2000" dirty="0">
                <a:latin typeface="Comfortaa" pitchFamily="2" charset="0"/>
              </a:rPr>
              <a:t>Конструкторите</a:t>
            </a:r>
            <a:r>
              <a:rPr lang="en-US" sz="2000" dirty="0">
                <a:latin typeface="Comfortaa" pitchFamily="2" charset="0"/>
              </a:rPr>
              <a:t> </a:t>
            </a:r>
            <a:r>
              <a:rPr lang="bg-BG" sz="2000" b="1" dirty="0">
                <a:solidFill>
                  <a:srgbClr val="00B0F0"/>
                </a:solidFill>
                <a:latin typeface="Comfortaa" pitchFamily="2" charset="0"/>
              </a:rPr>
              <a:t>може да се ползват</a:t>
            </a:r>
            <a:r>
              <a:rPr lang="en-US" sz="2000" b="1" dirty="0">
                <a:solidFill>
                  <a:srgbClr val="00B0F0"/>
                </a:solidFill>
                <a:latin typeface="Comfortaa" pitchFamily="2" charset="0"/>
              </a:rPr>
              <a:t> </a:t>
            </a:r>
            <a:r>
              <a:rPr lang="bg-BG" sz="2000" dirty="0">
                <a:latin typeface="Comfortaa" pitchFamily="2" charset="0"/>
              </a:rPr>
              <a:t>от дъщерните класове</a:t>
            </a:r>
            <a:endParaRPr lang="en-US" sz="2000" noProof="1">
              <a:solidFill>
                <a:schemeClr val="tx2">
                  <a:lumMod val="75000"/>
                </a:schemeClr>
              </a:solidFill>
              <a:latin typeface="Comfortaa" pitchFamily="2" charset="0"/>
            </a:endParaRPr>
          </a:p>
        </p:txBody>
      </p:sp>
      <p:sp>
        <p:nvSpPr>
          <p:cNvPr id="2" name="Title 1"/>
          <p:cNvSpPr>
            <a:spLocks noGrp="1"/>
          </p:cNvSpPr>
          <p:nvPr>
            <p:ph type="title"/>
          </p:nvPr>
        </p:nvSpPr>
        <p:spPr>
          <a:xfrm>
            <a:off x="677883" y="365125"/>
            <a:ext cx="10728212" cy="941161"/>
          </a:xfrm>
          <a:prstGeom prst="rect">
            <a:avLst/>
          </a:prstGeom>
        </p:spPr>
        <p:txBody>
          <a:bodyPr anchor="ctr" anchorCtr="0"/>
          <a:lstStyle/>
          <a:p>
            <a:pPr>
              <a:lnSpc>
                <a:spcPts val="4000"/>
              </a:lnSpc>
              <a:defRPr/>
            </a:pPr>
            <a:r>
              <a:rPr lang="bg-BG" sz="4000" dirty="0">
                <a:latin typeface="Comfortaa" pitchFamily="2" charset="0"/>
              </a:rPr>
              <a:t>Преизползване на конструктори</a:t>
            </a:r>
          </a:p>
        </p:txBody>
      </p:sp>
      <p:sp>
        <p:nvSpPr>
          <p:cNvPr id="6" name="Text Placeholder 5"/>
          <p:cNvSpPr txBox="1">
            <a:spLocks/>
          </p:cNvSpPr>
          <p:nvPr/>
        </p:nvSpPr>
        <p:spPr>
          <a:xfrm>
            <a:off x="766170" y="2277233"/>
            <a:ext cx="10516402" cy="4084946"/>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class Student </a:t>
            </a:r>
            <a:r>
              <a:rPr lang="en-US" sz="3200" dirty="0">
                <a:solidFill>
                  <a:srgbClr val="00B0F0"/>
                </a:solidFill>
                <a:effectLst/>
              </a:rPr>
              <a:t>:</a:t>
            </a:r>
            <a:r>
              <a:rPr lang="en-US" sz="3200" dirty="0">
                <a:solidFill>
                  <a:schemeClr val="bg1"/>
                </a:solidFill>
                <a:effectLst/>
              </a:rPr>
              <a:t> Person {</a:t>
            </a:r>
          </a:p>
          <a:p>
            <a:r>
              <a:rPr lang="en-US" sz="3200" dirty="0">
                <a:solidFill>
                  <a:schemeClr val="bg1"/>
                </a:solidFill>
                <a:effectLst/>
              </a:rPr>
              <a:t>  private School school;</a:t>
            </a:r>
          </a:p>
          <a:p>
            <a:r>
              <a:rPr lang="en-US" sz="3200" dirty="0">
                <a:solidFill>
                  <a:schemeClr val="bg1"/>
                </a:solidFill>
                <a:effectLst/>
              </a:rPr>
              <a:t>  public Student(String name, School school)</a:t>
            </a:r>
          </a:p>
          <a:p>
            <a:r>
              <a:rPr lang="en-US" sz="3200" dirty="0">
                <a:solidFill>
                  <a:schemeClr val="bg1"/>
                </a:solidFill>
                <a:effectLst/>
              </a:rPr>
              <a:t>    </a:t>
            </a:r>
            <a:r>
              <a:rPr lang="en-US" sz="3200" dirty="0">
                <a:solidFill>
                  <a:srgbClr val="00B0F0"/>
                </a:solidFill>
                <a:effectLst/>
              </a:rPr>
              <a:t>:</a:t>
            </a:r>
            <a:r>
              <a:rPr lang="en-US" sz="3200" dirty="0">
                <a:solidFill>
                  <a:schemeClr val="bg1"/>
                </a:solidFill>
                <a:effectLst/>
              </a:rPr>
              <a:t> </a:t>
            </a:r>
            <a:r>
              <a:rPr lang="en-US" sz="3200" dirty="0">
                <a:solidFill>
                  <a:srgbClr val="00B0F0"/>
                </a:solidFill>
                <a:effectLst/>
              </a:rPr>
              <a:t>base(</a:t>
            </a:r>
            <a:r>
              <a:rPr lang="en-US" sz="3200" dirty="0">
                <a:solidFill>
                  <a:schemeClr val="bg1"/>
                </a:solidFill>
                <a:effectLst/>
              </a:rPr>
              <a:t>name</a:t>
            </a:r>
            <a:r>
              <a:rPr lang="en-US" sz="3200" dirty="0">
                <a:solidFill>
                  <a:srgbClr val="00B0F0"/>
                </a:solidFill>
                <a:effectLst/>
              </a:rPr>
              <a:t>)</a:t>
            </a:r>
          </a:p>
          <a:p>
            <a:r>
              <a:rPr lang="en-US" sz="3200" dirty="0">
                <a:solidFill>
                  <a:schemeClr val="bg1"/>
                </a:solidFill>
                <a:effectLst/>
              </a:rPr>
              <a:t>  {</a:t>
            </a:r>
          </a:p>
          <a:p>
            <a:r>
              <a:rPr lang="en-US" sz="3200" dirty="0">
                <a:solidFill>
                  <a:schemeClr val="bg1"/>
                </a:solidFill>
                <a:effectLst/>
              </a:rPr>
              <a:t>    this.school = school;</a:t>
            </a:r>
          </a:p>
          <a:p>
            <a:r>
              <a:rPr lang="en-US" sz="3200" dirty="0">
                <a:solidFill>
                  <a:schemeClr val="bg1"/>
                </a:solidFill>
                <a:effectLst/>
              </a:rPr>
              <a:t>  }</a:t>
            </a:r>
          </a:p>
          <a:p>
            <a:r>
              <a:rPr lang="en-US" sz="3200" dirty="0">
                <a:solidFill>
                  <a:schemeClr val="bg1"/>
                </a:solidFill>
                <a:effectLst/>
              </a:rPr>
              <a:t>}</a:t>
            </a:r>
          </a:p>
        </p:txBody>
      </p:sp>
    </p:spTree>
    <p:extLst>
      <p:ext uri="{BB962C8B-B14F-4D97-AF65-F5344CB8AC3E}">
        <p14:creationId xmlns:p14="http://schemas.microsoft.com/office/powerpoint/2010/main" val="146820037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p:cNvSpPr/>
          <p:nvPr/>
        </p:nvSpPr>
        <p:spPr>
          <a:xfrm>
            <a:off x="6242769" y="4566704"/>
            <a:ext cx="3892822" cy="1542162"/>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nchorCtr="0"/>
          <a:lstStyle/>
          <a:p>
            <a:pPr algn="ctr"/>
            <a:r>
              <a:rPr lang="en-GB" sz="2800" b="1" dirty="0">
                <a:latin typeface="Consolas" panose="020B0609020204030204" pitchFamily="49" charset="0"/>
              </a:rPr>
              <a:t>Employee</a:t>
            </a:r>
            <a:br>
              <a:rPr lang="en-GB" sz="2800" b="1" dirty="0">
                <a:latin typeface="Consolas" panose="020B0609020204030204" pitchFamily="49" charset="0"/>
              </a:rPr>
            </a:br>
            <a:r>
              <a:rPr lang="en-GB" sz="2800" b="1" dirty="0">
                <a:latin typeface="Consolas" panose="020B0609020204030204" pitchFamily="49" charset="0"/>
              </a:rPr>
              <a:t>(Derived Class)</a:t>
            </a:r>
          </a:p>
          <a:p>
            <a:pPr algn="ctr"/>
            <a:r>
              <a:rPr lang="en-GB" sz="2800" b="1" dirty="0">
                <a:latin typeface="Consolas" panose="020B0609020204030204" pitchFamily="49" charset="0"/>
              </a:rPr>
              <a:t>+Work():void</a:t>
            </a:r>
          </a:p>
        </p:txBody>
      </p:sp>
      <p:sp>
        <p:nvSpPr>
          <p:cNvPr id="13" name="Rectangle: Rounded Corners 12"/>
          <p:cNvSpPr/>
          <p:nvPr/>
        </p:nvSpPr>
        <p:spPr>
          <a:xfrm>
            <a:off x="1600200" y="4566704"/>
            <a:ext cx="3951514" cy="1542162"/>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b" anchorCtr="0"/>
          <a:lstStyle/>
          <a:p>
            <a:pPr algn="ctr"/>
            <a:endParaRPr lang="en-GB" sz="2800" b="1" dirty="0">
              <a:latin typeface="Consolas" panose="020B0609020204030204" pitchFamily="49" charset="0"/>
            </a:endParaRPr>
          </a:p>
          <a:p>
            <a:pPr algn="ctr"/>
            <a:r>
              <a:rPr lang="en-GB" sz="2800" b="1" dirty="0">
                <a:latin typeface="Consolas" panose="020B0609020204030204" pitchFamily="49" charset="0"/>
              </a:rPr>
              <a:t>Student </a:t>
            </a:r>
          </a:p>
          <a:p>
            <a:pPr algn="ctr"/>
            <a:r>
              <a:rPr lang="en-GB" sz="2800" b="1" dirty="0">
                <a:latin typeface="Consolas" panose="020B0609020204030204" pitchFamily="49" charset="0"/>
              </a:rPr>
              <a:t>(Derived Class)</a:t>
            </a:r>
            <a:br>
              <a:rPr lang="en-GB" sz="2800" b="1" dirty="0">
                <a:latin typeface="Consolas" panose="020B0609020204030204" pitchFamily="49" charset="0"/>
              </a:rPr>
            </a:br>
            <a:r>
              <a:rPr lang="en-GB" sz="2800" b="1" dirty="0">
                <a:latin typeface="Consolas" panose="020B0609020204030204" pitchFamily="49" charset="0"/>
              </a:rPr>
              <a:t>+Study():void</a:t>
            </a:r>
          </a:p>
        </p:txBody>
      </p:sp>
      <p:sp>
        <p:nvSpPr>
          <p:cNvPr id="3" name="Content Placeholder 2"/>
          <p:cNvSpPr>
            <a:spLocks noGrp="1"/>
          </p:cNvSpPr>
          <p:nvPr>
            <p:ph idx="1"/>
          </p:nvPr>
        </p:nvSpPr>
        <p:spPr>
          <a:xfrm>
            <a:off x="703630" y="1298887"/>
            <a:ext cx="10595741" cy="981176"/>
          </a:xfrm>
        </p:spPr>
        <p:txBody>
          <a:bodyPr/>
          <a:lstStyle/>
          <a:p>
            <a:r>
              <a:rPr lang="bg-BG" dirty="0">
                <a:latin typeface="Comfortaa" pitchFamily="2" charset="0"/>
              </a:rPr>
              <a:t>Инстанцията на дъщерен клас</a:t>
            </a:r>
            <a:r>
              <a:rPr lang="en-GB" dirty="0">
                <a:latin typeface="Comfortaa" pitchFamily="2" charset="0"/>
              </a:rPr>
              <a:t> </a:t>
            </a:r>
            <a:r>
              <a:rPr lang="bg-BG" dirty="0">
                <a:solidFill>
                  <a:schemeClr val="tx2">
                    <a:lumMod val="75000"/>
                  </a:schemeClr>
                </a:solidFill>
                <a:latin typeface="Comfortaa" pitchFamily="2" charset="0"/>
              </a:rPr>
              <a:t>съдръжа </a:t>
            </a:r>
            <a:r>
              <a:rPr lang="bg-BG" dirty="0">
                <a:latin typeface="Comfortaa" pitchFamily="2" charset="0"/>
              </a:rPr>
              <a:t>инстанция на неговия базов клас</a:t>
            </a:r>
            <a:endParaRPr lang="en-US" dirty="0">
              <a:latin typeface="Comfortaa" pitchFamily="2" charset="0"/>
            </a:endParaRPr>
          </a:p>
        </p:txBody>
      </p:sp>
      <p:sp>
        <p:nvSpPr>
          <p:cNvPr id="12" name="Rectangle: Rounded Corners 11"/>
          <p:cNvSpPr/>
          <p:nvPr/>
        </p:nvSpPr>
        <p:spPr>
          <a:xfrm>
            <a:off x="3575957" y="2426871"/>
            <a:ext cx="4688520" cy="1542162"/>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2800" b="1" dirty="0">
                <a:latin typeface="Consolas" panose="020B0609020204030204" pitchFamily="49" charset="0"/>
              </a:rPr>
              <a:t>Person </a:t>
            </a:r>
            <a:br>
              <a:rPr lang="en-GB" sz="2800" b="1" dirty="0">
                <a:latin typeface="Consolas" panose="020B0609020204030204" pitchFamily="49" charset="0"/>
              </a:rPr>
            </a:br>
            <a:r>
              <a:rPr lang="en-GB" sz="2800" b="1" dirty="0">
                <a:latin typeface="Consolas" panose="020B0609020204030204" pitchFamily="49" charset="0"/>
              </a:rPr>
              <a:t>(Base Class)</a:t>
            </a:r>
          </a:p>
          <a:p>
            <a:pPr algn="ctr"/>
            <a:r>
              <a:rPr lang="en-GB" sz="2800" b="1" dirty="0">
                <a:latin typeface="Consolas" panose="020B0609020204030204" pitchFamily="49" charset="0"/>
              </a:rPr>
              <a:t>+Sleep():void</a:t>
            </a:r>
            <a:endParaRPr lang="en-US" sz="2800" b="1" dirty="0">
              <a:latin typeface="Consolas" panose="020B0609020204030204" pitchFamily="49" charset="0"/>
            </a:endParaRPr>
          </a:p>
        </p:txBody>
      </p:sp>
      <p:sp>
        <p:nvSpPr>
          <p:cNvPr id="4" name="Title 3"/>
          <p:cNvSpPr>
            <a:spLocks noGrp="1"/>
          </p:cNvSpPr>
          <p:nvPr>
            <p:ph type="title"/>
          </p:nvPr>
        </p:nvSpPr>
        <p:spPr>
          <a:xfrm>
            <a:off x="783771" y="380998"/>
            <a:ext cx="10515600" cy="966851"/>
          </a:xfrm>
        </p:spPr>
        <p:txBody>
          <a:bodyPr>
            <a:normAutofit/>
          </a:bodyPr>
          <a:lstStyle/>
          <a:p>
            <a:r>
              <a:rPr lang="bg-BG" dirty="0">
                <a:latin typeface="Comfortaa" pitchFamily="2" charset="0"/>
              </a:rPr>
              <a:t>Наследяването е разширяване</a:t>
            </a:r>
            <a:endParaRPr lang="en-US" dirty="0">
              <a:latin typeface="Comfortaa" pitchFamily="2" charset="0"/>
            </a:endParaRPr>
          </a:p>
        </p:txBody>
      </p:sp>
      <p:sp>
        <p:nvSpPr>
          <p:cNvPr id="2" name="Arrow: Up 1">
            <a:extLst>
              <a:ext uri="{FF2B5EF4-FFF2-40B4-BE49-F238E27FC236}">
                <a16:creationId xmlns:a16="http://schemas.microsoft.com/office/drawing/2014/main" id="{8C5B9766-1F32-AFFD-B5A6-B6E8CB38EB6E}"/>
              </a:ext>
            </a:extLst>
          </p:cNvPr>
          <p:cNvSpPr/>
          <p:nvPr/>
        </p:nvSpPr>
        <p:spPr>
          <a:xfrm>
            <a:off x="4365726" y="3969031"/>
            <a:ext cx="356259" cy="597671"/>
          </a:xfrm>
          <a:prstGeom prst="up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bg-BG"/>
          </a:p>
        </p:txBody>
      </p:sp>
      <p:sp>
        <p:nvSpPr>
          <p:cNvPr id="6" name="Arrow: Up 5">
            <a:extLst>
              <a:ext uri="{FF2B5EF4-FFF2-40B4-BE49-F238E27FC236}">
                <a16:creationId xmlns:a16="http://schemas.microsoft.com/office/drawing/2014/main" id="{B9817984-6BE9-6A81-92C8-E7F8395EF898}"/>
              </a:ext>
            </a:extLst>
          </p:cNvPr>
          <p:cNvSpPr/>
          <p:nvPr/>
        </p:nvSpPr>
        <p:spPr>
          <a:xfrm>
            <a:off x="6997535" y="3969032"/>
            <a:ext cx="356259" cy="597671"/>
          </a:xfrm>
          <a:prstGeom prst="up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2373355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523" y="1275326"/>
            <a:ext cx="10693778" cy="548243"/>
          </a:xfrm>
          <a:prstGeom prst="rect">
            <a:avLst/>
          </a:prstGeom>
        </p:spPr>
        <p:txBody>
          <a:bodyPr>
            <a:normAutofit/>
          </a:bodyPr>
          <a:lstStyle/>
          <a:p>
            <a:pPr marL="0" indent="0">
              <a:buNone/>
            </a:pPr>
            <a:r>
              <a:rPr lang="bg-BG" noProof="1">
                <a:latin typeface="Comfortaa" pitchFamily="2" charset="0"/>
              </a:rPr>
              <a:t>Наследяването има </a:t>
            </a:r>
            <a:r>
              <a:rPr lang="bg-BG" b="1" noProof="1">
                <a:solidFill>
                  <a:srgbClr val="00B0F0"/>
                </a:solidFill>
                <a:latin typeface="Comfortaa" pitchFamily="2" charset="0"/>
              </a:rPr>
              <a:t>преходна връзка</a:t>
            </a:r>
            <a:endParaRPr lang="en-US" b="1" noProof="1">
              <a:solidFill>
                <a:srgbClr val="00B0F0"/>
              </a:solidFill>
              <a:latin typeface="Comfortaa" pitchFamily="2" charset="0"/>
            </a:endParaRPr>
          </a:p>
        </p:txBody>
      </p:sp>
      <p:sp>
        <p:nvSpPr>
          <p:cNvPr id="2" name="Title 1"/>
          <p:cNvSpPr>
            <a:spLocks noGrp="1"/>
          </p:cNvSpPr>
          <p:nvPr>
            <p:ph type="title"/>
          </p:nvPr>
        </p:nvSpPr>
        <p:spPr>
          <a:xfrm>
            <a:off x="749111" y="467353"/>
            <a:ext cx="10693777" cy="799269"/>
          </a:xfrm>
          <a:prstGeom prst="rect">
            <a:avLst/>
          </a:prstGeom>
        </p:spPr>
        <p:txBody>
          <a:bodyPr anchor="ctr" anchorCtr="0"/>
          <a:lstStyle/>
          <a:p>
            <a:pPr>
              <a:lnSpc>
                <a:spcPts val="4000"/>
              </a:lnSpc>
              <a:defRPr/>
            </a:pPr>
            <a:r>
              <a:rPr lang="bg-BG" dirty="0">
                <a:latin typeface="Comfortaa" pitchFamily="2" charset="0"/>
              </a:rPr>
              <a:t>Наследяване</a:t>
            </a:r>
            <a:endParaRPr lang="bg-BG" sz="4000" dirty="0">
              <a:latin typeface="Comfortaa" pitchFamily="2" charset="0"/>
            </a:endParaRPr>
          </a:p>
        </p:txBody>
      </p:sp>
      <p:sp>
        <p:nvSpPr>
          <p:cNvPr id="7" name="Text Placeholder 5"/>
          <p:cNvSpPr txBox="1">
            <a:spLocks/>
          </p:cNvSpPr>
          <p:nvPr/>
        </p:nvSpPr>
        <p:spPr>
          <a:xfrm>
            <a:off x="747523" y="1948421"/>
            <a:ext cx="10693778" cy="1622734"/>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class Person { … }</a:t>
            </a:r>
          </a:p>
          <a:p>
            <a:r>
              <a:rPr lang="en-US" sz="3200" dirty="0">
                <a:solidFill>
                  <a:schemeClr val="bg1"/>
                </a:solidFill>
                <a:effectLst/>
              </a:rPr>
              <a:t>class Student </a:t>
            </a:r>
            <a:r>
              <a:rPr lang="en-US" sz="3200" dirty="0">
                <a:solidFill>
                  <a:srgbClr val="00B0F0"/>
                </a:solidFill>
                <a:effectLst/>
              </a:rPr>
              <a:t>:</a:t>
            </a:r>
            <a:r>
              <a:rPr lang="en-US" sz="3200" dirty="0">
                <a:solidFill>
                  <a:schemeClr val="bg1"/>
                </a:solidFill>
                <a:effectLst/>
              </a:rPr>
              <a:t> Person { … }</a:t>
            </a:r>
          </a:p>
          <a:p>
            <a:r>
              <a:rPr lang="en-US" sz="3200" dirty="0">
                <a:solidFill>
                  <a:schemeClr val="bg1"/>
                </a:solidFill>
                <a:effectLst/>
              </a:rPr>
              <a:t>class CollegeStudent </a:t>
            </a:r>
            <a:r>
              <a:rPr lang="en-US" sz="3200" dirty="0">
                <a:solidFill>
                  <a:srgbClr val="00B0F0"/>
                </a:solidFill>
                <a:effectLst/>
              </a:rPr>
              <a:t>:</a:t>
            </a:r>
            <a:r>
              <a:rPr lang="en-US" sz="3200" dirty="0">
                <a:solidFill>
                  <a:schemeClr val="bg1"/>
                </a:solidFill>
                <a:effectLst/>
              </a:rPr>
              <a:t> Student { … }</a:t>
            </a:r>
          </a:p>
        </p:txBody>
      </p:sp>
      <p:sp>
        <p:nvSpPr>
          <p:cNvPr id="9" name="Rectangle: Rounded Corners 8"/>
          <p:cNvSpPr/>
          <p:nvPr/>
        </p:nvSpPr>
        <p:spPr>
          <a:xfrm>
            <a:off x="2133600" y="3810001"/>
            <a:ext cx="3240000" cy="592307"/>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latin typeface="Consolas" panose="020B0609020204030204" pitchFamily="49" charset="0"/>
              </a:rPr>
              <a:t>Person</a:t>
            </a:r>
            <a:endParaRPr lang="en-US" sz="3200" b="1" dirty="0">
              <a:latin typeface="Consolas" panose="020B0609020204030204" pitchFamily="49" charset="0"/>
            </a:endParaRPr>
          </a:p>
        </p:txBody>
      </p:sp>
      <p:sp>
        <p:nvSpPr>
          <p:cNvPr id="12" name="Rectangle: Rounded Corners 11"/>
          <p:cNvSpPr/>
          <p:nvPr/>
        </p:nvSpPr>
        <p:spPr>
          <a:xfrm>
            <a:off x="7010401" y="5809800"/>
            <a:ext cx="3403701" cy="592307"/>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latin typeface="Consolas" panose="020B0609020204030204" pitchFamily="49" charset="0"/>
              </a:rPr>
              <a:t>CollegeStudent</a:t>
            </a:r>
            <a:endParaRPr lang="en-US" sz="3200" b="1" dirty="0">
              <a:latin typeface="Consolas" panose="020B0609020204030204" pitchFamily="49" charset="0"/>
            </a:endParaRPr>
          </a:p>
        </p:txBody>
      </p:sp>
      <p:sp>
        <p:nvSpPr>
          <p:cNvPr id="21" name="Rectangle: Rounded Corners 20"/>
          <p:cNvSpPr/>
          <p:nvPr/>
        </p:nvSpPr>
        <p:spPr>
          <a:xfrm>
            <a:off x="4654601" y="4809901"/>
            <a:ext cx="3240000" cy="592307"/>
          </a:xfrm>
          <a:prstGeom prst="roundRect">
            <a:avLst>
              <a:gd name="adj" fmla="val 5385"/>
            </a:avLst>
          </a:prstGeom>
          <a:solidFill>
            <a:srgbClr val="00B0F0"/>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latin typeface="Consolas" panose="020B0609020204030204" pitchFamily="49" charset="0"/>
              </a:rPr>
              <a:t>Student</a:t>
            </a:r>
            <a:endParaRPr lang="en-US" sz="3200" b="1" dirty="0">
              <a:latin typeface="Consolas" panose="020B0609020204030204" pitchFamily="49" charset="0"/>
            </a:endParaRPr>
          </a:p>
        </p:txBody>
      </p:sp>
      <p:cxnSp>
        <p:nvCxnSpPr>
          <p:cNvPr id="6" name="Connector: Elbow 5"/>
          <p:cNvCxnSpPr>
            <a:cxnSpLocks/>
            <a:stCxn id="21" idx="0"/>
            <a:endCxn id="9" idx="2"/>
          </p:cNvCxnSpPr>
          <p:nvPr/>
        </p:nvCxnSpPr>
        <p:spPr>
          <a:xfrm rot="16200000" flipV="1">
            <a:off x="4810306" y="3345604"/>
            <a:ext cx="407593" cy="2521001"/>
          </a:xfrm>
          <a:prstGeom prst="bentConnector3">
            <a:avLst>
              <a:gd name="adj1" fmla="val 50000"/>
            </a:avLst>
          </a:prstGeom>
          <a:ln>
            <a:solidFill>
              <a:srgbClr val="00B0F0"/>
            </a:solidFill>
            <a:tailEnd type="triangle"/>
          </a:ln>
        </p:spPr>
        <p:style>
          <a:lnRef idx="2">
            <a:schemeClr val="dk1">
              <a:shade val="50000"/>
            </a:schemeClr>
          </a:lnRef>
          <a:fillRef idx="1">
            <a:schemeClr val="dk1"/>
          </a:fillRef>
          <a:effectRef idx="0">
            <a:schemeClr val="dk1"/>
          </a:effectRef>
          <a:fontRef idx="minor">
            <a:schemeClr val="lt1"/>
          </a:fontRef>
        </p:style>
      </p:cxnSp>
      <p:cxnSp>
        <p:nvCxnSpPr>
          <p:cNvPr id="16" name="Connector: Elbow 15"/>
          <p:cNvCxnSpPr>
            <a:cxnSpLocks/>
            <a:stCxn id="12" idx="0"/>
            <a:endCxn id="21" idx="2"/>
          </p:cNvCxnSpPr>
          <p:nvPr/>
        </p:nvCxnSpPr>
        <p:spPr>
          <a:xfrm rot="16200000" flipV="1">
            <a:off x="7289630" y="4387178"/>
            <a:ext cx="407592" cy="2437650"/>
          </a:xfrm>
          <a:prstGeom prst="bentConnector3">
            <a:avLst>
              <a:gd name="adj1" fmla="val 50000"/>
            </a:avLst>
          </a:prstGeom>
          <a:ln>
            <a:solidFill>
              <a:srgbClr val="00B0F0"/>
            </a:solidFill>
            <a:tailEnd type="triangle"/>
          </a:ln>
        </p:spPr>
        <p:style>
          <a:lnRef idx="2">
            <a:schemeClr val="dk1">
              <a:shade val="50000"/>
            </a:schemeClr>
          </a:lnRef>
          <a:fillRef idx="1">
            <a:schemeClr val="dk1"/>
          </a:fillRef>
          <a:effectRef idx="0">
            <a:schemeClr val="dk1"/>
          </a:effectRef>
          <a:fontRef idx="minor">
            <a:schemeClr val="lt1"/>
          </a:fontRef>
        </p:style>
      </p:cxnSp>
    </p:spTree>
    <p:extLst>
      <p:ext uri="{BB962C8B-B14F-4D97-AF65-F5344CB8AC3E}">
        <p14:creationId xmlns:p14="http://schemas.microsoft.com/office/powerpoint/2010/main" val="141391924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2896" y="1763280"/>
            <a:ext cx="10193977" cy="1665720"/>
          </a:xfrm>
          <a:prstGeom prst="rect">
            <a:avLst/>
          </a:prstGeom>
        </p:spPr>
        <p:txBody>
          <a:bodyPr>
            <a:normAutofit/>
          </a:bodyPr>
          <a:lstStyle/>
          <a:p>
            <a:pPr marL="361950" indent="-361950">
              <a:lnSpc>
                <a:spcPct val="110000"/>
              </a:lnSpc>
            </a:pPr>
            <a:r>
              <a:rPr lang="bg-BG" dirty="0">
                <a:latin typeface="Comfortaa" pitchFamily="2" charset="0"/>
              </a:rPr>
              <a:t>В</a:t>
            </a:r>
            <a:r>
              <a:rPr lang="en-US" dirty="0">
                <a:latin typeface="Comfortaa" pitchFamily="2" charset="0"/>
              </a:rPr>
              <a:t> C# </a:t>
            </a:r>
            <a:r>
              <a:rPr lang="bg-BG" dirty="0">
                <a:latin typeface="Comfortaa" pitchFamily="2" charset="0"/>
              </a:rPr>
              <a:t>не се поддържа </a:t>
            </a:r>
            <a:r>
              <a:rPr lang="bg-BG" dirty="0">
                <a:solidFill>
                  <a:srgbClr val="00B0F0"/>
                </a:solidFill>
                <a:latin typeface="Comfortaa" pitchFamily="2" charset="0"/>
              </a:rPr>
              <a:t>множествено</a:t>
            </a:r>
            <a:r>
              <a:rPr lang="en-US" dirty="0">
                <a:solidFill>
                  <a:schemeClr val="tx2">
                    <a:lumMod val="75000"/>
                  </a:schemeClr>
                </a:solidFill>
                <a:latin typeface="Comfortaa" pitchFamily="2" charset="0"/>
              </a:rPr>
              <a:t> </a:t>
            </a:r>
            <a:r>
              <a:rPr lang="bg-BG" dirty="0">
                <a:latin typeface="Comfortaa" pitchFamily="2" charset="0"/>
              </a:rPr>
              <a:t>наследяване</a:t>
            </a:r>
            <a:endParaRPr lang="en-US" dirty="0">
              <a:latin typeface="Comfortaa" pitchFamily="2" charset="0"/>
            </a:endParaRPr>
          </a:p>
          <a:p>
            <a:pPr marL="404867" indent="-361950">
              <a:lnSpc>
                <a:spcPct val="110000"/>
              </a:lnSpc>
            </a:pPr>
            <a:r>
              <a:rPr lang="bg-BG" dirty="0">
                <a:latin typeface="Comfortaa" pitchFamily="2" charset="0"/>
              </a:rPr>
              <a:t>Поддържа се само имплементиране на</a:t>
            </a:r>
            <a:r>
              <a:rPr lang="en-US" dirty="0">
                <a:latin typeface="Comfortaa" pitchFamily="2" charset="0"/>
              </a:rPr>
              <a:t> </a:t>
            </a:r>
            <a:r>
              <a:rPr lang="bg-BG" dirty="0">
                <a:solidFill>
                  <a:srgbClr val="00B0F0"/>
                </a:solidFill>
                <a:latin typeface="Comfortaa" pitchFamily="2" charset="0"/>
              </a:rPr>
              <a:t>множество</a:t>
            </a:r>
            <a:r>
              <a:rPr lang="bg-BG" dirty="0">
                <a:solidFill>
                  <a:schemeClr val="tx2">
                    <a:lumMod val="75000"/>
                  </a:schemeClr>
                </a:solidFill>
                <a:latin typeface="Comfortaa" pitchFamily="2" charset="0"/>
              </a:rPr>
              <a:t> интерфейси</a:t>
            </a:r>
            <a:endParaRPr lang="en-US" dirty="0">
              <a:solidFill>
                <a:schemeClr val="tx2">
                  <a:lumMod val="75000"/>
                </a:schemeClr>
              </a:solidFill>
              <a:latin typeface="Comfortaa" pitchFamily="2" charset="0"/>
            </a:endParaRPr>
          </a:p>
          <a:p>
            <a:endParaRPr lang="en-US" noProof="1">
              <a:solidFill>
                <a:schemeClr val="tx2">
                  <a:lumMod val="75000"/>
                </a:schemeClr>
              </a:solidFill>
              <a:latin typeface="Comfortaa" pitchFamily="2" charset="0"/>
            </a:endParaRPr>
          </a:p>
        </p:txBody>
      </p:sp>
      <p:sp>
        <p:nvSpPr>
          <p:cNvPr id="2" name="Title 1"/>
          <p:cNvSpPr>
            <a:spLocks noGrp="1"/>
          </p:cNvSpPr>
          <p:nvPr>
            <p:ph type="title"/>
          </p:nvPr>
        </p:nvSpPr>
        <p:spPr>
          <a:xfrm>
            <a:off x="1152896" y="770971"/>
            <a:ext cx="10193977" cy="908503"/>
          </a:xfrm>
          <a:prstGeom prst="rect">
            <a:avLst/>
          </a:prstGeom>
        </p:spPr>
        <p:txBody>
          <a:bodyPr anchor="ctr" anchorCtr="0"/>
          <a:lstStyle/>
          <a:p>
            <a:pPr>
              <a:lnSpc>
                <a:spcPts val="4000"/>
              </a:lnSpc>
              <a:defRPr/>
            </a:pPr>
            <a:r>
              <a:rPr lang="bg-BG" sz="4000" dirty="0">
                <a:latin typeface="Comfortaa" pitchFamily="2" charset="0"/>
              </a:rPr>
              <a:t>Множествено наследяване</a:t>
            </a:r>
          </a:p>
        </p:txBody>
      </p:sp>
      <p:grpSp>
        <p:nvGrpSpPr>
          <p:cNvPr id="14" name="Group 13">
            <a:extLst>
              <a:ext uri="{FF2B5EF4-FFF2-40B4-BE49-F238E27FC236}">
                <a16:creationId xmlns:a16="http://schemas.microsoft.com/office/drawing/2014/main" id="{FDCA2250-1D67-9A45-0FDA-18630D845309}"/>
              </a:ext>
            </a:extLst>
          </p:cNvPr>
          <p:cNvGrpSpPr/>
          <p:nvPr/>
        </p:nvGrpSpPr>
        <p:grpSpPr>
          <a:xfrm>
            <a:off x="2232561" y="3602020"/>
            <a:ext cx="7460811" cy="2318746"/>
            <a:chOff x="2428504" y="3349669"/>
            <a:chExt cx="7460811" cy="2318746"/>
          </a:xfrm>
        </p:grpSpPr>
        <p:sp>
          <p:nvSpPr>
            <p:cNvPr id="6" name="Rectangle: Rounded Corners 5"/>
            <p:cNvSpPr/>
            <p:nvPr/>
          </p:nvSpPr>
          <p:spPr>
            <a:xfrm>
              <a:off x="2428504" y="3774083"/>
              <a:ext cx="2682691" cy="651538"/>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effectLst>
                    <a:outerShdw blurRad="38100" dist="38100" dir="2700000" algn="tl">
                      <a:srgbClr val="000000">
                        <a:alpha val="43137"/>
                      </a:srgbClr>
                    </a:outerShdw>
                  </a:effectLst>
                  <a:latin typeface="Consolas" panose="020B0609020204030204" pitchFamily="49" charset="0"/>
                </a:rPr>
                <a:t>Person</a:t>
              </a:r>
              <a:endParaRPr lang="en-US" sz="3200" b="1" dirty="0">
                <a:effectLst>
                  <a:outerShdw blurRad="38100" dist="38100" dir="2700000" algn="tl">
                    <a:srgbClr val="000000">
                      <a:alpha val="43137"/>
                    </a:srgbClr>
                  </a:outerShdw>
                </a:effectLst>
                <a:latin typeface="Consolas" panose="020B0609020204030204" pitchFamily="49" charset="0"/>
              </a:endParaRPr>
            </a:p>
          </p:txBody>
        </p:sp>
        <p:sp>
          <p:nvSpPr>
            <p:cNvPr id="9" name="Rectangle: Rounded Corners 8"/>
            <p:cNvSpPr/>
            <p:nvPr/>
          </p:nvSpPr>
          <p:spPr>
            <a:xfrm>
              <a:off x="7206624" y="3774083"/>
              <a:ext cx="2682691" cy="651538"/>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effectLst>
                    <a:outerShdw blurRad="38100" dist="38100" dir="2700000" algn="tl">
                      <a:srgbClr val="000000">
                        <a:alpha val="43137"/>
                      </a:srgbClr>
                    </a:outerShdw>
                  </a:effectLst>
                  <a:latin typeface="Consolas" panose="020B0609020204030204" pitchFamily="49" charset="0"/>
                </a:rPr>
                <a:t>Student</a:t>
              </a:r>
              <a:endParaRPr lang="en-US" sz="3200" b="1" dirty="0">
                <a:effectLst>
                  <a:outerShdw blurRad="38100" dist="38100" dir="2700000" algn="tl">
                    <a:srgbClr val="000000">
                      <a:alpha val="43137"/>
                    </a:srgbClr>
                  </a:outerShdw>
                </a:effectLst>
                <a:latin typeface="Consolas" panose="020B0609020204030204" pitchFamily="49" charset="0"/>
              </a:endParaRPr>
            </a:p>
          </p:txBody>
        </p:sp>
        <p:sp>
          <p:nvSpPr>
            <p:cNvPr id="4" name="Multiplication Sign 3"/>
            <p:cNvSpPr/>
            <p:nvPr/>
          </p:nvSpPr>
          <p:spPr>
            <a:xfrm>
              <a:off x="5430981" y="3349669"/>
              <a:ext cx="1599211" cy="1501401"/>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5" name="Arrow: Up 4">
              <a:extLst>
                <a:ext uri="{FF2B5EF4-FFF2-40B4-BE49-F238E27FC236}">
                  <a16:creationId xmlns:a16="http://schemas.microsoft.com/office/drawing/2014/main" id="{4C34F0BC-B834-672E-D0B6-D2B24B1BA1E7}"/>
                </a:ext>
              </a:extLst>
            </p:cNvPr>
            <p:cNvSpPr/>
            <p:nvPr/>
          </p:nvSpPr>
          <p:spPr>
            <a:xfrm>
              <a:off x="4589813" y="4425621"/>
              <a:ext cx="415636" cy="591256"/>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3" name="Arrow: Up 12">
              <a:extLst>
                <a:ext uri="{FF2B5EF4-FFF2-40B4-BE49-F238E27FC236}">
                  <a16:creationId xmlns:a16="http://schemas.microsoft.com/office/drawing/2014/main" id="{DE94FE6D-6CD0-F48F-178E-2CD4FBEB2E1B}"/>
                </a:ext>
              </a:extLst>
            </p:cNvPr>
            <p:cNvSpPr/>
            <p:nvPr/>
          </p:nvSpPr>
          <p:spPr>
            <a:xfrm>
              <a:off x="7377546" y="4425621"/>
              <a:ext cx="415636" cy="591256"/>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7" name="Rectangle: Rounded Corners 6"/>
            <p:cNvSpPr/>
            <p:nvPr/>
          </p:nvSpPr>
          <p:spPr>
            <a:xfrm>
              <a:off x="4419600" y="5016877"/>
              <a:ext cx="3505200" cy="651538"/>
            </a:xfrm>
            <a:prstGeom prst="roundRect">
              <a:avLst>
                <a:gd name="adj" fmla="val 5385"/>
              </a:avLst>
            </a:prstGeom>
            <a:ln/>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r>
                <a:rPr lang="en-GB" sz="3200" b="1" dirty="0">
                  <a:effectLst>
                    <a:outerShdw blurRad="38100" dist="38100" dir="2700000" algn="tl">
                      <a:srgbClr val="000000">
                        <a:alpha val="43137"/>
                      </a:srgbClr>
                    </a:outerShdw>
                  </a:effectLst>
                  <a:latin typeface="Consolas" panose="020B0609020204030204" pitchFamily="49" charset="0"/>
                </a:rPr>
                <a:t>CollegeStudent</a:t>
              </a:r>
              <a:endParaRPr lang="en-US" sz="3200" b="1" dirty="0">
                <a:effectLst>
                  <a:outerShdw blurRad="38100" dist="38100" dir="2700000" algn="tl">
                    <a:srgbClr val="000000">
                      <a:alpha val="43137"/>
                    </a:srgbClr>
                  </a:outerShdw>
                </a:effectLst>
                <a:latin typeface="Consolas" panose="020B0609020204030204" pitchFamily="49" charset="0"/>
              </a:endParaRPr>
            </a:p>
          </p:txBody>
        </p:sp>
      </p:grpSp>
    </p:spTree>
    <p:extLst>
      <p:ext uri="{BB962C8B-B14F-4D97-AF65-F5344CB8AC3E}">
        <p14:creationId xmlns:p14="http://schemas.microsoft.com/office/powerpoint/2010/main" val="218824006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idx="1"/>
          </p:nvPr>
        </p:nvSpPr>
        <p:spPr>
          <a:xfrm>
            <a:off x="486890" y="1541194"/>
            <a:ext cx="11353798" cy="695491"/>
          </a:xfrm>
          <a:prstGeom prst="rect">
            <a:avLst/>
          </a:prstGeom>
        </p:spPr>
        <p:txBody>
          <a:bodyPr>
            <a:normAutofit/>
          </a:bodyPr>
          <a:lstStyle/>
          <a:p>
            <a:pPr marL="0" indent="0">
              <a:lnSpc>
                <a:spcPct val="110000"/>
              </a:lnSpc>
              <a:buNone/>
            </a:pPr>
            <a:r>
              <a:rPr lang="bg-BG" dirty="0">
                <a:latin typeface="Comfortaa" pitchFamily="2" charset="0"/>
              </a:rPr>
              <a:t>Чрез ключовата дума</a:t>
            </a:r>
            <a:r>
              <a:rPr lang="en-US" dirty="0">
                <a:latin typeface="Comfortaa" pitchFamily="2" charset="0"/>
              </a:rPr>
              <a:t> </a:t>
            </a:r>
            <a:r>
              <a:rPr lang="en-US" b="1" dirty="0">
                <a:solidFill>
                  <a:srgbClr val="00B0F0"/>
                </a:solidFill>
                <a:latin typeface="Comfortaa" pitchFamily="2" charset="0"/>
              </a:rPr>
              <a:t>bas</a:t>
            </a:r>
            <a:r>
              <a:rPr lang="bg-BG" b="1" dirty="0">
                <a:solidFill>
                  <a:srgbClr val="00B0F0"/>
                </a:solidFill>
                <a:latin typeface="Comfortaa" pitchFamily="2" charset="0"/>
              </a:rPr>
              <a:t>е</a:t>
            </a:r>
            <a:endParaRPr lang="en-US" dirty="0">
              <a:solidFill>
                <a:srgbClr val="00B0F0"/>
              </a:solidFill>
              <a:latin typeface="Comfortaa" pitchFamily="2" charset="0"/>
            </a:endParaRPr>
          </a:p>
          <a:p>
            <a:endParaRPr lang="en-US" noProof="1">
              <a:solidFill>
                <a:schemeClr val="tx2">
                  <a:lumMod val="75000"/>
                </a:schemeClr>
              </a:solidFill>
              <a:latin typeface="Comfortaa" pitchFamily="2" charset="0"/>
            </a:endParaRPr>
          </a:p>
        </p:txBody>
      </p:sp>
      <p:sp>
        <p:nvSpPr>
          <p:cNvPr id="2" name="Title 1"/>
          <p:cNvSpPr>
            <a:spLocks noGrp="1"/>
          </p:cNvSpPr>
          <p:nvPr>
            <p:ph type="title"/>
          </p:nvPr>
        </p:nvSpPr>
        <p:spPr>
          <a:xfrm>
            <a:off x="486889" y="849086"/>
            <a:ext cx="11353799" cy="788580"/>
          </a:xfrm>
          <a:prstGeom prst="rect">
            <a:avLst/>
          </a:prstGeom>
        </p:spPr>
        <p:txBody>
          <a:bodyPr anchor="ctr" anchorCtr="0"/>
          <a:lstStyle/>
          <a:p>
            <a:pPr>
              <a:lnSpc>
                <a:spcPts val="4000"/>
              </a:lnSpc>
              <a:defRPr/>
            </a:pPr>
            <a:r>
              <a:rPr lang="bg-BG" sz="4000" dirty="0">
                <a:latin typeface="Comfortaa" pitchFamily="2" charset="0"/>
              </a:rPr>
              <a:t>Достъп до членове на базовия клас</a:t>
            </a:r>
          </a:p>
        </p:txBody>
      </p:sp>
      <p:sp>
        <p:nvSpPr>
          <p:cNvPr id="6" name="Text Placeholder 5"/>
          <p:cNvSpPr txBox="1">
            <a:spLocks/>
          </p:cNvSpPr>
          <p:nvPr/>
        </p:nvSpPr>
        <p:spPr>
          <a:xfrm>
            <a:off x="486890" y="2236685"/>
            <a:ext cx="11353799" cy="4084946"/>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chemeClr val="bg1"/>
                </a:solidFill>
                <a:effectLst/>
              </a:rPr>
              <a:t>class Person { … }</a:t>
            </a:r>
          </a:p>
          <a:p>
            <a:r>
              <a:rPr lang="en-US" sz="3200" dirty="0">
                <a:solidFill>
                  <a:schemeClr val="bg1"/>
                </a:solidFill>
                <a:effectLst/>
              </a:rPr>
              <a:t>class Employee </a:t>
            </a:r>
            <a:r>
              <a:rPr lang="en-US" sz="3200" dirty="0">
                <a:solidFill>
                  <a:srgbClr val="00B0F0"/>
                </a:solidFill>
                <a:effectLst/>
              </a:rPr>
              <a:t>:</a:t>
            </a:r>
            <a:r>
              <a:rPr lang="en-US" sz="3200" dirty="0">
                <a:solidFill>
                  <a:schemeClr val="bg1"/>
                </a:solidFill>
                <a:effectLst/>
              </a:rPr>
              <a:t> Person</a:t>
            </a:r>
          </a:p>
          <a:p>
            <a:r>
              <a:rPr lang="en-US" sz="3200" dirty="0">
                <a:solidFill>
                  <a:schemeClr val="bg1"/>
                </a:solidFill>
                <a:effectLst/>
              </a:rPr>
              <a:t>{ </a:t>
            </a:r>
          </a:p>
          <a:p>
            <a:r>
              <a:rPr lang="en-US" sz="3200" dirty="0">
                <a:solidFill>
                  <a:schemeClr val="bg1"/>
                </a:solidFill>
                <a:effectLst/>
              </a:rPr>
              <a:t>  void Fire(string reasons) { </a:t>
            </a:r>
          </a:p>
          <a:p>
            <a:r>
              <a:rPr lang="en-US" sz="3200" dirty="0">
                <a:solidFill>
                  <a:schemeClr val="bg1"/>
                </a:solidFill>
                <a:effectLst/>
              </a:rPr>
              <a:t>    Console.Writeline</a:t>
            </a:r>
          </a:p>
          <a:p>
            <a:r>
              <a:rPr lang="en-US" sz="3200" dirty="0">
                <a:solidFill>
                  <a:schemeClr val="bg1"/>
                </a:solidFill>
                <a:effectLst/>
              </a:rPr>
              <a:t>    ($"{</a:t>
            </a:r>
            <a:r>
              <a:rPr lang="en-US" sz="3200" dirty="0">
                <a:solidFill>
                  <a:srgbClr val="00B0F0"/>
                </a:solidFill>
                <a:effectLst/>
              </a:rPr>
              <a:t>base.name</a:t>
            </a:r>
            <a:r>
              <a:rPr lang="en-US" sz="3200" dirty="0">
                <a:solidFill>
                  <a:schemeClr val="bg1"/>
                </a:solidFill>
                <a:effectLst/>
              </a:rPr>
              <a:t>} got fired because {</a:t>
            </a:r>
            <a:r>
              <a:rPr lang="en-US" sz="3200" dirty="0">
                <a:solidFill>
                  <a:srgbClr val="00B0F0"/>
                </a:solidFill>
                <a:effectLst/>
              </a:rPr>
              <a:t>reasons</a:t>
            </a:r>
            <a:r>
              <a:rPr lang="en-US" sz="3200" dirty="0">
                <a:solidFill>
                  <a:schemeClr val="bg1"/>
                </a:solidFill>
                <a:effectLst/>
              </a:rPr>
              <a:t>}");</a:t>
            </a:r>
          </a:p>
          <a:p>
            <a:r>
              <a:rPr lang="en-US" sz="3200" dirty="0">
                <a:solidFill>
                  <a:schemeClr val="bg1"/>
                </a:solidFill>
                <a:effectLst/>
              </a:rPr>
              <a:t>  }</a:t>
            </a:r>
          </a:p>
          <a:p>
            <a:r>
              <a:rPr lang="en-US" sz="3200" dirty="0">
                <a:solidFill>
                  <a:schemeClr val="bg1"/>
                </a:solidFill>
                <a:effectLst/>
              </a:rPr>
              <a:t>}</a:t>
            </a:r>
          </a:p>
        </p:txBody>
      </p:sp>
    </p:spTree>
    <p:extLst>
      <p:ext uri="{BB962C8B-B14F-4D97-AF65-F5344CB8AC3E}">
        <p14:creationId xmlns:p14="http://schemas.microsoft.com/office/powerpoint/2010/main" val="152468501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Up 2">
            <a:extLst>
              <a:ext uri="{FF2B5EF4-FFF2-40B4-BE49-F238E27FC236}">
                <a16:creationId xmlns:a16="http://schemas.microsoft.com/office/drawing/2014/main" id="{FCCD182B-ECC0-9721-581D-7C76663E63B3}"/>
              </a:ext>
            </a:extLst>
          </p:cNvPr>
          <p:cNvSpPr/>
          <p:nvPr/>
        </p:nvSpPr>
        <p:spPr>
          <a:xfrm>
            <a:off x="2844141" y="3428999"/>
            <a:ext cx="492826" cy="736626"/>
          </a:xfrm>
          <a:prstGeom prst="up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 name="Title 1"/>
          <p:cNvSpPr>
            <a:spLocks noGrp="1"/>
          </p:cNvSpPr>
          <p:nvPr>
            <p:ph type="title"/>
          </p:nvPr>
        </p:nvSpPr>
        <p:spPr>
          <a:prstGeom prst="rect">
            <a:avLst/>
          </a:prstGeom>
        </p:spPr>
        <p:txBody>
          <a:bodyPr anchor="ctr" anchorCtr="0"/>
          <a:lstStyle/>
          <a:p>
            <a:pPr>
              <a:lnSpc>
                <a:spcPts val="4000"/>
              </a:lnSpc>
              <a:defRPr/>
            </a:pPr>
            <a:r>
              <a:rPr lang="bg-BG" sz="4000" dirty="0">
                <a:latin typeface="Comfortaa" pitchFamily="2" charset="0"/>
              </a:rPr>
              <a:t>Задача: Наследяване</a:t>
            </a:r>
          </a:p>
        </p:txBody>
      </p:sp>
      <p:grpSp>
        <p:nvGrpSpPr>
          <p:cNvPr id="6" name="Group 5"/>
          <p:cNvGrpSpPr/>
          <p:nvPr/>
        </p:nvGrpSpPr>
        <p:grpSpPr>
          <a:xfrm>
            <a:off x="838200" y="2292061"/>
            <a:ext cx="4645180" cy="1136939"/>
            <a:chOff x="-306388" y="2077297"/>
            <a:chExt cx="3131324" cy="1136939"/>
          </a:xfrm>
        </p:grpSpPr>
        <p:sp>
          <p:nvSpPr>
            <p:cNvPr id="8"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Animal</a:t>
              </a:r>
              <a:endParaRPr lang="en-US" b="1" noProof="1">
                <a:solidFill>
                  <a:schemeClr val="tx2">
                    <a:lumMod val="75000"/>
                  </a:schemeClr>
                </a:solidFill>
                <a:latin typeface="Consolas" panose="020B0609020204030204" pitchFamily="49" charset="0"/>
              </a:endParaRPr>
            </a:p>
          </p:txBody>
        </p:sp>
        <p:sp>
          <p:nvSpPr>
            <p:cNvPr id="10" name="Rectangle 4"/>
            <p:cNvSpPr>
              <a:spLocks noChangeArrowheads="1"/>
            </p:cNvSpPr>
            <p:nvPr/>
          </p:nvSpPr>
          <p:spPr bwMode="auto">
            <a:xfrm>
              <a:off x="-306388" y="2650569"/>
              <a:ext cx="3131324" cy="563667"/>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+Eat():void</a:t>
              </a:r>
              <a:endParaRPr lang="en-US" sz="2000" b="1" noProof="1">
                <a:latin typeface="Consolas" panose="020B0609020204030204" pitchFamily="49" charset="0"/>
              </a:endParaRPr>
            </a:p>
          </p:txBody>
        </p:sp>
      </p:grpSp>
      <p:grpSp>
        <p:nvGrpSpPr>
          <p:cNvPr id="22" name="Group 21"/>
          <p:cNvGrpSpPr/>
          <p:nvPr/>
        </p:nvGrpSpPr>
        <p:grpSpPr>
          <a:xfrm>
            <a:off x="844850" y="4120167"/>
            <a:ext cx="4645180" cy="1117096"/>
            <a:chOff x="-306388" y="2077297"/>
            <a:chExt cx="3131324" cy="1117096"/>
          </a:xfrm>
        </p:grpSpPr>
        <p:sp>
          <p:nvSpPr>
            <p:cNvPr id="23"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Dog</a:t>
              </a:r>
              <a:endParaRPr lang="en-US" b="1" noProof="1">
                <a:solidFill>
                  <a:schemeClr val="tx2">
                    <a:lumMod val="75000"/>
                  </a:schemeClr>
                </a:solidFill>
                <a:latin typeface="Consolas" panose="020B0609020204030204" pitchFamily="49" charset="0"/>
              </a:endParaRPr>
            </a:p>
          </p:txBody>
        </p:sp>
        <p:sp>
          <p:nvSpPr>
            <p:cNvPr id="27" name="Rectangle 4"/>
            <p:cNvSpPr>
              <a:spLocks noChangeArrowheads="1"/>
            </p:cNvSpPr>
            <p:nvPr/>
          </p:nvSpPr>
          <p:spPr bwMode="auto">
            <a:xfrm>
              <a:off x="-306388" y="2657218"/>
              <a:ext cx="3131324" cy="53717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+Bark():void</a:t>
              </a:r>
            </a:p>
          </p:txBody>
        </p:sp>
      </p:grpSp>
      <p:pic>
        <p:nvPicPr>
          <p:cNvPr id="15" name="Picture 14"/>
          <p:cNvPicPr/>
          <p:nvPr/>
        </p:nvPicPr>
        <p:blipFill>
          <a:blip r:embed="rId3">
            <a:extLst>
              <a:ext uri="{28A0092B-C50C-407E-A947-70E740481C1C}">
                <a14:useLocalDpi xmlns:a14="http://schemas.microsoft.com/office/drawing/2010/main" val="0"/>
              </a:ext>
            </a:extLst>
          </a:blip>
          <a:stretch>
            <a:fillRect/>
          </a:stretch>
        </p:blipFill>
        <p:spPr>
          <a:xfrm>
            <a:off x="5948950" y="2921453"/>
            <a:ext cx="5617462" cy="1873564"/>
          </a:xfrm>
          <a:prstGeom prst="rect">
            <a:avLst/>
          </a:prstGeom>
        </p:spPr>
      </p:pic>
    </p:spTree>
    <p:extLst>
      <p:ext uri="{BB962C8B-B14F-4D97-AF65-F5344CB8AC3E}">
        <p14:creationId xmlns:p14="http://schemas.microsoft.com/office/powerpoint/2010/main" val="133803790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0220" y="498489"/>
            <a:ext cx="10926970" cy="1152673"/>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bg-BG" sz="4000" dirty="0">
                <a:latin typeface="Comfortaa" pitchFamily="2" charset="0"/>
              </a:rPr>
              <a:t>Наследяване на няколко нива</a:t>
            </a:r>
          </a:p>
        </p:txBody>
      </p:sp>
      <p:grpSp>
        <p:nvGrpSpPr>
          <p:cNvPr id="6" name="Group 5"/>
          <p:cNvGrpSpPr/>
          <p:nvPr/>
        </p:nvGrpSpPr>
        <p:grpSpPr>
          <a:xfrm>
            <a:off x="580220" y="1971318"/>
            <a:ext cx="4646690" cy="1074693"/>
            <a:chOff x="-307406" y="2077297"/>
            <a:chExt cx="3132342" cy="1151589"/>
          </a:xfrm>
        </p:grpSpPr>
        <p:sp>
          <p:nvSpPr>
            <p:cNvPr id="8"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Animal</a:t>
              </a:r>
              <a:endParaRPr lang="en-US" sz="1600" b="1" noProof="1">
                <a:solidFill>
                  <a:schemeClr val="tx2">
                    <a:lumMod val="75000"/>
                  </a:schemeClr>
                </a:solidFill>
                <a:latin typeface="Consolas" panose="020B0609020204030204" pitchFamily="49" charset="0"/>
              </a:endParaRPr>
            </a:p>
          </p:txBody>
        </p:sp>
        <p:sp>
          <p:nvSpPr>
            <p:cNvPr id="10" name="Rectangle 4"/>
            <p:cNvSpPr>
              <a:spLocks noChangeArrowheads="1"/>
            </p:cNvSpPr>
            <p:nvPr/>
          </p:nvSpPr>
          <p:spPr bwMode="auto">
            <a:xfrm>
              <a:off x="-307406" y="2665219"/>
              <a:ext cx="3132342" cy="563667"/>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+Eat():void</a:t>
              </a:r>
            </a:p>
          </p:txBody>
        </p:sp>
      </p:grpSp>
      <p:grpSp>
        <p:nvGrpSpPr>
          <p:cNvPr id="22" name="Group 21"/>
          <p:cNvGrpSpPr/>
          <p:nvPr/>
        </p:nvGrpSpPr>
        <p:grpSpPr>
          <a:xfrm>
            <a:off x="582824" y="3535369"/>
            <a:ext cx="4645180" cy="996766"/>
            <a:chOff x="-306388" y="2077297"/>
            <a:chExt cx="3131324" cy="1117943"/>
          </a:xfrm>
        </p:grpSpPr>
        <p:sp>
          <p:nvSpPr>
            <p:cNvPr id="23"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Dog</a:t>
              </a:r>
              <a:endParaRPr lang="en-US" sz="1600" b="1" noProof="1">
                <a:solidFill>
                  <a:schemeClr val="tx2">
                    <a:lumMod val="75000"/>
                  </a:schemeClr>
                </a:solidFill>
                <a:latin typeface="Consolas" panose="020B0609020204030204" pitchFamily="49" charset="0"/>
              </a:endParaRPr>
            </a:p>
          </p:txBody>
        </p:sp>
        <p:sp>
          <p:nvSpPr>
            <p:cNvPr id="27" name="Rectangle 4"/>
            <p:cNvSpPr>
              <a:spLocks noChangeArrowheads="1"/>
            </p:cNvSpPr>
            <p:nvPr/>
          </p:nvSpPr>
          <p:spPr bwMode="auto">
            <a:xfrm>
              <a:off x="-306388" y="2658065"/>
              <a:ext cx="3131324" cy="53717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+Bark():void</a:t>
              </a:r>
            </a:p>
          </p:txBody>
        </p:sp>
      </p:grpSp>
      <p:grpSp>
        <p:nvGrpSpPr>
          <p:cNvPr id="18" name="Group 17"/>
          <p:cNvGrpSpPr/>
          <p:nvPr/>
        </p:nvGrpSpPr>
        <p:grpSpPr>
          <a:xfrm>
            <a:off x="581730" y="5067504"/>
            <a:ext cx="4645180" cy="968167"/>
            <a:chOff x="-306388" y="2077297"/>
            <a:chExt cx="3131324" cy="1100634"/>
          </a:xfrm>
        </p:grpSpPr>
        <p:sp>
          <p:nvSpPr>
            <p:cNvPr id="19"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Puppy</a:t>
              </a:r>
              <a:endParaRPr lang="en-US" sz="1600" b="1" noProof="1">
                <a:solidFill>
                  <a:schemeClr val="tx2">
                    <a:lumMod val="75000"/>
                  </a:schemeClr>
                </a:solidFill>
                <a:latin typeface="Consolas" panose="020B0609020204030204" pitchFamily="49" charset="0"/>
              </a:endParaRPr>
            </a:p>
          </p:txBody>
        </p:sp>
        <p:sp>
          <p:nvSpPr>
            <p:cNvPr id="21" name="Rectangle 4"/>
            <p:cNvSpPr>
              <a:spLocks noChangeArrowheads="1"/>
            </p:cNvSpPr>
            <p:nvPr/>
          </p:nvSpPr>
          <p:spPr bwMode="auto">
            <a:xfrm>
              <a:off x="-306388" y="2640756"/>
              <a:ext cx="3131324" cy="53717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+Weep():void</a:t>
              </a:r>
            </a:p>
          </p:txBody>
        </p:sp>
      </p:grpSp>
      <p:pic>
        <p:nvPicPr>
          <p:cNvPr id="24" name="Picture 23"/>
          <p:cNvPicPr/>
          <p:nvPr/>
        </p:nvPicPr>
        <p:blipFill>
          <a:blip r:embed="rId3">
            <a:extLst>
              <a:ext uri="{28A0092B-C50C-407E-A947-70E740481C1C}">
                <a14:useLocalDpi xmlns:a14="http://schemas.microsoft.com/office/drawing/2010/main" val="0"/>
              </a:ext>
            </a:extLst>
          </a:blip>
          <a:stretch>
            <a:fillRect/>
          </a:stretch>
        </p:blipFill>
        <p:spPr>
          <a:xfrm>
            <a:off x="5617149" y="2694437"/>
            <a:ext cx="6234926" cy="2205396"/>
          </a:xfrm>
          <a:prstGeom prst="rect">
            <a:avLst/>
          </a:prstGeom>
        </p:spPr>
      </p:pic>
      <p:sp>
        <p:nvSpPr>
          <p:cNvPr id="30" name="Arrow: Right 29"/>
          <p:cNvSpPr/>
          <p:nvPr/>
        </p:nvSpPr>
        <p:spPr>
          <a:xfrm rot="16200000">
            <a:off x="2609881" y="3066249"/>
            <a:ext cx="476614" cy="462149"/>
          </a:xfrm>
          <a:prstGeom prst="rightArrow">
            <a:avLst/>
          </a:prstGeom>
          <a:solidFill>
            <a:srgbClr val="00B0F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800"/>
          </a:p>
        </p:txBody>
      </p:sp>
      <p:sp>
        <p:nvSpPr>
          <p:cNvPr id="5" name="Arrow: Right 4">
            <a:extLst>
              <a:ext uri="{FF2B5EF4-FFF2-40B4-BE49-F238E27FC236}">
                <a16:creationId xmlns:a16="http://schemas.microsoft.com/office/drawing/2014/main" id="{97B43C2E-716B-5DEE-E2F2-A1F23ACED958}"/>
              </a:ext>
            </a:extLst>
          </p:cNvPr>
          <p:cNvSpPr/>
          <p:nvPr/>
        </p:nvSpPr>
        <p:spPr>
          <a:xfrm rot="16200000">
            <a:off x="2578615" y="4594964"/>
            <a:ext cx="505907" cy="42891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Tree>
    <p:extLst>
      <p:ext uri="{BB962C8B-B14F-4D97-AF65-F5344CB8AC3E}">
        <p14:creationId xmlns:p14="http://schemas.microsoft.com/office/powerpoint/2010/main" val="28066365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Arrow: Right 29"/>
          <p:cNvSpPr/>
          <p:nvPr/>
        </p:nvSpPr>
        <p:spPr>
          <a:xfrm rot="16200000">
            <a:off x="2166221" y="3596988"/>
            <a:ext cx="451840" cy="48837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7" name="Arrow: Right 6">
            <a:extLst>
              <a:ext uri="{FF2B5EF4-FFF2-40B4-BE49-F238E27FC236}">
                <a16:creationId xmlns:a16="http://schemas.microsoft.com/office/drawing/2014/main" id="{B294218A-F828-F9A3-1020-BD6DD88BB194}"/>
              </a:ext>
            </a:extLst>
          </p:cNvPr>
          <p:cNvSpPr/>
          <p:nvPr/>
        </p:nvSpPr>
        <p:spPr>
          <a:xfrm rot="16200000">
            <a:off x="4168637" y="3624566"/>
            <a:ext cx="526028" cy="48837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p>
        </p:txBody>
      </p:sp>
      <p:sp>
        <p:nvSpPr>
          <p:cNvPr id="2" name="Title 1"/>
          <p:cNvSpPr>
            <a:spLocks noGrp="1"/>
          </p:cNvSpPr>
          <p:nvPr>
            <p:ph type="title"/>
          </p:nvPr>
        </p:nvSpPr>
        <p:spPr>
          <a:xfrm>
            <a:off x="933203" y="449100"/>
            <a:ext cx="10515600" cy="1325563"/>
          </a:xfrm>
          <a:prstGeom prst="rect">
            <a:avLst/>
          </a:prstGeom>
        </p:spPr>
        <p:txBody>
          <a:bodyPr anchor="ctr" anchorCtr="0"/>
          <a:lstStyle/>
          <a:p>
            <a:pPr>
              <a:lnSpc>
                <a:spcPts val="4000"/>
              </a:lnSpc>
              <a:defRPr/>
            </a:pPr>
            <a:r>
              <a:rPr lang="bg-BG" dirty="0">
                <a:latin typeface="Comfortaa" pitchFamily="2" charset="0"/>
              </a:rPr>
              <a:t>Задача: Йерархично наследяване</a:t>
            </a:r>
            <a:endParaRPr lang="bg-BG" sz="4000" dirty="0">
              <a:latin typeface="Comfortaa" pitchFamily="2" charset="0"/>
            </a:endParaRPr>
          </a:p>
        </p:txBody>
      </p:sp>
      <p:grpSp>
        <p:nvGrpSpPr>
          <p:cNvPr id="6" name="Group 5"/>
          <p:cNvGrpSpPr/>
          <p:nvPr/>
        </p:nvGrpSpPr>
        <p:grpSpPr>
          <a:xfrm>
            <a:off x="1236617" y="2521528"/>
            <a:ext cx="4305397" cy="1074693"/>
            <a:chOff x="-307406" y="2077297"/>
            <a:chExt cx="3132342" cy="1151589"/>
          </a:xfrm>
        </p:grpSpPr>
        <p:sp>
          <p:nvSpPr>
            <p:cNvPr id="8"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Animal</a:t>
              </a:r>
              <a:endParaRPr lang="en-US" sz="1600" b="1" noProof="1">
                <a:solidFill>
                  <a:schemeClr val="tx2">
                    <a:lumMod val="75000"/>
                  </a:schemeClr>
                </a:solidFill>
                <a:latin typeface="Consolas" panose="020B0609020204030204" pitchFamily="49" charset="0"/>
              </a:endParaRPr>
            </a:p>
          </p:txBody>
        </p:sp>
        <p:sp>
          <p:nvSpPr>
            <p:cNvPr id="10" name="Rectangle 4"/>
            <p:cNvSpPr>
              <a:spLocks noChangeArrowheads="1"/>
            </p:cNvSpPr>
            <p:nvPr/>
          </p:nvSpPr>
          <p:spPr bwMode="auto">
            <a:xfrm>
              <a:off x="-307406" y="2665219"/>
              <a:ext cx="3132342" cy="563667"/>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+Eat():void</a:t>
              </a:r>
            </a:p>
          </p:txBody>
        </p:sp>
      </p:grpSp>
      <p:grpSp>
        <p:nvGrpSpPr>
          <p:cNvPr id="22" name="Group 21"/>
          <p:cNvGrpSpPr/>
          <p:nvPr/>
        </p:nvGrpSpPr>
        <p:grpSpPr>
          <a:xfrm>
            <a:off x="1236617" y="4068294"/>
            <a:ext cx="2146358" cy="996766"/>
            <a:chOff x="-306388" y="2077297"/>
            <a:chExt cx="3131324" cy="1117943"/>
          </a:xfrm>
        </p:grpSpPr>
        <p:sp>
          <p:nvSpPr>
            <p:cNvPr id="23"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Dog</a:t>
              </a:r>
              <a:endParaRPr lang="en-US" sz="1600" b="1" noProof="1">
                <a:solidFill>
                  <a:schemeClr val="tx2">
                    <a:lumMod val="75000"/>
                  </a:schemeClr>
                </a:solidFill>
                <a:latin typeface="Consolas" panose="020B0609020204030204" pitchFamily="49" charset="0"/>
              </a:endParaRPr>
            </a:p>
          </p:txBody>
        </p:sp>
        <p:sp>
          <p:nvSpPr>
            <p:cNvPr id="27" name="Rectangle 4"/>
            <p:cNvSpPr>
              <a:spLocks noChangeArrowheads="1"/>
            </p:cNvSpPr>
            <p:nvPr/>
          </p:nvSpPr>
          <p:spPr bwMode="auto">
            <a:xfrm>
              <a:off x="-306388" y="2658065"/>
              <a:ext cx="3131324" cy="53717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-Bark():void</a:t>
              </a:r>
            </a:p>
          </p:txBody>
        </p:sp>
      </p:grpSp>
      <p:grpSp>
        <p:nvGrpSpPr>
          <p:cNvPr id="18" name="Group 17"/>
          <p:cNvGrpSpPr/>
          <p:nvPr/>
        </p:nvGrpSpPr>
        <p:grpSpPr>
          <a:xfrm>
            <a:off x="3580105" y="4067094"/>
            <a:ext cx="1961909" cy="991431"/>
            <a:chOff x="-306388" y="2077297"/>
            <a:chExt cx="3131324" cy="1127081"/>
          </a:xfrm>
        </p:grpSpPr>
        <p:sp>
          <p:nvSpPr>
            <p:cNvPr id="19" name="Rectangle 3"/>
            <p:cNvSpPr>
              <a:spLocks noChangeArrowheads="1"/>
            </p:cNvSpPr>
            <p:nvPr/>
          </p:nvSpPr>
          <p:spPr bwMode="auto">
            <a:xfrm>
              <a:off x="-306388" y="2077297"/>
              <a:ext cx="3131324" cy="582633"/>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algn="ctr" eaLnBrk="0" hangingPunct="0">
                <a:lnSpc>
                  <a:spcPts val="3000"/>
                </a:lnSpc>
                <a:buClr>
                  <a:schemeClr val="accent5">
                    <a:lumMod val="40000"/>
                    <a:lumOff val="60000"/>
                  </a:schemeClr>
                </a:buClr>
                <a:buSzPct val="70000"/>
              </a:pPr>
              <a:r>
                <a:rPr lang="en-US" b="1" noProof="1">
                  <a:latin typeface="Consolas" panose="020B0609020204030204" pitchFamily="49" charset="0"/>
                </a:rPr>
                <a:t>Cat</a:t>
              </a:r>
              <a:endParaRPr lang="en-US" sz="1600" b="1" noProof="1">
                <a:solidFill>
                  <a:schemeClr val="tx2">
                    <a:lumMod val="75000"/>
                  </a:schemeClr>
                </a:solidFill>
                <a:latin typeface="Consolas" panose="020B0609020204030204" pitchFamily="49" charset="0"/>
              </a:endParaRPr>
            </a:p>
          </p:txBody>
        </p:sp>
        <p:sp>
          <p:nvSpPr>
            <p:cNvPr id="21" name="Rectangle 4"/>
            <p:cNvSpPr>
              <a:spLocks noChangeArrowheads="1"/>
            </p:cNvSpPr>
            <p:nvPr/>
          </p:nvSpPr>
          <p:spPr bwMode="auto">
            <a:xfrm>
              <a:off x="-306388" y="2640756"/>
              <a:ext cx="3131324" cy="563622"/>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lIns="108000" tIns="108000" rIns="108000" bIns="108000">
              <a:noAutofit/>
            </a:bodyPr>
            <a:lstStyle/>
            <a:p>
              <a:pPr eaLnBrk="0" hangingPunct="0">
                <a:lnSpc>
                  <a:spcPts val="3000"/>
                </a:lnSpc>
                <a:buClr>
                  <a:schemeClr val="accent5">
                    <a:lumMod val="40000"/>
                    <a:lumOff val="60000"/>
                  </a:schemeClr>
                </a:buClr>
                <a:buSzPct val="70000"/>
              </a:pPr>
              <a:r>
                <a:rPr lang="en-US" b="1" noProof="1">
                  <a:latin typeface="Consolas" panose="020B0609020204030204" pitchFamily="49" charset="0"/>
                </a:rPr>
                <a:t>-Meow():void</a:t>
              </a:r>
            </a:p>
          </p:txBody>
        </p:sp>
      </p:grpSp>
      <p:pic>
        <p:nvPicPr>
          <p:cNvPr id="24" name="Picture 23"/>
          <p:cNvPicPr/>
          <p:nvPr/>
        </p:nvPicPr>
        <p:blipFill>
          <a:blip r:embed="rId3">
            <a:extLst>
              <a:ext uri="{28A0092B-C50C-407E-A947-70E740481C1C}">
                <a14:useLocalDpi xmlns:a14="http://schemas.microsoft.com/office/drawing/2010/main" val="0"/>
              </a:ext>
            </a:extLst>
          </a:blip>
          <a:stretch>
            <a:fillRect/>
          </a:stretch>
        </p:blipFill>
        <p:spPr>
          <a:xfrm>
            <a:off x="6346504" y="2365952"/>
            <a:ext cx="3967454" cy="2901905"/>
          </a:xfrm>
          <a:prstGeom prst="rect">
            <a:avLst/>
          </a:prstGeom>
        </p:spPr>
      </p:pic>
    </p:spTree>
    <p:extLst>
      <p:ext uri="{BB962C8B-B14F-4D97-AF65-F5344CB8AC3E}">
        <p14:creationId xmlns:p14="http://schemas.microsoft.com/office/powerpoint/2010/main" val="40658482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672" y="5011646"/>
            <a:ext cx="9806728" cy="774883"/>
          </a:xfrm>
        </p:spPr>
        <p:txBody>
          <a:bodyPr>
            <a:normAutofit fontScale="90000"/>
          </a:bodyPr>
          <a:lstStyle/>
          <a:p>
            <a:pPr>
              <a:lnSpc>
                <a:spcPts val="5400"/>
              </a:lnSpc>
            </a:pPr>
            <a:r>
              <a:rPr lang="bg-BG" dirty="0">
                <a:latin typeface="Comfortaa" pitchFamily="2" charset="0"/>
              </a:rPr>
              <a:t>Наследяване</a:t>
            </a:r>
            <a:endParaRPr lang="en-US" dirty="0">
              <a:latin typeface="Comfortaa" pitchFamily="2" charset="0"/>
            </a:endParaRPr>
          </a:p>
        </p:txBody>
      </p:sp>
      <p:sp>
        <p:nvSpPr>
          <p:cNvPr id="3" name="Subtitle 2"/>
          <p:cNvSpPr>
            <a:spLocks noGrp="1"/>
          </p:cNvSpPr>
          <p:nvPr>
            <p:ph type="body" idx="1"/>
          </p:nvPr>
        </p:nvSpPr>
        <p:spPr>
          <a:xfrm>
            <a:off x="1013672" y="5831062"/>
            <a:ext cx="9806728" cy="719034"/>
          </a:xfrm>
        </p:spPr>
        <p:txBody>
          <a:bodyPr/>
          <a:lstStyle/>
          <a:p>
            <a:r>
              <a:rPr lang="bg-BG" dirty="0">
                <a:latin typeface="Comfortaa" pitchFamily="2" charset="0"/>
              </a:rPr>
              <a:t>Лаб</a:t>
            </a:r>
            <a:endParaRPr lang="en-US" dirty="0">
              <a:latin typeface="Comfortaa" pitchFamily="2" charset="0"/>
            </a:endParaRPr>
          </a:p>
        </p:txBody>
      </p:sp>
      <p:sp>
        <p:nvSpPr>
          <p:cNvPr id="5" name="Slide Number Placeholder">
            <a:extLst>
              <a:ext uri="{FF2B5EF4-FFF2-40B4-BE49-F238E27FC236}">
                <a16:creationId xmlns:a16="http://schemas.microsoft.com/office/drawing/2014/main" id="{8B899928-26BD-44CE-B837-DCFE3C753C39}"/>
              </a:ext>
            </a:extLst>
          </p:cNvPr>
          <p:cNvSpPr txBox="1">
            <a:spLocks/>
          </p:cNvSpPr>
          <p:nvPr/>
        </p:nvSpPr>
        <p:spPr>
          <a:xfrm>
            <a:off x="11568000" y="6525003"/>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a:solidFill>
                  <a:prstClr val="white">
                    <a:tint val="75000"/>
                  </a:prstClr>
                </a:solidFill>
              </a:rPr>
              <a:pPr/>
              <a:t>19</a:t>
            </a:fld>
            <a:endParaRPr lang="en-US" dirty="0">
              <a:solidFill>
                <a:prstClr val="white">
                  <a:tint val="75000"/>
                </a:prstClr>
              </a:solidFill>
            </a:endParaRPr>
          </a:p>
        </p:txBody>
      </p:sp>
      <p:pic>
        <p:nvPicPr>
          <p:cNvPr id="7" name="Picture 6">
            <a:extLst>
              <a:ext uri="{FF2B5EF4-FFF2-40B4-BE49-F238E27FC236}">
                <a16:creationId xmlns:a16="http://schemas.microsoft.com/office/drawing/2014/main" id="{E4169E59-39A3-0B7D-2754-DB8DA42AC953}"/>
              </a:ext>
            </a:extLst>
          </p:cNvPr>
          <p:cNvPicPr>
            <a:picLocks noChangeAspect="1"/>
          </p:cNvPicPr>
          <p:nvPr/>
        </p:nvPicPr>
        <p:blipFill>
          <a:blip r:embed="rId3"/>
          <a:stretch>
            <a:fillRect/>
          </a:stretch>
        </p:blipFill>
        <p:spPr>
          <a:xfrm>
            <a:off x="3240639" y="972483"/>
            <a:ext cx="5606478" cy="3561177"/>
          </a:xfrm>
          <a:prstGeom prst="rect">
            <a:avLst/>
          </a:prstGeom>
        </p:spPr>
      </p:pic>
    </p:spTree>
    <p:extLst>
      <p:ext uri="{BB962C8B-B14F-4D97-AF65-F5344CB8AC3E}">
        <p14:creationId xmlns:p14="http://schemas.microsoft.com/office/powerpoint/2010/main" val="2132436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934201" y="1981201"/>
            <a:ext cx="10323599" cy="3801879"/>
          </a:xfrm>
        </p:spPr>
        <p:txBody>
          <a:bodyPr>
            <a:noAutofit/>
          </a:bodyPr>
          <a:lstStyle/>
          <a:p>
            <a:pPr marL="358775" indent="-358775">
              <a:lnSpc>
                <a:spcPct val="110000"/>
              </a:lnSpc>
            </a:pPr>
            <a:r>
              <a:rPr lang="bg-BG" sz="3200" dirty="0">
                <a:latin typeface="Comfortaa" pitchFamily="2" charset="0"/>
              </a:rPr>
              <a:t>Наследяването е силен инструмент за </a:t>
            </a:r>
            <a:r>
              <a:rPr lang="bg-BG" sz="3200" b="1" dirty="0">
                <a:solidFill>
                  <a:srgbClr val="00B0F0"/>
                </a:solidFill>
                <a:latin typeface="Comfortaa" pitchFamily="2" charset="0"/>
              </a:rPr>
              <a:t>преизползване на код</a:t>
            </a:r>
            <a:endParaRPr lang="en-US" sz="3200" b="1" dirty="0">
              <a:solidFill>
                <a:srgbClr val="00B0F0"/>
              </a:solidFill>
              <a:latin typeface="Comfortaa" pitchFamily="2" charset="0"/>
            </a:endParaRPr>
          </a:p>
          <a:p>
            <a:pPr marL="358775" indent="-358775">
              <a:lnSpc>
                <a:spcPct val="110000"/>
              </a:lnSpc>
            </a:pPr>
            <a:r>
              <a:rPr lang="bg-BG" sz="3200" b="1" dirty="0">
                <a:solidFill>
                  <a:srgbClr val="00B0F0"/>
                </a:solidFill>
                <a:latin typeface="Comfortaa" pitchFamily="2" charset="0"/>
              </a:rPr>
              <a:t>Подкласа</a:t>
            </a:r>
            <a:r>
              <a:rPr lang="bg-BG" sz="3200" dirty="0">
                <a:solidFill>
                  <a:schemeClr val="tx2">
                    <a:lumMod val="75000"/>
                  </a:schemeClr>
                </a:solidFill>
                <a:latin typeface="Comfortaa" pitchFamily="2" charset="0"/>
              </a:rPr>
              <a:t> наследява</a:t>
            </a:r>
            <a:r>
              <a:rPr lang="en-US" sz="3200" dirty="0">
                <a:solidFill>
                  <a:schemeClr val="tx2">
                    <a:lumMod val="75000"/>
                  </a:schemeClr>
                </a:solidFill>
                <a:latin typeface="Comfortaa" pitchFamily="2" charset="0"/>
              </a:rPr>
              <a:t> </a:t>
            </a:r>
            <a:r>
              <a:rPr lang="bg-BG" sz="3200" dirty="0">
                <a:latin typeface="Comfortaa" pitchFamily="2" charset="0"/>
              </a:rPr>
              <a:t>членове от </a:t>
            </a:r>
            <a:r>
              <a:rPr lang="bg-BG" sz="3200" b="1" dirty="0" err="1">
                <a:solidFill>
                  <a:srgbClr val="00B0F0"/>
                </a:solidFill>
                <a:latin typeface="Comfortaa" pitchFamily="2" charset="0"/>
              </a:rPr>
              <a:t>суперкласа</a:t>
            </a:r>
            <a:endParaRPr lang="bg-BG" sz="3200" b="1" dirty="0">
              <a:solidFill>
                <a:srgbClr val="00B0F0"/>
              </a:solidFill>
              <a:latin typeface="Comfortaa" pitchFamily="2" charset="0"/>
            </a:endParaRPr>
          </a:p>
          <a:p>
            <a:pPr marL="0" indent="0">
              <a:lnSpc>
                <a:spcPct val="110000"/>
              </a:lnSpc>
              <a:buNone/>
            </a:pPr>
            <a:endParaRPr lang="bg-BG" sz="3200" dirty="0">
              <a:solidFill>
                <a:schemeClr val="tx2">
                  <a:lumMod val="75000"/>
                </a:schemeClr>
              </a:solidFill>
              <a:latin typeface="Comfortaa" pitchFamily="2" charset="0"/>
            </a:endParaRPr>
          </a:p>
        </p:txBody>
      </p:sp>
      <p:sp>
        <p:nvSpPr>
          <p:cNvPr id="4" name="Title 3"/>
          <p:cNvSpPr>
            <a:spLocks noGrp="1"/>
          </p:cNvSpPr>
          <p:nvPr>
            <p:ph type="title"/>
          </p:nvPr>
        </p:nvSpPr>
        <p:spPr>
          <a:xfrm>
            <a:off x="932603" y="870420"/>
            <a:ext cx="10323600" cy="1110780"/>
          </a:xfrm>
        </p:spPr>
        <p:txBody>
          <a:bodyPr>
            <a:normAutofit/>
          </a:bodyPr>
          <a:lstStyle/>
          <a:p>
            <a:r>
              <a:rPr lang="bg-BG" dirty="0">
                <a:latin typeface="Comfortaa" pitchFamily="2" charset="0"/>
              </a:rPr>
              <a:t>Какво научихме днес?</a:t>
            </a:r>
            <a:endParaRPr lang="en-US" dirty="0">
              <a:latin typeface="Comfortaa" pitchFamily="2" charset="0"/>
            </a:endParaRPr>
          </a:p>
        </p:txBody>
      </p:sp>
    </p:spTree>
    <p:extLst>
      <p:ext uri="{BB962C8B-B14F-4D97-AF65-F5344CB8AC3E}">
        <p14:creationId xmlns:p14="http://schemas.microsoft.com/office/powerpoint/2010/main" val="3820335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pic>
        <p:nvPicPr>
          <p:cNvPr id="2" name="Logo CC-BY-NC-SA">
            <a:hlinkClick r:id="rId5"/>
            <a:extLst>
              <a:ext uri="{FF2B5EF4-FFF2-40B4-BE49-F238E27FC236}">
                <a16:creationId xmlns:a16="http://schemas.microsoft.com/office/drawing/2014/main" id="{39F87C09-7AAD-A59F-33F5-8BECE165CB0C}"/>
              </a:ext>
            </a:extLst>
          </p:cNvPr>
          <p:cNvPicPr>
            <a:picLocks noChangeAspect="1"/>
          </p:cNvPicPr>
          <p:nvPr/>
        </p:nvPicPr>
        <p:blipFill>
          <a:blip r:embed="rId6"/>
          <a:stretch>
            <a:fillRect/>
          </a:stretch>
        </p:blipFill>
        <p:spPr>
          <a:xfrm>
            <a:off x="4087447" y="2650021"/>
            <a:ext cx="4017104" cy="1440815"/>
          </a:xfrm>
          <a:prstGeom prst="rect">
            <a:avLst/>
          </a:prstGeom>
        </p:spPr>
      </p:pic>
      <p:sp>
        <p:nvSpPr>
          <p:cNvPr id="12" name="TextBox 11">
            <a:extLst>
              <a:ext uri="{FF2B5EF4-FFF2-40B4-BE49-F238E27FC236}">
                <a16:creationId xmlns:a16="http://schemas.microsoft.com/office/drawing/2014/main" id="{ADBEA407-2EEF-D82D-ADB6-D20902F79FA2}"/>
              </a:ext>
            </a:extLst>
          </p:cNvPr>
          <p:cNvSpPr txBox="1"/>
          <p:nvPr/>
        </p:nvSpPr>
        <p:spPr>
          <a:xfrm>
            <a:off x="262246" y="5452243"/>
            <a:ext cx="11667507" cy="1200329"/>
          </a:xfrm>
          <a:prstGeom prst="rect">
            <a:avLst/>
          </a:prstGeom>
          <a:noFill/>
        </p:spPr>
        <p:txBody>
          <a:bodyPr wrap="square">
            <a:spAutoFit/>
          </a:bodyPr>
          <a:lstStyle/>
          <a:p>
            <a:pPr algn="ctr"/>
            <a:r>
              <a:rPr lang="bg-BG" sz="1800" dirty="0">
                <a:latin typeface="Comfortaa" pitchFamily="2" charset="0"/>
              </a:rPr>
              <a:t>Документът е разработен за нуждите на Национална програма "Обучение за ИТ умения и кариера" на Министерството на образованието и науката (МОН)</a:t>
            </a:r>
            <a:r>
              <a:rPr lang="en-US" sz="1800" dirty="0">
                <a:latin typeface="Comfortaa" pitchFamily="2" charset="0"/>
              </a:rPr>
              <a:t> </a:t>
            </a:r>
            <a:r>
              <a:rPr lang="bg-BG" sz="1800" dirty="0">
                <a:latin typeface="Comfortaa" pitchFamily="2" charset="0"/>
              </a:rPr>
              <a:t>и се разпространява под свободен лиценз CC-BY-NC-SA (</a:t>
            </a:r>
            <a:r>
              <a:rPr lang="bg-BG" sz="1800" dirty="0" err="1">
                <a:latin typeface="Comfortaa" pitchFamily="2" charset="0"/>
              </a:rPr>
              <a:t>Creative</a:t>
            </a:r>
            <a:r>
              <a:rPr lang="bg-BG" sz="1800" dirty="0">
                <a:latin typeface="Comfortaa" pitchFamily="2" charset="0"/>
              </a:rPr>
              <a:t> </a:t>
            </a:r>
            <a:r>
              <a:rPr lang="bg-BG" sz="1800" dirty="0" err="1">
                <a:latin typeface="Comfortaa" pitchFamily="2" charset="0"/>
              </a:rPr>
              <a:t>Commons</a:t>
            </a:r>
            <a:r>
              <a:rPr lang="bg-BG" sz="1800" dirty="0">
                <a:latin typeface="Comfortaa" pitchFamily="2" charset="0"/>
              </a:rPr>
              <a:t> </a:t>
            </a:r>
            <a:r>
              <a:rPr lang="bg-BG" sz="1800" dirty="0" err="1">
                <a:latin typeface="Comfortaa" pitchFamily="2" charset="0"/>
              </a:rPr>
              <a:t>Attribution-Non-Commercial-Share-Alike</a:t>
            </a:r>
            <a:r>
              <a:rPr lang="bg-BG" sz="1800" dirty="0">
                <a:latin typeface="Comfortaa" pitchFamily="2" charset="0"/>
              </a:rPr>
              <a:t> 4.0 International).</a:t>
            </a:r>
            <a:endParaRPr lang="bg-BG" dirty="0"/>
          </a:p>
        </p:txBody>
      </p:sp>
    </p:spTree>
    <p:extLst>
      <p:ext uri="{BB962C8B-B14F-4D97-AF65-F5344CB8AC3E}">
        <p14:creationId xmlns:p14="http://schemas.microsoft.com/office/powerpoint/2010/main" val="1241344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2220</Words>
  <Application>Microsoft Office PowerPoint</Application>
  <PresentationFormat>Widescreen</PresentationFormat>
  <Paragraphs>274</Paragraphs>
  <Slides>21</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Comfortaa</vt:lpstr>
      <vt:lpstr>Consolas</vt:lpstr>
      <vt:lpstr>Wingdings</vt:lpstr>
      <vt:lpstr>Office Theme</vt:lpstr>
      <vt:lpstr>Наследяване</vt:lpstr>
      <vt:lpstr>Съдържание</vt:lpstr>
      <vt:lpstr>Наследяване</vt:lpstr>
      <vt:lpstr>Наследяване</vt:lpstr>
      <vt:lpstr>Наследяване – пример</vt:lpstr>
      <vt:lpstr>Йерархия от класове</vt:lpstr>
      <vt:lpstr>Йерархия от класове C# Collection</vt:lpstr>
      <vt:lpstr>Наследяване в C#</vt:lpstr>
      <vt:lpstr>Наследяване – дъщерен клас</vt:lpstr>
      <vt:lpstr>Използване на наследени членове</vt:lpstr>
      <vt:lpstr>Преизползване на конструктори</vt:lpstr>
      <vt:lpstr>Наследяването е разширяване</vt:lpstr>
      <vt:lpstr>Наследяване</vt:lpstr>
      <vt:lpstr>Множествено наследяване</vt:lpstr>
      <vt:lpstr>Достъп до членове на базовия клас</vt:lpstr>
      <vt:lpstr>Задача: Наследяване</vt:lpstr>
      <vt:lpstr>Задача: Наследяване на няколко нива</vt:lpstr>
      <vt:lpstr>Задача: Йерархично наследяване</vt:lpstr>
      <vt:lpstr>Наследяване</vt:lpstr>
      <vt:lpstr>Какво научихме днес?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Димитър Минчев</cp:lastModifiedBy>
  <cp:revision>12</cp:revision>
  <dcterms:created xsi:type="dcterms:W3CDTF">2022-08-09T09:25:46Z</dcterms:created>
  <dcterms:modified xsi:type="dcterms:W3CDTF">2022-09-14T15:46:47Z</dcterms:modified>
</cp:coreProperties>
</file>