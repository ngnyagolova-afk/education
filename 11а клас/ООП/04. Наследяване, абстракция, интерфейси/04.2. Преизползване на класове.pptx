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9"/>
  </p:notesMasterIdLst>
  <p:sldIdLst>
    <p:sldId id="258" r:id="rId2"/>
    <p:sldId id="571" r:id="rId3"/>
    <p:sldId id="607" r:id="rId4"/>
    <p:sldId id="608" r:id="rId5"/>
    <p:sldId id="609" r:id="rId6"/>
    <p:sldId id="610" r:id="rId7"/>
    <p:sldId id="611" r:id="rId8"/>
    <p:sldId id="612" r:id="rId9"/>
    <p:sldId id="613" r:id="rId10"/>
    <p:sldId id="614" r:id="rId11"/>
    <p:sldId id="615" r:id="rId12"/>
    <p:sldId id="616" r:id="rId13"/>
    <p:sldId id="617" r:id="rId14"/>
    <p:sldId id="618" r:id="rId15"/>
    <p:sldId id="619" r:id="rId16"/>
    <p:sldId id="620" r:id="rId17"/>
    <p:sldId id="62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ъведение" id="{B53E63A6-15B2-40C3-A9DC-5006FD089CC5}">
          <p14:sldIdLst>
            <p14:sldId id="258"/>
          </p14:sldIdLst>
        </p14:section>
        <p14:section name="Съдържание" id="{0B0C01F3-1F60-4ADB-AC1E-9589654EAEF3}">
          <p14:sldIdLst>
            <p14:sldId id="571"/>
            <p14:sldId id="607"/>
            <p14:sldId id="608"/>
            <p14:sldId id="609"/>
            <p14:sldId id="610"/>
            <p14:sldId id="611"/>
            <p14:sldId id="612"/>
            <p14:sldId id="613"/>
            <p14:sldId id="614"/>
            <p14:sldId id="615"/>
            <p14:sldId id="616"/>
            <p14:sldId id="617"/>
            <p14:sldId id="618"/>
            <p14:sldId id="619"/>
            <p14:sldId id="620"/>
            <p14:sldId id="6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8A51F5-6E34-4A9B-8787-8C29D4F40D1D}" v="1" dt="2022-08-10T06:34:56.1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4660"/>
  </p:normalViewPr>
  <p:slideViewPr>
    <p:cSldViewPr snapToGrid="0">
      <p:cViewPr varScale="1">
        <p:scale>
          <a:sx n="80" d="100"/>
          <a:sy n="80" d="100"/>
        </p:scale>
        <p:origin x="13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Димитър Минчев" userId="6da192e4-d32c-454b-8615-bbadf07b6639" providerId="ADAL" clId="{508A51F5-6E34-4A9B-8787-8C29D4F40D1D}"/>
    <pc:docChg chg="addSld modSld">
      <pc:chgData name="Димитър Минчев" userId="6da192e4-d32c-454b-8615-bbadf07b6639" providerId="ADAL" clId="{508A51F5-6E34-4A9B-8787-8C29D4F40D1D}" dt="2022-08-10T06:34:56.108" v="0"/>
      <pc:docMkLst>
        <pc:docMk/>
      </pc:docMkLst>
      <pc:sldChg chg="add">
        <pc:chgData name="Димитър Минчев" userId="6da192e4-d32c-454b-8615-bbadf07b6639" providerId="ADAL" clId="{508A51F5-6E34-4A9B-8787-8C29D4F40D1D}" dt="2022-08-10T06:34:56.108" v="0"/>
        <pc:sldMkLst>
          <pc:docMk/>
          <pc:sldMk cId="2002111910" sldId="4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A0D3FF-81AC-477B-919E-75762E6B2153}" type="datetimeFigureOut">
              <a:rPr lang="bg-BG" smtClean="0"/>
              <a:t>5.1.2026 г.</a:t>
            </a:fld>
            <a:endParaRPr lang="bg-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142EC-5991-4235-A99B-961F17902D60}" type="slidenum">
              <a:rPr lang="bg-BG" smtClean="0"/>
              <a:t>‹#›</a:t>
            </a:fld>
            <a:endParaRPr lang="bg-BG"/>
          </a:p>
        </p:txBody>
      </p:sp>
    </p:spTree>
    <p:extLst>
      <p:ext uri="{BB962C8B-B14F-4D97-AF65-F5344CB8AC3E}">
        <p14:creationId xmlns:p14="http://schemas.microsoft.com/office/powerpoint/2010/main" val="2837940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Rot="1" noChangeAspect="1" noChangeArrowheads="1" noTextEdit="1"/>
          </p:cNvSpPr>
          <p:nvPr>
            <p:ph type="sldImg"/>
          </p:nvPr>
        </p:nvSpPr>
        <p:spPr>
          <a:ln/>
        </p:spPr>
      </p:sp>
      <p:sp>
        <p:nvSpPr>
          <p:cNvPr id="445443" name="Rectangle 3"/>
          <p:cNvSpPr>
            <a:spLocks noGrp="1" noChangeArrowheads="1"/>
          </p:cNvSpPr>
          <p:nvPr>
            <p:ph type="body" idx="1"/>
          </p:nvPr>
        </p:nvSpPr>
        <p:spPr/>
        <p:txBody>
          <a:bodyPr/>
          <a:lstStyle/>
          <a:p>
            <a:endParaRPr lang="bg-BG"/>
          </a:p>
        </p:txBody>
      </p:sp>
      <p:sp>
        <p:nvSpPr>
          <p:cNvPr id="4" name="Footer Placeholder">
            <a:extLst>
              <a:ext uri="{FF2B5EF4-FFF2-40B4-BE49-F238E27FC236}">
                <a16:creationId xmlns:a16="http://schemas.microsoft.com/office/drawing/2014/main" id="{963C1F10-DD7A-4E4B-BAA7-F2E5B1AEAFA1}"/>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930531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4</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4</a:t>
            </a:fld>
            <a:r>
              <a:rPr lang="en-US" sz="1000" i="1" dirty="0"/>
              <a:t>##</a:t>
            </a:r>
            <a:endParaRPr lang="en-US" sz="1200" i="1" dirty="0"/>
          </a:p>
        </p:txBody>
      </p:sp>
      <p:sp>
        <p:nvSpPr>
          <p:cNvPr id="10" name="Footer Placeholder">
            <a:extLst>
              <a:ext uri="{FF2B5EF4-FFF2-40B4-BE49-F238E27FC236}">
                <a16:creationId xmlns:a16="http://schemas.microsoft.com/office/drawing/2014/main" id="{3652C43C-9286-4473-B797-392AECCDC59B}"/>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867124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5</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5</a:t>
            </a:fld>
            <a:r>
              <a:rPr lang="en-US" sz="1000" i="1" dirty="0"/>
              <a:t>##</a:t>
            </a:r>
            <a:endParaRPr lang="en-US" sz="1200" i="1" dirty="0"/>
          </a:p>
        </p:txBody>
      </p:sp>
      <p:sp>
        <p:nvSpPr>
          <p:cNvPr id="10" name="Footer Placeholder">
            <a:extLst>
              <a:ext uri="{FF2B5EF4-FFF2-40B4-BE49-F238E27FC236}">
                <a16:creationId xmlns:a16="http://schemas.microsoft.com/office/drawing/2014/main" id="{2356BDB3-2D81-425A-AFF8-83892CB62218}"/>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2339118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6</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6</a:t>
            </a:fld>
            <a:r>
              <a:rPr lang="en-US" sz="1000" i="1" dirty="0"/>
              <a:t>##</a:t>
            </a:r>
            <a:endParaRPr lang="en-US" sz="1200" i="1" dirty="0"/>
          </a:p>
        </p:txBody>
      </p:sp>
      <p:sp>
        <p:nvSpPr>
          <p:cNvPr id="10" name="Footer Placeholder">
            <a:extLst>
              <a:ext uri="{FF2B5EF4-FFF2-40B4-BE49-F238E27FC236}">
                <a16:creationId xmlns:a16="http://schemas.microsoft.com/office/drawing/2014/main" id="{DFA9689C-B2D7-407B-97AD-7D3886A42C93}"/>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406020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7</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7</a:t>
            </a:fld>
            <a:r>
              <a:rPr lang="en-US" sz="1000" i="1" dirty="0"/>
              <a:t>##</a:t>
            </a:r>
            <a:endParaRPr lang="en-US" sz="1200" i="1" dirty="0"/>
          </a:p>
        </p:txBody>
      </p:sp>
      <p:sp>
        <p:nvSpPr>
          <p:cNvPr id="10" name="Footer Placeholder">
            <a:extLst>
              <a:ext uri="{FF2B5EF4-FFF2-40B4-BE49-F238E27FC236}">
                <a16:creationId xmlns:a16="http://schemas.microsoft.com/office/drawing/2014/main" id="{424CDADD-F78B-48A3-B75F-15A190FB7187}"/>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4112207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8</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8</a:t>
            </a:fld>
            <a:r>
              <a:rPr lang="en-US" sz="1000" i="1" dirty="0"/>
              <a:t>##</a:t>
            </a:r>
            <a:endParaRPr lang="en-US" sz="1200" i="1" dirty="0"/>
          </a:p>
        </p:txBody>
      </p:sp>
      <p:sp>
        <p:nvSpPr>
          <p:cNvPr id="10" name="Footer Placeholder">
            <a:extLst>
              <a:ext uri="{FF2B5EF4-FFF2-40B4-BE49-F238E27FC236}">
                <a16:creationId xmlns:a16="http://schemas.microsoft.com/office/drawing/2014/main" id="{24FA618D-4460-4C90-BC80-27A3C59963FE}"/>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420809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9</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9</a:t>
            </a:fld>
            <a:r>
              <a:rPr lang="en-US" sz="1000" i="1" dirty="0"/>
              <a:t>##</a:t>
            </a:r>
            <a:endParaRPr lang="en-US" sz="1200" i="1" dirty="0"/>
          </a:p>
        </p:txBody>
      </p:sp>
      <p:sp>
        <p:nvSpPr>
          <p:cNvPr id="10" name="Footer Placeholder">
            <a:extLst>
              <a:ext uri="{FF2B5EF4-FFF2-40B4-BE49-F238E27FC236}">
                <a16:creationId xmlns:a16="http://schemas.microsoft.com/office/drawing/2014/main" id="{18681E0D-36B4-45AA-A8A8-1865F23E660B}"/>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869268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10</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10</a:t>
            </a:fld>
            <a:r>
              <a:rPr lang="en-US" sz="1000" i="1" dirty="0"/>
              <a:t>##</a:t>
            </a:r>
            <a:endParaRPr lang="en-US" sz="1200" i="1" dirty="0"/>
          </a:p>
        </p:txBody>
      </p:sp>
      <p:sp>
        <p:nvSpPr>
          <p:cNvPr id="10" name="Footer Placeholder">
            <a:extLst>
              <a:ext uri="{FF2B5EF4-FFF2-40B4-BE49-F238E27FC236}">
                <a16:creationId xmlns:a16="http://schemas.microsoft.com/office/drawing/2014/main" id="{788506CC-BFBC-4313-BC08-E0199F578B6B}"/>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102132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12</a:t>
            </a:fld>
            <a:endParaRPr lang="en-US" dirty="0"/>
          </a:p>
        </p:txBody>
      </p:sp>
      <p:sp>
        <p:nvSpPr>
          <p:cNvPr id="6" name="Footer Placeholder">
            <a:extLst>
              <a:ext uri="{FF2B5EF4-FFF2-40B4-BE49-F238E27FC236}">
                <a16:creationId xmlns:a16="http://schemas.microsoft.com/office/drawing/2014/main" id="{2D70FAA8-AE47-4068-A64F-388F188FAAEC}"/>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2464171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13</a:t>
            </a:fld>
            <a:endParaRPr lang="en-US" dirty="0"/>
          </a:p>
        </p:txBody>
      </p:sp>
      <p:sp>
        <p:nvSpPr>
          <p:cNvPr id="6" name="Footer Placeholder">
            <a:extLst>
              <a:ext uri="{FF2B5EF4-FFF2-40B4-BE49-F238E27FC236}">
                <a16:creationId xmlns:a16="http://schemas.microsoft.com/office/drawing/2014/main" id="{E9046A7C-616B-4FAD-8951-1DAC51D9E8C0}"/>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6630145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14</a:t>
            </a:fld>
            <a:endParaRPr lang="en-US" dirty="0"/>
          </a:p>
        </p:txBody>
      </p:sp>
      <p:sp>
        <p:nvSpPr>
          <p:cNvPr id="6" name="Footer Placeholder">
            <a:extLst>
              <a:ext uri="{FF2B5EF4-FFF2-40B4-BE49-F238E27FC236}">
                <a16:creationId xmlns:a16="http://schemas.microsoft.com/office/drawing/2014/main" id="{D5E8DD1D-9056-4C90-8B86-862837C2DE4F}"/>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193845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15</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15</a:t>
            </a:fld>
            <a:r>
              <a:rPr lang="en-US" sz="1000" i="1" dirty="0"/>
              <a:t>##</a:t>
            </a:r>
            <a:endParaRPr lang="en-US" sz="1200" i="1" dirty="0"/>
          </a:p>
        </p:txBody>
      </p:sp>
      <p:sp>
        <p:nvSpPr>
          <p:cNvPr id="10" name="Footer Placeholder">
            <a:extLst>
              <a:ext uri="{FF2B5EF4-FFF2-40B4-BE49-F238E27FC236}">
                <a16:creationId xmlns:a16="http://schemas.microsoft.com/office/drawing/2014/main" id="{19FF0C45-4EE6-4786-9352-252C66A785F4}"/>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2125122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16</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16</a:t>
            </a:fld>
            <a:r>
              <a:rPr lang="en-US" sz="1000" i="1" dirty="0"/>
              <a:t>##</a:t>
            </a:r>
            <a:endParaRPr lang="en-US" sz="1200" i="1" dirty="0"/>
          </a:p>
        </p:txBody>
      </p:sp>
      <p:sp>
        <p:nvSpPr>
          <p:cNvPr id="10" name="Footer Placeholder">
            <a:extLst>
              <a:ext uri="{FF2B5EF4-FFF2-40B4-BE49-F238E27FC236}">
                <a16:creationId xmlns:a16="http://schemas.microsoft.com/office/drawing/2014/main" id="{40351635-3E8E-42E1-A1BC-40C7A3DAA909}"/>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8872295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a:extLst>
              <a:ext uri="{FF2B5EF4-FFF2-40B4-BE49-F238E27FC236}">
                <a16:creationId xmlns:a16="http://schemas.microsoft.com/office/drawing/2014/main" id="{FD14BCFE-524D-45E3-A0A7-D0EDF40198D4}"/>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545990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5.1.2026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171436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5.1.2026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1034437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069AEA-C8BE-4DD6-B9AB-21EA40DF5D87}" type="datetimeFigureOut">
              <a:rPr lang="bg-BG" smtClean="0"/>
              <a:t>5.1.2026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1040543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069AEA-C8BE-4DD6-B9AB-21EA40DF5D87}" type="datetimeFigureOut">
              <a:rPr lang="bg-BG" smtClean="0"/>
              <a:t>5.1.2026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329758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069AEA-C8BE-4DD6-B9AB-21EA40DF5D87}" type="datetimeFigureOut">
              <a:rPr lang="bg-BG" smtClean="0"/>
              <a:t>5.1.2026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961148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069AEA-C8BE-4DD6-B9AB-21EA40DF5D87}" type="datetimeFigureOut">
              <a:rPr lang="bg-BG" smtClean="0"/>
              <a:t>5.1.2026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986021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069AEA-C8BE-4DD6-B9AB-21EA40DF5D87}" type="datetimeFigureOut">
              <a:rPr lang="bg-BG" smtClean="0"/>
              <a:t>5.1.2026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3263839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69AEA-C8BE-4DD6-B9AB-21EA40DF5D87}" type="datetimeFigureOut">
              <a:rPr lang="bg-BG" smtClean="0"/>
              <a:t>5.1.2026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22370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69AEA-C8BE-4DD6-B9AB-21EA40DF5D87}" type="datetimeFigureOut">
              <a:rPr lang="bg-BG" smtClean="0"/>
              <a:t>5.1.2026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697053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5.1.2026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3528007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5.1.2026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269803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069AEA-C8BE-4DD6-B9AB-21EA40DF5D87}" type="datetimeFigureOut">
              <a:rPr lang="bg-BG" smtClean="0"/>
              <a:t>5.1.2026 г.</a:t>
            </a:fld>
            <a:endParaRPr lang="bg-B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bg-B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B18CDA-8465-4F94-AC0C-B721D911091F}" type="slidenum">
              <a:rPr lang="bg-BG" smtClean="0"/>
              <a:t>‹#›</a:t>
            </a:fld>
            <a:endParaRPr lang="bg-BG"/>
          </a:p>
        </p:txBody>
      </p:sp>
    </p:spTree>
    <p:extLst>
      <p:ext uri="{BB962C8B-B14F-4D97-AF65-F5344CB8AC3E}">
        <p14:creationId xmlns:p14="http://schemas.microsoft.com/office/powerpoint/2010/main" val="205254280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A11B2B-6DC7-2642-A5E2-7E3177B71883}"/>
              </a:ext>
            </a:extLst>
          </p:cNvPr>
          <p:cNvSpPr>
            <a:spLocks noGrp="1"/>
          </p:cNvSpPr>
          <p:nvPr>
            <p:ph type="ctrTitle"/>
          </p:nvPr>
        </p:nvSpPr>
        <p:spPr>
          <a:xfrm>
            <a:off x="1524000" y="1924336"/>
            <a:ext cx="9144000" cy="2387600"/>
          </a:xfrm>
        </p:spPr>
        <p:txBody>
          <a:bodyPr>
            <a:normAutofit/>
          </a:bodyPr>
          <a:lstStyle/>
          <a:p>
            <a:r>
              <a:rPr lang="bg-BG" dirty="0" err="1">
                <a:latin typeface="Comfortaa" pitchFamily="2" charset="0"/>
              </a:rPr>
              <a:t>Преизползване</a:t>
            </a:r>
            <a:r>
              <a:rPr lang="bg-BG" dirty="0">
                <a:latin typeface="Comfortaa" pitchFamily="2" charset="0"/>
              </a:rPr>
              <a:t> на класове</a:t>
            </a:r>
          </a:p>
        </p:txBody>
      </p:sp>
      <p:sp>
        <p:nvSpPr>
          <p:cNvPr id="5" name="Subtitle 4">
            <a:extLst>
              <a:ext uri="{FF2B5EF4-FFF2-40B4-BE49-F238E27FC236}">
                <a16:creationId xmlns:a16="http://schemas.microsoft.com/office/drawing/2014/main" id="{FD72CEAD-2598-2D6F-7FF9-AF95330D8A09}"/>
              </a:ext>
            </a:extLst>
          </p:cNvPr>
          <p:cNvSpPr>
            <a:spLocks noGrp="1"/>
          </p:cNvSpPr>
          <p:nvPr>
            <p:ph type="subTitle" idx="1"/>
          </p:nvPr>
        </p:nvSpPr>
        <p:spPr>
          <a:xfrm>
            <a:off x="1524000" y="4404011"/>
            <a:ext cx="9144000" cy="1655762"/>
          </a:xfrm>
        </p:spPr>
        <p:txBody>
          <a:bodyPr/>
          <a:lstStyle/>
          <a:p>
            <a:r>
              <a:rPr lang="en-US" dirty="0">
                <a:latin typeface="Comfortaa" pitchFamily="2" charset="0"/>
              </a:rPr>
              <a:t>Reuse</a:t>
            </a:r>
            <a:endParaRPr lang="bg-BG" dirty="0">
              <a:latin typeface="Comfortaa" pitchFamily="2" charset="0"/>
            </a:endParaRPr>
          </a:p>
        </p:txBody>
      </p:sp>
    </p:spTree>
    <p:extLst>
      <p:ext uri="{BB962C8B-B14F-4D97-AF65-F5344CB8AC3E}">
        <p14:creationId xmlns:p14="http://schemas.microsoft.com/office/powerpoint/2010/main" val="2386959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a:xfrm>
            <a:off x="780203" y="906274"/>
            <a:ext cx="10628399" cy="1110780"/>
          </a:xfrm>
        </p:spPr>
        <p:txBody>
          <a:bodyPr>
            <a:normAutofit/>
          </a:bodyPr>
          <a:lstStyle/>
          <a:p>
            <a:r>
              <a:rPr lang="bg-BG" dirty="0">
                <a:latin typeface="Comfortaa" pitchFamily="2" charset="0"/>
              </a:rPr>
              <a:t>Съдържание</a:t>
            </a:r>
          </a:p>
        </p:txBody>
      </p:sp>
      <p:sp>
        <p:nvSpPr>
          <p:cNvPr id="8" name="Rectangle 3"/>
          <p:cNvSpPr>
            <a:spLocks noGrp="1" noChangeArrowheads="1"/>
          </p:cNvSpPr>
          <p:nvPr>
            <p:ph idx="4294967295"/>
          </p:nvPr>
        </p:nvSpPr>
        <p:spPr>
          <a:xfrm>
            <a:off x="781801" y="2057401"/>
            <a:ext cx="10628399" cy="3685333"/>
          </a:xfrm>
        </p:spPr>
        <p:txBody>
          <a:bodyPr>
            <a:normAutofit/>
          </a:bodyPr>
          <a:lstStyle/>
          <a:p>
            <a:pPr marL="442913" indent="-442913">
              <a:lnSpc>
                <a:spcPct val="100000"/>
              </a:lnSpc>
              <a:spcBef>
                <a:spcPts val="500"/>
              </a:spcBef>
              <a:buFontTx/>
              <a:buAutoNum type="arabicPeriod"/>
            </a:pPr>
            <a:r>
              <a:rPr lang="bg-BG" dirty="0">
                <a:latin typeface="Comfortaa" pitchFamily="2" charset="0"/>
              </a:rPr>
              <a:t>Преизползване на класове</a:t>
            </a:r>
          </a:p>
          <a:p>
            <a:pPr marL="442913" indent="-442913">
              <a:lnSpc>
                <a:spcPct val="100000"/>
              </a:lnSpc>
              <a:spcBef>
                <a:spcPts val="500"/>
              </a:spcBef>
              <a:buFontTx/>
              <a:buAutoNum type="arabicPeriod"/>
            </a:pPr>
            <a:r>
              <a:rPr lang="bg-BG" dirty="0">
                <a:latin typeface="Comfortaa" pitchFamily="2" charset="0"/>
              </a:rPr>
              <a:t>Кога да използване наследяване</a:t>
            </a:r>
            <a:endParaRPr lang="en-US" dirty="0">
              <a:latin typeface="Comfortaa" pitchFamily="2" charset="0"/>
            </a:endParaRPr>
          </a:p>
          <a:p>
            <a:pPr marL="442913" indent="-442913">
              <a:lnSpc>
                <a:spcPct val="100000"/>
              </a:lnSpc>
              <a:spcBef>
                <a:spcPts val="500"/>
              </a:spcBef>
              <a:buFontTx/>
              <a:buAutoNum type="arabicPeriod"/>
            </a:pPr>
            <a:r>
              <a:rPr lang="bg-BG" dirty="0">
                <a:latin typeface="Comfortaa" pitchFamily="2" charset="0"/>
              </a:rPr>
              <a:t>Композиция</a:t>
            </a:r>
            <a:endParaRPr lang="en-US" dirty="0">
              <a:latin typeface="Comfortaa" pitchFamily="2" charset="0"/>
            </a:endParaRPr>
          </a:p>
        </p:txBody>
      </p:sp>
    </p:spTree>
    <p:extLst>
      <p:ext uri="{BB962C8B-B14F-4D97-AF65-F5344CB8AC3E}">
        <p14:creationId xmlns:p14="http://schemas.microsoft.com/office/powerpoint/2010/main" val="3185688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0338" y="4227659"/>
            <a:ext cx="10134600" cy="1598453"/>
          </a:xfrm>
        </p:spPr>
        <p:txBody>
          <a:bodyPr>
            <a:normAutofit/>
          </a:bodyPr>
          <a:lstStyle/>
          <a:p>
            <a:pPr>
              <a:lnSpc>
                <a:spcPts val="5400"/>
              </a:lnSpc>
            </a:pPr>
            <a:r>
              <a:rPr lang="bg-BG" dirty="0">
                <a:latin typeface="Comfortaa" pitchFamily="2" charset="0"/>
              </a:rPr>
              <a:t>Преизползване на класове</a:t>
            </a:r>
            <a:endParaRPr lang="en-US" dirty="0">
              <a:latin typeface="Comfortaa" pitchFamily="2" charset="0"/>
            </a:endParaRPr>
          </a:p>
        </p:txBody>
      </p:sp>
      <p:sp>
        <p:nvSpPr>
          <p:cNvPr id="7" name="Text Placeholder 6"/>
          <p:cNvSpPr>
            <a:spLocks noGrp="1"/>
          </p:cNvSpPr>
          <p:nvPr>
            <p:ph type="body" idx="1"/>
          </p:nvPr>
        </p:nvSpPr>
        <p:spPr>
          <a:xfrm>
            <a:off x="1415638" y="5785042"/>
            <a:ext cx="9144000" cy="838199"/>
          </a:xfrm>
        </p:spPr>
        <p:txBody>
          <a:bodyPr/>
          <a:lstStyle/>
          <a:p>
            <a:r>
              <a:rPr lang="bg-BG" dirty="0">
                <a:latin typeface="Comfortaa" pitchFamily="2" charset="0"/>
              </a:rPr>
              <a:t>Преизползване на код на ниво клас</a:t>
            </a:r>
            <a:endParaRPr lang="en-GB" dirty="0">
              <a:latin typeface="Comfortaa" pitchFamily="2" charset="0"/>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06257" y="844450"/>
            <a:ext cx="2967613" cy="3005179"/>
          </a:xfrm>
          <a:prstGeom prst="rect">
            <a:avLst/>
          </a:prstGeom>
        </p:spPr>
      </p:pic>
    </p:spTree>
    <p:extLst>
      <p:ext uri="{BB962C8B-B14F-4D97-AF65-F5344CB8AC3E}">
        <p14:creationId xmlns:p14="http://schemas.microsoft.com/office/powerpoint/2010/main" val="1105134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8438" y="1252845"/>
            <a:ext cx="10263248" cy="1620982"/>
          </a:xfrm>
          <a:prstGeom prst="rect">
            <a:avLst/>
          </a:prstGeom>
        </p:spPr>
        <p:txBody>
          <a:bodyPr>
            <a:normAutofit/>
          </a:bodyPr>
          <a:lstStyle/>
          <a:p>
            <a:r>
              <a:rPr lang="bg-BG" sz="2400" noProof="1">
                <a:latin typeface="Comfortaa" pitchFamily="2" charset="0"/>
              </a:rPr>
              <a:t>Подкласовете могат да достъпят всички </a:t>
            </a:r>
            <a:r>
              <a:rPr lang="bg-BG" sz="2400" b="1" noProof="1">
                <a:solidFill>
                  <a:srgbClr val="00B0F0"/>
                </a:solidFill>
                <a:latin typeface="Comfortaa" pitchFamily="2" charset="0"/>
              </a:rPr>
              <a:t>публични</a:t>
            </a:r>
            <a:r>
              <a:rPr lang="en-US" sz="2400" noProof="1">
                <a:latin typeface="Comfortaa" pitchFamily="2" charset="0"/>
              </a:rPr>
              <a:t> </a:t>
            </a:r>
            <a:r>
              <a:rPr lang="bg-BG" sz="2400" noProof="1">
                <a:latin typeface="Comfortaa" pitchFamily="2" charset="0"/>
              </a:rPr>
              <a:t>и</a:t>
            </a:r>
            <a:r>
              <a:rPr lang="en-US" sz="2400" noProof="1">
                <a:latin typeface="Comfortaa" pitchFamily="2" charset="0"/>
              </a:rPr>
              <a:t> </a:t>
            </a:r>
            <a:r>
              <a:rPr lang="bg-BG" sz="2400" b="1" noProof="1">
                <a:solidFill>
                  <a:srgbClr val="00B0F0"/>
                </a:solidFill>
                <a:latin typeface="Comfortaa" pitchFamily="2" charset="0"/>
              </a:rPr>
              <a:t>защитени</a:t>
            </a:r>
            <a:r>
              <a:rPr lang="en-US" sz="2400" noProof="1">
                <a:latin typeface="Comfortaa" pitchFamily="2" charset="0"/>
              </a:rPr>
              <a:t> </a:t>
            </a:r>
            <a:r>
              <a:rPr lang="bg-BG" sz="2400" noProof="1">
                <a:latin typeface="Comfortaa" pitchFamily="2" charset="0"/>
              </a:rPr>
              <a:t>членове, както и могат да достъпят</a:t>
            </a:r>
            <a:r>
              <a:rPr lang="en-US" sz="2400" noProof="1">
                <a:latin typeface="Comfortaa" pitchFamily="2" charset="0"/>
              </a:rPr>
              <a:t> </a:t>
            </a:r>
            <a:r>
              <a:rPr lang="bg-BG" sz="2400" b="1" noProof="1">
                <a:solidFill>
                  <a:srgbClr val="00B0F0"/>
                </a:solidFill>
                <a:latin typeface="Comfortaa" pitchFamily="2" charset="0"/>
              </a:rPr>
              <a:t>вътрешнит</a:t>
            </a:r>
            <a:r>
              <a:rPr lang="en-US" sz="2400" noProof="1">
                <a:solidFill>
                  <a:schemeClr val="tx2">
                    <a:lumMod val="75000"/>
                  </a:schemeClr>
                </a:solidFill>
                <a:latin typeface="Comfortaa" pitchFamily="2" charset="0"/>
              </a:rPr>
              <a:t>e</a:t>
            </a:r>
            <a:r>
              <a:rPr lang="en-US" sz="2400" noProof="1">
                <a:latin typeface="Comfortaa" pitchFamily="2" charset="0"/>
              </a:rPr>
              <a:t> </a:t>
            </a:r>
            <a:r>
              <a:rPr lang="bg-BG" sz="2400" noProof="1">
                <a:latin typeface="Comfortaa" pitchFamily="2" charset="0"/>
              </a:rPr>
              <a:t>членове, ако са в същия проект</a:t>
            </a:r>
            <a:endParaRPr lang="en-US" sz="2400" noProof="1">
              <a:latin typeface="Comfortaa" pitchFamily="2" charset="0"/>
            </a:endParaRPr>
          </a:p>
          <a:p>
            <a:r>
              <a:rPr lang="en-US" sz="2400" noProof="1">
                <a:solidFill>
                  <a:srgbClr val="00B0F0"/>
                </a:solidFill>
                <a:latin typeface="Comfortaa" pitchFamily="2" charset="0"/>
              </a:rPr>
              <a:t>Private</a:t>
            </a:r>
            <a:r>
              <a:rPr lang="en-US" sz="2400" noProof="1">
                <a:latin typeface="Comfortaa" pitchFamily="2" charset="0"/>
              </a:rPr>
              <a:t> </a:t>
            </a:r>
            <a:r>
              <a:rPr lang="bg-BG" sz="2400" noProof="1">
                <a:latin typeface="Comfortaa" pitchFamily="2" charset="0"/>
              </a:rPr>
              <a:t>полетата не се наследяват</a:t>
            </a:r>
            <a:r>
              <a:rPr lang="en-US" sz="2400" noProof="1">
                <a:latin typeface="Comfortaa" pitchFamily="2" charset="0"/>
              </a:rPr>
              <a:t> </a:t>
            </a:r>
            <a:r>
              <a:rPr lang="bg-BG" sz="2400" noProof="1">
                <a:latin typeface="Comfortaa" pitchFamily="2" charset="0"/>
              </a:rPr>
              <a:t>в подкласовете</a:t>
            </a:r>
            <a:endParaRPr lang="en-US" sz="2400" noProof="1">
              <a:latin typeface="Comfortaa" pitchFamily="2" charset="0"/>
            </a:endParaRPr>
          </a:p>
        </p:txBody>
      </p:sp>
      <p:sp>
        <p:nvSpPr>
          <p:cNvPr id="2" name="Title 1"/>
          <p:cNvSpPr>
            <a:spLocks noGrp="1"/>
          </p:cNvSpPr>
          <p:nvPr>
            <p:ph type="title"/>
          </p:nvPr>
        </p:nvSpPr>
        <p:spPr>
          <a:xfrm>
            <a:off x="958438" y="397823"/>
            <a:ext cx="10263248" cy="855022"/>
          </a:xfrm>
          <a:prstGeom prst="rect">
            <a:avLst/>
          </a:prstGeom>
        </p:spPr>
        <p:txBody>
          <a:bodyPr anchor="ctr" anchorCtr="0">
            <a:normAutofit/>
          </a:bodyPr>
          <a:lstStyle/>
          <a:p>
            <a:pPr>
              <a:lnSpc>
                <a:spcPts val="4000"/>
              </a:lnSpc>
              <a:defRPr/>
            </a:pPr>
            <a:r>
              <a:rPr lang="bg-BG" sz="3200" b="1" dirty="0">
                <a:latin typeface="Comfortaa" pitchFamily="2" charset="0"/>
              </a:rPr>
              <a:t>Наследяване и модификатори за достъп</a:t>
            </a:r>
          </a:p>
        </p:txBody>
      </p:sp>
      <p:sp>
        <p:nvSpPr>
          <p:cNvPr id="6" name="Text Placeholder 5"/>
          <p:cNvSpPr txBox="1">
            <a:spLocks/>
          </p:cNvSpPr>
          <p:nvPr/>
        </p:nvSpPr>
        <p:spPr>
          <a:xfrm>
            <a:off x="958438" y="2941123"/>
            <a:ext cx="10263248" cy="3100061"/>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200" dirty="0">
                <a:solidFill>
                  <a:schemeClr val="bg1"/>
                </a:solidFill>
              </a:rPr>
              <a:t>class Person {</a:t>
            </a:r>
          </a:p>
          <a:p>
            <a:r>
              <a:rPr lang="en-US" sz="3200" dirty="0">
                <a:solidFill>
                  <a:schemeClr val="bg1"/>
                </a:solidFill>
              </a:rPr>
              <a:t>  </a:t>
            </a:r>
            <a:r>
              <a:rPr lang="en-US" sz="3200" dirty="0">
                <a:solidFill>
                  <a:srgbClr val="00B0F0"/>
                </a:solidFill>
              </a:rPr>
              <a:t>private</a:t>
            </a:r>
            <a:r>
              <a:rPr lang="en-US" sz="3200" dirty="0">
                <a:solidFill>
                  <a:schemeClr val="bg1"/>
                </a:solidFill>
              </a:rPr>
              <a:t> string id;</a:t>
            </a:r>
          </a:p>
          <a:p>
            <a:r>
              <a:rPr lang="en-US" sz="3200" dirty="0">
                <a:solidFill>
                  <a:schemeClr val="bg1"/>
                </a:solidFill>
              </a:rPr>
              <a:t>  string name;</a:t>
            </a:r>
          </a:p>
          <a:p>
            <a:r>
              <a:rPr lang="en-US" sz="3200" dirty="0">
                <a:solidFill>
                  <a:schemeClr val="bg1"/>
                </a:solidFill>
              </a:rPr>
              <a:t>  </a:t>
            </a:r>
            <a:r>
              <a:rPr lang="en-US" sz="3200" dirty="0">
                <a:solidFill>
                  <a:srgbClr val="00B0F0"/>
                </a:solidFill>
              </a:rPr>
              <a:t>protected</a:t>
            </a:r>
            <a:r>
              <a:rPr lang="en-US" sz="3200" dirty="0">
                <a:solidFill>
                  <a:schemeClr val="bg1"/>
                </a:solidFill>
              </a:rPr>
              <a:t> string address;</a:t>
            </a:r>
          </a:p>
          <a:p>
            <a:r>
              <a:rPr lang="en-US" sz="3200" dirty="0">
                <a:solidFill>
                  <a:schemeClr val="bg1"/>
                </a:solidFill>
              </a:rPr>
              <a:t>  </a:t>
            </a:r>
            <a:r>
              <a:rPr lang="en-US" sz="3200" dirty="0">
                <a:solidFill>
                  <a:srgbClr val="00B0F0"/>
                </a:solidFill>
              </a:rPr>
              <a:t>public</a:t>
            </a:r>
            <a:r>
              <a:rPr lang="en-US" sz="3200" dirty="0">
                <a:solidFill>
                  <a:schemeClr val="bg1"/>
                </a:solidFill>
              </a:rPr>
              <a:t> void Sleep();</a:t>
            </a:r>
          </a:p>
          <a:p>
            <a:r>
              <a:rPr lang="en-US" sz="3200" dirty="0">
                <a:solidFill>
                  <a:schemeClr val="bg1"/>
                </a:solidFill>
              </a:rPr>
              <a:t>}</a:t>
            </a:r>
          </a:p>
        </p:txBody>
      </p:sp>
      <p:sp>
        <p:nvSpPr>
          <p:cNvPr id="7" name="AutoShape 6"/>
          <p:cNvSpPr>
            <a:spLocks noChangeArrowheads="1"/>
          </p:cNvSpPr>
          <p:nvPr/>
        </p:nvSpPr>
        <p:spPr bwMode="auto">
          <a:xfrm>
            <a:off x="6498274" y="3034144"/>
            <a:ext cx="4569031" cy="1217221"/>
          </a:xfrm>
          <a:prstGeom prst="wedgeRoundRectCallout">
            <a:avLst>
              <a:gd name="adj1" fmla="val -65364"/>
              <a:gd name="adj2" fmla="val 21693"/>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dirty="0">
                <a:solidFill>
                  <a:srgbClr val="FFFFFF"/>
                </a:solidFill>
                <a:latin typeface="Comfortaa" pitchFamily="2" charset="0"/>
              </a:rPr>
              <a:t>Може да се достъпи чрез други методи</a:t>
            </a:r>
            <a:endParaRPr lang="bg-BG" sz="2800" dirty="0">
              <a:solidFill>
                <a:schemeClr val="tx2">
                  <a:lumMod val="75000"/>
                </a:schemeClr>
              </a:solidFill>
              <a:latin typeface="Comfortaa" pitchFamily="2" charset="0"/>
            </a:endParaRPr>
          </a:p>
        </p:txBody>
      </p:sp>
    </p:spTree>
    <p:extLst>
      <p:ext uri="{BB962C8B-B14F-4D97-AF65-F5344CB8AC3E}">
        <p14:creationId xmlns:p14="http://schemas.microsoft.com/office/powerpoint/2010/main" val="250610640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5648" y="883799"/>
            <a:ext cx="10693778" cy="441905"/>
          </a:xfrm>
          <a:prstGeom prst="rect">
            <a:avLst/>
          </a:prstGeom>
        </p:spPr>
        <p:txBody>
          <a:bodyPr>
            <a:normAutofit/>
          </a:bodyPr>
          <a:lstStyle/>
          <a:p>
            <a:pPr marL="0" indent="0">
              <a:buNone/>
            </a:pPr>
            <a:r>
              <a:rPr lang="bg-BG" sz="2400" noProof="1">
                <a:latin typeface="Comfortaa" pitchFamily="2" charset="0"/>
              </a:rPr>
              <a:t>Подкласовете</a:t>
            </a:r>
            <a:r>
              <a:rPr lang="en-US" sz="2400" noProof="1">
                <a:latin typeface="Comfortaa" pitchFamily="2" charset="0"/>
              </a:rPr>
              <a:t> </a:t>
            </a:r>
            <a:r>
              <a:rPr lang="bg-BG" sz="2400" b="1" noProof="1">
                <a:solidFill>
                  <a:srgbClr val="00B0F0"/>
                </a:solidFill>
                <a:latin typeface="Comfortaa" pitchFamily="2" charset="0"/>
              </a:rPr>
              <a:t>могат да скрият</a:t>
            </a:r>
            <a:r>
              <a:rPr lang="en-US" sz="2400" b="1" noProof="1">
                <a:solidFill>
                  <a:srgbClr val="00B0F0"/>
                </a:solidFill>
                <a:latin typeface="Comfortaa" pitchFamily="2" charset="0"/>
              </a:rPr>
              <a:t> </a:t>
            </a:r>
            <a:r>
              <a:rPr lang="bg-BG" sz="2400" noProof="1">
                <a:latin typeface="Comfortaa" pitchFamily="2" charset="0"/>
              </a:rPr>
              <a:t>променливи от суперкласа</a:t>
            </a:r>
            <a:endParaRPr lang="en-US" sz="2400" noProof="1">
              <a:latin typeface="Comfortaa" pitchFamily="2" charset="0"/>
            </a:endParaRPr>
          </a:p>
        </p:txBody>
      </p:sp>
      <p:sp>
        <p:nvSpPr>
          <p:cNvPr id="8" name="Text Placeholder 5"/>
          <p:cNvSpPr txBox="1">
            <a:spLocks/>
          </p:cNvSpPr>
          <p:nvPr/>
        </p:nvSpPr>
        <p:spPr>
          <a:xfrm>
            <a:off x="735648" y="2242008"/>
            <a:ext cx="10693778" cy="4084946"/>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200" dirty="0">
                <a:solidFill>
                  <a:schemeClr val="bg1"/>
                </a:solidFill>
              </a:rPr>
              <a:t>class Patient : Person </a:t>
            </a:r>
          </a:p>
          <a:p>
            <a:r>
              <a:rPr lang="en-US" sz="3200" dirty="0">
                <a:solidFill>
                  <a:schemeClr val="bg1"/>
                </a:solidFill>
              </a:rPr>
              <a:t>{</a:t>
            </a:r>
          </a:p>
          <a:p>
            <a:r>
              <a:rPr lang="en-US" sz="3200" dirty="0">
                <a:solidFill>
                  <a:schemeClr val="bg1"/>
                </a:solidFill>
              </a:rPr>
              <a:t>  protected </a:t>
            </a:r>
            <a:r>
              <a:rPr lang="en-US" sz="3200" dirty="0">
                <a:solidFill>
                  <a:srgbClr val="00B0F0"/>
                </a:solidFill>
              </a:rPr>
              <a:t>float</a:t>
            </a:r>
            <a:r>
              <a:rPr lang="en-US" sz="3200" dirty="0">
                <a:solidFill>
                  <a:schemeClr val="bg1"/>
                </a:solidFill>
              </a:rPr>
              <a:t> weight;</a:t>
            </a:r>
          </a:p>
          <a:p>
            <a:r>
              <a:rPr lang="en-US" sz="3200" dirty="0">
                <a:solidFill>
                  <a:schemeClr val="bg1"/>
                </a:solidFill>
              </a:rPr>
              <a:t>  public void Method()</a:t>
            </a:r>
          </a:p>
          <a:p>
            <a:r>
              <a:rPr lang="en-US" sz="3200" dirty="0">
                <a:solidFill>
                  <a:schemeClr val="bg1"/>
                </a:solidFill>
              </a:rPr>
              <a:t>  {</a:t>
            </a:r>
          </a:p>
          <a:p>
            <a:r>
              <a:rPr lang="en-US" sz="3200" dirty="0">
                <a:solidFill>
                  <a:schemeClr val="bg1"/>
                </a:solidFill>
              </a:rPr>
              <a:t>    </a:t>
            </a:r>
            <a:r>
              <a:rPr lang="en-US" sz="3200" dirty="0">
                <a:solidFill>
                  <a:srgbClr val="00B0F0"/>
                </a:solidFill>
              </a:rPr>
              <a:t>double</a:t>
            </a:r>
            <a:r>
              <a:rPr lang="en-US" sz="3200" dirty="0">
                <a:solidFill>
                  <a:schemeClr val="bg1"/>
                </a:solidFill>
              </a:rPr>
              <a:t> weight = 0.5d;</a:t>
            </a:r>
          </a:p>
          <a:p>
            <a:r>
              <a:rPr lang="en-US" sz="3200" dirty="0">
                <a:solidFill>
                  <a:schemeClr val="bg1"/>
                </a:solidFill>
              </a:rPr>
              <a:t>  }</a:t>
            </a:r>
          </a:p>
          <a:p>
            <a:r>
              <a:rPr lang="en-US" sz="3200" dirty="0">
                <a:solidFill>
                  <a:schemeClr val="bg1"/>
                </a:solidFill>
              </a:rPr>
              <a:t>}</a:t>
            </a:r>
          </a:p>
        </p:txBody>
      </p:sp>
      <p:sp>
        <p:nvSpPr>
          <p:cNvPr id="2" name="Title 1"/>
          <p:cNvSpPr>
            <a:spLocks noGrp="1"/>
          </p:cNvSpPr>
          <p:nvPr>
            <p:ph type="title"/>
          </p:nvPr>
        </p:nvSpPr>
        <p:spPr>
          <a:xfrm>
            <a:off x="735648" y="335069"/>
            <a:ext cx="10515600" cy="605778"/>
          </a:xfrm>
          <a:prstGeom prst="rect">
            <a:avLst/>
          </a:prstGeom>
        </p:spPr>
        <p:txBody>
          <a:bodyPr anchor="ctr" anchorCtr="0"/>
          <a:lstStyle/>
          <a:p>
            <a:pPr>
              <a:lnSpc>
                <a:spcPts val="4000"/>
              </a:lnSpc>
              <a:defRPr/>
            </a:pPr>
            <a:r>
              <a:rPr lang="bg-BG" sz="3600" dirty="0">
                <a:latin typeface="Comfortaa" pitchFamily="2" charset="0"/>
              </a:rPr>
              <a:t>„Засенчване“ на променливи</a:t>
            </a:r>
          </a:p>
        </p:txBody>
      </p:sp>
      <p:sp>
        <p:nvSpPr>
          <p:cNvPr id="6" name="Text Placeholder 5"/>
          <p:cNvSpPr txBox="1">
            <a:spLocks/>
          </p:cNvSpPr>
          <p:nvPr/>
        </p:nvSpPr>
        <p:spPr>
          <a:xfrm>
            <a:off x="735648" y="1451759"/>
            <a:ext cx="10693778" cy="637849"/>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200" dirty="0">
                <a:solidFill>
                  <a:schemeClr val="bg1"/>
                </a:solidFill>
              </a:rPr>
              <a:t>class Person { protected </a:t>
            </a:r>
            <a:r>
              <a:rPr lang="en-US" sz="3200" dirty="0">
                <a:solidFill>
                  <a:srgbClr val="00B0F0"/>
                </a:solidFill>
              </a:rPr>
              <a:t>int</a:t>
            </a:r>
            <a:r>
              <a:rPr lang="en-US" sz="3200" dirty="0">
                <a:solidFill>
                  <a:schemeClr val="bg1"/>
                </a:solidFill>
              </a:rPr>
              <a:t> weight; }</a:t>
            </a:r>
          </a:p>
        </p:txBody>
      </p:sp>
      <p:sp>
        <p:nvSpPr>
          <p:cNvPr id="7" name="AutoShape 6"/>
          <p:cNvSpPr>
            <a:spLocks noChangeArrowheads="1"/>
          </p:cNvSpPr>
          <p:nvPr/>
        </p:nvSpPr>
        <p:spPr bwMode="auto">
          <a:xfrm>
            <a:off x="6792287" y="2575057"/>
            <a:ext cx="3787638" cy="777731"/>
          </a:xfrm>
          <a:prstGeom prst="wedgeRoundRectCallout">
            <a:avLst>
              <a:gd name="adj1" fmla="val -104335"/>
              <a:gd name="adj2" fmla="val 49567"/>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000" dirty="0">
                <a:solidFill>
                  <a:schemeClr val="bg1"/>
                </a:solidFill>
                <a:latin typeface="Comfortaa" pitchFamily="2" charset="0"/>
              </a:rPr>
              <a:t>Скрива </a:t>
            </a:r>
            <a:r>
              <a:rPr lang="en-US" sz="2000" b="1" noProof="1">
                <a:solidFill>
                  <a:schemeClr val="bg1"/>
                </a:solidFill>
                <a:latin typeface="Comfortaa" pitchFamily="2" charset="0"/>
              </a:rPr>
              <a:t>int</a:t>
            </a:r>
            <a:r>
              <a:rPr lang="en-US" sz="2000" b="1" dirty="0">
                <a:solidFill>
                  <a:schemeClr val="bg1"/>
                </a:solidFill>
                <a:latin typeface="Comfortaa" pitchFamily="2" charset="0"/>
              </a:rPr>
              <a:t> weight</a:t>
            </a:r>
            <a:endParaRPr lang="bg-BG" sz="2000" b="1" dirty="0">
              <a:solidFill>
                <a:schemeClr val="bg1"/>
              </a:solidFill>
              <a:latin typeface="Comfortaa" pitchFamily="2" charset="0"/>
            </a:endParaRPr>
          </a:p>
        </p:txBody>
      </p:sp>
      <p:sp>
        <p:nvSpPr>
          <p:cNvPr id="9" name="AutoShape 6"/>
          <p:cNvSpPr>
            <a:spLocks noChangeArrowheads="1"/>
          </p:cNvSpPr>
          <p:nvPr/>
        </p:nvSpPr>
        <p:spPr bwMode="auto">
          <a:xfrm>
            <a:off x="2909926" y="5337959"/>
            <a:ext cx="2716999" cy="609600"/>
          </a:xfrm>
          <a:prstGeom prst="wedgeRoundRectCallout">
            <a:avLst>
              <a:gd name="adj1" fmla="val -66056"/>
              <a:gd name="adj2" fmla="val -51045"/>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000" dirty="0">
                <a:solidFill>
                  <a:schemeClr val="bg1"/>
                </a:solidFill>
                <a:latin typeface="Comfortaa" pitchFamily="2" charset="0"/>
              </a:rPr>
              <a:t>Скрива и двете</a:t>
            </a:r>
            <a:endParaRPr lang="bg-BG" sz="2000" b="1" dirty="0">
              <a:solidFill>
                <a:schemeClr val="bg1"/>
              </a:solidFill>
              <a:latin typeface="Comfortaa" pitchFamily="2" charset="0"/>
            </a:endParaRPr>
          </a:p>
        </p:txBody>
      </p:sp>
    </p:spTree>
    <p:extLst>
      <p:ext uri="{BB962C8B-B14F-4D97-AF65-F5344CB8AC3E}">
        <p14:creationId xmlns:p14="http://schemas.microsoft.com/office/powerpoint/2010/main" val="256458508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7522" y="933115"/>
            <a:ext cx="8453236" cy="445665"/>
          </a:xfrm>
          <a:prstGeom prst="rect">
            <a:avLst/>
          </a:prstGeom>
        </p:spPr>
        <p:txBody>
          <a:bodyPr>
            <a:normAutofit/>
          </a:bodyPr>
          <a:lstStyle/>
          <a:p>
            <a:pPr marL="0" indent="0">
              <a:buNone/>
            </a:pPr>
            <a:r>
              <a:rPr lang="bg-BG" sz="2400" noProof="1">
                <a:latin typeface="Comfortaa" pitchFamily="2" charset="0"/>
              </a:rPr>
              <a:t>Използвайте</a:t>
            </a:r>
            <a:r>
              <a:rPr lang="en-US" sz="2400" noProof="1">
                <a:latin typeface="Comfortaa" pitchFamily="2" charset="0"/>
              </a:rPr>
              <a:t> </a:t>
            </a:r>
            <a:r>
              <a:rPr lang="en-US" sz="2400" b="1" noProof="1">
                <a:solidFill>
                  <a:schemeClr val="tx2">
                    <a:lumMod val="75000"/>
                  </a:schemeClr>
                </a:solidFill>
                <a:latin typeface="Comfortaa" pitchFamily="2" charset="0"/>
              </a:rPr>
              <a:t>base</a:t>
            </a:r>
            <a:r>
              <a:rPr lang="en-US" sz="2400" noProof="1">
                <a:latin typeface="Comfortaa" pitchFamily="2" charset="0"/>
              </a:rPr>
              <a:t> </a:t>
            </a:r>
            <a:r>
              <a:rPr lang="bg-BG" sz="2400" noProof="1">
                <a:latin typeface="Comfortaa" pitchFamily="2" charset="0"/>
              </a:rPr>
              <a:t>и</a:t>
            </a:r>
            <a:r>
              <a:rPr lang="en-US" sz="2400" noProof="1">
                <a:latin typeface="Comfortaa" pitchFamily="2" charset="0"/>
              </a:rPr>
              <a:t> </a:t>
            </a:r>
            <a:r>
              <a:rPr lang="en-US" sz="2400" b="1" noProof="1">
                <a:solidFill>
                  <a:schemeClr val="tx2">
                    <a:lumMod val="75000"/>
                  </a:schemeClr>
                </a:solidFill>
                <a:latin typeface="Comfortaa" pitchFamily="2" charset="0"/>
              </a:rPr>
              <a:t>this</a:t>
            </a:r>
            <a:r>
              <a:rPr lang="en-US" sz="2400" noProof="1">
                <a:latin typeface="Comfortaa" pitchFamily="2" charset="0"/>
              </a:rPr>
              <a:t> </a:t>
            </a:r>
            <a:r>
              <a:rPr lang="bg-BG" sz="2400" noProof="1">
                <a:latin typeface="Comfortaa" pitchFamily="2" charset="0"/>
              </a:rPr>
              <a:t>да уточните достъпа</a:t>
            </a:r>
            <a:endParaRPr lang="en-US" sz="2400" noProof="1">
              <a:latin typeface="Comfortaa" pitchFamily="2" charset="0"/>
            </a:endParaRPr>
          </a:p>
        </p:txBody>
      </p:sp>
      <p:sp>
        <p:nvSpPr>
          <p:cNvPr id="8" name="Text Placeholder 5"/>
          <p:cNvSpPr txBox="1">
            <a:spLocks/>
          </p:cNvSpPr>
          <p:nvPr/>
        </p:nvSpPr>
        <p:spPr>
          <a:xfrm>
            <a:off x="747522" y="1506836"/>
            <a:ext cx="10693778" cy="5069831"/>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200" dirty="0">
                <a:solidFill>
                  <a:schemeClr val="bg1"/>
                </a:solidFill>
              </a:rPr>
              <a:t>class Patient : Person</a:t>
            </a:r>
          </a:p>
          <a:p>
            <a:r>
              <a:rPr lang="en-US" sz="3200" dirty="0">
                <a:solidFill>
                  <a:schemeClr val="bg1"/>
                </a:solidFill>
              </a:rPr>
              <a:t>{</a:t>
            </a:r>
          </a:p>
          <a:p>
            <a:r>
              <a:rPr lang="en-US" sz="3200" dirty="0">
                <a:solidFill>
                  <a:schemeClr val="bg1"/>
                </a:solidFill>
              </a:rPr>
              <a:t>  protected float weight;</a:t>
            </a:r>
          </a:p>
          <a:p>
            <a:r>
              <a:rPr lang="en-US" sz="3200" dirty="0">
                <a:solidFill>
                  <a:schemeClr val="bg1"/>
                </a:solidFill>
              </a:rPr>
              <a:t>  public void Method()</a:t>
            </a:r>
          </a:p>
          <a:p>
            <a:r>
              <a:rPr lang="en-US" sz="3200" dirty="0">
                <a:solidFill>
                  <a:schemeClr val="bg1"/>
                </a:solidFill>
              </a:rPr>
              <a:t>  {</a:t>
            </a:r>
          </a:p>
          <a:p>
            <a:r>
              <a:rPr lang="en-US" sz="3200" dirty="0">
                <a:solidFill>
                  <a:schemeClr val="bg1"/>
                </a:solidFill>
              </a:rPr>
              <a:t>    double weight = 0.5d;</a:t>
            </a:r>
          </a:p>
          <a:p>
            <a:r>
              <a:rPr lang="en-US" sz="3200" dirty="0">
                <a:solidFill>
                  <a:schemeClr val="bg1"/>
                </a:solidFill>
              </a:rPr>
              <a:t>    </a:t>
            </a:r>
            <a:r>
              <a:rPr lang="en-US" sz="3200" dirty="0">
                <a:solidFill>
                  <a:srgbClr val="00B0F0"/>
                </a:solidFill>
              </a:rPr>
              <a:t>this</a:t>
            </a:r>
            <a:r>
              <a:rPr lang="en-US" sz="3200" dirty="0">
                <a:solidFill>
                  <a:schemeClr val="bg1"/>
                </a:solidFill>
              </a:rPr>
              <a:t>.weight = 0.6f;</a:t>
            </a:r>
          </a:p>
          <a:p>
            <a:r>
              <a:rPr lang="en-US" sz="3200" dirty="0">
                <a:solidFill>
                  <a:schemeClr val="bg1"/>
                </a:solidFill>
              </a:rPr>
              <a:t>    </a:t>
            </a:r>
            <a:r>
              <a:rPr lang="en-US" sz="3200" dirty="0">
                <a:solidFill>
                  <a:srgbClr val="00B0F0"/>
                </a:solidFill>
              </a:rPr>
              <a:t>base</a:t>
            </a:r>
            <a:r>
              <a:rPr lang="en-US" sz="3200" dirty="0">
                <a:solidFill>
                  <a:schemeClr val="bg1"/>
                </a:solidFill>
              </a:rPr>
              <a:t>.weight = 1;</a:t>
            </a:r>
          </a:p>
          <a:p>
            <a:r>
              <a:rPr lang="en-US" sz="3200" dirty="0">
                <a:solidFill>
                  <a:schemeClr val="bg1"/>
                </a:solidFill>
              </a:rPr>
              <a:t>  }</a:t>
            </a:r>
          </a:p>
          <a:p>
            <a:r>
              <a:rPr lang="en-US" sz="3200" dirty="0">
                <a:solidFill>
                  <a:schemeClr val="bg1"/>
                </a:solidFill>
              </a:rPr>
              <a:t>}</a:t>
            </a:r>
          </a:p>
        </p:txBody>
      </p:sp>
      <p:sp>
        <p:nvSpPr>
          <p:cNvPr id="2" name="Title 1"/>
          <p:cNvSpPr>
            <a:spLocks noGrp="1"/>
          </p:cNvSpPr>
          <p:nvPr>
            <p:ph type="title"/>
          </p:nvPr>
        </p:nvSpPr>
        <p:spPr>
          <a:xfrm>
            <a:off x="747522" y="364740"/>
            <a:ext cx="10515600" cy="596776"/>
          </a:xfrm>
          <a:prstGeom prst="rect">
            <a:avLst/>
          </a:prstGeom>
        </p:spPr>
        <p:txBody>
          <a:bodyPr anchor="ctr" anchorCtr="0">
            <a:normAutofit fontScale="90000"/>
          </a:bodyPr>
          <a:lstStyle/>
          <a:p>
            <a:pPr>
              <a:lnSpc>
                <a:spcPts val="4000"/>
              </a:lnSpc>
              <a:defRPr/>
            </a:pPr>
            <a:r>
              <a:rPr lang="bg-BG" sz="3600" dirty="0">
                <a:latin typeface="Comfortaa" pitchFamily="2" charset="0"/>
              </a:rPr>
              <a:t>„Засенчване“ на променливи – достъп</a:t>
            </a:r>
            <a:endParaRPr lang="bg-BG" sz="3200" dirty="0">
              <a:latin typeface="Comfortaa" pitchFamily="2" charset="0"/>
            </a:endParaRPr>
          </a:p>
        </p:txBody>
      </p:sp>
      <p:sp>
        <p:nvSpPr>
          <p:cNvPr id="7" name="AutoShape 6"/>
          <p:cNvSpPr>
            <a:spLocks noChangeArrowheads="1"/>
          </p:cNvSpPr>
          <p:nvPr/>
        </p:nvSpPr>
        <p:spPr bwMode="auto">
          <a:xfrm>
            <a:off x="6796200" y="4648200"/>
            <a:ext cx="3719400" cy="609600"/>
          </a:xfrm>
          <a:prstGeom prst="wedgeRoundRectCallout">
            <a:avLst>
              <a:gd name="adj1" fmla="val -73729"/>
              <a:gd name="adj2" fmla="val -18614"/>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000" dirty="0">
                <a:solidFill>
                  <a:schemeClr val="bg1"/>
                </a:solidFill>
                <a:latin typeface="Comfortaa" pitchFamily="2" charset="0"/>
              </a:rPr>
              <a:t>Член на инстанцията</a:t>
            </a:r>
            <a:endParaRPr lang="bg-BG" sz="2000" b="1" dirty="0">
              <a:solidFill>
                <a:schemeClr val="bg1"/>
              </a:solidFill>
              <a:latin typeface="Comfortaa" pitchFamily="2" charset="0"/>
            </a:endParaRPr>
          </a:p>
        </p:txBody>
      </p:sp>
      <p:sp>
        <p:nvSpPr>
          <p:cNvPr id="9" name="AutoShape 6"/>
          <p:cNvSpPr>
            <a:spLocks noChangeArrowheads="1"/>
          </p:cNvSpPr>
          <p:nvPr/>
        </p:nvSpPr>
        <p:spPr bwMode="auto">
          <a:xfrm>
            <a:off x="2996411" y="5585272"/>
            <a:ext cx="4166389" cy="609600"/>
          </a:xfrm>
          <a:prstGeom prst="wedgeRoundRectCallout">
            <a:avLst>
              <a:gd name="adj1" fmla="val -66056"/>
              <a:gd name="adj2" fmla="val -51045"/>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000" dirty="0">
                <a:solidFill>
                  <a:schemeClr val="bg1"/>
                </a:solidFill>
                <a:latin typeface="Comfortaa" pitchFamily="2" charset="0"/>
              </a:rPr>
              <a:t>Член на базовия клас</a:t>
            </a:r>
            <a:endParaRPr lang="bg-BG" sz="2000" b="1" dirty="0">
              <a:solidFill>
                <a:schemeClr val="bg1"/>
              </a:solidFill>
              <a:latin typeface="Comfortaa" pitchFamily="2" charset="0"/>
            </a:endParaRPr>
          </a:p>
        </p:txBody>
      </p:sp>
      <p:sp>
        <p:nvSpPr>
          <p:cNvPr id="10" name="AutoShape 6"/>
          <p:cNvSpPr>
            <a:spLocks noChangeArrowheads="1"/>
          </p:cNvSpPr>
          <p:nvPr/>
        </p:nvSpPr>
        <p:spPr bwMode="auto">
          <a:xfrm>
            <a:off x="6865122" y="1905000"/>
            <a:ext cx="3117079" cy="914400"/>
          </a:xfrm>
          <a:prstGeom prst="wedgeRoundRectCallout">
            <a:avLst>
              <a:gd name="adj1" fmla="val -75936"/>
              <a:gd name="adj2" fmla="val 58414"/>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000" dirty="0">
                <a:solidFill>
                  <a:schemeClr val="bg1"/>
                </a:solidFill>
                <a:latin typeface="Comfortaa" pitchFamily="2" charset="0"/>
              </a:rPr>
              <a:t>Локална променлива</a:t>
            </a:r>
            <a:endParaRPr lang="bg-BG" sz="2000" b="1" dirty="0">
              <a:solidFill>
                <a:schemeClr val="bg1"/>
              </a:solidFill>
              <a:latin typeface="Comfortaa" pitchFamily="2" charset="0"/>
            </a:endParaRPr>
          </a:p>
        </p:txBody>
      </p:sp>
    </p:spTree>
    <p:extLst>
      <p:ext uri="{BB962C8B-B14F-4D97-AF65-F5344CB8AC3E}">
        <p14:creationId xmlns:p14="http://schemas.microsoft.com/office/powerpoint/2010/main" val="196033548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7523" y="1188492"/>
            <a:ext cx="10687266" cy="552236"/>
          </a:xfrm>
          <a:prstGeom prst="rect">
            <a:avLst/>
          </a:prstGeom>
        </p:spPr>
        <p:txBody>
          <a:bodyPr>
            <a:normAutofit/>
          </a:bodyPr>
          <a:lstStyle/>
          <a:p>
            <a:pPr marL="0" indent="0">
              <a:lnSpc>
                <a:spcPct val="100000"/>
              </a:lnSpc>
              <a:buNone/>
            </a:pPr>
            <a:r>
              <a:rPr lang="en-US" b="1" dirty="0">
                <a:solidFill>
                  <a:srgbClr val="00B0F0"/>
                </a:solidFill>
                <a:latin typeface="Comfortaa" pitchFamily="2" charset="0"/>
              </a:rPr>
              <a:t>virtual</a:t>
            </a:r>
            <a:r>
              <a:rPr lang="en-US" dirty="0">
                <a:latin typeface="Comfortaa" pitchFamily="2" charset="0"/>
              </a:rPr>
              <a:t> </a:t>
            </a:r>
            <a:r>
              <a:rPr lang="bg-BG" dirty="0">
                <a:latin typeface="Comfortaa" pitchFamily="2" charset="0"/>
              </a:rPr>
              <a:t>метод, може да бъде </a:t>
            </a:r>
            <a:r>
              <a:rPr lang="bg-BG" dirty="0">
                <a:solidFill>
                  <a:schemeClr val="tx2">
                    <a:lumMod val="75000"/>
                  </a:schemeClr>
                </a:solidFill>
                <a:latin typeface="Comfortaa" pitchFamily="2" charset="0"/>
              </a:rPr>
              <a:t>презаписан с </a:t>
            </a:r>
            <a:r>
              <a:rPr lang="en-US" b="1" dirty="0">
                <a:solidFill>
                  <a:srgbClr val="00B0F0"/>
                </a:solidFill>
                <a:latin typeface="Comfortaa" pitchFamily="2" charset="0"/>
              </a:rPr>
              <a:t>override</a:t>
            </a:r>
            <a:endParaRPr lang="en-US" b="1" noProof="1">
              <a:solidFill>
                <a:srgbClr val="00B0F0"/>
              </a:solidFill>
              <a:latin typeface="Comfortaa" pitchFamily="2" charset="0"/>
            </a:endParaRPr>
          </a:p>
        </p:txBody>
      </p:sp>
      <p:sp>
        <p:nvSpPr>
          <p:cNvPr id="2" name="Title 1"/>
          <p:cNvSpPr>
            <a:spLocks noGrp="1"/>
          </p:cNvSpPr>
          <p:nvPr>
            <p:ph type="title"/>
          </p:nvPr>
        </p:nvSpPr>
        <p:spPr>
          <a:xfrm>
            <a:off x="757211" y="365125"/>
            <a:ext cx="10596589" cy="1009238"/>
          </a:xfrm>
          <a:prstGeom prst="rect">
            <a:avLst/>
          </a:prstGeom>
        </p:spPr>
        <p:txBody>
          <a:bodyPr anchor="ctr" anchorCtr="0"/>
          <a:lstStyle/>
          <a:p>
            <a:pPr>
              <a:lnSpc>
                <a:spcPts val="4000"/>
              </a:lnSpc>
              <a:defRPr/>
            </a:pPr>
            <a:r>
              <a:rPr lang="bg-BG" sz="4000" dirty="0">
                <a:latin typeface="Comfortaa" pitchFamily="2" charset="0"/>
              </a:rPr>
              <a:t>Виртуални методи</a:t>
            </a:r>
          </a:p>
        </p:txBody>
      </p:sp>
      <p:sp>
        <p:nvSpPr>
          <p:cNvPr id="7" name="Text Placeholder 5"/>
          <p:cNvSpPr txBox="1">
            <a:spLocks/>
          </p:cNvSpPr>
          <p:nvPr/>
        </p:nvSpPr>
        <p:spPr>
          <a:xfrm>
            <a:off x="741011" y="1926599"/>
            <a:ext cx="10693778" cy="2115176"/>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200" dirty="0">
                <a:solidFill>
                  <a:schemeClr val="bg1"/>
                </a:solidFill>
                <a:effectLst/>
              </a:rPr>
              <a:t>public class Animal</a:t>
            </a:r>
          </a:p>
          <a:p>
            <a:r>
              <a:rPr lang="en-US" sz="3200" dirty="0">
                <a:solidFill>
                  <a:schemeClr val="bg1"/>
                </a:solidFill>
                <a:effectLst/>
              </a:rPr>
              <a:t>{</a:t>
            </a:r>
          </a:p>
          <a:p>
            <a:r>
              <a:rPr lang="en-US" sz="3200" dirty="0">
                <a:solidFill>
                  <a:schemeClr val="bg1"/>
                </a:solidFill>
                <a:effectLst/>
              </a:rPr>
              <a:t>  public </a:t>
            </a:r>
            <a:r>
              <a:rPr lang="en-US" sz="3200" dirty="0">
                <a:solidFill>
                  <a:srgbClr val="00B0F0"/>
                </a:solidFill>
                <a:effectLst/>
              </a:rPr>
              <a:t>virtual</a:t>
            </a:r>
            <a:r>
              <a:rPr lang="en-US" sz="3200" dirty="0">
                <a:solidFill>
                  <a:schemeClr val="bg1"/>
                </a:solidFill>
                <a:effectLst/>
              </a:rPr>
              <a:t> void Eat() { … }</a:t>
            </a:r>
          </a:p>
          <a:p>
            <a:r>
              <a:rPr lang="en-US" sz="3200" dirty="0">
                <a:solidFill>
                  <a:schemeClr val="bg1"/>
                </a:solidFill>
                <a:effectLst/>
              </a:rPr>
              <a:t>}</a:t>
            </a:r>
          </a:p>
        </p:txBody>
      </p:sp>
      <p:sp>
        <p:nvSpPr>
          <p:cNvPr id="10" name="Text Placeholder 5"/>
          <p:cNvSpPr txBox="1">
            <a:spLocks/>
          </p:cNvSpPr>
          <p:nvPr/>
        </p:nvSpPr>
        <p:spPr>
          <a:xfrm>
            <a:off x="747523" y="4222269"/>
            <a:ext cx="10693778" cy="2115176"/>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200" dirty="0">
                <a:solidFill>
                  <a:schemeClr val="bg1"/>
                </a:solidFill>
                <a:effectLst/>
              </a:rPr>
              <a:t>public class Dog : Animal</a:t>
            </a:r>
          </a:p>
          <a:p>
            <a:r>
              <a:rPr lang="en-US" sz="3200" dirty="0">
                <a:solidFill>
                  <a:schemeClr val="bg1"/>
                </a:solidFill>
                <a:effectLst/>
              </a:rPr>
              <a:t>{   </a:t>
            </a:r>
          </a:p>
          <a:p>
            <a:r>
              <a:rPr lang="en-US" sz="3200" dirty="0">
                <a:solidFill>
                  <a:schemeClr val="bg1"/>
                </a:solidFill>
                <a:effectLst/>
              </a:rPr>
              <a:t>  public </a:t>
            </a:r>
            <a:r>
              <a:rPr lang="en-US" sz="3200" dirty="0">
                <a:solidFill>
                  <a:srgbClr val="00B0F0"/>
                </a:solidFill>
                <a:effectLst/>
              </a:rPr>
              <a:t>override</a:t>
            </a:r>
            <a:r>
              <a:rPr lang="en-US" sz="3200" dirty="0">
                <a:solidFill>
                  <a:schemeClr val="bg1"/>
                </a:solidFill>
                <a:effectLst/>
              </a:rPr>
              <a:t> void Eat() {}</a:t>
            </a:r>
          </a:p>
          <a:p>
            <a:r>
              <a:rPr lang="en-US" sz="3200" dirty="0">
                <a:solidFill>
                  <a:schemeClr val="bg1"/>
                </a:solidFill>
                <a:effectLst/>
              </a:rPr>
              <a:t>}</a:t>
            </a:r>
          </a:p>
        </p:txBody>
      </p:sp>
    </p:spTree>
    <p:extLst>
      <p:ext uri="{BB962C8B-B14F-4D97-AF65-F5344CB8AC3E}">
        <p14:creationId xmlns:p14="http://schemas.microsoft.com/office/powerpoint/2010/main" val="51894207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13609"/>
            <a:ext cx="10467109" cy="551328"/>
          </a:xfrm>
          <a:prstGeom prst="rect">
            <a:avLst/>
          </a:prstGeom>
        </p:spPr>
        <p:txBody>
          <a:bodyPr>
            <a:normAutofit/>
          </a:bodyPr>
          <a:lstStyle/>
          <a:p>
            <a:pPr marL="0" indent="0">
              <a:lnSpc>
                <a:spcPct val="100000"/>
              </a:lnSpc>
              <a:buNone/>
            </a:pPr>
            <a:r>
              <a:rPr lang="bg-BG" sz="2000" dirty="0">
                <a:latin typeface="Comfortaa" pitchFamily="2" charset="0"/>
              </a:rPr>
              <a:t>Можем да </a:t>
            </a:r>
            <a:r>
              <a:rPr lang="bg-BG" sz="2000" b="1" dirty="0">
                <a:solidFill>
                  <a:srgbClr val="00B0F0"/>
                </a:solidFill>
                <a:latin typeface="Comfortaa" pitchFamily="2" charset="0"/>
              </a:rPr>
              <a:t>разширим</a:t>
            </a:r>
            <a:r>
              <a:rPr lang="bg-BG" sz="2000" dirty="0">
                <a:latin typeface="Comfortaa" pitchFamily="2" charset="0"/>
              </a:rPr>
              <a:t> клас, който</a:t>
            </a:r>
            <a:r>
              <a:rPr lang="en-US" sz="2000" dirty="0">
                <a:latin typeface="Comfortaa" pitchFamily="2" charset="0"/>
              </a:rPr>
              <a:t> </a:t>
            </a:r>
            <a:r>
              <a:rPr lang="bg-BG" sz="2000" dirty="0">
                <a:latin typeface="Comfortaa" pitchFamily="2" charset="0"/>
              </a:rPr>
              <a:t>иначе не можем да променим</a:t>
            </a:r>
            <a:endParaRPr lang="en-US" sz="2000" dirty="0">
              <a:latin typeface="Comfortaa" pitchFamily="2" charset="0"/>
            </a:endParaRPr>
          </a:p>
        </p:txBody>
      </p:sp>
      <p:sp>
        <p:nvSpPr>
          <p:cNvPr id="2" name="Title 1"/>
          <p:cNvSpPr>
            <a:spLocks noGrp="1"/>
          </p:cNvSpPr>
          <p:nvPr>
            <p:ph type="title"/>
          </p:nvPr>
        </p:nvSpPr>
        <p:spPr>
          <a:xfrm>
            <a:off x="838200" y="588179"/>
            <a:ext cx="10515600" cy="924552"/>
          </a:xfrm>
          <a:prstGeom prst="rect">
            <a:avLst/>
          </a:prstGeom>
        </p:spPr>
        <p:txBody>
          <a:bodyPr anchor="ctr" anchorCtr="0"/>
          <a:lstStyle/>
          <a:p>
            <a:pPr>
              <a:lnSpc>
                <a:spcPts val="4000"/>
              </a:lnSpc>
              <a:defRPr/>
            </a:pPr>
            <a:r>
              <a:rPr lang="bg-BG" sz="3200" dirty="0">
                <a:latin typeface="Comfortaa" pitchFamily="2" charset="0"/>
              </a:rPr>
              <a:t>Ползата от наследяването – </a:t>
            </a:r>
            <a:r>
              <a:rPr lang="bg-BG" sz="3200" dirty="0" err="1">
                <a:latin typeface="Comfortaa" pitchFamily="2" charset="0"/>
              </a:rPr>
              <a:t>разширание</a:t>
            </a:r>
            <a:endParaRPr lang="bg-BG" sz="3200" dirty="0">
              <a:latin typeface="Comfortaa" pitchFamily="2" charset="0"/>
            </a:endParaRPr>
          </a:p>
        </p:txBody>
      </p:sp>
      <p:grpSp>
        <p:nvGrpSpPr>
          <p:cNvPr id="5" name="Group 4">
            <a:extLst>
              <a:ext uri="{FF2B5EF4-FFF2-40B4-BE49-F238E27FC236}">
                <a16:creationId xmlns:a16="http://schemas.microsoft.com/office/drawing/2014/main" id="{5B35213B-739D-FE87-EA70-43144E625E92}"/>
              </a:ext>
            </a:extLst>
          </p:cNvPr>
          <p:cNvGrpSpPr/>
          <p:nvPr/>
        </p:nvGrpSpPr>
        <p:grpSpPr>
          <a:xfrm>
            <a:off x="2458446" y="2338161"/>
            <a:ext cx="6220983" cy="3709700"/>
            <a:chOff x="2517823" y="2209800"/>
            <a:chExt cx="6220983" cy="3709700"/>
          </a:xfrm>
        </p:grpSpPr>
        <p:sp>
          <p:nvSpPr>
            <p:cNvPr id="8" name="Rectangle: Rounded Corners 7"/>
            <p:cNvSpPr/>
            <p:nvPr/>
          </p:nvSpPr>
          <p:spPr>
            <a:xfrm>
              <a:off x="3543300" y="2209800"/>
              <a:ext cx="5195506" cy="1828800"/>
            </a:xfrm>
            <a:prstGeom prst="roundRect">
              <a:avLst>
                <a:gd name="adj" fmla="val 5385"/>
              </a:avLst>
            </a:prstGeom>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dirty="0">
                  <a:effectLst>
                    <a:outerShdw blurRad="38100" dist="38100" dir="2700000" algn="tl">
                      <a:srgbClr val="000000">
                        <a:alpha val="43137"/>
                      </a:srgbClr>
                    </a:outerShdw>
                  </a:effectLst>
                  <a:latin typeface="Consolas" panose="020B0609020204030204" pitchFamily="49" charset="0"/>
                </a:rPr>
                <a:t>Collections</a:t>
              </a:r>
            </a:p>
          </p:txBody>
        </p:sp>
        <p:sp>
          <p:nvSpPr>
            <p:cNvPr id="9" name="Rectangle: Rounded Corners 8"/>
            <p:cNvSpPr/>
            <p:nvPr/>
          </p:nvSpPr>
          <p:spPr>
            <a:xfrm>
              <a:off x="3786009" y="3072099"/>
              <a:ext cx="4710089" cy="585500"/>
            </a:xfrm>
            <a:prstGeom prst="roundRect">
              <a:avLst>
                <a:gd name="adj" fmla="val 5385"/>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noProof="1">
                  <a:effectLst>
                    <a:outerShdw blurRad="38100" dist="38100" dir="2700000" algn="tl">
                      <a:srgbClr val="000000">
                        <a:alpha val="43137"/>
                      </a:srgbClr>
                    </a:outerShdw>
                  </a:effectLst>
                  <a:latin typeface="Consolas" panose="020B0609020204030204" pitchFamily="49" charset="0"/>
                </a:rPr>
                <a:t>ArrayList</a:t>
              </a:r>
            </a:p>
          </p:txBody>
        </p:sp>
        <p:sp>
          <p:nvSpPr>
            <p:cNvPr id="11" name="Rectangle: Rounded Corners 10"/>
            <p:cNvSpPr/>
            <p:nvPr/>
          </p:nvSpPr>
          <p:spPr>
            <a:xfrm>
              <a:off x="3543300" y="5334000"/>
              <a:ext cx="5195506" cy="585500"/>
            </a:xfrm>
            <a:prstGeom prst="roundRect">
              <a:avLst>
                <a:gd name="adj" fmla="val 5385"/>
              </a:avLst>
            </a:prstGeom>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noProof="1">
                  <a:effectLst>
                    <a:outerShdw blurRad="38100" dist="38100" dir="2700000" algn="tl">
                      <a:srgbClr val="000000">
                        <a:alpha val="43137"/>
                      </a:srgbClr>
                    </a:outerShdw>
                  </a:effectLst>
                  <a:latin typeface="Consolas" panose="020B0609020204030204" pitchFamily="49" charset="0"/>
                </a:rPr>
                <a:t>CustomArrayList</a:t>
              </a:r>
            </a:p>
          </p:txBody>
        </p:sp>
        <p:sp>
          <p:nvSpPr>
            <p:cNvPr id="15" name="AutoShape 6"/>
            <p:cNvSpPr>
              <a:spLocks noChangeArrowheads="1"/>
            </p:cNvSpPr>
            <p:nvPr/>
          </p:nvSpPr>
          <p:spPr bwMode="auto">
            <a:xfrm>
              <a:off x="2517823" y="4215142"/>
              <a:ext cx="2536371" cy="926605"/>
            </a:xfrm>
            <a:prstGeom prst="wedgeRoundRectCallout">
              <a:avLst>
                <a:gd name="adj1" fmla="val 76093"/>
                <a:gd name="adj2" fmla="val 9111"/>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400" dirty="0">
                  <a:solidFill>
                    <a:srgbClr val="FFFFFF"/>
                  </a:solidFill>
                  <a:latin typeface="Comfortaa" pitchFamily="2" charset="0"/>
                </a:rPr>
                <a:t>Разширява</a:t>
              </a:r>
              <a:endParaRPr lang="bg-BG" sz="2400" dirty="0">
                <a:solidFill>
                  <a:schemeClr val="tx2">
                    <a:lumMod val="75000"/>
                  </a:schemeClr>
                </a:solidFill>
                <a:latin typeface="Comfortaa" pitchFamily="2" charset="0"/>
              </a:endParaRPr>
            </a:p>
          </p:txBody>
        </p:sp>
        <p:sp>
          <p:nvSpPr>
            <p:cNvPr id="4" name="Arrow: Up 3">
              <a:extLst>
                <a:ext uri="{FF2B5EF4-FFF2-40B4-BE49-F238E27FC236}">
                  <a16:creationId xmlns:a16="http://schemas.microsoft.com/office/drawing/2014/main" id="{6AE227E1-3F66-F080-A6C3-39B4A6CEB60F}"/>
                </a:ext>
              </a:extLst>
            </p:cNvPr>
            <p:cNvSpPr/>
            <p:nvPr/>
          </p:nvSpPr>
          <p:spPr>
            <a:xfrm>
              <a:off x="5651196" y="3699164"/>
              <a:ext cx="826794" cy="1634836"/>
            </a:xfrm>
            <a:prstGeom prst="upArrow">
              <a:avLst>
                <a:gd name="adj1" fmla="val 50000"/>
                <a:gd name="adj2" fmla="val 72603"/>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spTree>
    <p:extLst>
      <p:ext uri="{BB962C8B-B14F-4D97-AF65-F5344CB8AC3E}">
        <p14:creationId xmlns:p14="http://schemas.microsoft.com/office/powerpoint/2010/main" val="173026488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9651" y="1714831"/>
            <a:ext cx="10515600" cy="1469778"/>
          </a:xfrm>
          <a:prstGeom prst="rect">
            <a:avLst/>
          </a:prstGeom>
        </p:spPr>
        <p:txBody>
          <a:bodyPr>
            <a:normAutofit/>
          </a:bodyPr>
          <a:lstStyle/>
          <a:p>
            <a:pPr>
              <a:lnSpc>
                <a:spcPct val="100000"/>
              </a:lnSpc>
            </a:pPr>
            <a:r>
              <a:rPr lang="bg-BG" dirty="0">
                <a:latin typeface="Comfortaa" pitchFamily="2" charset="0"/>
              </a:rPr>
              <a:t>Създайте </a:t>
            </a:r>
            <a:r>
              <a:rPr lang="en-US" b="1" dirty="0">
                <a:solidFill>
                  <a:srgbClr val="00B0F0"/>
                </a:solidFill>
                <a:latin typeface="Comfortaa" pitchFamily="2" charset="0"/>
              </a:rPr>
              <a:t>array list</a:t>
            </a:r>
            <a:r>
              <a:rPr lang="bg-BG" dirty="0">
                <a:latin typeface="Comfortaa" pitchFamily="2" charset="0"/>
              </a:rPr>
              <a:t>, който има</a:t>
            </a:r>
            <a:endParaRPr lang="en-US" dirty="0">
              <a:latin typeface="Comfortaa" pitchFamily="2" charset="0"/>
            </a:endParaRPr>
          </a:p>
          <a:p>
            <a:pPr lvl="1">
              <a:lnSpc>
                <a:spcPct val="100000"/>
              </a:lnSpc>
            </a:pPr>
            <a:r>
              <a:rPr lang="bg-BG" dirty="0">
                <a:latin typeface="Comfortaa" pitchFamily="2" charset="0"/>
              </a:rPr>
              <a:t>Всичката функционалност на </a:t>
            </a:r>
            <a:r>
              <a:rPr lang="en-US" b="1" noProof="1">
                <a:solidFill>
                  <a:srgbClr val="00B0F0"/>
                </a:solidFill>
                <a:latin typeface="Comfortaa" pitchFamily="2" charset="0"/>
              </a:rPr>
              <a:t>ArrayList</a:t>
            </a:r>
          </a:p>
          <a:p>
            <a:pPr lvl="1">
              <a:lnSpc>
                <a:spcPct val="100000"/>
              </a:lnSpc>
            </a:pPr>
            <a:r>
              <a:rPr lang="bg-BG" dirty="0">
                <a:latin typeface="Comfortaa" pitchFamily="2" charset="0"/>
              </a:rPr>
              <a:t>Функция, която връща и премахва случаен елемент</a:t>
            </a:r>
            <a:endParaRPr lang="en-US" dirty="0">
              <a:latin typeface="Comfortaa" pitchFamily="2" charset="0"/>
            </a:endParaRPr>
          </a:p>
        </p:txBody>
      </p:sp>
      <p:sp>
        <p:nvSpPr>
          <p:cNvPr id="2" name="Title 1"/>
          <p:cNvSpPr>
            <a:spLocks noGrp="1"/>
          </p:cNvSpPr>
          <p:nvPr>
            <p:ph type="title"/>
          </p:nvPr>
        </p:nvSpPr>
        <p:spPr>
          <a:xfrm>
            <a:off x="838200" y="590756"/>
            <a:ext cx="10515600" cy="1325563"/>
          </a:xfrm>
          <a:prstGeom prst="rect">
            <a:avLst/>
          </a:prstGeom>
        </p:spPr>
        <p:txBody>
          <a:bodyPr anchor="ctr" anchorCtr="0"/>
          <a:lstStyle/>
          <a:p>
            <a:pPr>
              <a:lnSpc>
                <a:spcPts val="4000"/>
              </a:lnSpc>
              <a:defRPr/>
            </a:pPr>
            <a:r>
              <a:rPr lang="bg-BG" sz="4000" dirty="0">
                <a:latin typeface="Comfortaa" pitchFamily="2" charset="0"/>
              </a:rPr>
              <a:t>Задача</a:t>
            </a:r>
            <a:r>
              <a:rPr lang="en-US" sz="4000" dirty="0">
                <a:latin typeface="Comfortaa" pitchFamily="2" charset="0"/>
              </a:rPr>
              <a:t>: </a:t>
            </a:r>
            <a:r>
              <a:rPr lang="bg-BG" sz="4000" dirty="0">
                <a:latin typeface="Comfortaa" pitchFamily="2" charset="0"/>
              </a:rPr>
              <a:t>Случаен</a:t>
            </a:r>
            <a:r>
              <a:rPr lang="en-US" sz="4000" dirty="0">
                <a:latin typeface="Comfortaa" pitchFamily="2" charset="0"/>
              </a:rPr>
              <a:t> Array List</a:t>
            </a:r>
            <a:endParaRPr lang="bg-BG" sz="4000" dirty="0">
              <a:latin typeface="Comfortaa" pitchFamily="2" charset="0"/>
            </a:endParaRPr>
          </a:p>
        </p:txBody>
      </p:sp>
      <p:grpSp>
        <p:nvGrpSpPr>
          <p:cNvPr id="8" name="Group 7">
            <a:extLst>
              <a:ext uri="{FF2B5EF4-FFF2-40B4-BE49-F238E27FC236}">
                <a16:creationId xmlns:a16="http://schemas.microsoft.com/office/drawing/2014/main" id="{5705D0DC-1E54-EC51-1144-7E272C0EE3F4}"/>
              </a:ext>
            </a:extLst>
          </p:cNvPr>
          <p:cNvGrpSpPr/>
          <p:nvPr/>
        </p:nvGrpSpPr>
        <p:grpSpPr>
          <a:xfrm>
            <a:off x="1517073" y="3368634"/>
            <a:ext cx="9836727" cy="2645914"/>
            <a:chOff x="1219200" y="3505200"/>
            <a:chExt cx="9836727" cy="2645914"/>
          </a:xfrm>
        </p:grpSpPr>
        <p:sp>
          <p:nvSpPr>
            <p:cNvPr id="18" name="Rectangle: Rounded Corners 17"/>
            <p:cNvSpPr/>
            <p:nvPr/>
          </p:nvSpPr>
          <p:spPr>
            <a:xfrm>
              <a:off x="1219200" y="3505200"/>
              <a:ext cx="4305300" cy="1600200"/>
            </a:xfrm>
            <a:prstGeom prst="roundRect">
              <a:avLst>
                <a:gd name="adj" fmla="val 5385"/>
              </a:avLst>
            </a:prstGeom>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dirty="0">
                  <a:effectLst>
                    <a:outerShdw blurRad="38100" dist="38100" dir="2700000" algn="tl">
                      <a:srgbClr val="000000">
                        <a:alpha val="43137"/>
                      </a:srgbClr>
                    </a:outerShdw>
                  </a:effectLst>
                  <a:latin typeface="Consolas" panose="020B0609020204030204" pitchFamily="49" charset="0"/>
                </a:rPr>
                <a:t>Collections</a:t>
              </a:r>
            </a:p>
          </p:txBody>
        </p:sp>
        <p:sp>
          <p:nvSpPr>
            <p:cNvPr id="19" name="Rectangle: Rounded Corners 18"/>
            <p:cNvSpPr/>
            <p:nvPr/>
          </p:nvSpPr>
          <p:spPr>
            <a:xfrm>
              <a:off x="1430946" y="4212086"/>
              <a:ext cx="3903055" cy="512313"/>
            </a:xfrm>
            <a:prstGeom prst="roundRect">
              <a:avLst>
                <a:gd name="adj" fmla="val 5385"/>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noProof="1">
                  <a:effectLst>
                    <a:outerShdw blurRad="38100" dist="38100" dir="2700000" algn="tl">
                      <a:srgbClr val="000000">
                        <a:alpha val="43137"/>
                      </a:srgbClr>
                    </a:outerShdw>
                  </a:effectLst>
                  <a:latin typeface="Consolas" panose="020B0609020204030204" pitchFamily="49" charset="0"/>
                </a:rPr>
                <a:t>ArrayList</a:t>
              </a:r>
            </a:p>
          </p:txBody>
        </p:sp>
        <p:sp>
          <p:nvSpPr>
            <p:cNvPr id="20" name="Rectangle: Rounded Corners 19"/>
            <p:cNvSpPr/>
            <p:nvPr/>
          </p:nvSpPr>
          <p:spPr>
            <a:xfrm>
              <a:off x="1219200" y="5638801"/>
              <a:ext cx="4305300" cy="512313"/>
            </a:xfrm>
            <a:prstGeom prst="roundRect">
              <a:avLst>
                <a:gd name="adj" fmla="val 5385"/>
              </a:avLst>
            </a:prstGeom>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noProof="1">
                  <a:effectLst>
                    <a:outerShdw blurRad="38100" dist="38100" dir="2700000" algn="tl">
                      <a:srgbClr val="000000">
                        <a:alpha val="43137"/>
                      </a:srgbClr>
                    </a:outerShdw>
                  </a:effectLst>
                  <a:latin typeface="Consolas" panose="020B0609020204030204" pitchFamily="49" charset="0"/>
                </a:rPr>
                <a:t>RandomArrayList</a:t>
              </a:r>
            </a:p>
          </p:txBody>
        </p:sp>
        <p:sp>
          <p:nvSpPr>
            <p:cNvPr id="22" name="AutoShape 6"/>
            <p:cNvSpPr>
              <a:spLocks noChangeArrowheads="1"/>
            </p:cNvSpPr>
            <p:nvPr/>
          </p:nvSpPr>
          <p:spPr bwMode="auto">
            <a:xfrm>
              <a:off x="5903028" y="5469286"/>
              <a:ext cx="5152899" cy="681828"/>
            </a:xfrm>
            <a:prstGeom prst="wedgeRoundRectCallout">
              <a:avLst>
                <a:gd name="adj1" fmla="val -66562"/>
                <a:gd name="adj2" fmla="val 13793"/>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rgbClr val="FFFFFF"/>
                  </a:solidFill>
                </a:rPr>
                <a:t>+</a:t>
              </a:r>
              <a:r>
                <a:rPr lang="en-US" sz="3200" noProof="1">
                  <a:solidFill>
                    <a:srgbClr val="FFFFFF"/>
                  </a:solidFill>
                </a:rPr>
                <a:t>RandomElement</a:t>
              </a:r>
              <a:r>
                <a:rPr lang="en-US" sz="3200" dirty="0">
                  <a:solidFill>
                    <a:srgbClr val="FFFFFF"/>
                  </a:solidFill>
                </a:rPr>
                <a:t>():string</a:t>
              </a:r>
              <a:endParaRPr lang="bg-BG" sz="3200" dirty="0">
                <a:solidFill>
                  <a:schemeClr val="tx2">
                    <a:lumMod val="75000"/>
                  </a:schemeClr>
                </a:solidFill>
              </a:endParaRPr>
            </a:p>
          </p:txBody>
        </p:sp>
        <p:sp>
          <p:nvSpPr>
            <p:cNvPr id="7" name="Arrow: Up 6">
              <a:extLst>
                <a:ext uri="{FF2B5EF4-FFF2-40B4-BE49-F238E27FC236}">
                  <a16:creationId xmlns:a16="http://schemas.microsoft.com/office/drawing/2014/main" id="{A4F08279-ADE2-69F2-BE37-076AA0DE780C}"/>
                </a:ext>
              </a:extLst>
            </p:cNvPr>
            <p:cNvSpPr/>
            <p:nvPr/>
          </p:nvSpPr>
          <p:spPr>
            <a:xfrm>
              <a:off x="2937395" y="4791694"/>
              <a:ext cx="684579" cy="847106"/>
            </a:xfrm>
            <a:prstGeom prst="upArrow">
              <a:avLst>
                <a:gd name="adj1" fmla="val 50000"/>
                <a:gd name="adj2" fmla="val 72603"/>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spTree>
    <p:extLst>
      <p:ext uri="{BB962C8B-B14F-4D97-AF65-F5344CB8AC3E}">
        <p14:creationId xmlns:p14="http://schemas.microsoft.com/office/powerpoint/2010/main" val="223199118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7676" y="486888"/>
            <a:ext cx="10668000" cy="702660"/>
          </a:xfrm>
          <a:prstGeom prst="rect">
            <a:avLst/>
          </a:prstGeom>
        </p:spPr>
        <p:txBody>
          <a:bodyPr anchor="ctr" anchorCtr="0"/>
          <a:lstStyle/>
          <a:p>
            <a:pPr>
              <a:lnSpc>
                <a:spcPts val="4000"/>
              </a:lnSpc>
              <a:defRPr/>
            </a:pPr>
            <a:r>
              <a:rPr lang="bg-BG" sz="4000" dirty="0">
                <a:latin typeface="Comfortaa" pitchFamily="2" charset="0"/>
              </a:rPr>
              <a:t>Решение</a:t>
            </a:r>
            <a:r>
              <a:rPr lang="en-US" sz="4000" dirty="0">
                <a:latin typeface="Comfortaa" pitchFamily="2" charset="0"/>
              </a:rPr>
              <a:t>: </a:t>
            </a:r>
            <a:r>
              <a:rPr lang="bg-BG" sz="4000" dirty="0">
                <a:latin typeface="Comfortaa" pitchFamily="2" charset="0"/>
              </a:rPr>
              <a:t>Случаен </a:t>
            </a:r>
            <a:r>
              <a:rPr lang="en-US" sz="4000" dirty="0">
                <a:latin typeface="Comfortaa" pitchFamily="2" charset="0"/>
              </a:rPr>
              <a:t>Array List</a:t>
            </a:r>
            <a:endParaRPr lang="bg-BG" sz="4000" dirty="0">
              <a:latin typeface="Comfortaa" pitchFamily="2" charset="0"/>
            </a:endParaRPr>
          </a:p>
        </p:txBody>
      </p:sp>
      <p:sp>
        <p:nvSpPr>
          <p:cNvPr id="11" name="Text Placeholder 5"/>
          <p:cNvSpPr txBox="1">
            <a:spLocks/>
          </p:cNvSpPr>
          <p:nvPr/>
        </p:nvSpPr>
        <p:spPr>
          <a:xfrm>
            <a:off x="697676" y="1189547"/>
            <a:ext cx="10693778" cy="4885165"/>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2800" dirty="0">
                <a:solidFill>
                  <a:schemeClr val="bg1"/>
                </a:solidFill>
                <a:effectLst/>
              </a:rPr>
              <a:t>public class RandomList : </a:t>
            </a:r>
            <a:r>
              <a:rPr lang="en-US" sz="2800" dirty="0">
                <a:solidFill>
                  <a:srgbClr val="00B0F0"/>
                </a:solidFill>
                <a:effectLst/>
              </a:rPr>
              <a:t>ArrayList</a:t>
            </a:r>
          </a:p>
          <a:p>
            <a:r>
              <a:rPr lang="en-US" sz="2800" dirty="0">
                <a:solidFill>
                  <a:schemeClr val="bg1"/>
                </a:solidFill>
                <a:effectLst/>
              </a:rPr>
              <a:t>{</a:t>
            </a:r>
          </a:p>
          <a:p>
            <a:r>
              <a:rPr lang="en-US" sz="2800" dirty="0">
                <a:solidFill>
                  <a:schemeClr val="bg1"/>
                </a:solidFill>
                <a:effectLst/>
              </a:rPr>
              <a:t>  private Random </a:t>
            </a:r>
            <a:r>
              <a:rPr lang="en-US" sz="2800" dirty="0" err="1">
                <a:solidFill>
                  <a:schemeClr val="bg1"/>
                </a:solidFill>
                <a:effectLst/>
              </a:rPr>
              <a:t>rnd</a:t>
            </a:r>
            <a:r>
              <a:rPr lang="en-US" sz="2800" dirty="0">
                <a:solidFill>
                  <a:schemeClr val="bg1"/>
                </a:solidFill>
                <a:effectLst/>
              </a:rPr>
              <a:t>;</a:t>
            </a:r>
          </a:p>
          <a:p>
            <a:r>
              <a:rPr lang="en-US" sz="2800" dirty="0">
                <a:solidFill>
                  <a:schemeClr val="bg1"/>
                </a:solidFill>
                <a:effectLst/>
              </a:rPr>
              <a:t>  public object </a:t>
            </a:r>
            <a:r>
              <a:rPr lang="en-US" sz="2800" dirty="0" err="1">
                <a:solidFill>
                  <a:srgbClr val="00B0F0"/>
                </a:solidFill>
                <a:effectLst/>
              </a:rPr>
              <a:t>RandomString</a:t>
            </a:r>
            <a:r>
              <a:rPr lang="en-US" sz="2800" dirty="0">
                <a:solidFill>
                  <a:schemeClr val="bg1"/>
                </a:solidFill>
                <a:effectLst/>
              </a:rPr>
              <a:t>()</a:t>
            </a:r>
          </a:p>
          <a:p>
            <a:r>
              <a:rPr lang="en-US" sz="2800" dirty="0">
                <a:solidFill>
                  <a:schemeClr val="bg1"/>
                </a:solidFill>
                <a:effectLst/>
              </a:rPr>
              <a:t>  {</a:t>
            </a:r>
          </a:p>
          <a:p>
            <a:r>
              <a:rPr lang="en-US" sz="2800" dirty="0">
                <a:solidFill>
                  <a:schemeClr val="bg1"/>
                </a:solidFill>
                <a:effectLst/>
              </a:rPr>
              <a:t>    int element = rnd.Next(0, data.Count - 1);</a:t>
            </a:r>
          </a:p>
          <a:p>
            <a:r>
              <a:rPr lang="en-US" sz="2800" dirty="0">
                <a:solidFill>
                  <a:schemeClr val="bg1"/>
                </a:solidFill>
                <a:effectLst/>
              </a:rPr>
              <a:t>    string str = data[element];</a:t>
            </a:r>
          </a:p>
          <a:p>
            <a:r>
              <a:rPr lang="en-US" sz="2800" dirty="0">
                <a:solidFill>
                  <a:schemeClr val="bg1"/>
                </a:solidFill>
                <a:effectLst/>
              </a:rPr>
              <a:t>    data.Remove(str);</a:t>
            </a:r>
          </a:p>
          <a:p>
            <a:r>
              <a:rPr lang="en-US" sz="2800" dirty="0">
                <a:solidFill>
                  <a:schemeClr val="bg1"/>
                </a:solidFill>
                <a:effectLst/>
              </a:rPr>
              <a:t>    return str;</a:t>
            </a:r>
          </a:p>
          <a:p>
            <a:r>
              <a:rPr lang="en-US" sz="2800" dirty="0">
                <a:solidFill>
                  <a:schemeClr val="bg1"/>
                </a:solidFill>
                <a:effectLst/>
              </a:rPr>
              <a:t>  } </a:t>
            </a:r>
          </a:p>
          <a:p>
            <a:r>
              <a:rPr lang="en-US" sz="2800" dirty="0">
                <a:solidFill>
                  <a:schemeClr val="bg1"/>
                </a:solidFill>
                <a:effectLst/>
              </a:rPr>
              <a:t>}</a:t>
            </a:r>
          </a:p>
        </p:txBody>
      </p:sp>
    </p:spTree>
    <p:extLst>
      <p:ext uri="{BB962C8B-B14F-4D97-AF65-F5344CB8AC3E}">
        <p14:creationId xmlns:p14="http://schemas.microsoft.com/office/powerpoint/2010/main" val="103591948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4184302"/>
            <a:ext cx="10515600" cy="1457698"/>
          </a:xfrm>
        </p:spPr>
        <p:txBody>
          <a:bodyPr>
            <a:normAutofit fontScale="90000"/>
          </a:bodyPr>
          <a:lstStyle/>
          <a:p>
            <a:pPr>
              <a:lnSpc>
                <a:spcPts val="5400"/>
              </a:lnSpc>
            </a:pPr>
            <a:r>
              <a:rPr lang="bg-BG" dirty="0">
                <a:latin typeface="Comfortaa" pitchFamily="2" charset="0"/>
              </a:rPr>
              <a:t>Видове преизползване на класове</a:t>
            </a:r>
            <a:endParaRPr lang="en-US" dirty="0">
              <a:latin typeface="Comfortaa" pitchFamily="2" charset="0"/>
            </a:endParaRPr>
          </a:p>
        </p:txBody>
      </p:sp>
      <p:sp>
        <p:nvSpPr>
          <p:cNvPr id="7" name="Text Placeholder 6"/>
          <p:cNvSpPr>
            <a:spLocks noGrp="1"/>
          </p:cNvSpPr>
          <p:nvPr>
            <p:ph type="body" idx="1"/>
          </p:nvPr>
        </p:nvSpPr>
        <p:spPr>
          <a:xfrm>
            <a:off x="1348528" y="5754970"/>
            <a:ext cx="9776672" cy="907088"/>
          </a:xfrm>
        </p:spPr>
        <p:txBody>
          <a:bodyPr/>
          <a:lstStyle/>
          <a:p>
            <a:r>
              <a:rPr lang="bg-BG" dirty="0">
                <a:latin typeface="Comfortaa" pitchFamily="2" charset="0"/>
              </a:rPr>
              <a:t>Разширяване, композиция, делегиране</a:t>
            </a:r>
            <a:endParaRPr lang="en-GB" dirty="0">
              <a:latin typeface="Comfortaa" pitchFamily="2" charset="0"/>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47085" y="935183"/>
            <a:ext cx="2697830" cy="2731981"/>
          </a:xfrm>
          <a:prstGeom prst="rect">
            <a:avLst/>
          </a:prstGeom>
        </p:spPr>
      </p:pic>
    </p:spTree>
    <p:extLst>
      <p:ext uri="{BB962C8B-B14F-4D97-AF65-F5344CB8AC3E}">
        <p14:creationId xmlns:p14="http://schemas.microsoft.com/office/powerpoint/2010/main" val="1204770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49750"/>
            <a:ext cx="9997028" cy="1776700"/>
          </a:xfrm>
        </p:spPr>
        <p:txBody>
          <a:bodyPr/>
          <a:lstStyle/>
          <a:p>
            <a:r>
              <a:rPr lang="bg-BG" b="1" dirty="0">
                <a:solidFill>
                  <a:srgbClr val="00B0F0"/>
                </a:solidFill>
                <a:latin typeface="Comfortaa" pitchFamily="2" charset="0"/>
              </a:rPr>
              <a:t>Дублирането</a:t>
            </a:r>
            <a:r>
              <a:rPr lang="bg-BG" dirty="0">
                <a:solidFill>
                  <a:schemeClr val="tx2">
                    <a:lumMod val="75000"/>
                  </a:schemeClr>
                </a:solidFill>
                <a:latin typeface="Comfortaa" pitchFamily="2" charset="0"/>
              </a:rPr>
              <a:t> </a:t>
            </a:r>
            <a:r>
              <a:rPr lang="bg-BG" dirty="0">
                <a:latin typeface="Comfortaa" pitchFamily="2" charset="0"/>
              </a:rPr>
              <a:t>на код</a:t>
            </a:r>
            <a:r>
              <a:rPr lang="en-GB" dirty="0">
                <a:latin typeface="Comfortaa" pitchFamily="2" charset="0"/>
              </a:rPr>
              <a:t> </a:t>
            </a:r>
            <a:r>
              <a:rPr lang="bg-BG" dirty="0">
                <a:latin typeface="Comfortaa" pitchFamily="2" charset="0"/>
              </a:rPr>
              <a:t>е податливо на грешки</a:t>
            </a:r>
            <a:endParaRPr lang="en-GB" dirty="0">
              <a:latin typeface="Comfortaa" pitchFamily="2" charset="0"/>
            </a:endParaRPr>
          </a:p>
          <a:p>
            <a:r>
              <a:rPr lang="bg-BG" b="1" dirty="0">
                <a:solidFill>
                  <a:srgbClr val="00B0F0"/>
                </a:solidFill>
                <a:latin typeface="Comfortaa" pitchFamily="2" charset="0"/>
              </a:rPr>
              <a:t>Преизползване</a:t>
            </a:r>
            <a:r>
              <a:rPr lang="bg-BG" dirty="0">
                <a:solidFill>
                  <a:schemeClr val="tx2">
                    <a:lumMod val="75000"/>
                  </a:schemeClr>
                </a:solidFill>
                <a:latin typeface="Comfortaa" pitchFamily="2" charset="0"/>
              </a:rPr>
              <a:t> </a:t>
            </a:r>
            <a:r>
              <a:rPr lang="bg-BG" dirty="0">
                <a:latin typeface="Comfortaa" pitchFamily="2" charset="0"/>
              </a:rPr>
              <a:t>на код</a:t>
            </a:r>
            <a:r>
              <a:rPr lang="en-GB" dirty="0">
                <a:latin typeface="Comfortaa" pitchFamily="2" charset="0"/>
              </a:rPr>
              <a:t> </a:t>
            </a:r>
            <a:r>
              <a:rPr lang="bg-BG" dirty="0">
                <a:latin typeface="Comfortaa" pitchFamily="2" charset="0"/>
              </a:rPr>
              <a:t>чрез </a:t>
            </a:r>
            <a:r>
              <a:rPr lang="bg-BG" b="1" dirty="0">
                <a:solidFill>
                  <a:srgbClr val="00B0F0"/>
                </a:solidFill>
                <a:latin typeface="Comfortaa" pitchFamily="2" charset="0"/>
              </a:rPr>
              <a:t>разширение</a:t>
            </a:r>
            <a:endParaRPr lang="en-GB" b="1" dirty="0">
              <a:solidFill>
                <a:srgbClr val="00B0F0"/>
              </a:solidFill>
              <a:latin typeface="Comfortaa" pitchFamily="2" charset="0"/>
            </a:endParaRPr>
          </a:p>
          <a:p>
            <a:r>
              <a:rPr lang="bg-BG" dirty="0">
                <a:latin typeface="Comfortaa" pitchFamily="2" charset="0"/>
              </a:rPr>
              <a:t>Понякога това е единствения начин</a:t>
            </a:r>
            <a:endParaRPr lang="en-GB" dirty="0">
              <a:latin typeface="Comfortaa" pitchFamily="2" charset="0"/>
            </a:endParaRPr>
          </a:p>
        </p:txBody>
      </p:sp>
      <p:sp>
        <p:nvSpPr>
          <p:cNvPr id="4" name="Title 3"/>
          <p:cNvSpPr>
            <a:spLocks noGrp="1"/>
          </p:cNvSpPr>
          <p:nvPr>
            <p:ph type="title"/>
          </p:nvPr>
        </p:nvSpPr>
        <p:spPr>
          <a:xfrm>
            <a:off x="838200" y="464085"/>
            <a:ext cx="10515600" cy="985664"/>
          </a:xfrm>
        </p:spPr>
        <p:txBody>
          <a:bodyPr>
            <a:normAutofit/>
          </a:bodyPr>
          <a:lstStyle/>
          <a:p>
            <a:r>
              <a:rPr lang="bg-BG" dirty="0">
                <a:latin typeface="Comfortaa" pitchFamily="2" charset="0"/>
              </a:rPr>
              <a:t>Разширяване</a:t>
            </a:r>
            <a:endParaRPr lang="en-US" dirty="0">
              <a:latin typeface="Comfortaa" pitchFamily="2" charset="0"/>
            </a:endParaRPr>
          </a:p>
        </p:txBody>
      </p:sp>
      <p:grpSp>
        <p:nvGrpSpPr>
          <p:cNvPr id="6" name="Group 5">
            <a:extLst>
              <a:ext uri="{FF2B5EF4-FFF2-40B4-BE49-F238E27FC236}">
                <a16:creationId xmlns:a16="http://schemas.microsoft.com/office/drawing/2014/main" id="{B9F0FA4B-3D04-1767-8375-FDB7E9B8B715}"/>
              </a:ext>
            </a:extLst>
          </p:cNvPr>
          <p:cNvGrpSpPr/>
          <p:nvPr/>
        </p:nvGrpSpPr>
        <p:grpSpPr>
          <a:xfrm>
            <a:off x="3411186" y="3429000"/>
            <a:ext cx="5195507" cy="2819400"/>
            <a:chOff x="3428999" y="3429000"/>
            <a:chExt cx="5195507" cy="2819400"/>
          </a:xfrm>
        </p:grpSpPr>
        <p:sp>
          <p:nvSpPr>
            <p:cNvPr id="11" name="Rectangle: Rounded Corners 10"/>
            <p:cNvSpPr/>
            <p:nvPr/>
          </p:nvSpPr>
          <p:spPr>
            <a:xfrm>
              <a:off x="3429000" y="3429000"/>
              <a:ext cx="5195506" cy="1828800"/>
            </a:xfrm>
            <a:prstGeom prst="roundRect">
              <a:avLst>
                <a:gd name="adj" fmla="val 5385"/>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dirty="0">
                  <a:effectLst>
                    <a:outerShdw blurRad="38100" dist="38100" dir="2700000" algn="tl">
                      <a:srgbClr val="000000">
                        <a:alpha val="43137"/>
                      </a:srgbClr>
                    </a:outerShdw>
                  </a:effectLst>
                  <a:latin typeface="Consolas" panose="020B0609020204030204" pitchFamily="49" charset="0"/>
                </a:rPr>
                <a:t>Collections</a:t>
              </a:r>
            </a:p>
          </p:txBody>
        </p:sp>
        <p:sp>
          <p:nvSpPr>
            <p:cNvPr id="12" name="Rectangle: Rounded Corners 11"/>
            <p:cNvSpPr/>
            <p:nvPr/>
          </p:nvSpPr>
          <p:spPr>
            <a:xfrm>
              <a:off x="3671709" y="4291299"/>
              <a:ext cx="4710089" cy="585500"/>
            </a:xfrm>
            <a:prstGeom prst="roundRect">
              <a:avLst>
                <a:gd name="adj" fmla="val 5385"/>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noProof="1">
                  <a:effectLst>
                    <a:outerShdw blurRad="38100" dist="38100" dir="2700000" algn="tl">
                      <a:srgbClr val="000000">
                        <a:alpha val="43137"/>
                      </a:srgbClr>
                    </a:outerShdw>
                  </a:effectLst>
                  <a:latin typeface="Consolas" panose="020B0609020204030204" pitchFamily="49" charset="0"/>
                </a:rPr>
                <a:t>ArrayList</a:t>
              </a:r>
            </a:p>
          </p:txBody>
        </p:sp>
        <p:sp>
          <p:nvSpPr>
            <p:cNvPr id="13" name="Rectangle: Rounded Corners 12"/>
            <p:cNvSpPr/>
            <p:nvPr/>
          </p:nvSpPr>
          <p:spPr>
            <a:xfrm>
              <a:off x="3428999" y="5662900"/>
              <a:ext cx="5195507" cy="585500"/>
            </a:xfrm>
            <a:prstGeom prst="roundRect">
              <a:avLst>
                <a:gd name="adj" fmla="val 5385"/>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noProof="1">
                  <a:effectLst>
                    <a:outerShdw blurRad="38100" dist="38100" dir="2700000" algn="tl">
                      <a:srgbClr val="000000">
                        <a:alpha val="43137"/>
                      </a:srgbClr>
                    </a:outerShdw>
                  </a:effectLst>
                  <a:latin typeface="Consolas" panose="020B0609020204030204" pitchFamily="49" charset="0"/>
                </a:rPr>
                <a:t>CustomArrayList</a:t>
              </a:r>
            </a:p>
          </p:txBody>
        </p:sp>
        <p:sp>
          <p:nvSpPr>
            <p:cNvPr id="5" name="Arrow: Up 4">
              <a:extLst>
                <a:ext uri="{FF2B5EF4-FFF2-40B4-BE49-F238E27FC236}">
                  <a16:creationId xmlns:a16="http://schemas.microsoft.com/office/drawing/2014/main" id="{273CE836-0E2D-8C3E-B8AF-CB765930E82D}"/>
                </a:ext>
              </a:extLst>
            </p:cNvPr>
            <p:cNvSpPr/>
            <p:nvPr/>
          </p:nvSpPr>
          <p:spPr>
            <a:xfrm>
              <a:off x="5568069" y="4975760"/>
              <a:ext cx="808980" cy="687139"/>
            </a:xfrm>
            <a:prstGeom prst="upArrow">
              <a:avLst>
                <a:gd name="adj1" fmla="val 50000"/>
                <a:gd name="adj2" fmla="val 67316"/>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spTree>
    <p:extLst>
      <p:ext uri="{BB962C8B-B14F-4D97-AF65-F5344CB8AC3E}">
        <p14:creationId xmlns:p14="http://schemas.microsoft.com/office/powerpoint/2010/main" val="4245396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66413"/>
            <a:ext cx="10515600" cy="538687"/>
          </a:xfrm>
        </p:spPr>
        <p:txBody>
          <a:bodyPr/>
          <a:lstStyle/>
          <a:p>
            <a:pPr marL="0" indent="0">
              <a:buNone/>
            </a:pPr>
            <a:r>
              <a:rPr lang="bg-BG" dirty="0">
                <a:latin typeface="Comfortaa" pitchFamily="2" charset="0"/>
              </a:rPr>
              <a:t>Използване на класове за дефиниране на друг клас</a:t>
            </a:r>
            <a:endParaRPr lang="en-GB" dirty="0">
              <a:latin typeface="Comfortaa" pitchFamily="2" charset="0"/>
            </a:endParaRPr>
          </a:p>
        </p:txBody>
      </p:sp>
      <p:sp>
        <p:nvSpPr>
          <p:cNvPr id="4" name="Title 3"/>
          <p:cNvSpPr>
            <a:spLocks noGrp="1"/>
          </p:cNvSpPr>
          <p:nvPr>
            <p:ph type="title"/>
          </p:nvPr>
        </p:nvSpPr>
        <p:spPr>
          <a:xfrm>
            <a:off x="790218" y="431739"/>
            <a:ext cx="10515600" cy="812919"/>
          </a:xfrm>
        </p:spPr>
        <p:txBody>
          <a:bodyPr>
            <a:normAutofit/>
          </a:bodyPr>
          <a:lstStyle/>
          <a:p>
            <a:r>
              <a:rPr lang="bg-BG" dirty="0">
                <a:latin typeface="Comfortaa" pitchFamily="2" charset="0"/>
              </a:rPr>
              <a:t>Композиция</a:t>
            </a:r>
            <a:endParaRPr lang="en-US" dirty="0">
              <a:latin typeface="Comfortaa" pitchFamily="2" charset="0"/>
            </a:endParaRPr>
          </a:p>
        </p:txBody>
      </p:sp>
      <p:sp>
        <p:nvSpPr>
          <p:cNvPr id="19" name="Text Placeholder 5"/>
          <p:cNvSpPr txBox="1">
            <a:spLocks/>
          </p:cNvSpPr>
          <p:nvPr/>
        </p:nvSpPr>
        <p:spPr>
          <a:xfrm>
            <a:off x="790219" y="1816925"/>
            <a:ext cx="5545268" cy="3542096"/>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vert="horz" wrap="square" lIns="144000" tIns="108000" rIns="144000" bIns="108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600" dirty="0">
                <a:solidFill>
                  <a:schemeClr val="bg1"/>
                </a:solidFill>
                <a:effectLst/>
              </a:rPr>
              <a:t>class </a:t>
            </a:r>
            <a:r>
              <a:rPr lang="en-GB" sz="3600" dirty="0">
                <a:solidFill>
                  <a:srgbClr val="00B0F0"/>
                </a:solidFill>
                <a:effectLst/>
              </a:rPr>
              <a:t>Laptop</a:t>
            </a:r>
            <a:r>
              <a:rPr lang="en-US" sz="3600" dirty="0">
                <a:solidFill>
                  <a:schemeClr val="bg1"/>
                </a:solidFill>
                <a:effectLst/>
              </a:rPr>
              <a:t> {</a:t>
            </a:r>
          </a:p>
          <a:p>
            <a:r>
              <a:rPr lang="en-US" sz="3600" dirty="0">
                <a:solidFill>
                  <a:schemeClr val="bg1"/>
                </a:solidFill>
                <a:effectLst/>
              </a:rPr>
              <a:t>  </a:t>
            </a:r>
            <a:r>
              <a:rPr lang="en-US" sz="3600" dirty="0">
                <a:solidFill>
                  <a:srgbClr val="00B0F0"/>
                </a:solidFill>
                <a:effectLst/>
              </a:rPr>
              <a:t>Monitor</a:t>
            </a:r>
            <a:r>
              <a:rPr lang="en-US" sz="3600" dirty="0">
                <a:solidFill>
                  <a:schemeClr val="bg1"/>
                </a:solidFill>
                <a:effectLst/>
              </a:rPr>
              <a:t> monitor;</a:t>
            </a:r>
          </a:p>
          <a:p>
            <a:r>
              <a:rPr lang="en-US" sz="3600" dirty="0">
                <a:solidFill>
                  <a:schemeClr val="bg1"/>
                </a:solidFill>
                <a:effectLst/>
              </a:rPr>
              <a:t>  </a:t>
            </a:r>
            <a:r>
              <a:rPr lang="en-US" sz="3600" dirty="0">
                <a:solidFill>
                  <a:srgbClr val="00B0F0"/>
                </a:solidFill>
                <a:effectLst/>
              </a:rPr>
              <a:t>Touchpad</a:t>
            </a:r>
            <a:r>
              <a:rPr lang="en-US" sz="3600" dirty="0">
                <a:solidFill>
                  <a:schemeClr val="bg1"/>
                </a:solidFill>
                <a:effectLst/>
              </a:rPr>
              <a:t> touchpad;</a:t>
            </a:r>
          </a:p>
          <a:p>
            <a:r>
              <a:rPr lang="en-US" sz="3600" dirty="0">
                <a:solidFill>
                  <a:schemeClr val="bg1"/>
                </a:solidFill>
                <a:effectLst/>
              </a:rPr>
              <a:t>  </a:t>
            </a:r>
            <a:r>
              <a:rPr lang="en-US" sz="3600" dirty="0">
                <a:solidFill>
                  <a:srgbClr val="00B0F0"/>
                </a:solidFill>
                <a:effectLst/>
              </a:rPr>
              <a:t>Keyboard</a:t>
            </a:r>
            <a:r>
              <a:rPr lang="en-US" sz="3600" dirty="0">
                <a:solidFill>
                  <a:schemeClr val="bg1"/>
                </a:solidFill>
                <a:effectLst/>
              </a:rPr>
              <a:t> keyboard;</a:t>
            </a:r>
          </a:p>
          <a:p>
            <a:r>
              <a:rPr lang="en-US" sz="3600" dirty="0">
                <a:solidFill>
                  <a:schemeClr val="bg1"/>
                </a:solidFill>
                <a:effectLst/>
              </a:rPr>
              <a:t>  …</a:t>
            </a:r>
          </a:p>
          <a:p>
            <a:r>
              <a:rPr lang="en-US" sz="3600" dirty="0">
                <a:solidFill>
                  <a:schemeClr val="bg1"/>
                </a:solidFill>
                <a:effectLst/>
              </a:rPr>
              <a:t>}</a:t>
            </a:r>
          </a:p>
        </p:txBody>
      </p:sp>
      <p:sp>
        <p:nvSpPr>
          <p:cNvPr id="20" name="AutoShape 6"/>
          <p:cNvSpPr>
            <a:spLocks noChangeArrowheads="1"/>
          </p:cNvSpPr>
          <p:nvPr/>
        </p:nvSpPr>
        <p:spPr bwMode="auto">
          <a:xfrm>
            <a:off x="2133601" y="4876799"/>
            <a:ext cx="3496022" cy="1458688"/>
          </a:xfrm>
          <a:prstGeom prst="wedgeRoundRectCallout">
            <a:avLst>
              <a:gd name="adj1" fmla="val -31803"/>
              <a:gd name="adj2" fmla="val -98929"/>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dirty="0">
                <a:solidFill>
                  <a:srgbClr val="FFFFFF"/>
                </a:solidFill>
                <a:latin typeface="Comfortaa" pitchFamily="2" charset="0"/>
              </a:rPr>
              <a:t>Преизползване на класове</a:t>
            </a:r>
            <a:endParaRPr lang="bg-BG" sz="2800" dirty="0">
              <a:solidFill>
                <a:schemeClr val="tx2">
                  <a:lumMod val="75000"/>
                </a:schemeClr>
              </a:solidFill>
              <a:latin typeface="Comfortaa" pitchFamily="2" charset="0"/>
            </a:endParaRPr>
          </a:p>
        </p:txBody>
      </p:sp>
      <p:sp>
        <p:nvSpPr>
          <p:cNvPr id="7" name="Rectangle: Rounded Corners 6"/>
          <p:cNvSpPr/>
          <p:nvPr/>
        </p:nvSpPr>
        <p:spPr>
          <a:xfrm>
            <a:off x="6690267" y="1816925"/>
            <a:ext cx="4805048" cy="4518562"/>
          </a:xfrm>
          <a:prstGeom prst="roundRect">
            <a:avLst>
              <a:gd name="adj" fmla="val 5385"/>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7200" dirty="0">
                <a:effectLst>
                  <a:outerShdw blurRad="38100" dist="38100" dir="2700000" algn="tl">
                    <a:srgbClr val="000000">
                      <a:alpha val="43137"/>
                    </a:srgbClr>
                  </a:outerShdw>
                </a:effectLst>
              </a:rPr>
              <a:t>Laptop</a:t>
            </a:r>
          </a:p>
        </p:txBody>
      </p:sp>
      <p:sp>
        <p:nvSpPr>
          <p:cNvPr id="8" name="Rectangle: Rounded Corners 7"/>
          <p:cNvSpPr/>
          <p:nvPr/>
        </p:nvSpPr>
        <p:spPr>
          <a:xfrm>
            <a:off x="6975301" y="3247613"/>
            <a:ext cx="4302299" cy="781326"/>
          </a:xfrm>
          <a:prstGeom prst="roundRect">
            <a:avLst>
              <a:gd name="adj" fmla="val 5385"/>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4000" dirty="0">
                <a:effectLst>
                  <a:outerShdw blurRad="38100" dist="38100" dir="2700000" algn="tl">
                    <a:srgbClr val="000000">
                      <a:alpha val="43137"/>
                    </a:srgbClr>
                  </a:outerShdw>
                </a:effectLst>
              </a:rPr>
              <a:t>Monitor</a:t>
            </a:r>
            <a:endParaRPr lang="en-US" sz="4000" dirty="0">
              <a:effectLst>
                <a:outerShdw blurRad="38100" dist="38100" dir="2700000" algn="tl">
                  <a:srgbClr val="000000">
                    <a:alpha val="43137"/>
                  </a:srgbClr>
                </a:outerShdw>
              </a:effectLst>
            </a:endParaRPr>
          </a:p>
        </p:txBody>
      </p:sp>
      <p:sp>
        <p:nvSpPr>
          <p:cNvPr id="9" name="Rectangle: Rounded Corners 8"/>
          <p:cNvSpPr/>
          <p:nvPr/>
        </p:nvSpPr>
        <p:spPr>
          <a:xfrm>
            <a:off x="6975302" y="4247816"/>
            <a:ext cx="4302299" cy="781385"/>
          </a:xfrm>
          <a:prstGeom prst="roundRect">
            <a:avLst>
              <a:gd name="adj" fmla="val 5385"/>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4000" dirty="0">
                <a:effectLst>
                  <a:outerShdw blurRad="38100" dist="38100" dir="2700000" algn="tl">
                    <a:srgbClr val="000000">
                      <a:alpha val="43137"/>
                    </a:srgbClr>
                  </a:outerShdw>
                </a:effectLst>
              </a:rPr>
              <a:t>Touchpad</a:t>
            </a:r>
            <a:endParaRPr lang="en-US" sz="4000" dirty="0">
              <a:effectLst>
                <a:outerShdw blurRad="38100" dist="38100" dir="2700000" algn="tl">
                  <a:srgbClr val="000000">
                    <a:alpha val="43137"/>
                  </a:srgbClr>
                </a:outerShdw>
              </a:effectLst>
            </a:endParaRPr>
          </a:p>
        </p:txBody>
      </p:sp>
      <p:sp>
        <p:nvSpPr>
          <p:cNvPr id="10" name="Rectangle: Rounded Corners 9"/>
          <p:cNvSpPr/>
          <p:nvPr/>
        </p:nvSpPr>
        <p:spPr>
          <a:xfrm>
            <a:off x="6962640" y="5240638"/>
            <a:ext cx="4302299" cy="779163"/>
          </a:xfrm>
          <a:prstGeom prst="roundRect">
            <a:avLst>
              <a:gd name="adj" fmla="val 5385"/>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4000" dirty="0">
                <a:effectLst>
                  <a:outerShdw blurRad="38100" dist="38100" dir="2700000" algn="tl">
                    <a:srgbClr val="000000">
                      <a:alpha val="43137"/>
                    </a:srgbClr>
                  </a:outerShdw>
                </a:effectLst>
              </a:rPr>
              <a:t>Keyboard</a:t>
            </a:r>
            <a:endParaRPr lang="en-US" sz="4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44781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44137" y="80117"/>
            <a:ext cx="10515600" cy="1325563"/>
          </a:xfrm>
        </p:spPr>
        <p:txBody>
          <a:bodyPr>
            <a:normAutofit/>
          </a:bodyPr>
          <a:lstStyle/>
          <a:p>
            <a:r>
              <a:rPr lang="bg-BG" dirty="0">
                <a:latin typeface="Comfortaa" pitchFamily="2" charset="0"/>
              </a:rPr>
              <a:t>Делегиране</a:t>
            </a:r>
            <a:endParaRPr lang="en-US" dirty="0">
              <a:latin typeface="Comfortaa" pitchFamily="2" charset="0"/>
            </a:endParaRPr>
          </a:p>
        </p:txBody>
      </p:sp>
      <p:sp>
        <p:nvSpPr>
          <p:cNvPr id="19" name="Text Placeholder 5"/>
          <p:cNvSpPr txBox="1">
            <a:spLocks/>
          </p:cNvSpPr>
          <p:nvPr/>
        </p:nvSpPr>
        <p:spPr>
          <a:xfrm>
            <a:off x="940130" y="1161846"/>
            <a:ext cx="9601202" cy="5142534"/>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108000" rIns="144000" bIns="108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200" dirty="0">
                <a:solidFill>
                  <a:schemeClr val="bg1"/>
                </a:solidFill>
              </a:rPr>
              <a:t>class </a:t>
            </a:r>
            <a:r>
              <a:rPr lang="en-GB" sz="3200" dirty="0">
                <a:solidFill>
                  <a:srgbClr val="00B0F0"/>
                </a:solidFill>
              </a:rPr>
              <a:t>Laptop</a:t>
            </a:r>
            <a:r>
              <a:rPr lang="en-US" sz="3200" dirty="0">
                <a:solidFill>
                  <a:schemeClr val="bg1"/>
                </a:solidFill>
              </a:rPr>
              <a:t> </a:t>
            </a:r>
          </a:p>
          <a:p>
            <a:r>
              <a:rPr lang="en-US" sz="3200" dirty="0">
                <a:solidFill>
                  <a:schemeClr val="bg1"/>
                </a:solidFill>
              </a:rPr>
              <a:t>{</a:t>
            </a:r>
          </a:p>
          <a:p>
            <a:r>
              <a:rPr lang="en-US" sz="3200" dirty="0">
                <a:solidFill>
                  <a:schemeClr val="bg1"/>
                </a:solidFill>
              </a:rPr>
              <a:t>  </a:t>
            </a:r>
            <a:r>
              <a:rPr lang="en-US" sz="3200" dirty="0">
                <a:solidFill>
                  <a:srgbClr val="00B0F0"/>
                </a:solidFill>
              </a:rPr>
              <a:t>Monitor</a:t>
            </a:r>
            <a:r>
              <a:rPr lang="en-US" sz="3200" dirty="0">
                <a:solidFill>
                  <a:schemeClr val="bg1"/>
                </a:solidFill>
              </a:rPr>
              <a:t> </a:t>
            </a:r>
            <a:r>
              <a:rPr lang="en-US" sz="3200" dirty="0" err="1">
                <a:solidFill>
                  <a:schemeClr val="bg1"/>
                </a:solidFill>
              </a:rPr>
              <a:t>monitor</a:t>
            </a:r>
            <a:r>
              <a:rPr lang="en-US" sz="3200" dirty="0">
                <a:solidFill>
                  <a:schemeClr val="bg1"/>
                </a:solidFill>
              </a:rPr>
              <a:t>;</a:t>
            </a:r>
          </a:p>
          <a:p>
            <a:endParaRPr lang="en-US" sz="3200" dirty="0">
              <a:solidFill>
                <a:schemeClr val="bg1"/>
              </a:solidFill>
            </a:endParaRPr>
          </a:p>
          <a:p>
            <a:r>
              <a:rPr lang="en-US" sz="3200" dirty="0">
                <a:solidFill>
                  <a:schemeClr val="bg1"/>
                </a:solidFill>
              </a:rPr>
              <a:t>  void IncrBrightness()</a:t>
            </a:r>
          </a:p>
          <a:p>
            <a:r>
              <a:rPr lang="en-US" sz="3200" dirty="0">
                <a:solidFill>
                  <a:schemeClr val="bg1"/>
                </a:solidFill>
              </a:rPr>
              <a:t>  </a:t>
            </a:r>
            <a:r>
              <a:rPr lang="en-US" sz="3200" dirty="0" err="1">
                <a:solidFill>
                  <a:schemeClr val="bg1"/>
                </a:solidFill>
              </a:rPr>
              <a:t>monitor.Brighten</a:t>
            </a:r>
            <a:r>
              <a:rPr lang="en-US" sz="3200" dirty="0">
                <a:solidFill>
                  <a:schemeClr val="bg1"/>
                </a:solidFill>
              </a:rPr>
              <a:t>();</a:t>
            </a:r>
          </a:p>
          <a:p>
            <a:endParaRPr lang="en-US" sz="3200" dirty="0">
              <a:solidFill>
                <a:schemeClr val="bg1"/>
              </a:solidFill>
            </a:endParaRPr>
          </a:p>
          <a:p>
            <a:r>
              <a:rPr lang="en-US" sz="3200" dirty="0">
                <a:solidFill>
                  <a:schemeClr val="bg1"/>
                </a:solidFill>
              </a:rPr>
              <a:t>  void DecrBrightness()</a:t>
            </a:r>
          </a:p>
          <a:p>
            <a:r>
              <a:rPr lang="en-US" sz="3200" dirty="0">
                <a:solidFill>
                  <a:schemeClr val="bg1"/>
                </a:solidFill>
              </a:rPr>
              <a:t>  </a:t>
            </a:r>
            <a:r>
              <a:rPr lang="en-US" sz="3200" dirty="0" err="1">
                <a:solidFill>
                  <a:schemeClr val="bg1"/>
                </a:solidFill>
              </a:rPr>
              <a:t>monitor.Dim</a:t>
            </a:r>
            <a:r>
              <a:rPr lang="en-US" sz="3200" dirty="0">
                <a:solidFill>
                  <a:schemeClr val="bg1"/>
                </a:solidFill>
              </a:rPr>
              <a:t>();</a:t>
            </a:r>
          </a:p>
          <a:p>
            <a:r>
              <a:rPr lang="en-US" sz="3200" dirty="0">
                <a:solidFill>
                  <a:schemeClr val="bg1"/>
                </a:solidFill>
              </a:rPr>
              <a:t>}</a:t>
            </a:r>
          </a:p>
        </p:txBody>
      </p:sp>
      <p:grpSp>
        <p:nvGrpSpPr>
          <p:cNvPr id="5" name="Group 4"/>
          <p:cNvGrpSpPr/>
          <p:nvPr/>
        </p:nvGrpSpPr>
        <p:grpSpPr>
          <a:xfrm>
            <a:off x="7360077" y="1809954"/>
            <a:ext cx="4206335" cy="3886200"/>
            <a:chOff x="6820502" y="1710512"/>
            <a:chExt cx="4815935" cy="3649479"/>
          </a:xfrm>
        </p:grpSpPr>
        <p:sp>
          <p:nvSpPr>
            <p:cNvPr id="7" name="Rectangle: Rounded Corners 6"/>
            <p:cNvSpPr/>
            <p:nvPr/>
          </p:nvSpPr>
          <p:spPr>
            <a:xfrm>
              <a:off x="6820502" y="1710512"/>
              <a:ext cx="4815935" cy="3649479"/>
            </a:xfrm>
            <a:prstGeom prst="roundRect">
              <a:avLst>
                <a:gd name="adj" fmla="val 5385"/>
              </a:avLst>
            </a:prstGeom>
            <a:solidFill>
              <a:srgbClr val="00B0F0"/>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6600" dirty="0"/>
                <a:t>Laptop</a:t>
              </a:r>
            </a:p>
            <a:p>
              <a:pPr algn="ctr"/>
              <a:endParaRPr lang="en-GB" sz="6600" dirty="0"/>
            </a:p>
            <a:p>
              <a:pPr algn="ctr"/>
              <a:endParaRPr lang="en-GB" sz="3600" dirty="0"/>
            </a:p>
            <a:p>
              <a:pPr algn="ctr"/>
              <a:r>
                <a:rPr lang="en-GB" sz="3600" noProof="1"/>
                <a:t>increaseBrightness</a:t>
              </a:r>
              <a:r>
                <a:rPr lang="en-GB" sz="3600" dirty="0"/>
                <a:t>()</a:t>
              </a:r>
            </a:p>
            <a:p>
              <a:pPr algn="ctr"/>
              <a:r>
                <a:rPr lang="en-GB" sz="3600" noProof="1"/>
                <a:t>decreaseBrightness</a:t>
              </a:r>
              <a:r>
                <a:rPr lang="en-GB" sz="3600" dirty="0"/>
                <a:t>()</a:t>
              </a:r>
              <a:endParaRPr lang="en-GB" sz="8000" dirty="0"/>
            </a:p>
          </p:txBody>
        </p:sp>
        <p:sp>
          <p:nvSpPr>
            <p:cNvPr id="8" name="Rectangle: Rounded Corners 7"/>
            <p:cNvSpPr/>
            <p:nvPr/>
          </p:nvSpPr>
          <p:spPr>
            <a:xfrm>
              <a:off x="7077318" y="3073991"/>
              <a:ext cx="4302299" cy="640157"/>
            </a:xfrm>
            <a:prstGeom prst="roundRect">
              <a:avLst>
                <a:gd name="adj" fmla="val 5385"/>
              </a:avLst>
            </a:prstGeom>
            <a:solidFill>
              <a:srgbClr val="00B0F0"/>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3600" dirty="0"/>
                <a:t>Monitor</a:t>
              </a:r>
              <a:endParaRPr lang="en-US" sz="3600" dirty="0"/>
            </a:p>
          </p:txBody>
        </p:sp>
      </p:grpSp>
    </p:spTree>
    <p:extLst>
      <p:ext uri="{BB962C8B-B14F-4D97-AF65-F5344CB8AC3E}">
        <p14:creationId xmlns:p14="http://schemas.microsoft.com/office/powerpoint/2010/main" val="3439860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9091" y="1684274"/>
            <a:ext cx="9863950" cy="905700"/>
          </a:xfrm>
          <a:prstGeom prst="rect">
            <a:avLst/>
          </a:prstGeom>
        </p:spPr>
        <p:txBody>
          <a:bodyPr>
            <a:normAutofit lnSpcReduction="10000"/>
          </a:bodyPr>
          <a:lstStyle/>
          <a:p>
            <a:pPr marL="0" indent="0">
              <a:lnSpc>
                <a:spcPct val="100000"/>
              </a:lnSpc>
              <a:buNone/>
            </a:pPr>
            <a:r>
              <a:rPr lang="bg-BG" dirty="0">
                <a:latin typeface="Comfortaa" pitchFamily="2" charset="0"/>
              </a:rPr>
              <a:t>Създайте прост клас</a:t>
            </a:r>
            <a:r>
              <a:rPr lang="en-US" dirty="0">
                <a:latin typeface="Comfortaa" pitchFamily="2" charset="0"/>
              </a:rPr>
              <a:t> </a:t>
            </a:r>
            <a:r>
              <a:rPr lang="en-US" b="1" dirty="0">
                <a:solidFill>
                  <a:srgbClr val="00B0F0"/>
                </a:solidFill>
                <a:latin typeface="Comfortaa" pitchFamily="2" charset="0"/>
              </a:rPr>
              <a:t>Stack</a:t>
            </a:r>
            <a:r>
              <a:rPr lang="bg-BG" dirty="0">
                <a:latin typeface="Comfortaa" pitchFamily="2" charset="0"/>
              </a:rPr>
              <a:t>, който може да съдържа само низове</a:t>
            </a:r>
            <a:endParaRPr lang="en-US" dirty="0">
              <a:latin typeface="Comfortaa" pitchFamily="2" charset="0"/>
            </a:endParaRPr>
          </a:p>
        </p:txBody>
      </p:sp>
      <p:sp>
        <p:nvSpPr>
          <p:cNvPr id="2" name="Title 1"/>
          <p:cNvSpPr>
            <a:spLocks noGrp="1"/>
          </p:cNvSpPr>
          <p:nvPr>
            <p:ph type="title"/>
          </p:nvPr>
        </p:nvSpPr>
        <p:spPr>
          <a:xfrm>
            <a:off x="1073225" y="615660"/>
            <a:ext cx="9863950" cy="1325563"/>
          </a:xfrm>
          <a:prstGeom prst="rect">
            <a:avLst/>
          </a:prstGeom>
        </p:spPr>
        <p:txBody>
          <a:bodyPr anchor="ctr" anchorCtr="0"/>
          <a:lstStyle/>
          <a:p>
            <a:pPr>
              <a:lnSpc>
                <a:spcPts val="4000"/>
              </a:lnSpc>
              <a:defRPr/>
            </a:pPr>
            <a:r>
              <a:rPr lang="bg-BG" sz="4000" dirty="0">
                <a:latin typeface="Comfortaa" pitchFamily="2" charset="0"/>
              </a:rPr>
              <a:t>Задача</a:t>
            </a:r>
            <a:r>
              <a:rPr lang="en-US" sz="4000" dirty="0">
                <a:latin typeface="Comfortaa" pitchFamily="2" charset="0"/>
              </a:rPr>
              <a:t>: </a:t>
            </a:r>
            <a:r>
              <a:rPr lang="bg-BG" sz="4000" dirty="0">
                <a:latin typeface="Comfortaa" pitchFamily="2" charset="0"/>
              </a:rPr>
              <a:t>Стек от низове</a:t>
            </a:r>
          </a:p>
        </p:txBody>
      </p:sp>
      <p:grpSp>
        <p:nvGrpSpPr>
          <p:cNvPr id="6" name="Group 5"/>
          <p:cNvGrpSpPr/>
          <p:nvPr/>
        </p:nvGrpSpPr>
        <p:grpSpPr>
          <a:xfrm>
            <a:off x="1039090" y="2990746"/>
            <a:ext cx="4794175" cy="2905352"/>
            <a:chOff x="-307405" y="2077297"/>
            <a:chExt cx="3132342" cy="2905352"/>
          </a:xfrm>
        </p:grpSpPr>
        <p:sp>
          <p:nvSpPr>
            <p:cNvPr id="8" name="Rectangle 3"/>
            <p:cNvSpPr>
              <a:spLocks noChangeArrowheads="1"/>
            </p:cNvSpPr>
            <p:nvPr/>
          </p:nvSpPr>
          <p:spPr bwMode="auto">
            <a:xfrm>
              <a:off x="-306388" y="2077297"/>
              <a:ext cx="3131324" cy="582633"/>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algn="ctr" eaLnBrk="0" hangingPunct="0">
                <a:lnSpc>
                  <a:spcPts val="3000"/>
                </a:lnSpc>
                <a:buClr>
                  <a:schemeClr val="accent5">
                    <a:lumMod val="40000"/>
                    <a:lumOff val="60000"/>
                  </a:schemeClr>
                </a:buClr>
                <a:buSzPct val="70000"/>
              </a:pPr>
              <a:r>
                <a:rPr lang="en-US" sz="2800" b="1" noProof="1">
                  <a:latin typeface="Consolas" panose="020B0609020204030204" pitchFamily="49" charset="0"/>
                </a:rPr>
                <a:t>StackOfStrings</a:t>
              </a:r>
              <a:endParaRPr lang="en-US" b="1" noProof="1">
                <a:solidFill>
                  <a:schemeClr val="tx2">
                    <a:lumMod val="75000"/>
                  </a:schemeClr>
                </a:solidFill>
                <a:latin typeface="Consolas" panose="020B0609020204030204" pitchFamily="49" charset="0"/>
              </a:endParaRPr>
            </a:p>
          </p:txBody>
        </p:sp>
        <p:sp>
          <p:nvSpPr>
            <p:cNvPr id="9" name="Rectangle 4"/>
            <p:cNvSpPr>
              <a:spLocks noChangeArrowheads="1"/>
            </p:cNvSpPr>
            <p:nvPr/>
          </p:nvSpPr>
          <p:spPr bwMode="auto">
            <a:xfrm>
              <a:off x="-306388" y="2668032"/>
              <a:ext cx="3131324" cy="539011"/>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-data: List&lt;String&gt;</a:t>
              </a:r>
              <a:endParaRPr lang="en-US" sz="2000" b="1" noProof="1">
                <a:latin typeface="Consolas" panose="020B0609020204030204" pitchFamily="49" charset="0"/>
              </a:endParaRPr>
            </a:p>
          </p:txBody>
        </p:sp>
        <p:sp>
          <p:nvSpPr>
            <p:cNvPr id="10" name="Rectangle 4"/>
            <p:cNvSpPr>
              <a:spLocks noChangeArrowheads="1"/>
            </p:cNvSpPr>
            <p:nvPr/>
          </p:nvSpPr>
          <p:spPr bwMode="auto">
            <a:xfrm>
              <a:off x="-307405" y="3207042"/>
              <a:ext cx="3132342" cy="1775607"/>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+Push(string): void</a:t>
              </a:r>
            </a:p>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+Pop(): string</a:t>
              </a:r>
            </a:p>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+Peek(): string</a:t>
              </a:r>
            </a:p>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+IsEmpty(): boolean</a:t>
              </a:r>
              <a:endParaRPr lang="en-US" sz="2000" b="1" noProof="1">
                <a:latin typeface="Consolas" panose="020B0609020204030204" pitchFamily="49" charset="0"/>
              </a:endParaRPr>
            </a:p>
          </p:txBody>
        </p:sp>
      </p:grpSp>
      <p:sp>
        <p:nvSpPr>
          <p:cNvPr id="11" name="Rectangle: Rounded Corners 10"/>
          <p:cNvSpPr/>
          <p:nvPr/>
        </p:nvSpPr>
        <p:spPr>
          <a:xfrm>
            <a:off x="6268643" y="2990746"/>
            <a:ext cx="4668531" cy="1828800"/>
          </a:xfrm>
          <a:prstGeom prst="roundRect">
            <a:avLst>
              <a:gd name="adj" fmla="val 5385"/>
            </a:avLst>
          </a:prstGeom>
          <a:solidFill>
            <a:srgbClr val="00B0F0"/>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noProof="1">
                <a:latin typeface="Consolas" panose="020B0609020204030204" pitchFamily="49" charset="0"/>
              </a:rPr>
              <a:t>StackOfStrings</a:t>
            </a:r>
          </a:p>
        </p:txBody>
      </p:sp>
      <p:sp>
        <p:nvSpPr>
          <p:cNvPr id="12" name="Rectangle: Rounded Corners 11"/>
          <p:cNvSpPr/>
          <p:nvPr/>
        </p:nvSpPr>
        <p:spPr>
          <a:xfrm>
            <a:off x="6511352" y="3905146"/>
            <a:ext cx="4232349" cy="585500"/>
          </a:xfrm>
          <a:prstGeom prst="roundRect">
            <a:avLst>
              <a:gd name="adj" fmla="val 5385"/>
            </a:avLst>
          </a:prstGeom>
          <a:solidFill>
            <a:srgbClr val="00B0F0"/>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dirty="0">
                <a:latin typeface="Consolas" panose="020B0609020204030204" pitchFamily="49" charset="0"/>
              </a:rPr>
              <a:t>List</a:t>
            </a:r>
            <a:endParaRPr lang="en-US" sz="2800" b="1" dirty="0">
              <a:latin typeface="Consolas" panose="020B0609020204030204" pitchFamily="49" charset="0"/>
            </a:endParaRPr>
          </a:p>
        </p:txBody>
      </p:sp>
    </p:spTree>
    <p:extLst>
      <p:ext uri="{BB962C8B-B14F-4D97-AF65-F5344CB8AC3E}">
        <p14:creationId xmlns:p14="http://schemas.microsoft.com/office/powerpoint/2010/main" val="98553357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3046" y="465445"/>
            <a:ext cx="9927374" cy="685474"/>
          </a:xfrm>
          <a:prstGeom prst="rect">
            <a:avLst/>
          </a:prstGeom>
        </p:spPr>
        <p:txBody>
          <a:bodyPr anchor="ctr" anchorCtr="0"/>
          <a:lstStyle/>
          <a:p>
            <a:pPr>
              <a:lnSpc>
                <a:spcPts val="4000"/>
              </a:lnSpc>
              <a:defRPr/>
            </a:pPr>
            <a:r>
              <a:rPr lang="bg-BG" sz="4000" dirty="0">
                <a:latin typeface="Comfortaa" pitchFamily="2" charset="0"/>
              </a:rPr>
              <a:t>Решение</a:t>
            </a:r>
            <a:r>
              <a:rPr lang="en-US" sz="4000" dirty="0">
                <a:latin typeface="Comfortaa" pitchFamily="2" charset="0"/>
              </a:rPr>
              <a:t>: </a:t>
            </a:r>
            <a:r>
              <a:rPr lang="bg-BG" sz="4000" dirty="0">
                <a:latin typeface="Comfortaa" pitchFamily="2" charset="0"/>
              </a:rPr>
              <a:t>Стек от низове</a:t>
            </a:r>
          </a:p>
        </p:txBody>
      </p:sp>
      <p:sp>
        <p:nvSpPr>
          <p:cNvPr id="11" name="Text Placeholder 5"/>
          <p:cNvSpPr txBox="1">
            <a:spLocks/>
          </p:cNvSpPr>
          <p:nvPr/>
        </p:nvSpPr>
        <p:spPr>
          <a:xfrm>
            <a:off x="943045" y="1150918"/>
            <a:ext cx="9928815" cy="4946721"/>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2400" dirty="0">
                <a:solidFill>
                  <a:schemeClr val="bg1"/>
                </a:solidFill>
                <a:effectLst/>
              </a:rPr>
              <a:t>public class StackOfStrings {</a:t>
            </a:r>
          </a:p>
          <a:p>
            <a:r>
              <a:rPr lang="en-US" sz="2400" dirty="0">
                <a:solidFill>
                  <a:schemeClr val="bg1"/>
                </a:solidFill>
                <a:effectLst/>
              </a:rPr>
              <a:t>  private List&lt;String&gt; data;</a:t>
            </a:r>
          </a:p>
          <a:p>
            <a:r>
              <a:rPr lang="en-US" sz="2400" dirty="0">
                <a:solidFill>
                  <a:schemeClr val="bg1"/>
                </a:solidFill>
                <a:effectLst/>
              </a:rPr>
              <a:t>  public void Push(string element)</a:t>
            </a:r>
          </a:p>
          <a:p>
            <a:r>
              <a:rPr lang="en-US" sz="2400" dirty="0">
                <a:solidFill>
                  <a:schemeClr val="bg1"/>
                </a:solidFill>
                <a:effectLst/>
              </a:rPr>
              <a:t>  { </a:t>
            </a:r>
          </a:p>
          <a:p>
            <a:r>
              <a:rPr lang="en-US" sz="2400" dirty="0">
                <a:solidFill>
                  <a:schemeClr val="bg1"/>
                </a:solidFill>
                <a:effectLst/>
              </a:rPr>
              <a:t>    </a:t>
            </a:r>
            <a:r>
              <a:rPr lang="en-US" sz="2400" dirty="0" err="1">
                <a:solidFill>
                  <a:schemeClr val="bg1"/>
                </a:solidFill>
                <a:effectLst/>
              </a:rPr>
              <a:t>this.data.Add</a:t>
            </a:r>
            <a:r>
              <a:rPr lang="en-US" sz="2400" dirty="0">
                <a:solidFill>
                  <a:schemeClr val="bg1"/>
                </a:solidFill>
                <a:effectLst/>
              </a:rPr>
              <a:t>(element); </a:t>
            </a:r>
          </a:p>
          <a:p>
            <a:r>
              <a:rPr lang="en-US" sz="2400" dirty="0">
                <a:solidFill>
                  <a:schemeClr val="bg1"/>
                </a:solidFill>
                <a:effectLst/>
              </a:rPr>
              <a:t>  }</a:t>
            </a:r>
          </a:p>
          <a:p>
            <a:r>
              <a:rPr lang="en-US" sz="2400" dirty="0">
                <a:solidFill>
                  <a:schemeClr val="bg1"/>
                </a:solidFill>
                <a:effectLst/>
              </a:rPr>
              <a:t>  public string Pop()</a:t>
            </a:r>
          </a:p>
          <a:p>
            <a:r>
              <a:rPr lang="en-US" sz="2400" dirty="0">
                <a:solidFill>
                  <a:schemeClr val="bg1"/>
                </a:solidFill>
                <a:effectLst/>
              </a:rPr>
              <a:t>  {</a:t>
            </a:r>
          </a:p>
          <a:p>
            <a:r>
              <a:rPr lang="en-US" sz="2400" dirty="0">
                <a:solidFill>
                  <a:schemeClr val="bg1"/>
                </a:solidFill>
                <a:effectLst/>
              </a:rPr>
              <a:t>    var element = this.data.Last();</a:t>
            </a:r>
          </a:p>
          <a:p>
            <a:r>
              <a:rPr lang="en-US" sz="2400" dirty="0">
                <a:solidFill>
                  <a:schemeClr val="bg1"/>
                </a:solidFill>
                <a:effectLst/>
              </a:rPr>
              <a:t>    this.data.Remove(element);</a:t>
            </a:r>
          </a:p>
          <a:p>
            <a:r>
              <a:rPr lang="en-US" sz="2400" dirty="0">
                <a:solidFill>
                  <a:schemeClr val="bg1"/>
                </a:solidFill>
                <a:effectLst/>
              </a:rPr>
              <a:t>    return element;</a:t>
            </a:r>
          </a:p>
          <a:p>
            <a:r>
              <a:rPr lang="en-US" sz="2400" dirty="0">
                <a:solidFill>
                  <a:schemeClr val="bg1"/>
                </a:solidFill>
                <a:effectLst/>
              </a:rPr>
              <a:t>  }</a:t>
            </a:r>
          </a:p>
          <a:p>
            <a:r>
              <a:rPr lang="en-US" sz="2400" dirty="0">
                <a:solidFill>
                  <a:schemeClr val="bg1"/>
                </a:solidFill>
                <a:effectLst/>
              </a:rPr>
              <a:t>}</a:t>
            </a:r>
          </a:p>
        </p:txBody>
      </p:sp>
      <p:sp>
        <p:nvSpPr>
          <p:cNvPr id="6" name="AutoShape 6"/>
          <p:cNvSpPr>
            <a:spLocks noChangeArrowheads="1"/>
          </p:cNvSpPr>
          <p:nvPr/>
        </p:nvSpPr>
        <p:spPr bwMode="auto">
          <a:xfrm>
            <a:off x="7053943" y="2901923"/>
            <a:ext cx="4718181" cy="1054153"/>
          </a:xfrm>
          <a:prstGeom prst="wedgeRoundRectCallout">
            <a:avLst>
              <a:gd name="adj1" fmla="val -48773"/>
              <a:gd name="adj2" fmla="val 90028"/>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b="1" dirty="0">
                <a:solidFill>
                  <a:schemeClr val="bg1"/>
                </a:solidFill>
              </a:rPr>
              <a:t>TODO: </a:t>
            </a:r>
            <a:r>
              <a:rPr lang="bg-BG" sz="3200" dirty="0">
                <a:solidFill>
                  <a:schemeClr val="bg1"/>
                </a:solidFill>
              </a:rPr>
              <a:t>Проверявайте за празен списък</a:t>
            </a:r>
          </a:p>
        </p:txBody>
      </p:sp>
    </p:spTree>
    <p:extLst>
      <p:ext uri="{BB962C8B-B14F-4D97-AF65-F5344CB8AC3E}">
        <p14:creationId xmlns:p14="http://schemas.microsoft.com/office/powerpoint/2010/main" val="127497698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762001" y="1828801"/>
            <a:ext cx="10552199" cy="4182879"/>
          </a:xfrm>
        </p:spPr>
        <p:txBody>
          <a:bodyPr>
            <a:noAutofit/>
          </a:bodyPr>
          <a:lstStyle/>
          <a:p>
            <a:pPr marL="358775" indent="-358775">
              <a:lnSpc>
                <a:spcPct val="110000"/>
              </a:lnSpc>
            </a:pPr>
            <a:r>
              <a:rPr lang="bg-BG" sz="3200" dirty="0">
                <a:latin typeface="Comfortaa" pitchFamily="2" charset="0"/>
              </a:rPr>
              <a:t>Търсете класове със </a:t>
            </a:r>
            <a:r>
              <a:rPr lang="bg-BG" sz="3200" b="1" dirty="0">
                <a:solidFill>
                  <a:srgbClr val="00B0F0"/>
                </a:solidFill>
                <a:latin typeface="Comfortaa" pitchFamily="2" charset="0"/>
              </a:rPr>
              <a:t>същарата роля</a:t>
            </a:r>
            <a:endParaRPr lang="en-US" sz="3200" b="1" dirty="0">
              <a:solidFill>
                <a:srgbClr val="00B0F0"/>
              </a:solidFill>
              <a:latin typeface="Comfortaa" pitchFamily="2" charset="0"/>
            </a:endParaRPr>
          </a:p>
          <a:p>
            <a:pPr marL="358775" indent="-358775">
              <a:lnSpc>
                <a:spcPct val="110000"/>
              </a:lnSpc>
            </a:pPr>
            <a:r>
              <a:rPr lang="bg-BG" sz="3200" dirty="0">
                <a:latin typeface="Comfortaa" pitchFamily="2" charset="0"/>
              </a:rPr>
              <a:t>Използвайте</a:t>
            </a:r>
            <a:r>
              <a:rPr lang="en-US" sz="3200" dirty="0">
                <a:latin typeface="Comfortaa" pitchFamily="2" charset="0"/>
              </a:rPr>
              <a:t> </a:t>
            </a:r>
            <a:r>
              <a:rPr lang="bg-BG" sz="3200" b="1" dirty="0">
                <a:solidFill>
                  <a:srgbClr val="00B0F0"/>
                </a:solidFill>
                <a:latin typeface="Comfortaa" pitchFamily="2" charset="0"/>
              </a:rPr>
              <a:t>композиция</a:t>
            </a:r>
            <a:r>
              <a:rPr lang="bg-BG" sz="3200" dirty="0">
                <a:solidFill>
                  <a:schemeClr val="tx2">
                    <a:lumMod val="75000"/>
                  </a:schemeClr>
                </a:solidFill>
                <a:latin typeface="Comfortaa" pitchFamily="2" charset="0"/>
              </a:rPr>
              <a:t> </a:t>
            </a:r>
            <a:r>
              <a:rPr lang="bg-BG" sz="3200" dirty="0">
                <a:latin typeface="Comfortaa" pitchFamily="2" charset="0"/>
              </a:rPr>
              <a:t>и</a:t>
            </a:r>
            <a:r>
              <a:rPr lang="en-US" sz="3200" dirty="0">
                <a:latin typeface="Comfortaa" pitchFamily="2" charset="0"/>
              </a:rPr>
              <a:t> </a:t>
            </a:r>
            <a:r>
              <a:rPr lang="bg-BG" sz="3200" b="1" dirty="0">
                <a:solidFill>
                  <a:srgbClr val="00B0F0"/>
                </a:solidFill>
                <a:latin typeface="Comfortaa" pitchFamily="2" charset="0"/>
              </a:rPr>
              <a:t>делигиране</a:t>
            </a:r>
            <a:r>
              <a:rPr lang="bg-BG" sz="3200" dirty="0">
                <a:latin typeface="Comfortaa" pitchFamily="2" charset="0"/>
              </a:rPr>
              <a:t/>
            </a:r>
            <a:br>
              <a:rPr lang="bg-BG" sz="3200" dirty="0">
                <a:latin typeface="Comfortaa" pitchFamily="2" charset="0"/>
              </a:rPr>
            </a:br>
            <a:r>
              <a:rPr lang="bg-BG" sz="3200" dirty="0">
                <a:latin typeface="Comfortaa" pitchFamily="2" charset="0"/>
              </a:rPr>
              <a:t>вместо това</a:t>
            </a:r>
            <a:endParaRPr lang="bg-BG" sz="3200" dirty="0">
              <a:solidFill>
                <a:schemeClr val="tx2">
                  <a:lumMod val="75000"/>
                </a:schemeClr>
              </a:solidFill>
              <a:latin typeface="Comfortaa" pitchFamily="2" charset="0"/>
            </a:endParaRPr>
          </a:p>
        </p:txBody>
      </p:sp>
      <p:sp>
        <p:nvSpPr>
          <p:cNvPr id="4" name="Title 3"/>
          <p:cNvSpPr>
            <a:spLocks noGrp="1"/>
          </p:cNvSpPr>
          <p:nvPr>
            <p:ph type="title"/>
          </p:nvPr>
        </p:nvSpPr>
        <p:spPr>
          <a:xfrm>
            <a:off x="760403" y="718020"/>
            <a:ext cx="10552200" cy="1110780"/>
          </a:xfrm>
        </p:spPr>
        <p:txBody>
          <a:bodyPr>
            <a:normAutofit/>
          </a:bodyPr>
          <a:lstStyle/>
          <a:p>
            <a:r>
              <a:rPr lang="bg-BG" dirty="0">
                <a:latin typeface="Comfortaa" pitchFamily="2" charset="0"/>
              </a:rPr>
              <a:t>Какво научихме днес?</a:t>
            </a:r>
            <a:endParaRPr lang="en-US" dirty="0">
              <a:latin typeface="Comfortaa" pitchFamily="2" charset="0"/>
            </a:endParaRPr>
          </a:p>
        </p:txBody>
      </p:sp>
    </p:spTree>
    <p:extLst>
      <p:ext uri="{BB962C8B-B14F-4D97-AF65-F5344CB8AC3E}">
        <p14:creationId xmlns:p14="http://schemas.microsoft.com/office/powerpoint/2010/main" val="58242222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128</TotalTime>
  <Words>2061</Words>
  <Application>Microsoft Office PowerPoint</Application>
  <PresentationFormat>Widescreen</PresentationFormat>
  <Paragraphs>270</Paragraphs>
  <Slides>17</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Comfortaa</vt:lpstr>
      <vt:lpstr>Consolas</vt:lpstr>
      <vt:lpstr>Wingdings</vt:lpstr>
      <vt:lpstr>Office Theme</vt:lpstr>
      <vt:lpstr>Преизползване на класове</vt:lpstr>
      <vt:lpstr>Съдържание</vt:lpstr>
      <vt:lpstr>Преизползване на класове</vt:lpstr>
      <vt:lpstr>Наследяване и модификатори за достъп</vt:lpstr>
      <vt:lpstr>„Засенчване“ на променливи</vt:lpstr>
      <vt:lpstr>„Засенчване“ на променливи – достъп</vt:lpstr>
      <vt:lpstr>Виртуални методи</vt:lpstr>
      <vt:lpstr>Ползата от наследяването – разширание</vt:lpstr>
      <vt:lpstr>Задача: Случаен Array List</vt:lpstr>
      <vt:lpstr>Решение: Случаен Array List</vt:lpstr>
      <vt:lpstr>Видове преизползване на класове</vt:lpstr>
      <vt:lpstr>Разширяване</vt:lpstr>
      <vt:lpstr>Композиция</vt:lpstr>
      <vt:lpstr>Делегиране</vt:lpstr>
      <vt:lpstr>Задача: Стек от низове</vt:lpstr>
      <vt:lpstr>Решение: Стек от низове</vt:lpstr>
      <vt:lpstr>Какво научихме днес?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Димитър Минчев</dc:creator>
  <cp:lastModifiedBy>Neli Nqgolova</cp:lastModifiedBy>
  <cp:revision>13</cp:revision>
  <dcterms:created xsi:type="dcterms:W3CDTF">2022-08-09T09:25:46Z</dcterms:created>
  <dcterms:modified xsi:type="dcterms:W3CDTF">2026-01-05T06:01:02Z</dcterms:modified>
</cp:coreProperties>
</file>