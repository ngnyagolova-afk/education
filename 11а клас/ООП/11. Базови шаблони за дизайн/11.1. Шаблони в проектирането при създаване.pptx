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7"/>
  </p:notesMasterIdLst>
  <p:sldIdLst>
    <p:sldId id="258" r:id="rId2"/>
    <p:sldId id="587" r:id="rId3"/>
    <p:sldId id="547" r:id="rId4"/>
    <p:sldId id="548" r:id="rId5"/>
    <p:sldId id="552" r:id="rId6"/>
    <p:sldId id="554" r:id="rId7"/>
    <p:sldId id="555" r:id="rId8"/>
    <p:sldId id="559" r:id="rId9"/>
    <p:sldId id="556" r:id="rId10"/>
    <p:sldId id="560" r:id="rId11"/>
    <p:sldId id="585" r:id="rId12"/>
    <p:sldId id="557" r:id="rId13"/>
    <p:sldId id="561" r:id="rId14"/>
    <p:sldId id="588" r:id="rId15"/>
    <p:sldId id="572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B53E63A6-15B2-40C3-A9DC-5006FD089CC5}">
          <p14:sldIdLst>
            <p14:sldId id="258"/>
            <p14:sldId id="587"/>
          </p14:sldIdLst>
        </p14:section>
        <p14:section name="Съдържание" id="{0B0C01F3-1F60-4ADB-AC1E-9589654EAEF3}">
          <p14:sldIdLst>
            <p14:sldId id="547"/>
            <p14:sldId id="548"/>
            <p14:sldId id="552"/>
            <p14:sldId id="554"/>
            <p14:sldId id="555"/>
            <p14:sldId id="559"/>
            <p14:sldId id="556"/>
            <p14:sldId id="560"/>
            <p14:sldId id="585"/>
            <p14:sldId id="557"/>
            <p14:sldId id="561"/>
          </p14:sldIdLst>
        </p14:section>
        <p14:section name="Заключение" id="{9315BEE7-605C-4839-996A-A4EEA70921D9}">
          <p14:sldIdLst>
            <p14:sldId id="588"/>
            <p14:sldId id="5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8A51F5-6E34-4A9B-8787-8C29D4F40D1D}" v="1" dt="2022-08-10T06:34:56.1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92" d="100"/>
          <a:sy n="92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Димитър Минчев" userId="6da192e4-d32c-454b-8615-bbadf07b6639" providerId="ADAL" clId="{508A51F5-6E34-4A9B-8787-8C29D4F40D1D}"/>
    <pc:docChg chg="addSld modSld">
      <pc:chgData name="Димитър Минчев" userId="6da192e4-d32c-454b-8615-bbadf07b6639" providerId="ADAL" clId="{508A51F5-6E34-4A9B-8787-8C29D4F40D1D}" dt="2022-08-10T06:34:56.108" v="0"/>
      <pc:docMkLst>
        <pc:docMk/>
      </pc:docMkLst>
      <pc:sldChg chg="add">
        <pc:chgData name="Димитър Минчев" userId="6da192e4-d32c-454b-8615-bbadf07b6639" providerId="ADAL" clId="{508A51F5-6E34-4A9B-8787-8C29D4F40D1D}" dt="2022-08-10T06:34:56.108" v="0"/>
        <pc:sldMkLst>
          <pc:docMk/>
          <pc:sldMk cId="2002111910" sldId="43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A0D3FF-81AC-477B-919E-75762E6B2153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bg-B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142EC-5991-4235-A99B-961F17902D6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837940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foundation/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5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83AB3543-DF87-45E7-8FB6-7EC811079C4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10012207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Interpreter Pattern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7E71C3-3A82-4C72-B06D-032E4435E670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1003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066F37D5-EF53-4E8B-8964-CAB3693C62B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27427789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hdr" sz="quarter"/>
          </p:nvPr>
        </p:nvSpPr>
        <p:spPr>
          <a:ln/>
        </p:spPr>
        <p:txBody>
          <a:bodyPr/>
          <a:lstStyle/>
          <a:p>
            <a:r>
              <a:rPr lang="en-US" dirty="0"/>
              <a:t>Interpreter Pattern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615EF7-4B3A-407F-90CC-326B1E41BE2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</p:spPr>
        <p:txBody>
          <a:bodyPr/>
          <a:lstStyle/>
          <a:p>
            <a:endParaRPr lang="bg-BG"/>
          </a:p>
        </p:txBody>
      </p:sp>
      <p:sp>
        <p:nvSpPr>
          <p:cNvPr id="6" name="Footer Placeholder">
            <a:extLst>
              <a:ext uri="{FF2B5EF4-FFF2-40B4-BE49-F238E27FC236}">
                <a16:creationId xmlns:a16="http://schemas.microsoft.com/office/drawing/2014/main" id="{5E6FA45A-1FAE-4A00-A580-1506779E157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747999"/>
            <a:ext cx="6308999" cy="3944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/>
            </a:lvl1pPr>
          </a:lstStyle>
          <a:p>
            <a:r>
              <a:rPr lang="en-US" dirty="0"/>
              <a:t>Created by the </a:t>
            </a:r>
            <a:r>
              <a:rPr lang="en-US" b="1" dirty="0"/>
              <a:t>Software University Foundation</a:t>
            </a:r>
            <a:r>
              <a:rPr lang="en-US" dirty="0"/>
              <a:t> – </a:t>
            </a:r>
            <a:r>
              <a:rPr lang="en-US" u="sng" dirty="0">
                <a:hlinkClick r:id="rId3"/>
              </a:rPr>
              <a:t>https://softuni.foundation</a:t>
            </a:r>
            <a:endParaRPr lang="en-US" dirty="0"/>
          </a:p>
          <a:p>
            <a:r>
              <a:rPr lang="en-US" dirty="0"/>
              <a:t>This work is licensed under the </a:t>
            </a:r>
            <a:r>
              <a:rPr lang="en-US" u="sng" noProof="1">
                <a:hlinkClick r:id="rId4"/>
              </a:rPr>
              <a:t>Creative Commons Attribution-NonCommercial-ShareAlike</a:t>
            </a:r>
            <a:r>
              <a:rPr lang="en-US" noProof="1"/>
              <a:t> </a:t>
            </a:r>
            <a:r>
              <a:rPr lang="en-US" dirty="0"/>
              <a:t>license.</a:t>
            </a:r>
          </a:p>
        </p:txBody>
      </p:sp>
    </p:spTree>
    <p:extLst>
      <p:ext uri="{BB962C8B-B14F-4D97-AF65-F5344CB8AC3E}">
        <p14:creationId xmlns:p14="http://schemas.microsoft.com/office/powerpoint/2010/main" val="5615326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1714363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34437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4054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29758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96114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9860217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263839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23708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97053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52800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269803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69AEA-C8BE-4DD6-B9AB-21EA40DF5D87}" type="datetimeFigureOut">
              <a:rPr lang="bg-BG" smtClean="0"/>
              <a:t>27.9.2022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B18CDA-8465-4F94-AC0C-B721D911091F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52542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mon.bg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://www.amazon.com/Design-Patterns-Elements-Reusable-Object-Oriented/dp/0201633612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en.wikipedia.org/wiki/Singleton_patter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Factory_(object-oriented_programming)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sourcemaking.com/design_patterns/factory_metho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hyperlink" Target="https://creativecommons.org/licenses/by-nc-sa/4.0" TargetMode="External"/><Relationship Id="rId4" Type="http://schemas.openxmlformats.org/officeDocument/2006/relationships/hyperlink" Target="https://www.mon.b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A11B2B-6DC7-2642-A5E2-7E3177B71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04" y="1924335"/>
            <a:ext cx="11301984" cy="3364725"/>
          </a:xfrm>
        </p:spPr>
        <p:txBody>
          <a:bodyPr>
            <a:normAutofit/>
          </a:bodyPr>
          <a:lstStyle/>
          <a:p>
            <a:r>
              <a:rPr lang="ru-RU" sz="5400" dirty="0" err="1">
                <a:latin typeface="Comfortaa" pitchFamily="2" charset="0"/>
              </a:rPr>
              <a:t>Шаблони</a:t>
            </a:r>
            <a:r>
              <a:rPr lang="ru-RU" sz="5400" dirty="0">
                <a:latin typeface="Comfortaa" pitchFamily="2" charset="0"/>
              </a:rPr>
              <a:t> за </a:t>
            </a:r>
            <a:r>
              <a:rPr lang="ru-RU" sz="5400" dirty="0" err="1">
                <a:latin typeface="Comfortaa" pitchFamily="2" charset="0"/>
              </a:rPr>
              <a:t>проектиране</a:t>
            </a:r>
            <a:br>
              <a:rPr lang="ru-RU" sz="5400" dirty="0">
                <a:latin typeface="Comfortaa" pitchFamily="2" charset="0"/>
              </a:rPr>
            </a:br>
            <a:r>
              <a:rPr lang="ru-RU" sz="5400" dirty="0">
                <a:latin typeface="Comfortaa" pitchFamily="2" charset="0"/>
              </a:rPr>
              <a:t> при </a:t>
            </a:r>
            <a:r>
              <a:rPr lang="ru-RU" sz="5400" dirty="0" err="1">
                <a:latin typeface="Comfortaa" pitchFamily="2" charset="0"/>
              </a:rPr>
              <a:t>създаване</a:t>
            </a:r>
            <a:r>
              <a:rPr lang="ru-RU" sz="5400" dirty="0">
                <a:latin typeface="Comfortaa" pitchFamily="2" charset="0"/>
              </a:rPr>
              <a:t> на </a:t>
            </a:r>
            <a:r>
              <a:rPr lang="ru-RU" sz="5400" dirty="0" err="1">
                <a:latin typeface="Comfortaa" pitchFamily="2" charset="0"/>
              </a:rPr>
              <a:t>обекти</a:t>
            </a:r>
            <a:endParaRPr lang="ru-RU" sz="5400" dirty="0">
              <a:latin typeface="Comfortaa" pitchFamily="2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D72CEAD-2598-2D6F-7FF9-AF95330D8A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449823"/>
            <a:ext cx="9144000" cy="609949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Creational Design Patterns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69597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41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7461"/>
            <a:ext cx="10515600" cy="1325563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Съдържание</a:t>
            </a:r>
          </a:p>
        </p:txBody>
      </p:sp>
      <p:sp>
        <p:nvSpPr>
          <p:cNvPr id="8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838200" y="2288747"/>
            <a:ext cx="10515600" cy="3709717"/>
          </a:xfrm>
        </p:spPr>
        <p:txBody>
          <a:bodyPr>
            <a:norm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Какво са шаблони в проектирането</a:t>
            </a:r>
            <a:r>
              <a:rPr lang="en-US" dirty="0">
                <a:latin typeface="Comfortaa" pitchFamily="2" charset="0"/>
              </a:rPr>
              <a:t>?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Типове шаблони в проектирането</a:t>
            </a:r>
            <a:endParaRPr lang="en-US" dirty="0">
              <a:latin typeface="Comfortaa" pitchFamily="2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bg-BG" dirty="0">
                <a:latin typeface="Comfortaa" pitchFamily="2" charset="0"/>
              </a:rPr>
              <a:t>Шаблони при създаването на обекти</a:t>
            </a:r>
          </a:p>
          <a:p>
            <a:pPr marL="819096" lvl="1" indent="-514350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Singleton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шаблон</a:t>
            </a:r>
          </a:p>
          <a:p>
            <a:pPr marL="819096" lvl="1" indent="-514350"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Factory</a:t>
            </a:r>
            <a:r>
              <a:rPr lang="bg-BG" dirty="0">
                <a:latin typeface="Comfortaa" pitchFamily="2" charset="0"/>
              </a:rPr>
              <a:t> шаблон</a:t>
            </a:r>
          </a:p>
          <a:p>
            <a:pPr marL="819096" lvl="1" indent="-514350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Шаблон на </a:t>
            </a:r>
            <a:r>
              <a:rPr lang="en-US" dirty="0">
                <a:latin typeface="Comfortaa" pitchFamily="2" charset="0"/>
              </a:rPr>
              <a:t>Factory </a:t>
            </a:r>
            <a:r>
              <a:rPr lang="bg-BG" dirty="0">
                <a:latin typeface="Comfortaa" pitchFamily="2" charset="0"/>
              </a:rPr>
              <a:t>метод</a:t>
            </a:r>
            <a:endParaRPr lang="en-US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3155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7927848" cy="4351338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bg-BG" sz="3700" b="1" dirty="0">
                <a:solidFill>
                  <a:srgbClr val="00B0F0"/>
                </a:solidFill>
                <a:latin typeface="Comfortaa" pitchFamily="2" charset="0"/>
              </a:rPr>
              <a:t>Софтуерните</a:t>
            </a:r>
            <a:r>
              <a:rPr lang="bg-BG" sz="3700" dirty="0">
                <a:latin typeface="Comfortaa" pitchFamily="2" charset="0"/>
              </a:rPr>
              <a:t> </a:t>
            </a:r>
            <a:r>
              <a:rPr lang="bg-BG" sz="3700" b="1" dirty="0">
                <a:solidFill>
                  <a:srgbClr val="00B0F0"/>
                </a:solidFill>
                <a:latin typeface="Comfortaa" pitchFamily="2" charset="0"/>
              </a:rPr>
              <a:t>шаблони в проектирането</a:t>
            </a:r>
            <a:r>
              <a:rPr lang="en-US" sz="3700" b="1" dirty="0">
                <a:solidFill>
                  <a:srgbClr val="00B0F0"/>
                </a:solidFill>
                <a:latin typeface="Comfortaa" pitchFamily="2" charset="0"/>
              </a:rPr>
              <a:t> (design patterns)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Готови решения на често срещани казуси в софтуерния дизайн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Двойка проблем</a:t>
            </a:r>
            <a:r>
              <a:rPr lang="en-US" dirty="0">
                <a:latin typeface="Comfortaa" pitchFamily="2" charset="0"/>
              </a:rPr>
              <a:t> / </a:t>
            </a:r>
            <a:r>
              <a:rPr lang="bg-BG" dirty="0">
                <a:latin typeface="Comfortaa" pitchFamily="2" charset="0"/>
              </a:rPr>
              <a:t>решение, валидно в даден контекст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Шаблон или рецепта за решаване на специфични казуси при проектирането на софтуера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en-US" sz="3700" b="1" noProof="1">
                <a:solidFill>
                  <a:srgbClr val="00B0F0"/>
                </a:solidFill>
                <a:latin typeface="Comfortaa" pitchFamily="2" charset="0"/>
              </a:rPr>
              <a:t>GoF</a:t>
            </a:r>
            <a:r>
              <a:rPr lang="en-US" sz="3700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sz="3700" b="1" dirty="0">
                <a:solidFill>
                  <a:srgbClr val="00B0F0"/>
                </a:solidFill>
                <a:latin typeface="Comfortaa" pitchFamily="2" charset="0"/>
              </a:rPr>
              <a:t>шаблони</a:t>
            </a:r>
            <a:endParaRPr lang="en-US" sz="37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Класическа книга за обектно-ориентирани шаблони в проектирането от </a:t>
            </a:r>
            <a:r>
              <a:rPr lang="en-GB" dirty="0">
                <a:latin typeface="Comfortaa" pitchFamily="2" charset="0"/>
              </a:rPr>
              <a:t>Gama, Helm, Johnson, </a:t>
            </a:r>
            <a:r>
              <a:rPr lang="en-GB" noProof="1">
                <a:latin typeface="Comfortaa" pitchFamily="2" charset="0"/>
              </a:rPr>
              <a:t>Vlissides</a:t>
            </a:r>
            <a:r>
              <a:rPr lang="en-GB" dirty="0">
                <a:latin typeface="Comfortaa" pitchFamily="2" charset="0"/>
              </a:rPr>
              <a:t> 1995</a:t>
            </a: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Книгата </a:t>
            </a:r>
            <a:r>
              <a:rPr lang="en-GB" dirty="0">
                <a:latin typeface="Comfortaa" pitchFamily="2" charset="0"/>
              </a:rPr>
              <a:t>„</a:t>
            </a:r>
            <a:r>
              <a:rPr lang="bg-BG" dirty="0">
                <a:latin typeface="Comfortaa" pitchFamily="2" charset="0"/>
              </a:rPr>
              <a:t>Шайката на четиримата“ (</a:t>
            </a:r>
            <a:r>
              <a:rPr lang="en-US" dirty="0">
                <a:latin typeface="Comfortaa" pitchFamily="2" charset="0"/>
              </a:rPr>
              <a:t>The Gang of Four)</a:t>
            </a:r>
            <a:endParaRPr lang="en-GB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Шаблони за създаване, структура и поведение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843282" cy="1325563"/>
          </a:xfrm>
        </p:spPr>
        <p:txBody>
          <a:bodyPr>
            <a:normAutofit/>
          </a:bodyPr>
          <a:lstStyle/>
          <a:p>
            <a:r>
              <a:rPr lang="bg-BG" sz="3600" b="1" dirty="0">
                <a:latin typeface="Comfortaa" pitchFamily="2" charset="0"/>
              </a:rPr>
              <a:t>Какво са шаблоните в проектирането</a:t>
            </a:r>
            <a:r>
              <a:rPr lang="en-US" sz="3600" b="1" dirty="0">
                <a:latin typeface="Comfortaa" pitchFamily="2" charset="0"/>
              </a:rPr>
              <a:t>?</a:t>
            </a:r>
          </a:p>
        </p:txBody>
      </p:sp>
      <p:pic>
        <p:nvPicPr>
          <p:cNvPr id="5" name="Picture 2" descr="http://codinghorror.typepad.com/.a/6a0120a85dcdae970b012877701400970c-pi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6048" y="1961114"/>
            <a:ext cx="2915434" cy="3809501"/>
          </a:xfrm>
          <a:prstGeom prst="rect">
            <a:avLst/>
          </a:prstGeom>
          <a:ln>
            <a:noFill/>
          </a:ln>
          <a:effectLst>
            <a:outerShdw blurRad="50800" dist="38100" dir="13500000" algn="br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9692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38200" y="1968129"/>
            <a:ext cx="9392392" cy="4351338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Шаблоните в проектирането се описват чрез няколко елемента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marL="742950" lvl="1" indent="-285750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Име на шаблона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1035050" lvl="2" indent="-285750"/>
            <a:r>
              <a:rPr lang="bg-BG" dirty="0">
                <a:latin typeface="Comfortaa" pitchFamily="2" charset="0"/>
              </a:rPr>
              <a:t>Обогатява речника на дизайнера</a:t>
            </a:r>
            <a:endParaRPr lang="en-US" dirty="0">
              <a:latin typeface="Comfortaa" pitchFamily="2" charset="0"/>
            </a:endParaRPr>
          </a:p>
          <a:p>
            <a:pPr marL="742950" lvl="1" indent="-285750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Проблем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1035050" lvl="2" indent="-285750"/>
            <a:r>
              <a:rPr lang="bg-BG" dirty="0">
                <a:latin typeface="Comfortaa" pitchFamily="2" charset="0"/>
              </a:rPr>
              <a:t>Предназначение и контекст на употреба</a:t>
            </a:r>
            <a:r>
              <a:rPr lang="en-US" dirty="0">
                <a:latin typeface="Comfortaa" pitchFamily="2" charset="0"/>
              </a:rPr>
              <a:t> </a:t>
            </a:r>
          </a:p>
          <a:p>
            <a:pPr marL="742950" lvl="1" indent="-285750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Решение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1035050" lvl="2" indent="-285750"/>
            <a:r>
              <a:rPr lang="en-US" dirty="0">
                <a:latin typeface="Comfortaa" pitchFamily="2" charset="0"/>
              </a:rPr>
              <a:t>UML </a:t>
            </a:r>
            <a:r>
              <a:rPr lang="bg-BG" dirty="0">
                <a:latin typeface="Comfortaa" pitchFamily="2" charset="0"/>
              </a:rPr>
              <a:t>структура или абстрактен код</a:t>
            </a:r>
            <a:endParaRPr lang="en-US" dirty="0">
              <a:latin typeface="Comfortaa" pitchFamily="2" charset="0"/>
            </a:endParaRPr>
          </a:p>
          <a:p>
            <a:pPr marL="742950" lvl="1" indent="-285750"/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Последици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1035050" lvl="2" indent="-285750"/>
            <a:r>
              <a:rPr lang="bg-BG" dirty="0">
                <a:latin typeface="Comfortaa" pitchFamily="2" charset="0"/>
              </a:rPr>
              <a:t>Резултат и негативи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662008"/>
            <a:ext cx="10888683" cy="1071789"/>
          </a:xfrm>
        </p:spPr>
        <p:txBody>
          <a:bodyPr>
            <a:normAutofit/>
          </a:bodyPr>
          <a:lstStyle/>
          <a:p>
            <a:r>
              <a:rPr lang="bg-BG" sz="3200" b="1" dirty="0">
                <a:latin typeface="Comfortaa" pitchFamily="2" charset="0"/>
              </a:rPr>
              <a:t>Елементи на шаблоните в проектирането</a:t>
            </a:r>
            <a:endParaRPr lang="en-US" sz="3200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880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3"/>
          <p:cNvSpPr>
            <a:spLocks noGrp="1" noChangeArrowheads="1"/>
          </p:cNvSpPr>
          <p:nvPr>
            <p:ph idx="1"/>
          </p:nvPr>
        </p:nvSpPr>
        <p:spPr>
          <a:xfrm>
            <a:off x="713509" y="2063131"/>
            <a:ext cx="10977748" cy="3880469"/>
          </a:xfrm>
          <a:ln/>
        </p:spPr>
        <p:txBody>
          <a:bodyPr>
            <a:noAutofit/>
          </a:bodyPr>
          <a:lstStyle/>
          <a:p>
            <a:pPr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Шаблони за създаване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За инициализиране и конфигуриране на класове и обекти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Шаблони в структурата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bg-BG" sz="2000" dirty="0">
                <a:latin typeface="Comfortaa" pitchFamily="2" charset="0"/>
              </a:rPr>
              <a:t>Начини за групиране на обекти за реализиране на нови функции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Сбор от класове или обекти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10000"/>
              </a:lnSpc>
              <a:tabLst>
                <a:tab pos="911225" algn="l"/>
                <a:tab pos="1825625" algn="l"/>
                <a:tab pos="2740025" algn="l"/>
                <a:tab pos="3654425" algn="l"/>
                <a:tab pos="4568825" algn="l"/>
                <a:tab pos="5483225" algn="l"/>
                <a:tab pos="6397625" algn="l"/>
                <a:tab pos="7312025" algn="l"/>
                <a:tab pos="8226425" algn="l"/>
                <a:tab pos="9140825" algn="l"/>
                <a:tab pos="10055225" algn="l"/>
              </a:tabLst>
            </a:pPr>
            <a:r>
              <a:rPr lang="bg-BG" sz="2400" b="1" dirty="0">
                <a:solidFill>
                  <a:srgbClr val="00B0F0"/>
                </a:solidFill>
                <a:latin typeface="Comfortaa" pitchFamily="2" charset="0"/>
              </a:rPr>
              <a:t>Шаблони в поведението</a:t>
            </a:r>
            <a:endParaRPr lang="en-US" sz="2400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За динамичното взаимодействие на общност от класове и обекти</a:t>
            </a:r>
            <a:endParaRPr lang="en-US" sz="2000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sz="2000" dirty="0">
                <a:latin typeface="Comfortaa" pitchFamily="2" charset="0"/>
              </a:rPr>
              <a:t>Кой за какво отговаря и т.н.</a:t>
            </a:r>
            <a:endParaRPr lang="en-US" sz="2000" dirty="0">
              <a:latin typeface="Comfortaa" pitchFamily="2" charset="0"/>
            </a:endParaRPr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713509" y="661650"/>
            <a:ext cx="11061466" cy="1110780"/>
          </a:xfrm>
        </p:spPr>
        <p:txBody>
          <a:bodyPr>
            <a:normAutofit fontScale="90000"/>
          </a:bodyPr>
          <a:lstStyle/>
          <a:p>
            <a:r>
              <a:rPr lang="bg-BG" b="1" dirty="0">
                <a:latin typeface="Comfortaa" pitchFamily="2" charset="0"/>
              </a:rPr>
              <a:t>Три основни типа шаблони в дизайна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1542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84855" cy="4180899"/>
          </a:xfrm>
        </p:spPr>
        <p:txBody>
          <a:bodyPr>
            <a:normAutofit/>
          </a:bodyPr>
          <a:lstStyle/>
          <a:p>
            <a:r>
              <a:rPr lang="bg-BG" dirty="0">
                <a:latin typeface="Comfortaa" pitchFamily="2" charset="0"/>
              </a:rPr>
              <a:t>Засягат механизмите на създаване на обекти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Опитват се да създадат обекти по най-удачния за дадена ситуацията начин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Вместо 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new SomeClass()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ползвайте</a:t>
            </a:r>
            <a:r>
              <a:rPr lang="en-US" dirty="0">
                <a:latin typeface="Comfortaa" pitchFamily="2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pattern.Create()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Комбинация от две основни идеи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Капсулиране на знанието кои точно класове ползва системата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Скриване на това как екземпляри от тези конкретни класове са създадени и групирани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b="1" dirty="0">
                <a:latin typeface="Comfortaa" pitchFamily="2" charset="0"/>
              </a:rPr>
              <a:t>Шаблони при създаването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8615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88474"/>
            <a:ext cx="10900558" cy="2587157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Класът </a:t>
            </a:r>
            <a:r>
              <a:rPr lang="en-US" b="1" dirty="0">
                <a:solidFill>
                  <a:srgbClr val="00B0F0"/>
                </a:solidFill>
                <a:latin typeface="Comfortaa" pitchFamily="2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Singleton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 </a:t>
            </a:r>
            <a:r>
              <a:rPr lang="bg-BG" noProof="1">
                <a:latin typeface="Comfortaa" pitchFamily="2" charset="0"/>
              </a:rPr>
              <a:t>е такъв, който се предполага да има една-единствена инстанция</a:t>
            </a:r>
            <a:endParaRPr lang="en-US" noProof="1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Обикновено се създава при поискване </a:t>
            </a:r>
            <a:r>
              <a:rPr lang="en-US" dirty="0">
                <a:latin typeface="Comfortaa" pitchFamily="2" charset="0"/>
              </a:rPr>
              <a:t>(lazy loading)</a:t>
            </a:r>
            <a:endParaRPr lang="bg-BG" dirty="0">
              <a:latin typeface="Comfortaa" pitchFamily="2" charset="0"/>
            </a:endParaRP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Понякога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Singleton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е погрешно смятан за глобална променлива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Не е</a:t>
            </a:r>
            <a:r>
              <a:rPr lang="en-US" dirty="0">
                <a:latin typeface="Comfortaa" pitchFamily="2" charset="0"/>
              </a:rPr>
              <a:t>!</a:t>
            </a:r>
          </a:p>
          <a:p>
            <a:pPr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Възможни проблеми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>
              <a:lnSpc>
                <a:spcPct val="110000"/>
              </a:lnSpc>
              <a:buSzPct val="100000"/>
            </a:pPr>
            <a:r>
              <a:rPr lang="en-US" sz="2500" dirty="0">
                <a:latin typeface="Comfortaa" pitchFamily="2" charset="0"/>
              </a:rPr>
              <a:t>Thread-safe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23348"/>
          </a:xfrm>
        </p:spPr>
        <p:txBody>
          <a:bodyPr/>
          <a:lstStyle/>
          <a:p>
            <a:r>
              <a:rPr lang="en-US" b="1" dirty="0">
                <a:latin typeface="Comfortaa" pitchFamily="2" charset="0"/>
              </a:rPr>
              <a:t>Singleton </a:t>
            </a:r>
            <a:r>
              <a:rPr lang="bg-BG" b="1" dirty="0">
                <a:latin typeface="Comfortaa" pitchFamily="2" charset="0"/>
              </a:rPr>
              <a:t>шаблон</a:t>
            </a:r>
            <a:endParaRPr lang="en-US" b="1" dirty="0">
              <a:latin typeface="Comfortaa" pitchFamily="2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4146" y="4057258"/>
            <a:ext cx="8799261" cy="2435616"/>
          </a:xfrm>
          <a:prstGeom prst="roundRect">
            <a:avLst>
              <a:gd name="adj" fmla="val 372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3754684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23999" y="213757"/>
            <a:ext cx="10942413" cy="943696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Singleton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23999" y="1157452"/>
            <a:ext cx="10944002" cy="5243349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sealed class Singleton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Singleton() {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static readonly Singleton instance = new Singleton();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noProof="1">
              <a:solidFill>
                <a:schemeClr val="bg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static Singleton Instance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get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bg-BG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return instance;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024462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3"/>
          <p:cNvSpPr>
            <a:spLocks noGrp="1" noChangeArrowheads="1"/>
          </p:cNvSpPr>
          <p:nvPr>
            <p:ph idx="1"/>
          </p:nvPr>
        </p:nvSpPr>
        <p:spPr>
          <a:xfrm>
            <a:off x="1112185" y="1401826"/>
            <a:ext cx="9558270" cy="3870421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00B0F0"/>
                </a:solidFill>
                <a:latin typeface="Comforta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Factory</a:t>
            </a:r>
            <a:r>
              <a:rPr lang="en-US" sz="2400" dirty="0">
                <a:latin typeface="Comfortaa" pitchFamily="2" charset="0"/>
              </a:rPr>
              <a:t> </a:t>
            </a:r>
            <a:r>
              <a:rPr lang="bg-BG" sz="2400" dirty="0">
                <a:latin typeface="Comfortaa" pitchFamily="2" charset="0"/>
              </a:rPr>
              <a:t>е обект за създаване на други обекти (алтернативен конструктор)</a:t>
            </a:r>
            <a:endParaRPr lang="en-US" sz="2400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sz="2000" dirty="0">
                <a:latin typeface="Comfortaa" pitchFamily="2" charset="0"/>
              </a:rPr>
              <a:t>Това не е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en-US" sz="2000" noProof="1">
                <a:latin typeface="Comfortaa" pitchFamily="2" charset="0"/>
              </a:rPr>
              <a:t>GoF</a:t>
            </a:r>
            <a:r>
              <a:rPr lang="en-US" sz="2000" dirty="0">
                <a:latin typeface="Comfortaa" pitchFamily="2" charset="0"/>
              </a:rPr>
              <a:t> </a:t>
            </a:r>
            <a:r>
              <a:rPr lang="bg-BG" sz="2000" dirty="0">
                <a:latin typeface="Comfortaa" pitchFamily="2" charset="0"/>
              </a:rPr>
              <a:t>шаблон</a:t>
            </a:r>
            <a:r>
              <a:rPr lang="en-US" sz="2000" dirty="0">
                <a:latin typeface="Comfortaa" pitchFamily="2" charset="0"/>
              </a:rPr>
              <a:t>; </a:t>
            </a:r>
            <a:r>
              <a:rPr lang="bg-BG" sz="2000" dirty="0">
                <a:latin typeface="Comfortaa" pitchFamily="2" charset="0"/>
              </a:rPr>
              <a:t>често е бъркан с</a:t>
            </a:r>
            <a:r>
              <a:rPr lang="en-US" sz="2000" dirty="0">
                <a:latin typeface="Comfortaa" pitchFamily="2" charset="0"/>
              </a:rPr>
              <a:t> Factory </a:t>
            </a:r>
            <a:r>
              <a:rPr lang="bg-BG" sz="2000" dirty="0">
                <a:latin typeface="Comfortaa" pitchFamily="2" charset="0"/>
              </a:rPr>
              <a:t>метода</a:t>
            </a:r>
            <a:endParaRPr lang="en-US" sz="20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Традиционно създаване на обекти</a:t>
            </a:r>
            <a:r>
              <a:rPr lang="en-US" sz="2400" dirty="0">
                <a:latin typeface="Comfortaa" pitchFamily="2" charset="0"/>
              </a:rPr>
              <a:t>: </a:t>
            </a:r>
            <a:r>
              <a:rPr lang="en-US" sz="2400" b="1" dirty="0">
                <a:latin typeface="Comfortaa" pitchFamily="2" charset="0"/>
                <a:cs typeface="Consolas" panose="020B0609020204030204" pitchFamily="49" charset="0"/>
              </a:rPr>
              <a:t>new</a:t>
            </a:r>
            <a:r>
              <a:rPr lang="en-US" sz="2400" dirty="0">
                <a:latin typeface="Comfortaa" pitchFamily="2" charset="0"/>
              </a:rPr>
              <a:t> + </a:t>
            </a:r>
            <a:r>
              <a:rPr lang="bg-BG" sz="2400" dirty="0">
                <a:latin typeface="Comfortaa" pitchFamily="2" charset="0"/>
              </a:rPr>
              <a:t>викаме конструктор</a:t>
            </a: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endParaRPr lang="en-US" sz="2400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sz="2400" dirty="0">
                <a:latin typeface="Comfortaa" pitchFamily="2" charset="0"/>
              </a:rPr>
              <a:t>Създаване чрез</a:t>
            </a:r>
            <a:r>
              <a:rPr lang="en-US" sz="2400" dirty="0">
                <a:latin typeface="Comfortaa" pitchFamily="2" charset="0"/>
              </a:rPr>
              <a:t> factory (</a:t>
            </a:r>
            <a:r>
              <a:rPr lang="bg-BG" sz="2400" dirty="0">
                <a:latin typeface="Comfortaa" pitchFamily="2" charset="0"/>
              </a:rPr>
              <a:t>обикновено това е статичен метод</a:t>
            </a:r>
            <a:r>
              <a:rPr lang="en-US" sz="2400" dirty="0">
                <a:latin typeface="Comfortaa" pitchFamily="2" charset="0"/>
              </a:rPr>
              <a:t>):</a:t>
            </a:r>
          </a:p>
        </p:txBody>
      </p:sp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>
          <a:xfrm>
            <a:off x="1324099" y="394813"/>
            <a:ext cx="9346356" cy="923039"/>
          </a:xfrm>
        </p:spPr>
        <p:txBody>
          <a:bodyPr/>
          <a:lstStyle/>
          <a:p>
            <a:r>
              <a:rPr lang="en-US" b="1" dirty="0">
                <a:latin typeface="Comfortaa" pitchFamily="2" charset="0"/>
              </a:rPr>
              <a:t>Factory</a:t>
            </a:r>
            <a:r>
              <a:rPr lang="bg-BG" b="1" dirty="0">
                <a:latin typeface="Comfortaa" pitchFamily="2" charset="0"/>
              </a:rPr>
              <a:t> шаблон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1388991" y="3458688"/>
            <a:ext cx="9281464" cy="442035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 t = new DateTime(2014, 10, 16);</a:t>
            </a: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1388991" y="5073515"/>
            <a:ext cx="9281464" cy="442035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 t = DateTime.Now;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 bwMode="auto">
          <a:xfrm>
            <a:off x="1388991" y="5692451"/>
            <a:ext cx="9281464" cy="442035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Color c = Color.FromArgb(120, 255, 0, 0);</a:t>
            </a:r>
          </a:p>
        </p:txBody>
      </p:sp>
    </p:spTree>
    <p:extLst>
      <p:ext uri="{BB962C8B-B14F-4D97-AF65-F5344CB8AC3E}">
        <p14:creationId xmlns:p14="http://schemas.microsoft.com/office/powerpoint/2010/main" val="27539734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73212" y="237506"/>
            <a:ext cx="10893200" cy="829296"/>
          </a:xfrm>
        </p:spPr>
        <p:txBody>
          <a:bodyPr/>
          <a:lstStyle/>
          <a:p>
            <a:r>
              <a:rPr lang="en-US" dirty="0">
                <a:latin typeface="Comfortaa" pitchFamily="2" charset="0"/>
              </a:rPr>
              <a:t>Factory </a:t>
            </a:r>
            <a:r>
              <a:rPr lang="ru-RU" dirty="0">
                <a:latin typeface="Comfortaa" pitchFamily="2" charset="0"/>
              </a:rPr>
              <a:t>пример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673212" y="1066801"/>
            <a:ext cx="10894788" cy="5458793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Complex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double real; 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double imaginary;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static Complex FromPolarFactory(double modulus, double angle)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return new Complex(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  modulus * Math.Cos(angle), modulus * Math.Sin(angle));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private Complex(double real, double imaginary)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this.real = real;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this.imaginary = imaginary;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0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Complex complexNum = Complex.FromPolarFactory(1, Math.PI / 3);</a:t>
            </a:r>
          </a:p>
        </p:txBody>
      </p:sp>
    </p:spTree>
    <p:extLst>
      <p:ext uri="{BB962C8B-B14F-4D97-AF65-F5344CB8AC3E}">
        <p14:creationId xmlns:p14="http://schemas.microsoft.com/office/powerpoint/2010/main" val="28333243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omfortaa" pitchFamily="2" charset="0"/>
              </a:rPr>
              <a:t>Factory </a:t>
            </a:r>
            <a:r>
              <a:rPr lang="bg-BG" dirty="0">
                <a:latin typeface="Comfortaa" pitchFamily="2" charset="0"/>
              </a:rPr>
              <a:t>шаблоните може да имат много варианти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Статични </a:t>
            </a:r>
            <a:r>
              <a:rPr lang="en-US" dirty="0">
                <a:latin typeface="Comfortaa" pitchFamily="2" charset="0"/>
              </a:rPr>
              <a:t>/ </a:t>
            </a:r>
            <a:r>
              <a:rPr lang="bg-BG" dirty="0">
                <a:latin typeface="Comfortaa" pitchFamily="2" charset="0"/>
              </a:rPr>
              <a:t>нестатични методи за създаване на продукти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dirty="0">
                <a:latin typeface="Comfortaa" pitchFamily="2" charset="0"/>
              </a:rPr>
              <a:t>Връщащи класа на продукта или негов наследник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en-US" dirty="0">
                <a:latin typeface="Comfortaa" pitchFamily="2" charset="0"/>
              </a:rPr>
              <a:t>Factory </a:t>
            </a:r>
            <a:r>
              <a:rPr lang="bg-BG" dirty="0">
                <a:latin typeface="Comfortaa" pitchFamily="2" charset="0"/>
              </a:rPr>
              <a:t>във или извън класа на продукта</a:t>
            </a:r>
            <a:endParaRPr lang="en-US" dirty="0">
              <a:latin typeface="Comfortaa" pitchFamily="2" charset="0"/>
            </a:endParaRPr>
          </a:p>
          <a:p>
            <a:r>
              <a:rPr lang="bg-BG" dirty="0">
                <a:latin typeface="Comfortaa" pitchFamily="2" charset="0"/>
              </a:rPr>
              <a:t>Например</a:t>
            </a:r>
            <a:r>
              <a:rPr lang="en-US" dirty="0">
                <a:latin typeface="Comfortaa" pitchFamily="2" charset="0"/>
              </a:rPr>
              <a:t>:</a:t>
            </a:r>
          </a:p>
          <a:p>
            <a:pPr lvl="1"/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Клас</a:t>
            </a:r>
            <a:r>
              <a:rPr lang="bg-BG" b="1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Coffee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съдържа смес от кафе и мляко</a:t>
            </a:r>
            <a:endParaRPr lang="en-US" dirty="0">
              <a:latin typeface="Comfortaa" pitchFamily="2" charset="0"/>
            </a:endParaRPr>
          </a:p>
          <a:p>
            <a:pPr lvl="1"/>
            <a:r>
              <a:rPr lang="bg-BG" noProof="1">
                <a:latin typeface="Comfortaa" pitchFamily="2" charset="0"/>
                <a:cs typeface="Consolas" panose="020B0609020204030204" pitchFamily="49" charset="0"/>
              </a:rPr>
              <a:t>Клас</a:t>
            </a:r>
            <a:r>
              <a:rPr lang="bg-BG" b="1" noProof="1">
                <a:latin typeface="Comfortaa" pitchFamily="2" charset="0"/>
                <a:cs typeface="Consolas" panose="020B0609020204030204" pitchFamily="49" charset="0"/>
              </a:rPr>
              <a:t> </a:t>
            </a:r>
            <a:r>
              <a:rPr lang="en-US" b="1" noProof="1">
                <a:solidFill>
                  <a:srgbClr val="00B0F0"/>
                </a:solidFill>
                <a:latin typeface="Comfortaa" pitchFamily="2" charset="0"/>
                <a:cs typeface="Consolas" panose="020B0609020204030204" pitchFamily="49" charset="0"/>
              </a:rPr>
              <a:t>CoffeeFactory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latin typeface="Comfortaa" pitchFamily="2" charset="0"/>
              </a:rPr>
              <a:t>създава кафе, капучино </a:t>
            </a:r>
            <a:r>
              <a:rPr lang="en-US" dirty="0">
                <a:latin typeface="Comfortaa" pitchFamily="2" charset="0"/>
              </a:rPr>
              <a:t>/</a:t>
            </a:r>
            <a:r>
              <a:rPr lang="bg-BG" dirty="0">
                <a:latin typeface="Comfortaa" pitchFamily="2" charset="0"/>
              </a:rPr>
              <a:t> </a:t>
            </a:r>
            <a:r>
              <a:rPr lang="bg-BG" dirty="0" err="1">
                <a:latin typeface="Comfortaa" pitchFamily="2" charset="0"/>
              </a:rPr>
              <a:t>макиато</a:t>
            </a:r>
            <a:endParaRPr lang="en-US" dirty="0">
              <a:latin typeface="Comfortaa" pitchFamily="2" charset="0"/>
            </a:endParaRPr>
          </a:p>
          <a:p>
            <a:pPr lvl="2"/>
            <a:r>
              <a:rPr lang="bg-BG" dirty="0">
                <a:latin typeface="Comfortaa" pitchFamily="2" charset="0"/>
              </a:rPr>
              <a:t>В зависимост от поръчания тип кафе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mfortaa" pitchFamily="2" charset="0"/>
              </a:rPr>
              <a:t>Factory </a:t>
            </a:r>
            <a:r>
              <a:rPr lang="ru-RU" dirty="0" err="1">
                <a:latin typeface="Comfortaa" pitchFamily="2" charset="0"/>
              </a:rPr>
              <a:t>варианти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B1E4A273-8705-49B8-B587-CB372B9BE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11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30794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3"/>
          <p:cNvSpPr>
            <a:spLocks noGrp="1" noChangeArrowheads="1"/>
          </p:cNvSpPr>
          <p:nvPr>
            <p:ph idx="1"/>
          </p:nvPr>
        </p:nvSpPr>
        <p:spPr>
          <a:xfrm>
            <a:off x="1773876" y="1342973"/>
            <a:ext cx="8347941" cy="2419066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</a:pPr>
            <a:r>
              <a:rPr lang="en-US" b="1" dirty="0">
                <a:solidFill>
                  <a:srgbClr val="00B0F0"/>
                </a:solidFill>
                <a:latin typeface="Comfortaa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Factory </a:t>
            </a:r>
            <a:r>
              <a:rPr lang="bg-BG" b="1" u="sng" dirty="0">
                <a:solidFill>
                  <a:srgbClr val="00B0F0"/>
                </a:solidFill>
                <a:latin typeface="Comfortaa" pitchFamily="2" charset="0"/>
              </a:rPr>
              <a:t>метод</a:t>
            </a:r>
            <a:endParaRPr lang="en-US" b="1" u="sng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Създава обекти, без да указва точния им клас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Създава обекти от някои от</a:t>
            </a:r>
            <a:r>
              <a:rPr lang="en-US" dirty="0">
                <a:latin typeface="Comfortaa" pitchFamily="2" charset="0"/>
              </a:rPr>
              <a:t> </a:t>
            </a:r>
            <a:r>
              <a:rPr lang="bg-BG" dirty="0">
                <a:solidFill>
                  <a:schemeClr val="tx2">
                    <a:lumMod val="75000"/>
                  </a:schemeClr>
                </a:solidFill>
                <a:latin typeface="Comfortaa" pitchFamily="2" charset="0"/>
              </a:rPr>
              <a:t>подкласовете</a:t>
            </a:r>
            <a:r>
              <a:rPr lang="en-US" dirty="0">
                <a:latin typeface="Comfortaa" pitchFamily="2" charset="0"/>
              </a:rPr>
              <a:t>, </a:t>
            </a:r>
            <a:r>
              <a:rPr lang="bg-BG" dirty="0">
                <a:latin typeface="Comfortaa" pitchFamily="2" charset="0"/>
              </a:rPr>
              <a:t>но връща базовия абстрактен клас или интерфейс</a:t>
            </a:r>
            <a:endParaRPr lang="en-US" dirty="0">
              <a:latin typeface="Comfortaa" pitchFamily="2" charset="0"/>
            </a:endParaRPr>
          </a:p>
          <a:p>
            <a:pPr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Ползи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Добавяне след време </a:t>
            </a:r>
            <a:br>
              <a:rPr lang="bg-BG" dirty="0">
                <a:latin typeface="Comfortaa" pitchFamily="2" charset="0"/>
              </a:rPr>
            </a:br>
            <a:r>
              <a:rPr lang="bg-BG" dirty="0">
                <a:latin typeface="Comfortaa" pitchFamily="2" charset="0"/>
              </a:rPr>
              <a:t>на нови подкласове</a:t>
            </a:r>
            <a:endParaRPr lang="en-US" dirty="0">
              <a:latin typeface="Comfortaa" pitchFamily="2" charset="0"/>
            </a:endParaRP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Лесна разширяемост</a:t>
            </a:r>
          </a:p>
          <a:p>
            <a:pPr lvl="1">
              <a:lnSpc>
                <a:spcPct val="100000"/>
              </a:lnSpc>
            </a:pPr>
            <a:r>
              <a:rPr lang="bg-BG" dirty="0">
                <a:latin typeface="Comfortaa" pitchFamily="2" charset="0"/>
              </a:rPr>
              <a:t>Лесна поддръжка</a:t>
            </a:r>
            <a:endParaRPr lang="en-US" dirty="0">
              <a:latin typeface="Comfortaa" pitchFamily="2" charset="0"/>
            </a:endParaRPr>
          </a:p>
        </p:txBody>
      </p:sp>
      <p:sp>
        <p:nvSpPr>
          <p:cNvPr id="92162" name="Rectangle 2"/>
          <p:cNvSpPr>
            <a:spLocks noGrp="1" noChangeArrowheads="1"/>
          </p:cNvSpPr>
          <p:nvPr>
            <p:ph type="title"/>
          </p:nvPr>
        </p:nvSpPr>
        <p:spPr>
          <a:xfrm>
            <a:off x="1673513" y="406689"/>
            <a:ext cx="8448304" cy="869909"/>
          </a:xfrm>
        </p:spPr>
        <p:txBody>
          <a:bodyPr/>
          <a:lstStyle/>
          <a:p>
            <a:r>
              <a:rPr lang="bg-BG" b="1" dirty="0">
                <a:latin typeface="Comfortaa" pitchFamily="2" charset="0"/>
              </a:rPr>
              <a:t>Шаблон на </a:t>
            </a:r>
            <a:r>
              <a:rPr lang="en-US" b="1" dirty="0">
                <a:latin typeface="Comfortaa" pitchFamily="2" charset="0"/>
              </a:rPr>
              <a:t>Factory </a:t>
            </a:r>
            <a:r>
              <a:rPr lang="bg-BG" b="1" dirty="0">
                <a:latin typeface="Comfortaa" pitchFamily="2" charset="0"/>
              </a:rPr>
              <a:t>метод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3876" y="3762039"/>
            <a:ext cx="7204906" cy="2689272"/>
          </a:xfrm>
          <a:prstGeom prst="roundRect">
            <a:avLst>
              <a:gd name="adj" fmla="val 201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22418871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475755" y="1047657"/>
            <a:ext cx="7089098" cy="860920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Comfortaa" pitchFamily="2" charset="0"/>
              </a:rPr>
              <a:t>Factory </a:t>
            </a:r>
            <a:r>
              <a:rPr lang="ru-RU" sz="3600" b="1" dirty="0">
                <a:latin typeface="Comfortaa" pitchFamily="2" charset="0"/>
              </a:rPr>
              <a:t>метод пример</a:t>
            </a:r>
            <a:endParaRPr lang="en-US" sz="3600" b="1" dirty="0">
              <a:latin typeface="Comfortaa" pitchFamily="2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75755" y="2051527"/>
            <a:ext cx="7605464" cy="3766022"/>
          </a:xfrm>
          <a:prstGeom prst="roundRect">
            <a:avLst>
              <a:gd name="adj" fmla="val 750"/>
            </a:avLst>
          </a:prstGeom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vert="horz" wrap="square" lIns="108000" tIns="36000" rIns="108000" bIns="36000" rtlCol="0">
            <a:spAutoFit/>
          </a:bodyPr>
          <a:lstStyle>
            <a:lvl1pPr marL="304747" indent="-304747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F2B254"/>
              </a:buClr>
              <a:buSzPct val="100000"/>
              <a:buFont typeface="Wingdings" panose="05000000000000000000" pitchFamily="2" charset="2"/>
              <a:buChar char="§"/>
              <a:defRPr sz="3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49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Pct val="80000"/>
              <a:buFont typeface="Wingdings" panose="05000000000000000000" pitchFamily="2" charset="2"/>
              <a:buChar char="§"/>
              <a:defRPr sz="3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40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F9A1D"/>
              </a:buClr>
              <a:buSzPct val="80000"/>
              <a:buFont typeface="Wingdings" panose="05000000000000000000" pitchFamily="2" charset="2"/>
              <a:buChar char="§"/>
              <a:defRPr sz="3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18987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D9411"/>
              </a:buClr>
              <a:buSzPct val="80000"/>
              <a:buFont typeface="Wingdings" panose="05000000000000000000" pitchFamily="2" charset="2"/>
              <a:buChar char="§"/>
              <a:defRPr sz="28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23733" indent="-231606" algn="l" defTabSz="1218987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Clr>
                <a:srgbClr val="E28D10"/>
              </a:buClr>
              <a:buSzPct val="80000"/>
              <a:buFont typeface="Wingdings" panose="05000000000000000000" pitchFamily="2" charset="2"/>
              <a:buChar char="§"/>
              <a:defRPr sz="2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2848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33227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37972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2720" indent="-231606" algn="l" defTabSz="1218987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80000"/>
              <a:buFont typeface="Arial" pitchFamily="34" charset="0"/>
              <a:buChar char="•"/>
              <a:defRPr sz="20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class Product { …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Chair : Product { …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Table : Product { …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abstract class ProductCreator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abstract Product CreateProduct();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TableCreator : ProductCreator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Product CreateProduct() { return new Table(…);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 class ChairCreator : ProductCreator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public override Product CreateProduct() { return new Chair(…); 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noProof="1">
                <a:solidFill>
                  <a:schemeClr val="bg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7" name="Slide Number Placeholder">
            <a:extLst>
              <a:ext uri="{FF2B5EF4-FFF2-40B4-BE49-F238E27FC236}">
                <a16:creationId xmlns:a16="http://schemas.microsoft.com/office/drawing/2014/main" id="{4C665742-750D-469A-9913-D5A8C0A97F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66412" y="6525002"/>
            <a:ext cx="428822" cy="196477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1218987" rtl="0" eaLnBrk="1" latinLnBrk="0" hangingPunct="1">
              <a:defRPr sz="1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0949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898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48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797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46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6960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6453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5947" algn="l" defTabSz="1218987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>
                <a:solidFill>
                  <a:prstClr val="white">
                    <a:tint val="75000"/>
                  </a:prstClr>
                </a:solidFill>
              </a:rPr>
              <a:pPr/>
              <a:t>13</a:t>
            </a:fld>
            <a:endParaRPr lang="en-US" dirty="0">
              <a:solidFill>
                <a:prstClr val="white">
                  <a:tint val="75000"/>
                </a:prst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68DF55-E7A1-E965-B0D9-3611F7E83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570" y="456725"/>
            <a:ext cx="3498097" cy="60682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942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181885"/>
            <a:ext cx="10515600" cy="3625149"/>
          </a:xfrm>
        </p:spPr>
        <p:txBody>
          <a:bodyPr>
            <a:normAutofit/>
          </a:bodyPr>
          <a:lstStyle/>
          <a:p>
            <a:pPr marL="358775" indent="-358775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Шаблоните в проектирането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lvl="1">
              <a:lnSpc>
                <a:spcPct val="110000"/>
              </a:lnSpc>
            </a:pPr>
            <a:r>
              <a:rPr lang="bg-BG" dirty="0">
                <a:latin typeface="Comfortaa" pitchFamily="2" charset="0"/>
              </a:rPr>
              <a:t>Готови решения на често срещани казуси в ООП дизайна</a:t>
            </a:r>
            <a:endParaRPr lang="en-US" dirty="0">
              <a:latin typeface="Comfortaa" pitchFamily="2" charset="0"/>
            </a:endParaRPr>
          </a:p>
          <a:p>
            <a:pPr marL="358775" indent="-358775">
              <a:lnSpc>
                <a:spcPct val="100000"/>
              </a:lnSpc>
            </a:pPr>
            <a:r>
              <a:rPr lang="bg-BG" b="1" dirty="0">
                <a:solidFill>
                  <a:srgbClr val="00B0F0"/>
                </a:solidFill>
                <a:latin typeface="Comfortaa" pitchFamily="2" charset="0"/>
              </a:rPr>
              <a:t>Шаблони за създаване</a:t>
            </a:r>
            <a:endParaRPr lang="en-US" b="1" dirty="0">
              <a:solidFill>
                <a:srgbClr val="00B0F0"/>
              </a:solidFill>
              <a:latin typeface="Comfortaa" pitchFamily="2" charset="0"/>
            </a:endParaRPr>
          </a:p>
          <a:p>
            <a:pPr marL="663521" lvl="1" indent="-358775">
              <a:lnSpc>
                <a:spcPct val="100000"/>
              </a:lnSpc>
            </a:pPr>
            <a:r>
              <a:rPr lang="en-US" dirty="0">
                <a:latin typeface="Comfortaa" pitchFamily="2" charset="0"/>
              </a:rPr>
              <a:t>Singleton, Factory, Factory Method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1385"/>
            <a:ext cx="10515600" cy="1325563"/>
          </a:xfrm>
        </p:spPr>
        <p:txBody>
          <a:bodyPr/>
          <a:lstStyle/>
          <a:p>
            <a:r>
              <a:rPr lang="bg-BG" b="1" dirty="0">
                <a:latin typeface="Comfortaa" pitchFamily="2" charset="0"/>
              </a:rPr>
              <a:t>Обобщение</a:t>
            </a:r>
            <a:endParaRPr lang="en-US" b="1" dirty="0">
              <a:latin typeface="Comforta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243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09547CF4-B25A-F864-DA65-5C7F1F83C4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352" y="83713"/>
            <a:ext cx="1575455" cy="15754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A303128A-0EF3-84BD-F9ED-2E6316CD08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4792" y="83713"/>
            <a:ext cx="1699472" cy="1414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4EB993A-D432-5177-9922-4D00100F74D8}"/>
              </a:ext>
            </a:extLst>
          </p:cNvPr>
          <p:cNvSpPr txBox="1"/>
          <p:nvPr/>
        </p:nvSpPr>
        <p:spPr>
          <a:xfrm>
            <a:off x="1734047" y="365284"/>
            <a:ext cx="47294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Национална програма 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Обучение за ИТ умения и кариера</a:t>
            </a:r>
            <a:r>
              <a:rPr lang="en-US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"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bg-BG" u="sng" dirty="0"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https://it-kariera.mon.bg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22BFFF-21D1-37C4-D08A-94EDDBB11DD9}"/>
              </a:ext>
            </a:extLst>
          </p:cNvPr>
          <p:cNvSpPr txBox="1"/>
          <p:nvPr/>
        </p:nvSpPr>
        <p:spPr>
          <a:xfrm>
            <a:off x="6373448" y="365284"/>
            <a:ext cx="401710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r">
              <a:spcBef>
                <a:spcPts val="0"/>
              </a:spcBef>
              <a:spcAft>
                <a:spcPts val="0"/>
              </a:spcAft>
            </a:pPr>
            <a:r>
              <a:rPr lang="bg-B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Министерството на образованието и науката</a:t>
            </a:r>
            <a:endParaRPr lang="bg-BG" dirty="0">
              <a:solidFill>
                <a:schemeClr val="tx1"/>
              </a:solidFill>
              <a:effectLst/>
              <a:latin typeface="Comfortaa" pitchFamily="2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0" marR="0" algn="r">
              <a:spcBef>
                <a:spcPts val="0"/>
              </a:spcBef>
              <a:spcAft>
                <a:spcPts val="0"/>
              </a:spcAft>
              <a:tabLst>
                <a:tab pos="2865755" algn="ctr"/>
                <a:tab pos="5731510" algn="r"/>
              </a:tabLst>
            </a:pP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</a:t>
            </a:r>
            <a:r>
              <a:rPr lang="bg-BG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.</a:t>
            </a:r>
            <a:r>
              <a:rPr lang="en-US" u="sng" dirty="0">
                <a:solidFill>
                  <a:schemeClr val="tx1"/>
                </a:solidFill>
                <a:effectLst/>
                <a:latin typeface="Comfortaa" pitchFamily="2" charset="0"/>
                <a:ea typeface="Times New Roman" panose="02020603050405020304" pitchFamily="18" charset="0"/>
                <a:cs typeface="Calibri" panose="020F0502020204030204" pitchFamily="34" charset="0"/>
              </a:rPr>
              <a:t>mon.bg</a:t>
            </a:r>
            <a:endParaRPr lang="bg-BG" dirty="0">
              <a:latin typeface="Comfortaa" pitchFamily="2" charset="0"/>
            </a:endParaRPr>
          </a:p>
        </p:txBody>
      </p:sp>
      <p:pic>
        <p:nvPicPr>
          <p:cNvPr id="2" name="Logo CC-BY-NC-SA">
            <a:hlinkClick r:id="rId5"/>
            <a:extLst>
              <a:ext uri="{FF2B5EF4-FFF2-40B4-BE49-F238E27FC236}">
                <a16:creationId xmlns:a16="http://schemas.microsoft.com/office/drawing/2014/main" id="{39F87C09-7AAD-A59F-33F5-8BECE165CB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87447" y="2650021"/>
            <a:ext cx="4017104" cy="144081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DBEA407-2EEF-D82D-ADB6-D20902F79FA2}"/>
              </a:ext>
            </a:extLst>
          </p:cNvPr>
          <p:cNvSpPr txBox="1"/>
          <p:nvPr/>
        </p:nvSpPr>
        <p:spPr>
          <a:xfrm>
            <a:off x="262246" y="5452243"/>
            <a:ext cx="1166750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bg-BG" sz="1800" dirty="0">
                <a:latin typeface="Comfortaa" pitchFamily="2" charset="0"/>
              </a:rPr>
              <a:t>Документът е разработен за нуждите на Национална програма "Обучение за ИТ умения и кариера" на Министерството на образованието и науката (МОН)</a:t>
            </a:r>
            <a:r>
              <a:rPr lang="en-US" sz="1800" dirty="0">
                <a:latin typeface="Comfortaa" pitchFamily="2" charset="0"/>
              </a:rPr>
              <a:t> </a:t>
            </a:r>
            <a:r>
              <a:rPr lang="bg-BG" sz="1800" dirty="0">
                <a:latin typeface="Comfortaa" pitchFamily="2" charset="0"/>
              </a:rPr>
              <a:t>и се разпространява под свободен лиценз CC-BY-NC-SA (</a:t>
            </a:r>
            <a:r>
              <a:rPr lang="bg-BG" sz="1800" dirty="0" err="1">
                <a:latin typeface="Comfortaa" pitchFamily="2" charset="0"/>
              </a:rPr>
              <a:t>Creative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Commons</a:t>
            </a:r>
            <a:r>
              <a:rPr lang="bg-BG" sz="1800" dirty="0">
                <a:latin typeface="Comfortaa" pitchFamily="2" charset="0"/>
              </a:rPr>
              <a:t> </a:t>
            </a:r>
            <a:r>
              <a:rPr lang="bg-BG" sz="1800" dirty="0" err="1">
                <a:latin typeface="Comfortaa" pitchFamily="2" charset="0"/>
              </a:rPr>
              <a:t>Attribution-Non-Commercial-Share-Alike</a:t>
            </a:r>
            <a:r>
              <a:rPr lang="bg-BG" sz="1800" dirty="0">
                <a:latin typeface="Comfortaa" pitchFamily="2" charset="0"/>
              </a:rPr>
              <a:t> 4.0 International).</a:t>
            </a:r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1241344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101</TotalTime>
  <Words>891</Words>
  <Application>Microsoft Office PowerPoint</Application>
  <PresentationFormat>Widescreen</PresentationFormat>
  <Paragraphs>154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Comfortaa</vt:lpstr>
      <vt:lpstr>Consolas</vt:lpstr>
      <vt:lpstr>Wingdings</vt:lpstr>
      <vt:lpstr>Office Theme</vt:lpstr>
      <vt:lpstr>Шаблони за проектиране  при създаване на обекти</vt:lpstr>
      <vt:lpstr>Съдържание</vt:lpstr>
      <vt:lpstr>Какво са шаблоните в проектирането?</vt:lpstr>
      <vt:lpstr>Елементи на шаблоните в проектирането</vt:lpstr>
      <vt:lpstr>Три основни типа шаблони в дизайна</vt:lpstr>
      <vt:lpstr>Шаблони при създаването</vt:lpstr>
      <vt:lpstr>Singleton шаблон</vt:lpstr>
      <vt:lpstr>Singleton пример</vt:lpstr>
      <vt:lpstr>Factory шаблон</vt:lpstr>
      <vt:lpstr>Factory пример</vt:lpstr>
      <vt:lpstr>Factory варианти</vt:lpstr>
      <vt:lpstr>Шаблон на Factory метод</vt:lpstr>
      <vt:lpstr>Factory метод пример</vt:lpstr>
      <vt:lpstr>Обобщение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Димитър Минчев</dc:creator>
  <cp:lastModifiedBy>Димитър Минчев</cp:lastModifiedBy>
  <cp:revision>11</cp:revision>
  <dcterms:created xsi:type="dcterms:W3CDTF">2022-08-09T09:25:46Z</dcterms:created>
  <dcterms:modified xsi:type="dcterms:W3CDTF">2022-09-27T05:37:49Z</dcterms:modified>
</cp:coreProperties>
</file>