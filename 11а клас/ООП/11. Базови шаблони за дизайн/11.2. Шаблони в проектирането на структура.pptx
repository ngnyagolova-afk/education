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8" r:id="rId2"/>
    <p:sldId id="587" r:id="rId3"/>
    <p:sldId id="563" r:id="rId4"/>
    <p:sldId id="564" r:id="rId5"/>
    <p:sldId id="577" r:id="rId6"/>
    <p:sldId id="565" r:id="rId7"/>
    <p:sldId id="578" r:id="rId8"/>
    <p:sldId id="582" r:id="rId9"/>
    <p:sldId id="566" r:id="rId10"/>
    <p:sldId id="579" r:id="rId11"/>
    <p:sldId id="581" r:id="rId12"/>
    <p:sldId id="567" r:id="rId13"/>
    <p:sldId id="580" r:id="rId14"/>
    <p:sldId id="588" r:id="rId15"/>
    <p:sldId id="5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87"/>
          </p14:sldIdLst>
        </p14:section>
        <p14:section name="Съдържание" id="{0B0C01F3-1F60-4ADB-AC1E-9589654EAEF3}">
          <p14:sldIdLst>
            <p14:sldId id="563"/>
            <p14:sldId id="564"/>
            <p14:sldId id="577"/>
            <p14:sldId id="565"/>
            <p14:sldId id="578"/>
            <p14:sldId id="582"/>
            <p14:sldId id="566"/>
            <p14:sldId id="579"/>
            <p14:sldId id="581"/>
            <p14:sldId id="567"/>
            <p14:sldId id="580"/>
          </p14:sldIdLst>
        </p14:section>
        <p14:section name="Заключение" id="{9315BEE7-605C-4839-996A-A4EEA70921D9}">
          <p14:sldIdLst>
            <p14:sldId id="588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C7A11B-7CC3-44FD-8237-BB97436B2E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0102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Interpreter Pattern</a:t>
            </a: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D408F3D-FBB0-498A-8B0D-59A89F24415E}" type="slidenum">
              <a:rPr lang="en-US"/>
              <a:pPr eaLnBrk="1" hangingPunct="1"/>
              <a:t>4</a:t>
            </a:fld>
            <a:endParaRPr lang="en-US" dirty="0"/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7CF5C76-7357-45DC-B4AE-EEEE518D38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6713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  <a:endParaRPr lang="en-US" sz="1200" i="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  <a:endParaRPr lang="en-US" sz="1200" i="0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 dirty="0"/>
              <a:t>##</a:t>
            </a:r>
            <a:endParaRPr lang="en-US" sz="1200" i="0" dirty="0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EB92F9-C8A0-4A9F-8B15-38ABA20917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0669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727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Структурни шаблони за проектиране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36954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Structural Design Patterns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774" y="780761"/>
            <a:ext cx="9486388" cy="98111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59774" y="1892111"/>
            <a:ext cx="9486389" cy="409305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Шаблони за дизайн в структурата на приложението</a:t>
            </a:r>
            <a:endParaRPr lang="en-US" dirty="0">
              <a:latin typeface="Comfortaa" pitchFamily="2" charset="0"/>
            </a:endParaRP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Façade</a:t>
            </a: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Composite</a:t>
            </a: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Decorator</a:t>
            </a: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Adapter</a:t>
            </a:r>
          </a:p>
          <a:p>
            <a:pPr marL="819096" lvl="1" indent="-514350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marL="819096" lvl="1" indent="-514350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0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762016" y="1780026"/>
            <a:ext cx="10299849" cy="4205138"/>
          </a:xfrm>
          <a:ln/>
        </p:spPr>
        <p:txBody>
          <a:bodyPr>
            <a:noAutofit/>
          </a:bodyPr>
          <a:lstStyle/>
          <a:p>
            <a:pPr marL="304747" lvl="1" indent="-304747">
              <a:lnSpc>
                <a:spcPct val="100000"/>
              </a:lnSpc>
              <a:buSzPct val="10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bg-BG" dirty="0">
                <a:latin typeface="Comfortaa" pitchFamily="2" charset="0"/>
              </a:rPr>
              <a:t>Шаблоните в структурата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описват начини за групиране на обекти за реализиране на нова функционалност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Или как класове и обекти се групират в по-големи структури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Структурните шаблони на класове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използват наследяване за  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съставяне на интерфейси или имплементации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Структурните шаблони на обекти съставят обекти за новата функционалност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Примери за шаблони в проектирането на структурата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Comfortaa" pitchFamily="2" charset="0"/>
              </a:rPr>
              <a:t>Composite, Decorator, Façade, Adapter, Bridge, Proxy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Шаблони в структурата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1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899739" y="1405953"/>
            <a:ext cx="11095495" cy="511904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defRPr/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Façade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осигурява опростен интерфейс към по-голям програмен код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bg-BG" dirty="0">
                <a:latin typeface="Comfortaa" pitchFamily="2" charset="0"/>
              </a:rPr>
              <a:t>Интерфейс от по-висок ред скрива сложността на подсистемите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defRPr/>
            </a:pPr>
            <a:endParaRPr lang="en-US" dirty="0"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Подобен шаблон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Adapter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преобразувател на интерфейси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040828"/>
          </a:xfrm>
          <a:ln>
            <a:noFill/>
          </a:ln>
        </p:spPr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bg-BG" b="1" dirty="0">
                <a:latin typeface="Comfortaa" pitchFamily="2" charset="0"/>
              </a:rPr>
              <a:t>Шаблон </a:t>
            </a:r>
            <a:r>
              <a:rPr lang="en-US" b="1" dirty="0">
                <a:latin typeface="Comfortaa" pitchFamily="2" charset="0"/>
              </a:rPr>
              <a:t>Façade</a:t>
            </a:r>
            <a:endParaRPr lang="bg-BG" b="1" dirty="0">
              <a:latin typeface="Comfortaa" pitchFamily="2" charset="0"/>
            </a:endParaRPr>
          </a:p>
        </p:txBody>
      </p:sp>
      <p:pic>
        <p:nvPicPr>
          <p:cNvPr id="2" name="Picture 9" descr="facad057">
            <a:extLst>
              <a:ext uri="{FF2B5EF4-FFF2-40B4-BE49-F238E27FC236}">
                <a16:creationId xmlns:a16="http://schemas.microsoft.com/office/drawing/2014/main" id="{BA4FACD7-8C15-0087-33B6-9A558D0D1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4" t="-2828" r="-1064" b="-2828"/>
          <a:stretch/>
        </p:blipFill>
        <p:spPr bwMode="auto">
          <a:xfrm>
            <a:off x="1742497" y="2878596"/>
            <a:ext cx="6231783" cy="21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1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273132"/>
            <a:ext cx="10363198" cy="869870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Façade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4402" y="1143001"/>
            <a:ext cx="10363198" cy="2544727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IAESFacade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string AESEncrypt(string message, string password);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byte[] AESEncrypt(byte[] bytesToBeEncrypted, string password);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byte[] AESDecrypt(byte[] bytesToBeDecrypted, string password);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string AESDecrypt(string encryptedMessage, string password);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14400" y="3886201"/>
            <a:ext cx="10363198" cy="2544727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AESFacade : IAESFacade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string AESEncrypt(string message, string password) { …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byte[] AESEncrypt(byte[] bytes, string password) { …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byte[] AESDecrypt(byte[] bytes, string password) { …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string AESDecrypt(string msg, string password) { …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407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Grp="1" noChangeArrowheads="1"/>
          </p:cNvSpPr>
          <p:nvPr>
            <p:ph idx="1"/>
          </p:nvPr>
        </p:nvSpPr>
        <p:spPr>
          <a:xfrm>
            <a:off x="762016" y="1797135"/>
            <a:ext cx="6202861" cy="44730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Шаблонът </a:t>
            </a:r>
            <a:r>
              <a:rPr lang="en-US" b="1" dirty="0">
                <a:latin typeface="Comfortaa" pitchFamily="2" charset="0"/>
              </a:rPr>
              <a:t>Composite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позволява групирането на различни типове обекти в дървовидни структури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Третира по един и същ начин отделните обекти и групите от обекти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Система за документооборот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Използва се когато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Имате различни обекти и искате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да ги третирате еднакво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Искате да представите йерархия от обекти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2262" y="478735"/>
            <a:ext cx="10146516" cy="111907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Composite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60" y="2517569"/>
            <a:ext cx="5555686" cy="2416628"/>
          </a:xfrm>
          <a:prstGeom prst="roundRect">
            <a:avLst>
              <a:gd name="adj" fmla="val 229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3CA0612-2BD6-4BEA-9956-FC9F04200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9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1999" y="255462"/>
            <a:ext cx="10667997" cy="811340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Composite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62002" y="1066801"/>
            <a:ext cx="10667998" cy="5535737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interface IComponent { … 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interface ICompositeComponent : IComponent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Add(Component page);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Remove(Component page);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Commander : ICompositeComponent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ICollection&lt;Component&gt; childComponents =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new List&lt;Component&gt;();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void Add(Component component)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this.childComponents.Add(component); 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void Remove(Component component)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this.childComponents.Remove(component);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858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Контролите от</a:t>
            </a:r>
            <a:r>
              <a:rPr lang="en-US" dirty="0">
                <a:latin typeface="Comfortaa" pitchFamily="2" charset="0"/>
              </a:rPr>
              <a:t> Windows Forms</a:t>
            </a:r>
          </a:p>
          <a:p>
            <a:pPr lvl="1"/>
            <a:r>
              <a:rPr lang="bg-BG" dirty="0">
                <a:latin typeface="Comfortaa" pitchFamily="2" charset="0"/>
              </a:rPr>
              <a:t>Класът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System.Windows.Forms.Control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има дъщерни контроли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Свойства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Controls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HasChildren</a:t>
            </a:r>
            <a:r>
              <a:rPr lang="en-US" dirty="0">
                <a:latin typeface="Comfortaa" pitchFamily="2" charset="0"/>
              </a:rPr>
              <a:t>, …</a:t>
            </a:r>
          </a:p>
          <a:p>
            <a:r>
              <a:rPr lang="bg-BG" dirty="0">
                <a:latin typeface="Comfortaa" pitchFamily="2" charset="0"/>
              </a:rPr>
              <a:t>Контролите в</a:t>
            </a:r>
            <a:r>
              <a:rPr lang="en-US" dirty="0">
                <a:latin typeface="Comfortaa" pitchFamily="2" charset="0"/>
              </a:rPr>
              <a:t> ASP.NET Web Forms</a:t>
            </a:r>
          </a:p>
          <a:p>
            <a:pPr lvl="1"/>
            <a:r>
              <a:rPr lang="bg-BG" dirty="0">
                <a:latin typeface="Comfortaa" pitchFamily="2" charset="0"/>
              </a:rPr>
              <a:t>Класът в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System.Web.UI.Control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пак е с дъщерни контроли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Свойство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Controls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Контролите в</a:t>
            </a:r>
            <a:r>
              <a:rPr lang="en-US" dirty="0">
                <a:latin typeface="Comfortaa" pitchFamily="2" charset="0"/>
              </a:rPr>
              <a:t> AWT / Java Swing</a:t>
            </a:r>
          </a:p>
          <a:p>
            <a:pPr lvl="1"/>
            <a:r>
              <a:rPr lang="bg-BG" dirty="0">
                <a:latin typeface="Comfortaa" pitchFamily="2" charset="0"/>
              </a:rPr>
              <a:t>Класовете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java.awt.Component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java.awt.Container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9101" y="444102"/>
            <a:ext cx="10806842" cy="111078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omfortaa" pitchFamily="2" charset="0"/>
              </a:rPr>
              <a:t>Composite </a:t>
            </a:r>
            <a:r>
              <a:rPr lang="bg-BG" sz="3600" b="1" dirty="0">
                <a:latin typeface="Comfortaa" pitchFamily="2" charset="0"/>
              </a:rPr>
              <a:t>примери за реална употреба</a:t>
            </a:r>
            <a:endParaRPr lang="en-US" sz="36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57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959" y="1582181"/>
            <a:ext cx="10283042" cy="2099170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Decorator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добавя динамично нови отговорности на обектите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Обвива оригиналния компонент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Алтернатива е на наследяването</a:t>
            </a:r>
            <a:r>
              <a:rPr lang="en-US" sz="2000" dirty="0">
                <a:latin typeface="Comfortaa" pitchFamily="2" charset="0"/>
              </a:rPr>
              <a:t> (class explosion)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Поддържа </a:t>
            </a:r>
            <a:r>
              <a:rPr lang="en-US" sz="2000" dirty="0">
                <a:latin typeface="Comfortaa" pitchFamily="2" charset="0"/>
              </a:rPr>
              <a:t>Open-Closed </a:t>
            </a:r>
            <a:r>
              <a:rPr lang="bg-BG" sz="2000" dirty="0">
                <a:latin typeface="Comfortaa" pitchFamily="2" charset="0"/>
              </a:rPr>
              <a:t>принципа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958" y="335437"/>
            <a:ext cx="10283042" cy="1325563"/>
          </a:xfrm>
        </p:spPr>
        <p:txBody>
          <a:bodyPr/>
          <a:lstStyle/>
          <a:p>
            <a:r>
              <a:rPr lang="bg-BG" b="1" dirty="0">
                <a:latin typeface="Comfortaa" pitchFamily="2" charset="0"/>
              </a:rPr>
              <a:t>Шаблон </a:t>
            </a:r>
            <a:r>
              <a:rPr lang="en-US" b="1" dirty="0">
                <a:latin typeface="Comfortaa" pitchFamily="2" charset="0"/>
              </a:rPr>
              <a:t>Decorator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882" y="3681351"/>
            <a:ext cx="6823631" cy="2841212"/>
          </a:xfrm>
          <a:prstGeom prst="roundRect">
            <a:avLst>
              <a:gd name="adj" fmla="val 225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9566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398" y="326571"/>
            <a:ext cx="10313989" cy="816431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Decorator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4400" y="1143001"/>
            <a:ext cx="10313988" cy="5304905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class Pizza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abstract string GetDescription();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abstract decimal GetPrice();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TomatoSaucePizza : Pizza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Pizza basePizza;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TomatoSaucePizza(Pizza pizza)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this.basePizza = pizza; 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string GetDescription()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return this.basePizza.GetDescription() + " + Tomato Sauce"; 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decimal GetPrice()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return basePizza.GetPrice() + 0.60m;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245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8686"/>
            <a:ext cx="9908969" cy="4140529"/>
          </a:xfrm>
        </p:spPr>
        <p:txBody>
          <a:bodyPr/>
          <a:lstStyle/>
          <a:p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BufferedStream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.NET </a:t>
            </a:r>
            <a:r>
              <a:rPr lang="bg-BG" dirty="0">
                <a:latin typeface="Comfortaa" pitchFamily="2" charset="0"/>
              </a:rPr>
              <a:t>декорира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Stream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CryptoStream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декорира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Stream</a:t>
            </a:r>
          </a:p>
          <a:p>
            <a:pPr lvl="1"/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endParaRPr lang="en-US" sz="20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BufferedReader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Java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61593" cy="98531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omfortaa" pitchFamily="2" charset="0"/>
              </a:rPr>
              <a:t>Decorator </a:t>
            </a:r>
            <a:r>
              <a:rPr lang="bg-BG" sz="3200" b="1" dirty="0">
                <a:latin typeface="Comfortaa" pitchFamily="2" charset="0"/>
              </a:rPr>
              <a:t>примери за реална употреба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171430" y="4269292"/>
            <a:ext cx="9575739" cy="1919363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BufferedReader bufferedReader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new BufferedReader(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new InputStreamReader(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new FileInputStream(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new File("file_name.txt"))));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71430" y="2516692"/>
            <a:ext cx="9575739" cy="811367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CryptoStream crStream = new CryptoStream(stream,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encryptor, CryptoStreamMode.Write);</a:t>
            </a:r>
          </a:p>
        </p:txBody>
      </p:sp>
    </p:spTree>
    <p:extLst>
      <p:ext uri="{BB962C8B-B14F-4D97-AF65-F5344CB8AC3E}">
        <p14:creationId xmlns:p14="http://schemas.microsoft.com/office/powerpoint/2010/main" val="123956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Grp="1" noChangeArrowheads="1"/>
          </p:cNvSpPr>
          <p:nvPr>
            <p:ph idx="1"/>
          </p:nvPr>
        </p:nvSpPr>
        <p:spPr>
          <a:xfrm>
            <a:off x="1301338" y="1510688"/>
            <a:ext cx="9445831" cy="248511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Adapter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преобразува интерфейса на даден клас в друг, изискван от клиента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Обгражда съществуващ клас с нов интерфейс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Преходник за напасване на стар компонент в нова система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Позволява на класове да работят заедно, когато това е невъзможно заради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различни интерфейси</a:t>
            </a: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1338" y="406201"/>
            <a:ext cx="9445831" cy="10069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Adapter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34" y="3871926"/>
            <a:ext cx="6902252" cy="2629814"/>
          </a:xfrm>
          <a:prstGeom prst="roundRect">
            <a:avLst>
              <a:gd name="adj" fmla="val 33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4463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28884"/>
            <a:ext cx="10265229" cy="785996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Adapter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8200" y="1151121"/>
            <a:ext cx="10313988" cy="1457698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sz="1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ChemicalDatabank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float GetMolecularStructure(string compound) {…}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838200" y="2743201"/>
            <a:ext cx="10313988" cy="1180699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sz="1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ICompound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8200" y="4112106"/>
            <a:ext cx="10313988" cy="2288694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RichCompound</a:t>
            </a: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sz="18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ICompound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RichCompound(string compound)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var chemicalBank = new ChemicalDatabank();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void Display() {…}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6065817" y="998810"/>
            <a:ext cx="5388428" cy="492831"/>
          </a:xfrm>
          <a:prstGeom prst="wedgeRoundRectCallout">
            <a:avLst>
              <a:gd name="adj1" fmla="val -92893"/>
              <a:gd name="adj2" fmla="val 1702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Старият клас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6116039" y="3054141"/>
            <a:ext cx="5388428" cy="492831"/>
          </a:xfrm>
          <a:prstGeom prst="wedgeRoundRectCallout">
            <a:avLst>
              <a:gd name="adj1" fmla="val -99781"/>
              <a:gd name="adj2" fmla="val -6879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Нужния нов интерфейс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6166261" y="4231918"/>
            <a:ext cx="5287984" cy="492831"/>
          </a:xfrm>
          <a:prstGeom prst="wedgeRoundRectCallout">
            <a:avLst>
              <a:gd name="adj1" fmla="val -72419"/>
              <a:gd name="adj2" fmla="val -3837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Adapter </a:t>
            </a:r>
            <a:r>
              <a:rPr lang="bg-BG" sz="20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клас</a:t>
            </a:r>
          </a:p>
        </p:txBody>
      </p:sp>
    </p:spTree>
    <p:extLst>
      <p:ext uri="{BB962C8B-B14F-4D97-AF65-F5344CB8AC3E}">
        <p14:creationId xmlns:p14="http://schemas.microsoft.com/office/powerpoint/2010/main" val="87617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766" y="2217510"/>
            <a:ext cx="10443359" cy="27879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sz="2600" dirty="0">
                <a:latin typeface="Comfortaa" pitchFamily="2" charset="0"/>
              </a:rPr>
              <a:t>Шаблони за дизайн в структурата на приложенията</a:t>
            </a:r>
            <a:r>
              <a:rPr lang="en-US" sz="2600" dirty="0">
                <a:latin typeface="Comfortaa" pitchFamily="2" charset="0"/>
              </a:rPr>
              <a:t>:</a:t>
            </a:r>
          </a:p>
          <a:p>
            <a:pPr marL="206321" indent="-358775">
              <a:lnSpc>
                <a:spcPct val="10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Façade</a:t>
            </a:r>
          </a:p>
          <a:p>
            <a:pPr marL="206321" indent="-358775">
              <a:lnSpc>
                <a:spcPct val="10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Composite</a:t>
            </a:r>
          </a:p>
          <a:p>
            <a:pPr marL="206321" indent="-358775">
              <a:lnSpc>
                <a:spcPct val="10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Decorator</a:t>
            </a:r>
          </a:p>
          <a:p>
            <a:pPr marL="206321" indent="-358775">
              <a:lnSpc>
                <a:spcPct val="100000"/>
              </a:lnSpc>
            </a:pP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Adapter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766" y="1312223"/>
            <a:ext cx="10515600" cy="90528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7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896</Words>
  <Application>Microsoft Office PowerPoint</Application>
  <PresentationFormat>Widescreen</PresentationFormat>
  <Paragraphs>165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Структурни шаблони за проектиране</vt:lpstr>
      <vt:lpstr>Съдържание</vt:lpstr>
      <vt:lpstr>Шаблони в структурата</vt:lpstr>
      <vt:lpstr>Шаблон Façade</vt:lpstr>
      <vt:lpstr>Façade пример</vt:lpstr>
      <vt:lpstr>Шаблон Composite</vt:lpstr>
      <vt:lpstr>Composite пример</vt:lpstr>
      <vt:lpstr>Composite примери за реална употреба</vt:lpstr>
      <vt:lpstr>Шаблон Decorator</vt:lpstr>
      <vt:lpstr>Decorator пример</vt:lpstr>
      <vt:lpstr>Decorator примери за реална употреба</vt:lpstr>
      <vt:lpstr>Шаблон Adapter</vt:lpstr>
      <vt:lpstr>Adapter пример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2022-09-27T05:56:48Z</dcterms:modified>
</cp:coreProperties>
</file>