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58" r:id="rId2"/>
    <p:sldId id="587" r:id="rId3"/>
    <p:sldId id="569" r:id="rId4"/>
    <p:sldId id="570" r:id="rId5"/>
    <p:sldId id="571" r:id="rId6"/>
    <p:sldId id="540" r:id="rId7"/>
    <p:sldId id="588" r:id="rId8"/>
    <p:sldId id="573" r:id="rId9"/>
    <p:sldId id="546" r:id="rId10"/>
    <p:sldId id="576" r:id="rId11"/>
    <p:sldId id="541" r:id="rId12"/>
    <p:sldId id="574" r:id="rId13"/>
    <p:sldId id="575" r:id="rId14"/>
    <p:sldId id="583" r:id="rId15"/>
    <p:sldId id="545" r:id="rId16"/>
    <p:sldId id="589" r:id="rId17"/>
    <p:sldId id="5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87"/>
          </p14:sldIdLst>
        </p14:section>
        <p14:section name="Съдържание" id="{0B0C01F3-1F60-4ADB-AC1E-9589654EAEF3}">
          <p14:sldIdLst>
            <p14:sldId id="569"/>
            <p14:sldId id="570"/>
            <p14:sldId id="571"/>
            <p14:sldId id="540"/>
            <p14:sldId id="588"/>
            <p14:sldId id="573"/>
            <p14:sldId id="546"/>
            <p14:sldId id="576"/>
            <p14:sldId id="541"/>
            <p14:sldId id="574"/>
            <p14:sldId id="575"/>
            <p14:sldId id="583"/>
            <p14:sldId id="545"/>
          </p14:sldIdLst>
        </p14:section>
        <p14:section name="Заключение" id="{9315BEE7-605C-4839-996A-A4EEA70921D9}">
          <p14:sldIdLst>
            <p14:sldId id="589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36E35AF-9BCA-4F26-A277-1F44347856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6220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*</a:t>
            </a:r>
            <a:endParaRPr lang="en-US" sz="1200" i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07/16/96</a:t>
            </a:r>
            <a:endParaRPr lang="en-US" sz="1200" i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US"/>
              <a:t>##</a:t>
            </a:r>
            <a:endParaRPr lang="en-US" sz="1200" i="0"/>
          </a:p>
        </p:txBody>
      </p:sp>
      <p:sp>
        <p:nvSpPr>
          <p:cNvPr id="141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53BD4CB-FC0C-420C-AE4B-87CBA6A182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0416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*</a:t>
            </a:r>
            <a:endParaRPr lang="en-US" sz="1200" i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07/16/96</a:t>
            </a:r>
            <a:endParaRPr lang="en-US" sz="1200" i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US"/>
              <a:t>##</a:t>
            </a:r>
            <a:endParaRPr lang="en-US" sz="1200" i="0"/>
          </a:p>
        </p:txBody>
      </p:sp>
      <p:sp>
        <p:nvSpPr>
          <p:cNvPr id="142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B194B74-7C61-4618-AD36-0AEE78148B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21003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Interpreter Pattern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A91CB6-67D7-4552-B8D3-816F3DA613D6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3C2CC70-A35C-4E1C-BC8F-72DA0C957C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43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Interpreter Pattern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E871AA-3E59-4657-8664-9D69CACFA85E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FD0896E-DD7E-4E4F-8C19-21D38A01DA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231977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Interpreter Pattern</a:t>
            </a: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182104E-CF97-4F66-B8D5-BA30FD243013}" type="slidenum">
              <a:rPr lang="en-US"/>
              <a:pPr eaLnBrk="1" hangingPunct="1"/>
              <a:t>10</a:t>
            </a:fld>
            <a:endParaRPr lang="en-US"/>
          </a:p>
        </p:txBody>
      </p:sp>
      <p:sp>
        <p:nvSpPr>
          <p:cNvPr id="28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4634137-CFD4-4CBC-A92E-1D1E8658E2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88439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*</a:t>
            </a:r>
            <a:endParaRPr lang="en-US" sz="1200" i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07/16/96</a:t>
            </a:r>
            <a:endParaRPr lang="en-US" sz="1200" i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r>
              <a:rPr lang="en-US"/>
              <a:t>##</a:t>
            </a:r>
            <a:endParaRPr lang="en-US" sz="1200" i="0"/>
          </a:p>
        </p:txBody>
      </p:sp>
      <p:sp>
        <p:nvSpPr>
          <p:cNvPr id="142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27718838-A2BA-432D-BB5E-D9BE6581E9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54264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Active_record_pattern" TargetMode="External"/><Relationship Id="rId3" Type="http://schemas.openxmlformats.org/officeDocument/2006/relationships/hyperlink" Target="http://en.wikipedia.org/wiki/Multitier_architecture" TargetMode="External"/><Relationship Id="rId7" Type="http://schemas.openxmlformats.org/officeDocument/2006/relationships/hyperlink" Target="http://www.tutorialspoint.com/design_pattern/front_controller_pattern.htm" TargetMode="External"/><Relationship Id="rId2" Type="http://schemas.openxmlformats.org/officeDocument/2006/relationships/hyperlink" Target="http://en.wikipedia.org/wiki/Client%E2%80%93server_mode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Model_View_ViewModel" TargetMode="External"/><Relationship Id="rId5" Type="http://schemas.openxmlformats.org/officeDocument/2006/relationships/hyperlink" Target="http://en.wikipedia.org/wiki/Model%E2%80%93view%E2%80%93presenter" TargetMode="External"/><Relationship Id="rId4" Type="http://schemas.openxmlformats.org/officeDocument/2006/relationships/hyperlink" Target="http://en.wikipedia.org/wiki/Model%E2%80%93view%E2%80%93controller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2351382"/>
            <a:ext cx="11338560" cy="2387600"/>
          </a:xfrm>
        </p:spPr>
        <p:txBody>
          <a:bodyPr>
            <a:normAutofit fontScale="90000"/>
          </a:bodyPr>
          <a:lstStyle/>
          <a:p>
            <a:r>
              <a:rPr lang="ru-RU" dirty="0" err="1">
                <a:latin typeface="Comfortaa" pitchFamily="2" charset="0"/>
              </a:rPr>
              <a:t>Шаблони</a:t>
            </a:r>
            <a:r>
              <a:rPr lang="ru-RU" dirty="0">
                <a:latin typeface="Comfortaa" pitchFamily="2" charset="0"/>
              </a:rPr>
              <a:t> за </a:t>
            </a:r>
            <a:r>
              <a:rPr lang="ru-RU" dirty="0" err="1">
                <a:latin typeface="Comfortaa" pitchFamily="2" charset="0"/>
              </a:rPr>
              <a:t>проектиране</a:t>
            </a:r>
            <a:br>
              <a:rPr lang="ru-RU" dirty="0">
                <a:latin typeface="Comfortaa" pitchFamily="2" charset="0"/>
              </a:rPr>
            </a:br>
            <a:r>
              <a:rPr lang="ru-RU" dirty="0">
                <a:latin typeface="Comfortaa" pitchFamily="2" charset="0"/>
              </a:rPr>
              <a:t>за поведение и архитектура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37221"/>
            <a:ext cx="9144000" cy="716629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Behavioral and Architectural Design Patterns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303" y="982474"/>
            <a:ext cx="97901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00901" y="2133600"/>
            <a:ext cx="9790199" cy="35052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Шаблони в поведението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Шаблони в архитектурата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847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5442"/>
            <a:ext cx="10515600" cy="1325563"/>
          </a:xfrm>
        </p:spPr>
        <p:txBody>
          <a:bodyPr/>
          <a:lstStyle/>
          <a:p>
            <a:r>
              <a:rPr lang="bg-BG" b="1" dirty="0">
                <a:latin typeface="Comfortaa" pitchFamily="2" charset="0"/>
              </a:rPr>
              <a:t>Шаблони в поведението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999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Шаблоните в поведението</a:t>
            </a:r>
            <a:r>
              <a:rPr lang="en-US" sz="22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се занимават с комуникацията (взаимодействието) между обектите</a:t>
            </a:r>
            <a:endParaRPr lang="en-US" sz="2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Било чрез разпределяне на отговорностите между обектите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Или чрез капсулиране на поведението в един обект и делегирането на заявките към него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Увеличава гъвкавостта в комуникацията между класовете</a:t>
            </a:r>
            <a:endParaRPr lang="en-US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Класически шаблони в поведението</a:t>
            </a:r>
            <a:r>
              <a:rPr lang="en-US" sz="22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Comfortaa" pitchFamily="2" charset="0"/>
              </a:rPr>
              <a:t>Chain of Responsibility, Command, Interpreter, Iterator, Mediator, Memento, Null Object, Observer, State, Strategy, Template Method, Visitor</a:t>
            </a:r>
          </a:p>
        </p:txBody>
      </p:sp>
    </p:spTree>
    <p:extLst>
      <p:ext uri="{BB962C8B-B14F-4D97-AF65-F5344CB8AC3E}">
        <p14:creationId xmlns:p14="http://schemas.microsoft.com/office/powerpoint/2010/main" val="269082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328" y="3304309"/>
            <a:ext cx="7487663" cy="3047111"/>
          </a:xfrm>
          <a:prstGeom prst="roundRect">
            <a:avLst>
              <a:gd name="adj" fmla="val 291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392645" name="Rectangle 5"/>
          <p:cNvSpPr>
            <a:spLocks noGrp="1" noChangeArrowheads="1"/>
          </p:cNvSpPr>
          <p:nvPr>
            <p:ph idx="1"/>
          </p:nvPr>
        </p:nvSpPr>
        <p:spPr>
          <a:xfrm>
            <a:off x="1058900" y="1501899"/>
            <a:ext cx="10234534" cy="1930526"/>
          </a:xfrm>
          <a:noFill/>
          <a:ln/>
          <a:effectLst>
            <a:outerShdw dist="1796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Iterator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позволява достъп до елементите на съставен обект без разкриване на текущата му реализация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Множество начини за обхождане на структура от данни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Унифициран интерфейс за обхождане на различни структури от данни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1392644" name="Rectangle 4"/>
          <p:cNvSpPr>
            <a:spLocks noGrp="1" noChangeArrowheads="1"/>
          </p:cNvSpPr>
          <p:nvPr>
            <p:ph type="title"/>
          </p:nvPr>
        </p:nvSpPr>
        <p:spPr>
          <a:xfrm>
            <a:off x="1057303" y="595644"/>
            <a:ext cx="9577597" cy="701731"/>
          </a:xfrm>
          <a:noFill/>
          <a:ln/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30000"/>
                  </a:schemeClr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bg-BG" b="1" dirty="0">
                <a:latin typeface="Comfortaa" pitchFamily="2" charset="0"/>
              </a:rPr>
              <a:t>Шаблон </a:t>
            </a:r>
            <a:r>
              <a:rPr lang="en-US" b="1" dirty="0">
                <a:latin typeface="Comfortaa" pitchFamily="2" charset="0"/>
              </a:rPr>
              <a:t>Iterator</a:t>
            </a:r>
            <a:endParaRPr lang="bg-BG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83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299" y="385948"/>
            <a:ext cx="10052050" cy="695884"/>
          </a:xfrm>
        </p:spPr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Iterator </a:t>
            </a:r>
            <a:r>
              <a:rPr lang="ru-RU" dirty="0">
                <a:latin typeface="Comfortaa" pitchFamily="2" charset="0"/>
              </a:rPr>
              <a:t>пример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14" name="Rectangle 10"/>
          <p:cNvSpPr>
            <a:spLocks noGrp="1" noChangeArrowheads="1"/>
          </p:cNvSpPr>
          <p:nvPr>
            <p:ph idx="1"/>
          </p:nvPr>
        </p:nvSpPr>
        <p:spPr>
          <a:xfrm>
            <a:off x="1025649" y="1081831"/>
            <a:ext cx="10052050" cy="1477328"/>
          </a:xfr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interface IEnumerator {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bool MoveNext();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object Current { get; }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void Reset();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5" name="Rectangle 10"/>
          <p:cNvSpPr txBox="1">
            <a:spLocks noChangeArrowheads="1"/>
          </p:cNvSpPr>
          <p:nvPr/>
        </p:nvSpPr>
        <p:spPr>
          <a:xfrm>
            <a:off x="1025649" y="2654111"/>
            <a:ext cx="10052050" cy="9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public interface IEnumerable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IEnumerator GetEnumerator();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6" name="Rectangle 10"/>
          <p:cNvSpPr txBox="1">
            <a:spLocks noChangeArrowheads="1"/>
          </p:cNvSpPr>
          <p:nvPr/>
        </p:nvSpPr>
        <p:spPr>
          <a:xfrm>
            <a:off x="1025649" y="3672393"/>
            <a:ext cx="10052050" cy="9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private class ConcreteEnumerator : IEnumerator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// Implement IEnumerator interface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7" name="Rectangle 10"/>
          <p:cNvSpPr txBox="1">
            <a:spLocks noChangeArrowheads="1"/>
          </p:cNvSpPr>
          <p:nvPr/>
        </p:nvSpPr>
        <p:spPr>
          <a:xfrm>
            <a:off x="1025649" y="4690675"/>
            <a:ext cx="10052050" cy="14773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var enumerator = someObject.GetEnumerator();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enumerator.Reset();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while (enumerator.MoveNext())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// Process the enumerator.Current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71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827" y="1149929"/>
            <a:ext cx="11107370" cy="3297380"/>
          </a:xfrm>
        </p:spPr>
        <p:txBody>
          <a:bodyPr>
            <a:normAutofit/>
          </a:bodyPr>
          <a:lstStyle/>
          <a:p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IEnumerable&lt;T&gt;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noProof="1">
                <a:latin typeface="Comfortaa" pitchFamily="2" charset="0"/>
              </a:rPr>
              <a:t>с</a:t>
            </a:r>
            <a:r>
              <a:rPr lang="en-US" sz="2400" noProof="1">
                <a:latin typeface="Comfortaa" pitchFamily="2" charset="0"/>
              </a:rPr>
              <a:t> 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foreach</a:t>
            </a:r>
            <a:r>
              <a:rPr lang="en-US" sz="2400" noProof="1">
                <a:latin typeface="Comfortaa" pitchFamily="2" charset="0"/>
              </a:rPr>
              <a:t> </a:t>
            </a:r>
            <a:r>
              <a:rPr lang="bg-BG" sz="2400" noProof="1">
                <a:latin typeface="Comfortaa" pitchFamily="2" charset="0"/>
              </a:rPr>
              <a:t>в </a:t>
            </a:r>
            <a:r>
              <a:rPr lang="en-US" sz="2400" noProof="1">
                <a:latin typeface="Comfortaa" pitchFamily="2" charset="0"/>
              </a:rPr>
              <a:t>C#</a:t>
            </a:r>
          </a:p>
          <a:p>
            <a:endParaRPr lang="en-US" sz="2400" noProof="1">
              <a:latin typeface="Comfortaa" pitchFamily="2" charset="0"/>
            </a:endParaRPr>
          </a:p>
          <a:p>
            <a:endParaRPr lang="en-US" sz="2400" noProof="1">
              <a:latin typeface="Comfortaa" pitchFamily="2" charset="0"/>
            </a:endParaRPr>
          </a:p>
          <a:p>
            <a:endParaRPr lang="en-US" sz="2400" noProof="1">
              <a:latin typeface="Comfortaa" pitchFamily="2" charset="0"/>
            </a:endParaRPr>
          </a:p>
          <a:p>
            <a:endParaRPr lang="en-US" sz="2400" noProof="1">
              <a:latin typeface="Comfortaa" pitchFamily="2" charset="0"/>
            </a:endParaRPr>
          </a:p>
          <a:p>
            <a:pPr marL="0" indent="0">
              <a:buNone/>
            </a:pPr>
            <a:endParaRPr lang="en-US" sz="2400" noProof="1">
              <a:latin typeface="Comfortaa" pitchFamily="2" charset="0"/>
              <a:cs typeface="Consolas" panose="020B0609020204030204" pitchFamily="49" charset="0"/>
            </a:endParaRPr>
          </a:p>
          <a:p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Iterable&lt;T&gt; </a:t>
            </a:r>
            <a:r>
              <a:rPr lang="bg-BG" sz="2400" noProof="1">
                <a:latin typeface="Comfortaa" pitchFamily="2" charset="0"/>
              </a:rPr>
              <a:t>в </a:t>
            </a:r>
            <a:r>
              <a:rPr lang="en-US" sz="2400" noProof="1">
                <a:latin typeface="Comfortaa" pitchFamily="2" charset="0"/>
              </a:rPr>
              <a:t>Java</a:t>
            </a:r>
          </a:p>
          <a:p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1116" y="278585"/>
            <a:ext cx="10556379" cy="87134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fortaa" pitchFamily="2" charset="0"/>
              </a:rPr>
              <a:t>Iterator </a:t>
            </a:r>
            <a:r>
              <a:rPr lang="bg-BG" sz="3600" dirty="0">
                <a:latin typeface="Comfortaa" pitchFamily="2" charset="0"/>
              </a:rPr>
              <a:t>примери за реална употреба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Rectangle 10"/>
          <p:cNvSpPr txBox="1">
            <a:spLocks noChangeArrowheads="1"/>
          </p:cNvSpPr>
          <p:nvPr/>
        </p:nvSpPr>
        <p:spPr>
          <a:xfrm>
            <a:off x="1047996" y="1639785"/>
            <a:ext cx="10239499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IEnumerator&lt;T&gt; GetEnumerator()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{</a:t>
            </a:r>
            <a:b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</a:b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 foreach(var element in this.array)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     yield return element;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sp>
        <p:nvSpPr>
          <p:cNvPr id="8" name="Rectangle 10"/>
          <p:cNvSpPr txBox="1">
            <a:spLocks noChangeArrowheads="1"/>
          </p:cNvSpPr>
          <p:nvPr/>
        </p:nvSpPr>
        <p:spPr>
          <a:xfrm>
            <a:off x="971797" y="4382985"/>
            <a:ext cx="10317120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 boolean hasNext() {</a:t>
            </a:r>
            <a:b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   if (count &lt; str.length()) { return true;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   else return false;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 Character next() {</a:t>
            </a:r>
            <a:b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   return str.charAt(count++);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8665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1022268" y="1475303"/>
            <a:ext cx="9897094" cy="27345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Template Method </a:t>
            </a:r>
            <a:r>
              <a:rPr lang="bg-BG" sz="2400" dirty="0">
                <a:latin typeface="Comfortaa" pitchFamily="2" charset="0"/>
              </a:rPr>
              <a:t>дефинира основната част от алгоритъм в метод и оставя част от реализацията на подкласовете си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1800" dirty="0">
                <a:latin typeface="Comfortaa" pitchFamily="2" charset="0"/>
              </a:rPr>
              <a:t>Това позволява подкласовете да предефинират реализацията на части от алгоритъма</a:t>
            </a:r>
            <a:endParaRPr lang="en-US" sz="1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1800" dirty="0">
                <a:latin typeface="Comfortaa" pitchFamily="2" charset="0"/>
              </a:rPr>
              <a:t>Но не им дава възможност да променят структурата на алгоритъма</a:t>
            </a:r>
            <a:endParaRPr lang="en-US" sz="1800" dirty="0">
              <a:latin typeface="Comfortaa" pitchFamily="2" charset="0"/>
            </a:endParaRPr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268" y="276060"/>
            <a:ext cx="10515600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Template Method </a:t>
            </a:r>
            <a:r>
              <a:rPr lang="bg-BG" dirty="0">
                <a:latin typeface="Comfortaa" pitchFamily="2" charset="0"/>
              </a:rPr>
              <a:t>шаблон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757" y="4053470"/>
            <a:ext cx="5693036" cy="2477958"/>
          </a:xfrm>
          <a:prstGeom prst="roundRect">
            <a:avLst>
              <a:gd name="adj" fmla="val 190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4250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87036"/>
            <a:ext cx="10287000" cy="768491"/>
          </a:xfrm>
        </p:spPr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Template Method </a:t>
            </a:r>
            <a:r>
              <a:rPr lang="ru-RU" dirty="0">
                <a:latin typeface="Comfortaa" pitchFamily="2" charset="0"/>
              </a:rPr>
              <a:t>пример</a:t>
            </a:r>
            <a:endParaRPr lang="bg-BG" dirty="0">
              <a:effectLst/>
              <a:latin typeface="Comfortaa" pitchFamily="2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971550" y="955527"/>
            <a:ext cx="10248900" cy="563231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abstract class HotDrink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PrepareRecipe()</a:t>
            </a:r>
            <a:endParaRPr lang="bg-BG" sz="2000" b="1" dirty="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bg-BG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BoilWater(); Brew(); PourInCup(); AddSpices();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protected abstract void Brew()</a:t>
            </a:r>
            <a:r>
              <a:rPr lang="bg-BG" sz="2000" b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;</a:t>
            </a:r>
            <a:endParaRPr lang="bg-BG" sz="2000" b="1" noProof="1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bg-BG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protected abstract void AddSpices();</a:t>
            </a:r>
            <a:endParaRPr lang="bg-BG" sz="2000" b="1" dirty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void BoilWater()</a:t>
            </a:r>
            <a:r>
              <a:rPr lang="bg-BG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bg-BG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...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void PourInCup()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{</a:t>
            </a:r>
            <a:r>
              <a:rPr lang="bg-BG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...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b="1" dirty="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Coffee : HotDrink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protected override void Brew()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{</a:t>
            </a:r>
            <a:r>
              <a:rPr lang="bg-BG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... 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protected override void AddSpices()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bg-BG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...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b="1" dirty="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Tea : HotDrink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protected override void Brew() {</a:t>
            </a:r>
            <a:r>
              <a:rPr lang="bg-BG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... 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protected override void AddSpices()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bg-BG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... 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2000" b="1" dirty="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7352064" y="2486976"/>
            <a:ext cx="3087584" cy="953453"/>
          </a:xfrm>
          <a:prstGeom prst="wedgeRoundRectCallout">
            <a:avLst>
              <a:gd name="adj1" fmla="val -68278"/>
              <a:gd name="adj2" fmla="val -2031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5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Реализирано в подкласове</a:t>
            </a:r>
          </a:p>
        </p:txBody>
      </p:sp>
    </p:spTree>
    <p:extLst>
      <p:ext uri="{BB962C8B-B14F-4D97-AF65-F5344CB8AC3E}">
        <p14:creationId xmlns:p14="http://schemas.microsoft.com/office/powerpoint/2010/main" val="1755437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912" y="1438067"/>
            <a:ext cx="10296858" cy="352581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Thread.run() </a:t>
            </a:r>
            <a:r>
              <a:rPr lang="bg-BG" sz="2400" noProof="1">
                <a:latin typeface="Comfortaa" pitchFamily="2" charset="0"/>
              </a:rPr>
              <a:t>в </a:t>
            </a:r>
            <a:r>
              <a:rPr lang="en-US" sz="2400" noProof="1">
                <a:latin typeface="Comfortaa" pitchFamily="2" charset="0"/>
              </a:rPr>
              <a:t>Java</a:t>
            </a:r>
          </a:p>
          <a:p>
            <a:pPr>
              <a:lnSpc>
                <a:spcPct val="100000"/>
              </a:lnSpc>
            </a:pPr>
            <a:endParaRPr lang="en-US" sz="24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sz="2400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sz="2400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Thread.Start()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в </a:t>
            </a:r>
            <a:r>
              <a:rPr lang="en-US" sz="2400" dirty="0">
                <a:latin typeface="Comfortaa" pitchFamily="2" charset="0"/>
              </a:rPr>
              <a:t>.NET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12" y="592544"/>
            <a:ext cx="10840175" cy="89187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fortaa" pitchFamily="2" charset="0"/>
              </a:rPr>
              <a:t>Template Method </a:t>
            </a:r>
            <a:r>
              <a:rPr lang="bg-BG" sz="3200" b="1" dirty="0">
                <a:latin typeface="Comfortaa" pitchFamily="2" charset="0"/>
              </a:rPr>
              <a:t>примери за реална употреба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5" name="Rectangle 10"/>
          <p:cNvSpPr txBox="1">
            <a:spLocks noChangeArrowheads="1"/>
          </p:cNvSpPr>
          <p:nvPr/>
        </p:nvSpPr>
        <p:spPr>
          <a:xfrm>
            <a:off x="1033144" y="1943344"/>
            <a:ext cx="9939626" cy="235948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 thread = new Thread(){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void run() 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System.out.println("Thread is running.");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thread.start();</a:t>
            </a:r>
          </a:p>
        </p:txBody>
      </p:sp>
      <p:sp>
        <p:nvSpPr>
          <p:cNvPr id="6" name="Rectangle 10"/>
          <p:cNvSpPr txBox="1">
            <a:spLocks noChangeArrowheads="1"/>
          </p:cNvSpPr>
          <p:nvPr/>
        </p:nvSpPr>
        <p:spPr>
          <a:xfrm>
            <a:off x="1033144" y="4915097"/>
            <a:ext cx="9939626" cy="113914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 thread = new Thread(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=&gt; Console.WriteLine("Thread is running."));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thread.Start();</a:t>
            </a:r>
          </a:p>
        </p:txBody>
      </p:sp>
    </p:spTree>
    <p:extLst>
      <p:ext uri="{BB962C8B-B14F-4D97-AF65-F5344CB8AC3E}">
        <p14:creationId xmlns:p14="http://schemas.microsoft.com/office/powerpoint/2010/main" val="171326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73178" y="1605932"/>
            <a:ext cx="10515600" cy="2301050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defRPr/>
            </a:pP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Observer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представя интерфейс, позволяващ на обектите да комуникират помежду си без конкретно знание един за друг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95000"/>
              </a:lnSpc>
              <a:defRPr/>
            </a:pPr>
            <a:r>
              <a:rPr lang="bg-BG" sz="2000" dirty="0">
                <a:latin typeface="Comfortaa" pitchFamily="2" charset="0"/>
              </a:rPr>
              <a:t>Известен е и като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Publish-Subscribe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шаблон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95000"/>
              </a:lnSpc>
              <a:defRPr/>
            </a:pPr>
            <a:r>
              <a:rPr lang="bg-BG" sz="2000" dirty="0">
                <a:latin typeface="Comfortaa" pitchFamily="2" charset="0"/>
              </a:rPr>
              <a:t>Обект информира друг обект за своето състояние, без да се знае кои и какви са тези обекти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74766" y="483879"/>
            <a:ext cx="10515600" cy="1122054"/>
          </a:xfrm>
        </p:spPr>
        <p:txBody>
          <a:bodyPr/>
          <a:lstStyle/>
          <a:p>
            <a:pPr eaLnBrk="1" hangingPunct="1">
              <a:defRPr/>
            </a:pPr>
            <a:r>
              <a:rPr lang="bg-BG" dirty="0">
                <a:latin typeface="Comfortaa" pitchFamily="2" charset="0"/>
              </a:rPr>
              <a:t>Шаблон </a:t>
            </a:r>
            <a:r>
              <a:rPr lang="en-US" dirty="0">
                <a:latin typeface="Comfortaa" pitchFamily="2" charset="0"/>
              </a:rPr>
              <a:t>Observer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90" y="3548229"/>
            <a:ext cx="6581375" cy="2732313"/>
          </a:xfrm>
          <a:prstGeom prst="roundRect">
            <a:avLst>
              <a:gd name="adj" fmla="val 334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6166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989"/>
            <a:ext cx="10515600" cy="4365976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Събития и </a:t>
            </a:r>
            <a:r>
              <a:rPr lang="bg-BG" sz="2400" dirty="0" err="1">
                <a:latin typeface="Comfortaa" pitchFamily="2" charset="0"/>
              </a:rPr>
              <a:t>обработчици</a:t>
            </a:r>
            <a:r>
              <a:rPr lang="bg-BG" sz="2400" dirty="0">
                <a:latin typeface="Comfortaa" pitchFamily="2" charset="0"/>
              </a:rPr>
              <a:t> на събития в </a:t>
            </a:r>
            <a:r>
              <a:rPr lang="en-US" sz="2400" dirty="0">
                <a:latin typeface="Comfortaa" pitchFamily="2" charset="0"/>
              </a:rPr>
              <a:t>.NET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Източниците на събития</a:t>
            </a:r>
            <a:r>
              <a:rPr lang="en-US" sz="2000" dirty="0">
                <a:latin typeface="Comfortaa" pitchFamily="2" charset="0"/>
              </a:rPr>
              <a:t> (</a:t>
            </a:r>
            <a:r>
              <a:rPr lang="bg-BG" sz="2000" dirty="0">
                <a:latin typeface="Comfortaa" pitchFamily="2" charset="0"/>
              </a:rPr>
              <a:t>компонентите</a:t>
            </a:r>
            <a:r>
              <a:rPr lang="en-US" sz="2000" dirty="0">
                <a:latin typeface="Comfortaa" pitchFamily="2" charset="0"/>
              </a:rPr>
              <a:t>) </a:t>
            </a:r>
            <a:r>
              <a:rPr lang="bg-BG" sz="2000" dirty="0">
                <a:latin typeface="Comfortaa" pitchFamily="2" charset="0"/>
              </a:rPr>
              <a:t>публикуват събития</a:t>
            </a:r>
            <a:r>
              <a:rPr lang="en-US" sz="2000" dirty="0">
                <a:latin typeface="Comfortaa" pitchFamily="2" charset="0"/>
              </a:rPr>
              <a:t> (</a:t>
            </a:r>
            <a:r>
              <a:rPr lang="bg-BG" sz="2000" dirty="0">
                <a:latin typeface="Comfortaa" pitchFamily="2" charset="0"/>
              </a:rPr>
              <a:t>например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Button</a:t>
            </a:r>
            <a:r>
              <a:rPr lang="en-US" sz="2000" dirty="0">
                <a:latin typeface="Comfortaa" pitchFamily="2" charset="0"/>
              </a:rPr>
              <a:t>)</a:t>
            </a:r>
          </a:p>
          <a:p>
            <a:pPr lvl="1"/>
            <a:r>
              <a:rPr lang="bg-BG" sz="2000" dirty="0">
                <a:latin typeface="Comfortaa" pitchFamily="2" charset="0"/>
              </a:rPr>
              <a:t>Събитията в</a:t>
            </a:r>
            <a:r>
              <a:rPr lang="en-US" sz="2000" dirty="0">
                <a:latin typeface="Comfortaa" pitchFamily="2" charset="0"/>
              </a:rPr>
              <a:t> .NET </a:t>
            </a:r>
            <a:r>
              <a:rPr lang="bg-BG" sz="2000" dirty="0">
                <a:latin typeface="Comfortaa" pitchFamily="2" charset="0"/>
              </a:rPr>
              <a:t>имат механизъм за абониране</a:t>
            </a:r>
            <a:r>
              <a:rPr lang="en-US" sz="2000" dirty="0">
                <a:latin typeface="Comfortaa" pitchFamily="2" charset="0"/>
              </a:rPr>
              <a:t> (</a:t>
            </a:r>
            <a:r>
              <a:rPr lang="bg-BG" sz="2000" dirty="0">
                <a:latin typeface="Comfortaa" pitchFamily="2" charset="0"/>
              </a:rPr>
              <a:t>например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latin typeface="Comfortaa" pitchFamily="2" charset="0"/>
                <a:cs typeface="Consolas" panose="020B0609020204030204" pitchFamily="49" charset="0"/>
              </a:rPr>
              <a:t>Click</a:t>
            </a:r>
            <a:r>
              <a:rPr lang="en-US" sz="2000" dirty="0">
                <a:latin typeface="Comfortaa" pitchFamily="2" charset="0"/>
              </a:rPr>
              <a:t>)</a:t>
            </a:r>
          </a:p>
          <a:p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java.util.Observable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400" dirty="0">
                <a:latin typeface="Comfortaa" pitchFamily="2" charset="0"/>
              </a:rPr>
              <a:t>/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java.util.Observer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Класически </a:t>
            </a:r>
            <a:r>
              <a:rPr lang="en-US" sz="2000" dirty="0">
                <a:latin typeface="Comfortaa" pitchFamily="2" charset="0"/>
              </a:rPr>
              <a:t>observer </a:t>
            </a:r>
            <a:r>
              <a:rPr lang="bg-BG" sz="2000" dirty="0">
                <a:latin typeface="Comfortaa" pitchFamily="2" charset="0"/>
              </a:rPr>
              <a:t>шаблон</a:t>
            </a:r>
            <a:endParaRPr lang="en-US" sz="2000" dirty="0">
              <a:latin typeface="Comfortaa" pitchFamily="2" charset="0"/>
            </a:endParaRPr>
          </a:p>
          <a:p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ActionListener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в</a:t>
            </a:r>
            <a:r>
              <a:rPr lang="en-US" sz="2400" dirty="0">
                <a:latin typeface="Comfortaa" pitchFamily="2" charset="0"/>
              </a:rPr>
              <a:t> Java</a:t>
            </a:r>
          </a:p>
          <a:p>
            <a:pPr lvl="1"/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java.awt.event.ActionListener</a:t>
            </a:r>
            <a:r>
              <a:rPr lang="en-US" sz="2000" noProof="1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има </a:t>
            </a: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actionPerformed()</a:t>
            </a:r>
          </a:p>
          <a:p>
            <a:pPr lvl="1"/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java.awt.Button</a:t>
            </a:r>
            <a:r>
              <a:rPr lang="en-US" sz="20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има </a:t>
            </a: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addActionListener()</a:t>
            </a: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48981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fortaa" pitchFamily="2" charset="0"/>
              </a:rPr>
              <a:t>Observer </a:t>
            </a:r>
            <a:r>
              <a:rPr lang="bg-BG" sz="3600" b="1" dirty="0">
                <a:latin typeface="Comfortaa" pitchFamily="2" charset="0"/>
              </a:rPr>
              <a:t>примери за реална употреба</a:t>
            </a:r>
            <a:endParaRPr lang="en-US" sz="36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67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457" y="1754373"/>
            <a:ext cx="10176164" cy="4351338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Strategy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капсулира алгоритъм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клас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Прави алгоритмите взаимозаменяеми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Всеки алгоритъм може да работи без промяна със същите данни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Клиентът може да ползва без промяна всеки един алгоритъм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457" y="609785"/>
            <a:ext cx="10515600" cy="100965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Шаблон </a:t>
            </a:r>
            <a:r>
              <a:rPr lang="en-US" dirty="0">
                <a:latin typeface="Comfortaa" pitchFamily="2" charset="0"/>
              </a:rPr>
              <a:t>Strategy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565" y="3884385"/>
            <a:ext cx="6490261" cy="2439390"/>
          </a:xfrm>
          <a:prstGeom prst="roundRect">
            <a:avLst>
              <a:gd name="adj" fmla="val 362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87362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/>
          <p:cNvSpPr>
            <a:spLocks noGrp="1" noChangeArrowheads="1"/>
          </p:cNvSpPr>
          <p:nvPr>
            <p:ph idx="1"/>
          </p:nvPr>
        </p:nvSpPr>
        <p:spPr>
          <a:xfrm>
            <a:off x="1139040" y="950923"/>
            <a:ext cx="9899073" cy="923330"/>
          </a:xfr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abstract class SortStrategy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abstract void Sort(IList&lt;object&gt; list);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3" name="Rectangle 10"/>
          <p:cNvSpPr txBox="1">
            <a:spLocks noChangeArrowheads="1"/>
          </p:cNvSpPr>
          <p:nvPr/>
        </p:nvSpPr>
        <p:spPr>
          <a:xfrm>
            <a:off x="1139040" y="2093923"/>
            <a:ext cx="9899073" cy="9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class QuickSort : SortStrategy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public override void Sort(IList&lt;object&gt; list) { …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4" name="Rectangle 10"/>
          <p:cNvSpPr txBox="1">
            <a:spLocks noChangeArrowheads="1"/>
          </p:cNvSpPr>
          <p:nvPr/>
        </p:nvSpPr>
        <p:spPr>
          <a:xfrm>
            <a:off x="1139040" y="4318963"/>
            <a:ext cx="9899073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class SortedList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private IList&lt;object&gt; list = new List&lt;object&gt;();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public void Sort(SortStrategy strategy)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   // sortStrategy can be passed in constructor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   sortStrategy.Sort(list);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5" name="Rectangle 10"/>
          <p:cNvSpPr txBox="1">
            <a:spLocks noChangeArrowheads="1"/>
          </p:cNvSpPr>
          <p:nvPr/>
        </p:nvSpPr>
        <p:spPr>
          <a:xfrm>
            <a:off x="1139040" y="3206443"/>
            <a:ext cx="9899073" cy="9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class MergeSort : SortStrategy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   public override void Sort(IList&lt;object&gt; list) { …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noProof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97C40-2E19-F709-C333-5C77032EB0A9}"/>
              </a:ext>
            </a:extLst>
          </p:cNvPr>
          <p:cNvSpPr txBox="1"/>
          <p:nvPr/>
        </p:nvSpPr>
        <p:spPr>
          <a:xfrm>
            <a:off x="1058388" y="271553"/>
            <a:ext cx="85784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omfortaa" pitchFamily="2" charset="0"/>
              </a:rPr>
              <a:t>Strategy </a:t>
            </a:r>
            <a:r>
              <a:rPr lang="bg-BG" sz="3200" dirty="0">
                <a:latin typeface="Comfortaa" pitchFamily="2" charset="0"/>
              </a:rPr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2291879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34" y="2185060"/>
            <a:ext cx="11154872" cy="3521034"/>
          </a:xfrm>
        </p:spPr>
        <p:txBody>
          <a:bodyPr>
            <a:normAutofit/>
          </a:bodyPr>
          <a:lstStyle/>
          <a:p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IComparer&lt;T&gt;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Cloneable&lt;T&gt;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в </a:t>
            </a:r>
            <a:r>
              <a:rPr lang="en-US" sz="2400" dirty="0">
                <a:latin typeface="Comfortaa" pitchFamily="2" charset="0"/>
              </a:rPr>
              <a:t>.NET</a:t>
            </a:r>
          </a:p>
          <a:p>
            <a:pPr lvl="1"/>
            <a:r>
              <a:rPr lang="bg-BG" sz="2000" dirty="0">
                <a:latin typeface="Comfortaa" pitchFamily="2" charset="0"/>
              </a:rPr>
              <a:t>Сортирането ползва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noProof="1">
                <a:latin typeface="Comfortaa" pitchFamily="2" charset="0"/>
                <a:cs typeface="Consolas" panose="020B0609020204030204" pitchFamily="49" charset="0"/>
              </a:rPr>
              <a:t>IComparer&lt;T&gt;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за стратегия за сравняване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en-US" sz="2000" b="1" noProof="1">
                <a:latin typeface="Comfortaa" pitchFamily="2" charset="0"/>
                <a:cs typeface="Consolas" panose="020B0609020204030204" pitchFamily="49" charset="0"/>
              </a:rPr>
              <a:t>Cloneable&lt;T&gt;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е стратегия за клониране на обекти</a:t>
            </a:r>
            <a:r>
              <a:rPr lang="en-US" sz="2000" dirty="0">
                <a:latin typeface="Comfortaa" pitchFamily="2" charset="0"/>
              </a:rPr>
              <a:t> </a:t>
            </a:r>
          </a:p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Comparer&lt;T&gt;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в</a:t>
            </a:r>
            <a:r>
              <a:rPr lang="en-US" sz="2400" dirty="0">
                <a:latin typeface="Comfortaa" pitchFamily="2" charset="0"/>
              </a:rPr>
              <a:t> Java</a:t>
            </a:r>
          </a:p>
          <a:p>
            <a:pPr lvl="1"/>
            <a:r>
              <a:rPr lang="bg-BG" sz="2000" dirty="0">
                <a:latin typeface="Comfortaa" pitchFamily="2" charset="0"/>
              </a:rPr>
              <a:t>Сортирането ползва </a:t>
            </a:r>
            <a:r>
              <a:rPr lang="en-US" sz="2000" b="1" noProof="1">
                <a:latin typeface="Comfortaa" pitchFamily="2" charset="0"/>
                <a:cs typeface="Consolas" panose="020B0609020204030204" pitchFamily="49" charset="0"/>
              </a:rPr>
              <a:t>Comparer&lt;T&gt;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за стратегия за сравняване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en-US" sz="2000" b="1" noProof="1">
                <a:latin typeface="Comfortaa" pitchFamily="2" charset="0"/>
              </a:rPr>
              <a:t>TreeMap&lt;K</a:t>
            </a:r>
            <a:r>
              <a:rPr lang="en-US" sz="2000" b="1" dirty="0">
                <a:latin typeface="Comfortaa" pitchFamily="2" charset="0"/>
              </a:rPr>
              <a:t>, V&gt;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ползва </a:t>
            </a:r>
            <a:r>
              <a:rPr lang="en-US" sz="2000" b="1" noProof="1">
                <a:latin typeface="Comfortaa" pitchFamily="2" charset="0"/>
                <a:cs typeface="Consolas" panose="020B0609020204030204" pitchFamily="49" charset="0"/>
              </a:rPr>
              <a:t>Comparer&lt;T&gt;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за стратегия за подреждането на върховете в дървото</a:t>
            </a:r>
            <a:endParaRPr lang="en-US" sz="2000" dirty="0">
              <a:latin typeface="Comfortaa" pitchFamily="2" charset="0"/>
            </a:endParaRPr>
          </a:p>
          <a:p>
            <a:pPr lvl="1"/>
            <a:endParaRPr lang="en-US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5134" y="1059832"/>
            <a:ext cx="11154872" cy="97084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fortaa" pitchFamily="2" charset="0"/>
              </a:rPr>
              <a:t>Strategy </a:t>
            </a:r>
            <a:r>
              <a:rPr lang="bg-BG" sz="4000" dirty="0">
                <a:latin typeface="Comfortaa" pitchFamily="2" charset="0"/>
              </a:rPr>
              <a:t>примери за реална употреба</a:t>
            </a:r>
            <a:endParaRPr lang="en-US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199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5254"/>
            <a:ext cx="10515600" cy="468679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omfortaa" pitchFamily="2" charset="0"/>
                <a:hlinkClick r:id="rId2"/>
              </a:rPr>
              <a:t>Client-Server</a:t>
            </a:r>
            <a:r>
              <a:rPr lang="bg-BG" sz="2400" dirty="0">
                <a:latin typeface="Comfortaa" pitchFamily="2" charset="0"/>
                <a:hlinkClick r:id="rId2"/>
              </a:rPr>
              <a:t> </a:t>
            </a:r>
            <a:r>
              <a:rPr lang="en-US" sz="2400" dirty="0">
                <a:latin typeface="Comfortaa" pitchFamily="2" charset="0"/>
                <a:hlinkClick r:id="rId2"/>
              </a:rPr>
              <a:t>Model</a:t>
            </a:r>
            <a:r>
              <a:rPr lang="en-US" sz="2400" dirty="0">
                <a:latin typeface="Comfortaa" pitchFamily="2" charset="0"/>
              </a:rPr>
              <a:t> (client ↔ server)</a:t>
            </a:r>
          </a:p>
          <a:p>
            <a:r>
              <a:rPr lang="en-US" sz="2400" dirty="0">
                <a:latin typeface="Comfortaa" pitchFamily="2" charset="0"/>
                <a:hlinkClick r:id="rId3"/>
              </a:rPr>
              <a:t>3-tier Architecture</a:t>
            </a:r>
            <a:r>
              <a:rPr lang="en-US" sz="2400" dirty="0">
                <a:latin typeface="Comfortaa" pitchFamily="2" charset="0"/>
              </a:rPr>
              <a:t> (front-end ↔  logic tier ↔ back-end)</a:t>
            </a:r>
          </a:p>
          <a:p>
            <a:r>
              <a:rPr lang="en-US" sz="2400" dirty="0">
                <a:latin typeface="Comfortaa" pitchFamily="2" charset="0"/>
                <a:hlinkClick r:id="rId3"/>
              </a:rPr>
              <a:t>Multi-tier Architecture</a:t>
            </a:r>
            <a:r>
              <a:rPr lang="en-US" sz="2400" dirty="0">
                <a:latin typeface="Comfortaa" pitchFamily="2" charset="0"/>
              </a:rPr>
              <a:t> (front-end ↔ tier ↔ tier ↔ back-end)</a:t>
            </a:r>
          </a:p>
          <a:p>
            <a:r>
              <a:rPr lang="en-US" sz="2400" dirty="0">
                <a:latin typeface="Comfortaa" pitchFamily="2" charset="0"/>
                <a:hlinkClick r:id="rId4"/>
              </a:rPr>
              <a:t>Model-View-Controller</a:t>
            </a:r>
            <a:r>
              <a:rPr lang="en-US" sz="2400" dirty="0">
                <a:latin typeface="Comfortaa" pitchFamily="2" charset="0"/>
              </a:rPr>
              <a:t> (MVC) </a:t>
            </a:r>
            <a:r>
              <a:rPr lang="bg-BG" sz="2400" dirty="0">
                <a:latin typeface="Comfortaa" pitchFamily="2" charset="0"/>
              </a:rPr>
              <a:t>за създаване на</a:t>
            </a:r>
            <a:r>
              <a:rPr lang="en-US" sz="2400" dirty="0">
                <a:latin typeface="Comfortaa" pitchFamily="2" charset="0"/>
              </a:rPr>
              <a:t> UI</a:t>
            </a:r>
          </a:p>
          <a:p>
            <a:r>
              <a:rPr lang="en-US" sz="2400" dirty="0">
                <a:latin typeface="Comfortaa" pitchFamily="2" charset="0"/>
                <a:hlinkClick r:id="rId5"/>
              </a:rPr>
              <a:t>Model-View-Presenter</a:t>
            </a:r>
            <a:r>
              <a:rPr lang="en-US" sz="2400" dirty="0">
                <a:latin typeface="Comfortaa" pitchFamily="2" charset="0"/>
              </a:rPr>
              <a:t> (MVP) </a:t>
            </a:r>
            <a:r>
              <a:rPr lang="bg-BG" sz="2400" dirty="0">
                <a:latin typeface="Comfortaa" pitchFamily="2" charset="0"/>
              </a:rPr>
              <a:t>за създаване на</a:t>
            </a:r>
            <a:r>
              <a:rPr lang="en-US" sz="2400" dirty="0">
                <a:latin typeface="Comfortaa" pitchFamily="2" charset="0"/>
              </a:rPr>
              <a:t> UI</a:t>
            </a:r>
          </a:p>
          <a:p>
            <a:r>
              <a:rPr lang="en-US" sz="2400" dirty="0">
                <a:latin typeface="Comfortaa" pitchFamily="2" charset="0"/>
                <a:hlinkClick r:id="rId6"/>
              </a:rPr>
              <a:t>Model-View-</a:t>
            </a:r>
            <a:r>
              <a:rPr lang="en-US" sz="2400" noProof="1">
                <a:latin typeface="Comfortaa" pitchFamily="2" charset="0"/>
                <a:hlinkClick r:id="rId6"/>
              </a:rPr>
              <a:t>ViewModel</a:t>
            </a:r>
            <a:r>
              <a:rPr lang="en-US" sz="2400" dirty="0">
                <a:latin typeface="Comfortaa" pitchFamily="2" charset="0"/>
              </a:rPr>
              <a:t> (MVVM)  </a:t>
            </a:r>
            <a:r>
              <a:rPr lang="bg-BG" sz="2400" dirty="0">
                <a:latin typeface="Comfortaa" pitchFamily="2" charset="0"/>
              </a:rPr>
              <a:t>за създаване на</a:t>
            </a:r>
            <a:r>
              <a:rPr lang="en-US" sz="2400" dirty="0">
                <a:latin typeface="Comfortaa" pitchFamily="2" charset="0"/>
              </a:rPr>
              <a:t> UI</a:t>
            </a:r>
          </a:p>
          <a:p>
            <a:r>
              <a:rPr lang="en-US" sz="2400" dirty="0">
                <a:latin typeface="Comfortaa" pitchFamily="2" charset="0"/>
                <a:hlinkClick r:id="rId7"/>
              </a:rPr>
              <a:t>Front Controller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за изпращане на заявки в</a:t>
            </a:r>
            <a:r>
              <a:rPr lang="en-US" sz="2400" dirty="0">
                <a:latin typeface="Comfortaa" pitchFamily="2" charset="0"/>
              </a:rPr>
              <a:t> Web </a:t>
            </a:r>
            <a:r>
              <a:rPr lang="bg-BG" sz="2400" dirty="0">
                <a:latin typeface="Comfortaa" pitchFamily="2" charset="0"/>
              </a:rPr>
              <a:t>приложения</a:t>
            </a:r>
            <a:endParaRPr lang="en-US" sz="2400" dirty="0">
              <a:latin typeface="Comfortaa" pitchFamily="2" charset="0"/>
            </a:endParaRPr>
          </a:p>
          <a:p>
            <a:r>
              <a:rPr lang="en-US" sz="2400" dirty="0">
                <a:latin typeface="Comfortaa" pitchFamily="2" charset="0"/>
                <a:hlinkClick r:id="rId8"/>
              </a:rPr>
              <a:t>Active Record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обвива таблици с класове </a:t>
            </a:r>
            <a:r>
              <a:rPr lang="en-US" sz="2400" dirty="0">
                <a:latin typeface="Comfortaa" pitchFamily="2" charset="0"/>
              </a:rPr>
              <a:t>+ CRUD </a:t>
            </a:r>
            <a:r>
              <a:rPr lang="bg-BG" sz="2400" dirty="0">
                <a:latin typeface="Comfortaa" pitchFamily="2" charset="0"/>
              </a:rPr>
              <a:t>операции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Шаблони в архитектурата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093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799" y="1749893"/>
            <a:ext cx="10120127" cy="4354023"/>
          </a:xfrm>
        </p:spPr>
        <p:txBody>
          <a:bodyPr>
            <a:normAutofit/>
          </a:bodyPr>
          <a:lstStyle/>
          <a:p>
            <a:pPr marL="358775" indent="-358775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Шаблони в поведението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663521" lvl="1" indent="-358775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Iterator, Observer, Template Method, Strategy</a:t>
            </a:r>
            <a:endParaRPr lang="bg-BG" dirty="0">
              <a:latin typeface="Comfortaa" pitchFamily="2" charset="0"/>
            </a:endParaRPr>
          </a:p>
          <a:p>
            <a:pPr marL="358775" indent="-358775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Шаблони в архитектурата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663521" lvl="1" indent="-358775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Client-Server Model</a:t>
            </a:r>
          </a:p>
          <a:p>
            <a:pPr marL="663521" lvl="1" indent="-358775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3-tier and Multi-tier Architecture</a:t>
            </a:r>
          </a:p>
          <a:p>
            <a:pPr marL="663521" lvl="1" indent="-358775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Model-View-Controller (MVC), </a:t>
            </a:r>
            <a:br>
              <a:rPr lang="en-US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Model-View-Presenter (MVP) and</a:t>
            </a:r>
            <a:br>
              <a:rPr lang="en-US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Model-View-</a:t>
            </a:r>
            <a:r>
              <a:rPr lang="en-US" dirty="0" err="1">
                <a:latin typeface="Comfortaa" pitchFamily="2" charset="0"/>
              </a:rPr>
              <a:t>ViewModel</a:t>
            </a:r>
            <a:r>
              <a:rPr lang="en-US" dirty="0">
                <a:latin typeface="Comfortaa" pitchFamily="2" charset="0"/>
              </a:rPr>
              <a:t> (MVVM) </a:t>
            </a:r>
          </a:p>
          <a:p>
            <a:pPr marL="663521" lvl="1" indent="-358775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Front Controller, Active Record</a:t>
            </a:r>
            <a:endParaRPr lang="bg-BG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201" y="639112"/>
            <a:ext cx="10121567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72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</TotalTime>
  <Words>1214</Words>
  <Application>Microsoft Office PowerPoint</Application>
  <PresentationFormat>Widescreen</PresentationFormat>
  <Paragraphs>191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Comfortaa</vt:lpstr>
      <vt:lpstr>Consolas</vt:lpstr>
      <vt:lpstr>Wingdings</vt:lpstr>
      <vt:lpstr>Wingdings 2</vt:lpstr>
      <vt:lpstr>Office Theme</vt:lpstr>
      <vt:lpstr>Шаблони за проектиране за поведение и архитектура</vt:lpstr>
      <vt:lpstr>Съдържание</vt:lpstr>
      <vt:lpstr>Шаблони в поведението</vt:lpstr>
      <vt:lpstr>Шаблон Iterator</vt:lpstr>
      <vt:lpstr>Iterator пример</vt:lpstr>
      <vt:lpstr>Iterator примери за реална употреба</vt:lpstr>
      <vt:lpstr>Template Method шаблон</vt:lpstr>
      <vt:lpstr>Template Method пример</vt:lpstr>
      <vt:lpstr>Template Method примери за реална употреба</vt:lpstr>
      <vt:lpstr>Шаблон Observer</vt:lpstr>
      <vt:lpstr>Observer примери за реална употреба</vt:lpstr>
      <vt:lpstr>Шаблон Strategy</vt:lpstr>
      <vt:lpstr>PowerPoint Presentation</vt:lpstr>
      <vt:lpstr>Strategy примери за реална употреба</vt:lpstr>
      <vt:lpstr>Шаблони в архитектурата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12</cp:revision>
  <dcterms:created xsi:type="dcterms:W3CDTF">2022-08-09T09:25:46Z</dcterms:created>
  <dcterms:modified xsi:type="dcterms:W3CDTF">2022-09-27T06:26:02Z</dcterms:modified>
</cp:coreProperties>
</file>