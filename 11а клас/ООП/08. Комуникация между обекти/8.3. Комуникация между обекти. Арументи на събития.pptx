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8" r:id="rId2"/>
    <p:sldId id="713" r:id="rId3"/>
    <p:sldId id="698" r:id="rId4"/>
    <p:sldId id="700" r:id="rId5"/>
    <p:sldId id="701" r:id="rId6"/>
    <p:sldId id="702" r:id="rId7"/>
    <p:sldId id="612" r:id="rId8"/>
    <p:sldId id="613" r:id="rId9"/>
    <p:sldId id="674" r:id="rId10"/>
    <p:sldId id="717" r:id="rId11"/>
    <p:sldId id="5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713"/>
          </p14:sldIdLst>
        </p14:section>
        <p14:section name="Съдържание" id="{0B0C01F3-1F60-4ADB-AC1E-9589654EAEF3}">
          <p14:sldIdLst>
            <p14:sldId id="698"/>
            <p14:sldId id="700"/>
            <p14:sldId id="701"/>
            <p14:sldId id="702"/>
            <p14:sldId id="612"/>
            <p14:sldId id="613"/>
            <p14:sldId id="674"/>
          </p14:sldIdLst>
        </p14:section>
        <p14:section name="Заключение" id="{9315BEE7-605C-4839-996A-A4EEA70921D9}">
          <p14:sldIdLst>
            <p14:sldId id="717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50" d="100"/>
          <a:sy n="50" d="100"/>
        </p:scale>
        <p:origin x="1659" y="1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FCD057D-06CC-45D0-9EE5-3F006E034C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1109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The </a:t>
            </a:r>
            <a:r>
              <a:rPr lang="en-US" noProof="1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onsolas" pitchFamily="49" charset="0"/>
                <a:cs typeface="Consolas" pitchFamily="49" charset="0"/>
              </a:rPr>
              <a:t>System.EventHandler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Delegate</a:t>
            </a:r>
          </a:p>
          <a:p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System.EventHandler</a:t>
            </a:r>
            <a:r>
              <a:rPr lang="en-US" dirty="0"/>
              <a:t> defines a reference</a:t>
            </a:r>
            <a:r>
              <a:rPr lang="bg-BG" dirty="0"/>
              <a:t> </a:t>
            </a:r>
            <a:r>
              <a:rPr lang="en-US" dirty="0"/>
              <a:t>to a</a:t>
            </a:r>
            <a:r>
              <a:rPr lang="bg-BG" dirty="0"/>
              <a:t> </a:t>
            </a:r>
            <a:r>
              <a:rPr lang="en-US" dirty="0"/>
              <a:t>callback</a:t>
            </a:r>
            <a:r>
              <a:rPr lang="bg-BG" dirty="0"/>
              <a:t> </a:t>
            </a:r>
            <a:r>
              <a:rPr lang="en-US" dirty="0"/>
              <a:t>method</a:t>
            </a:r>
            <a:r>
              <a:rPr lang="bg-BG" dirty="0"/>
              <a:t>, </a:t>
            </a:r>
            <a:r>
              <a:rPr lang="en-US" dirty="0"/>
              <a:t>which</a:t>
            </a:r>
            <a:r>
              <a:rPr lang="bg-BG" dirty="0"/>
              <a:t> </a:t>
            </a:r>
            <a:r>
              <a:rPr lang="en-US" dirty="0"/>
              <a:t>handles events</a:t>
            </a:r>
          </a:p>
          <a:p>
            <a:pPr lvl="1"/>
            <a:r>
              <a:rPr lang="en-US" dirty="0"/>
              <a:t>No additional information is sent about the event, just a notification:</a:t>
            </a:r>
            <a:endParaRPr lang="bg-BG" dirty="0"/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</a:t>
            </a:r>
            <a:r>
              <a:rPr lang="bg-BG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 delegate void EventHandler(</a:t>
            </a:r>
            <a:r>
              <a:rPr lang="en-US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o</a:t>
            </a:r>
            <a:r>
              <a:rPr lang="bg-BG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bject sender,</a:t>
            </a:r>
            <a:r>
              <a:rPr lang="en-US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EventArgs</a:t>
            </a:r>
            <a:r>
              <a:rPr lang="en-US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4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e);</a:t>
            </a:r>
            <a:endParaRPr lang="en-US" sz="40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sz="4000" dirty="0"/>
          </a:p>
          <a:p>
            <a:r>
              <a:rPr lang="en-US" dirty="0"/>
              <a:t>Used in many occasions internally in</a:t>
            </a:r>
            <a:r>
              <a:rPr lang="bg-BG" dirty="0"/>
              <a:t> .NET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</a:t>
            </a:r>
            <a:r>
              <a:rPr lang="bg-BG" dirty="0"/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EventArgs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class is the base class with no information for the event</a:t>
            </a:r>
            <a:endParaRPr lang="bg-BG" dirty="0"/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8397E1D5-C125-41AB-8D3F-10CBF0E4D5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8726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Loop</a:t>
            </a:r>
          </a:p>
          <a:p>
            <a:r>
              <a:rPr lang="en-US" dirty="0"/>
              <a:t>UI technologies usually have an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event loop</a:t>
            </a:r>
            <a:r>
              <a:rPr lang="en-US" dirty="0"/>
              <a:t> running</a:t>
            </a:r>
          </a:p>
          <a:p>
            <a:pPr lvl="1"/>
            <a:r>
              <a:rPr lang="en-US" dirty="0"/>
              <a:t>Waits for events from the underlying operating system and notifies the respective components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while (message != "quit")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// Blocking operation - waits for an event from OS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message = GetMessage();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ProcessMessage(message);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70DB0D0-6BE0-4B7A-A620-F0E5ED6F31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905264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Loop</a:t>
            </a:r>
          </a:p>
          <a:p>
            <a:r>
              <a:rPr lang="en-US" dirty="0"/>
              <a:t>UI technologies usually have an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event loop</a:t>
            </a:r>
            <a:r>
              <a:rPr lang="en-US" dirty="0"/>
              <a:t> running</a:t>
            </a:r>
          </a:p>
          <a:p>
            <a:pPr lvl="1"/>
            <a:r>
              <a:rPr lang="en-US" dirty="0"/>
              <a:t>Waits for events from the underlying operating system and notifies the respective components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while (message != "quit")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// Blocking operation - waits for an event from OS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message = GetMessage();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ProcessMessage(message);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68F2409-8588-48DB-9674-A9FBE1E053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627557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CCDCA2F-49E6-4F19-8DE9-D25AA4418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72352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 err="1">
                <a:latin typeface="Comfortaa" pitchFamily="2" charset="0"/>
              </a:rPr>
              <a:t>Арументи</a:t>
            </a:r>
            <a:r>
              <a:rPr lang="bg-BG" dirty="0">
                <a:latin typeface="Comfortaa" pitchFamily="2" charset="0"/>
              </a:rPr>
              <a:t> на събития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Комуникацията</a:t>
            </a:r>
            <a:r>
              <a:rPr lang="ru-RU" dirty="0">
                <a:latin typeface="Comfortaa" pitchFamily="2" charset="0"/>
              </a:rPr>
              <a:t> между </a:t>
            </a:r>
            <a:r>
              <a:rPr lang="ru-RU" dirty="0" err="1">
                <a:latin typeface="Comfortaa" pitchFamily="2" charset="0"/>
              </a:rPr>
              <a:t>обекти</a:t>
            </a:r>
            <a:r>
              <a:rPr lang="ru-RU" dirty="0">
                <a:latin typeface="Comfortaa" pitchFamily="2" charset="0"/>
              </a:rPr>
              <a:t>. 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825451"/>
            <a:ext cx="11012446" cy="4490005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Аргументи/данни  </a:t>
            </a:r>
            <a:r>
              <a:rPr lang="bg-BG" sz="3600" dirty="0">
                <a:latin typeface="Comfortaa" pitchFamily="2" charset="0"/>
              </a:rPr>
              <a:t>на събития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sz="3600" dirty="0">
                <a:latin typeface="Comfortaa" pitchFamily="2" charset="0"/>
              </a:rPr>
              <a:t>Наследници на класа 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</a:rPr>
              <a:t>EventArgs</a:t>
            </a:r>
            <a:endParaRPr lang="en-US" sz="3600" b="1" dirty="0">
              <a:solidFill>
                <a:srgbClr val="00B0F0"/>
              </a:solidFill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sz="3600" dirty="0">
                <a:latin typeface="Comfortaa" pitchFamily="2" charset="0"/>
              </a:rPr>
              <a:t>Дефиниране и закачване на 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обработчици</a:t>
            </a:r>
            <a:r>
              <a:rPr lang="bg-BG" sz="3600" dirty="0">
                <a:latin typeface="Comfortaa" pitchFamily="2" charset="0"/>
              </a:rPr>
              <a:t> на събития</a:t>
            </a:r>
            <a:r>
              <a:rPr lang="en-US" sz="3600" dirty="0">
                <a:latin typeface="Comfortaa" pitchFamily="2" charset="0"/>
              </a:rPr>
              <a:t> </a:t>
            </a:r>
          </a:p>
          <a:p>
            <a:pPr marL="742950" indent="-74295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</a:pP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Анонимни</a:t>
            </a:r>
            <a:r>
              <a:rPr lang="bg-BG" sz="3600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функции</a:t>
            </a:r>
            <a:endParaRPr lang="en-US" sz="3600" dirty="0">
              <a:latin typeface="Comfortaa" pitchFamily="2" charset="0"/>
            </a:endParaRPr>
          </a:p>
          <a:p>
            <a:pPr marL="742950" indent="-74295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</a:pP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Цикъл на събитие</a:t>
            </a:r>
            <a:endParaRPr lang="en-US" sz="3600" b="1" dirty="0">
              <a:solidFill>
                <a:srgbClr val="00B0F0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22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51103" y="2091709"/>
            <a:ext cx="10889793" cy="350259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EventArgs</a:t>
            </a:r>
            <a:r>
              <a:rPr lang="en-US" dirty="0">
                <a:latin typeface="Comfortaa" pitchFamily="2" charset="0"/>
              </a:rPr>
              <a:t> 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се ползва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сигнатурата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много делегати и обработчици на събития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Когато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потребителските данни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необходмо да бъдат предавани,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EventArgs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може да бъде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разширен</a:t>
            </a:r>
            <a:r>
              <a:rPr lang="en-US" dirty="0">
                <a:latin typeface="Comfortaa" pitchFamily="2" charset="0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103" y="633349"/>
            <a:ext cx="11125200" cy="1325563"/>
          </a:xfrm>
        </p:spPr>
        <p:txBody>
          <a:bodyPr/>
          <a:lstStyle/>
          <a:p>
            <a:r>
              <a:rPr lang="bg-BG" noProof="1">
                <a:latin typeface="Comfortaa" pitchFamily="2" charset="0"/>
              </a:rPr>
              <a:t>Данни на събитие (</a:t>
            </a:r>
            <a:r>
              <a:rPr lang="en-US" noProof="1">
                <a:latin typeface="Comfortaa" pitchFamily="2" charset="0"/>
              </a:rPr>
              <a:t>EventArgs</a:t>
            </a:r>
            <a:r>
              <a:rPr lang="bg-BG" noProof="1">
                <a:latin typeface="Comfortaa" pitchFamily="2" charset="0"/>
              </a:rPr>
              <a:t>)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5559" y="2287436"/>
            <a:ext cx="10765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3600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51104" y="5416220"/>
            <a:ext cx="11125200" cy="4616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event EventHandler&lt;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EventArgs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&gt; WorkPerformed;</a:t>
            </a:r>
            <a:endParaRPr lang="bg-BG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51104" y="3217345"/>
            <a:ext cx="11125200" cy="4616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delegate void </a:t>
            </a:r>
            <a:r>
              <a:rPr lang="bg-BG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EventHandler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object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sender,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EventArgs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e);</a:t>
            </a:r>
          </a:p>
        </p:txBody>
      </p:sp>
    </p:spTree>
    <p:extLst>
      <p:ext uri="{BB962C8B-B14F-4D97-AF65-F5344CB8AC3E}">
        <p14:creationId xmlns:p14="http://schemas.microsoft.com/office/powerpoint/2010/main" val="282045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19101" y="2173664"/>
            <a:ext cx="10957559" cy="4351338"/>
          </a:xfrm>
        </p:spPr>
        <p:txBody>
          <a:bodyPr/>
          <a:lstStyle/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За използване на потебителски клас </a:t>
            </a:r>
            <a:r>
              <a:rPr lang="en-US" dirty="0" err="1">
                <a:latin typeface="Comfortaa" pitchFamily="2" charset="0"/>
              </a:rPr>
              <a:t>EventArgs</a:t>
            </a:r>
            <a:r>
              <a:rPr lang="bg-BG" dirty="0">
                <a:latin typeface="Comfortaa" pitchFamily="2" charset="0"/>
              </a:rPr>
              <a:t>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делегатът трябва да указва в сигнатурата си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4292"/>
            <a:ext cx="10957559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Наследници на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 err="1">
                <a:latin typeface="Comfortaa" pitchFamily="2" charset="0"/>
              </a:rPr>
              <a:t>EventArgs</a:t>
            </a:r>
            <a:r>
              <a:rPr lang="en-US" dirty="0">
                <a:latin typeface="Comfortaa" pitchFamily="2" charset="0"/>
              </a:rPr>
              <a:t>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19102" y="1571873"/>
            <a:ext cx="11353797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class WorkPerformedEventArgs :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EventArgs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public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int Hours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{ get; set; }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public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WorkType WorkType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{ get; set; }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19100" y="5189764"/>
            <a:ext cx="11353799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delegate void WorkPerfHandler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               (object sender,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WorkPerfEventArgs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e)</a:t>
            </a:r>
          </a:p>
        </p:txBody>
      </p:sp>
    </p:spTree>
    <p:extLst>
      <p:ext uri="{BB962C8B-B14F-4D97-AF65-F5344CB8AC3E}">
        <p14:creationId xmlns:p14="http://schemas.microsoft.com/office/powerpoint/2010/main" val="236866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634" y="1606169"/>
            <a:ext cx="11804822" cy="503055"/>
          </a:xfrm>
        </p:spPr>
        <p:txBody>
          <a:bodyPr/>
          <a:lstStyle/>
          <a:p>
            <a:pPr marL="0" indent="0">
              <a:buNone/>
            </a:pPr>
            <a:r>
              <a:rPr lang="bg-BG" sz="2000" dirty="0">
                <a:latin typeface="Comfortaa" pitchFamily="2" charset="0"/>
              </a:rPr>
              <a:t>Операторът  </a:t>
            </a:r>
            <a:r>
              <a:rPr lang="en-US" sz="2000" dirty="0">
                <a:solidFill>
                  <a:srgbClr val="00B0F0"/>
                </a:solidFill>
                <a:latin typeface="Comfortaa" pitchFamily="2" charset="0"/>
              </a:rPr>
              <a:t>+=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 се ползва за закачане на събитие към обработчик на събитие</a:t>
            </a:r>
            <a:r>
              <a:rPr lang="en-US" sz="20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34" y="870461"/>
            <a:ext cx="11887366" cy="811025"/>
          </a:xfrm>
        </p:spPr>
        <p:txBody>
          <a:bodyPr>
            <a:normAutofit/>
          </a:bodyPr>
          <a:lstStyle/>
          <a:p>
            <a:r>
              <a:rPr lang="bg-BG" sz="2800" b="1" dirty="0">
                <a:latin typeface="Comfortaa" pitchFamily="2" charset="0"/>
              </a:rPr>
              <a:t>Дефиниране и закачване на обработчици на събития</a:t>
            </a:r>
            <a:r>
              <a:rPr lang="en-US" sz="2800" b="1" dirty="0">
                <a:latin typeface="Comfortaa" pitchFamily="2" charset="0"/>
              </a:rPr>
              <a:t> 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93533" y="2243547"/>
            <a:ext cx="11369645" cy="12003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worker = new Worker();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worker.WorkPerformed </a:t>
            </a:r>
            <a:r>
              <a:rPr lang="en-US" sz="24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+=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new EventHandler&lt;WorkPerfEventArgs&gt;(worker_WorkPerformed);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93532" y="3976654"/>
            <a:ext cx="11369646" cy="23083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worker = new Worker();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worker.WorkPerformed </a:t>
            </a:r>
            <a:r>
              <a:rPr lang="en-US" sz="24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+=</a:t>
            </a: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worker_WorkPerformed;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void worker_WorkPerformed(object sender, WorkPerfHandler e)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Console.WriteLine(e.);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  </a:t>
            </a: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auto">
          <a:xfrm>
            <a:off x="6624167" y="3708009"/>
            <a:ext cx="4678403" cy="537290"/>
          </a:xfrm>
          <a:prstGeom prst="wedgeRoundRectCallout">
            <a:avLst>
              <a:gd name="adj1" fmla="val -85184"/>
              <a:gd name="adj2" fmla="val 5035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16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Компилаторът ще </a:t>
            </a:r>
            <a:r>
              <a:rPr lang="en-US" sz="16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“infer” </a:t>
            </a:r>
            <a:r>
              <a:rPr lang="bg-BG" sz="16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делегата</a:t>
            </a:r>
            <a:endParaRPr lang="en-US" sz="1600" b="1" noProof="1">
              <a:solidFill>
                <a:schemeClr val="bg1"/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3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572493"/>
            <a:ext cx="10367880" cy="2050272"/>
          </a:xfrm>
        </p:spPr>
        <p:txBody>
          <a:bodyPr>
            <a:normAutofit/>
          </a:bodyPr>
          <a:lstStyle/>
          <a:p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Анонимните методи </a:t>
            </a:r>
            <a:r>
              <a:rPr lang="bg-BG" sz="2400" dirty="0">
                <a:latin typeface="Comfortaa" pitchFamily="2" charset="0"/>
              </a:rPr>
              <a:t>позволяват кода на обработчика да бъде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закачен директно към събитието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Анонимните методи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се дефинират, използвайки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ключовата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дума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delegate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Анонимни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38200" y="3140625"/>
            <a:ext cx="10367880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 worker = new Worker();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worker.WorkPerformed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+=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delegate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(object sender, WorkPerfEventArgs e)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    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Console.WriteLine(e.Hours.ToString());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};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//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Край на анонимния метод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3010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7411" y="408668"/>
            <a:ext cx="9889332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Обработка на събитието </a:t>
            </a:r>
            <a:r>
              <a:rPr lang="en-US" dirty="0">
                <a:latin typeface="Comfortaa" pitchFamily="2" charset="0"/>
              </a:rPr>
              <a:t>Click</a:t>
            </a:r>
            <a:r>
              <a:rPr lang="bg-BG" dirty="0">
                <a:latin typeface="Comfortaa" pitchFamily="2" charset="0"/>
              </a:rPr>
              <a:t> на мишката </a:t>
            </a:r>
            <a:r>
              <a:rPr lang="en-US" dirty="0">
                <a:latin typeface="Comfortaa" pitchFamily="2" charset="0"/>
              </a:rPr>
              <a:t>UI – </a:t>
            </a:r>
            <a:r>
              <a:rPr lang="bg-BG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71499" y="1978401"/>
            <a:ext cx="11049001" cy="421961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partial class MainWindow : Window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public MainWindow()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{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this.InitializeComponent();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this.MouseDown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+=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this.MainWindow_MouseClick;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}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private void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MainWindow_MouseClick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(object sender, 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                                 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MouseButtonEventArgs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e)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{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MessageBox.Show(string.Format("Mouse clicked at ({0}, {1})",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e.MouseDevice.GetPosition(this).X,  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e.MouseDevice.GetPosition(this).Y));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}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7892143" y="1810431"/>
            <a:ext cx="4076699" cy="1828495"/>
          </a:xfrm>
          <a:prstGeom prst="wedgeRoundRectCallout">
            <a:avLst>
              <a:gd name="adj1" fmla="val -37689"/>
              <a:gd name="adj2" fmla="val 762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latin typeface="Comfortaa" pitchFamily="2" charset="0"/>
                <a:cs typeface="Consolas" panose="020B0609020204030204" pitchFamily="49" charset="0"/>
              </a:rPr>
              <a:t>Получава данни за щракване на мишката </a:t>
            </a:r>
            <a:r>
              <a:rPr lang="en-US" sz="2000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sz="2000" noProof="1">
                <a:latin typeface="Comfortaa" pitchFamily="2" charset="0"/>
                <a:cs typeface="Consolas" panose="020B0609020204030204" pitchFamily="49" charset="0"/>
              </a:rPr>
              <a:t>като</a:t>
            </a:r>
            <a:r>
              <a:rPr lang="en-US" sz="2000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MouseButtonEventArgs</a:t>
            </a:r>
          </a:p>
        </p:txBody>
      </p:sp>
    </p:spTree>
    <p:extLst>
      <p:ext uri="{BB962C8B-B14F-4D97-AF65-F5344CB8AC3E}">
        <p14:creationId xmlns:p14="http://schemas.microsoft.com/office/powerpoint/2010/main" val="124880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Цикъл на събитие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48000" y="1981201"/>
            <a:ext cx="7620000" cy="3322035"/>
            <a:chOff x="4428784" y="1600200"/>
            <a:chExt cx="3527938" cy="1538049"/>
          </a:xfrm>
        </p:grpSpPr>
        <p:sp>
          <p:nvSpPr>
            <p:cNvPr id="12" name="Rounded Rectangle 11"/>
            <p:cNvSpPr/>
            <p:nvPr/>
          </p:nvSpPr>
          <p:spPr>
            <a:xfrm>
              <a:off x="4875212" y="1600200"/>
              <a:ext cx="2635082" cy="533400"/>
            </a:xfrm>
            <a:prstGeom prst="round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sz="3200" dirty="0">
                  <a:latin typeface="Comfortaa" pitchFamily="2" charset="0"/>
                </a:rPr>
                <a:t>Чака за събития</a:t>
              </a:r>
              <a:endParaRPr lang="en-US" sz="3200" dirty="0">
                <a:latin typeface="Comfortaa" pitchFamily="2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884015" y="2604849"/>
              <a:ext cx="2635082" cy="533400"/>
            </a:xfrm>
            <a:prstGeom prst="round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sz="3200" dirty="0">
                  <a:latin typeface="Comfortaa" pitchFamily="2" charset="0"/>
                </a:rPr>
                <a:t>Обработва събития</a:t>
              </a:r>
              <a:endParaRPr lang="en-US" sz="3200" dirty="0">
                <a:latin typeface="Comfortaa" pitchFamily="2" charset="0"/>
              </a:endParaRPr>
            </a:p>
          </p:txBody>
        </p:sp>
        <p:sp>
          <p:nvSpPr>
            <p:cNvPr id="14" name="Curved Left Arrow 13"/>
            <p:cNvSpPr/>
            <p:nvPr/>
          </p:nvSpPr>
          <p:spPr>
            <a:xfrm>
              <a:off x="7527900" y="1828800"/>
              <a:ext cx="428822" cy="1085949"/>
            </a:xfrm>
            <a:prstGeom prst="curvedLef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17" name="Curved Left Arrow 16"/>
            <p:cNvSpPr/>
            <p:nvPr/>
          </p:nvSpPr>
          <p:spPr>
            <a:xfrm rot="10800000">
              <a:off x="4428784" y="1785924"/>
              <a:ext cx="428822" cy="1085949"/>
            </a:xfrm>
            <a:prstGeom prst="curvedLef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14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7411" y="1105354"/>
            <a:ext cx="11048999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Цикъл на събития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прост 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17412" y="2634343"/>
            <a:ext cx="11049000" cy="28069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while (message != "quit")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//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Блокиране на операция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–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чака за събитие на ОС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message =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GetMessage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ProcessMessage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(message);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4829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824800"/>
            <a:ext cx="10287972" cy="38372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Слушателите се записват с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+=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и </a:t>
            </a:r>
            <a:r>
              <a:rPr lang="bg-BG" dirty="0">
                <a:latin typeface="Comfortaa" pitchFamily="2" charset="0"/>
              </a:rPr>
              <a:t>отписват с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-=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Когато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събитие</a:t>
            </a:r>
            <a:r>
              <a:rPr lang="en-US" dirty="0">
                <a:latin typeface="Comfortaa" pitchFamily="2" charset="0"/>
              </a:rPr>
              <a:t> „</a:t>
            </a:r>
            <a:r>
              <a:rPr lang="bg-BG" dirty="0">
                <a:latin typeface="Comfortaa" pitchFamily="2" charset="0"/>
              </a:rPr>
              <a:t>се случи</a:t>
            </a:r>
            <a:r>
              <a:rPr lang="en-US" dirty="0">
                <a:latin typeface="Comfortaa" pitchFamily="2" charset="0"/>
              </a:rPr>
              <a:t>", </a:t>
            </a:r>
            <a:r>
              <a:rPr lang="bg-BG" dirty="0">
                <a:latin typeface="Comfortaa" pitchFamily="2" charset="0"/>
              </a:rPr>
              <a:t>всички абонат</a:t>
            </a: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Анонимните методи </a:t>
            </a:r>
            <a:r>
              <a:rPr lang="bg-BG" dirty="0">
                <a:latin typeface="Comfortaa" pitchFamily="2" charset="0"/>
              </a:rPr>
              <a:t>позволяват кода на обработчика да бъде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закачен директно към събитието</a:t>
            </a:r>
          </a:p>
          <a:p>
            <a:r>
              <a:rPr lang="bg-BG" dirty="0">
                <a:latin typeface="Comfortaa" pitchFamily="2" charset="0"/>
              </a:rPr>
              <a:t>Обработката на събитията се извършва циклично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535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857</Words>
  <Application>Microsoft Office PowerPoint</Application>
  <PresentationFormat>Widescreen</PresentationFormat>
  <Paragraphs>137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Office Theme</vt:lpstr>
      <vt:lpstr>Арументи на събития</vt:lpstr>
      <vt:lpstr>Съдържание</vt:lpstr>
      <vt:lpstr>Данни на събитие (EventArgs)</vt:lpstr>
      <vt:lpstr>Наследници на класа EventArgs </vt:lpstr>
      <vt:lpstr>Дефиниране и закачване на обработчици на събития </vt:lpstr>
      <vt:lpstr>Анонимни методи</vt:lpstr>
      <vt:lpstr>Обработка на събитието Click на мишката UI – Пример</vt:lpstr>
      <vt:lpstr>Цикъл на събитие</vt:lpstr>
      <vt:lpstr>Цикъл на събития – прост пример</vt:lpstr>
      <vt:lpstr>Какво научихме?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2022-09-20T06:19:53Z</dcterms:modified>
</cp:coreProperties>
</file>