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713" r:id="rId3"/>
    <p:sldId id="599" r:id="rId4"/>
    <p:sldId id="600" r:id="rId5"/>
    <p:sldId id="693" r:id="rId6"/>
    <p:sldId id="666" r:id="rId7"/>
    <p:sldId id="697" r:id="rId8"/>
    <p:sldId id="696" r:id="rId9"/>
    <p:sldId id="670" r:id="rId10"/>
    <p:sldId id="671" r:id="rId11"/>
    <p:sldId id="608" r:id="rId12"/>
    <p:sldId id="716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713"/>
          </p14:sldIdLst>
        </p14:section>
        <p14:section name="Съдържание" id="{0B0C01F3-1F60-4ADB-AC1E-9589654EAEF3}">
          <p14:sldIdLst>
            <p14:sldId id="599"/>
            <p14:sldId id="600"/>
            <p14:sldId id="693"/>
            <p14:sldId id="666"/>
            <p14:sldId id="697"/>
            <p14:sldId id="696"/>
            <p14:sldId id="670"/>
            <p14:sldId id="671"/>
            <p14:sldId id="608"/>
          </p14:sldIdLst>
        </p14:section>
        <p14:section name="Заключение" id="{9315BEE7-605C-4839-996A-A4EEA70921D9}">
          <p14:sldIdLst>
            <p14:sldId id="716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45" d="100"/>
          <a:sy n="45" d="100"/>
        </p:scale>
        <p:origin x="3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aa645739(v=vs.71).aspx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softuni.foundation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B50907-28F3-472D-B178-5083AE50BA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1647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In component-oriented programming components publish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to other components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notify that something has happened</a:t>
            </a:r>
          </a:p>
          <a:p>
            <a:pPr lvl="2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E.g. moving the mouse causes an event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The object which causes an event is called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event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sender</a:t>
            </a:r>
            <a:endParaRPr lang="bg-B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The object which receives an event is called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event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receiver</a:t>
            </a:r>
            <a:endParaRPr lang="bg-B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In order to receive an event, the event receivers should first "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subscribe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event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"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338CAFB-EFA2-423F-B775-A55C7116B7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3670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in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.NET</a:t>
            </a: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in C#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are special delegate instances declared by the keyword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</a:p>
          <a:p>
            <a:endParaRPr lang="en-US" sz="3000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ts val="1200"/>
              </a:spcBef>
            </a:pP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In the component model of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.NET the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subscription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sending 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receiving 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of events is supported through delegates and events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1ACE60D-D374-471E-8090-474D46F19F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9400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in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.NET</a:t>
            </a: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in C#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are special delegate instances declared by the keyword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</a:p>
          <a:p>
            <a:endParaRPr lang="en-US" sz="3000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ts val="1200"/>
              </a:spcBef>
            </a:pP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In the component model of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.NET the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subscription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sending 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receiving 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of events is supported through delegates and events</a:t>
            </a:r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91A217C-71A5-4384-9941-0258D5A69E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9673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vs Delegates</a:t>
            </a: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are not the same as</a:t>
            </a:r>
            <a:r>
              <a:rPr lang="bg-BG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member fields of type delegate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Action&lt;string&gt; m;</a:t>
            </a:r>
            <a:r>
              <a:rPr lang="en-US" b="0" baseline="0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1600" b="1" dirty="0">
                <a:solidFill>
                  <a:schemeClr val="tx2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  <a:cs typeface="Consolas" pitchFamily="49" charset="0"/>
              </a:rPr>
              <a:t>≠</a:t>
            </a:r>
            <a:r>
              <a:rPr lang="en-US" sz="1600" b="1" dirty="0">
                <a:solidFill>
                  <a:schemeClr val="tx2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b="1" baseline="0" dirty="0">
                <a:solidFill>
                  <a:schemeClr val="tx2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0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event Action&lt;string&gt; m;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>
              <a:spcBef>
                <a:spcPts val="1200"/>
              </a:spcBef>
            </a:pPr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Events can be members of an interface </a:t>
            </a:r>
          </a:p>
          <a:p>
            <a:pPr lvl="1"/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Delegates cannot be members of an interface</a:t>
            </a:r>
          </a:p>
          <a:p>
            <a:pPr lvl="1"/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An event can only be called in the class where it is defined</a:t>
            </a:r>
          </a:p>
          <a:p>
            <a:endParaRPr lang="bg-BG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By default the access to the events is synchronized (thread-safe)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BB921D0-FEE1-4CCF-9566-5FD47B6D74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1118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Custom Events: Convention</a:t>
            </a:r>
          </a:p>
          <a:p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dirty="0"/>
              <a:t>.NET defines a convention (pattern) for defining events:</a:t>
            </a:r>
          </a:p>
          <a:p>
            <a:pPr lvl="1"/>
            <a:r>
              <a:rPr lang="en-US" dirty="0">
                <a:hlinkClick r:id="rId3"/>
              </a:rPr>
              <a:t>http://msdn.microsoft.com/en-us/library/aa645739(v=vs.71).aspx</a:t>
            </a:r>
            <a:endParaRPr lang="en-US" dirty="0"/>
          </a:p>
          <a:p>
            <a:r>
              <a:rPr lang="en-US" dirty="0"/>
              <a:t>Delegates which are used for events:</a:t>
            </a:r>
          </a:p>
          <a:p>
            <a:pPr lvl="1"/>
            <a:r>
              <a:rPr lang="en-US" dirty="0"/>
              <a:t>Have names formed by a verb </a:t>
            </a:r>
            <a:r>
              <a:rPr lang="bg-BG" dirty="0"/>
              <a:t>+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EventHandler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/>
              <a:t>Accept two parameters:</a:t>
            </a:r>
          </a:p>
          <a:p>
            <a:pPr lvl="2"/>
            <a:r>
              <a:rPr lang="en-US" dirty="0"/>
              <a:t>Event sender –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System.Object</a:t>
            </a:r>
          </a:p>
          <a:p>
            <a:pPr lvl="2"/>
            <a:r>
              <a:rPr lang="en-US" dirty="0"/>
              <a:t>Event information – inherited from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System.EventArgs</a:t>
            </a:r>
            <a:endParaRPr lang="en-US" dirty="0"/>
          </a:p>
          <a:p>
            <a:pPr lvl="1"/>
            <a:r>
              <a:rPr lang="en-US" dirty="0"/>
              <a:t>No return value (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dirty="0"/>
              <a:t>)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269571D-1F8B-41B5-9C1A-7938519A1D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4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5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65520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Custom Events: Convention (2)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Example:</a:t>
            </a:r>
          </a:p>
          <a:p>
            <a:pPr marL="0" indent="0"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void ItemChangedEventHandler(</a:t>
            </a:r>
          </a:p>
          <a:p>
            <a:pPr marL="0" indent="0"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object sender, ItemChangedEventArgs eventArgs);</a:t>
            </a:r>
            <a:endParaRPr lang="bg-BG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endParaRPr lang="en-US" dirty="0"/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Events: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Are declared</a:t>
            </a:r>
            <a:r>
              <a:rPr lang="bg-BG" dirty="0"/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Follow </a:t>
            </a:r>
            <a:r>
              <a:rPr lang="en-US" noProof="1"/>
              <a:t>PascalCase naming convention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End with a verb</a:t>
            </a:r>
          </a:p>
          <a:p>
            <a:pPr marL="177800" marR="0" lvl="1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noProof="1">
                <a:solidFill>
                  <a:schemeClr val="tx1"/>
                </a:solidFill>
                <a:effectLst/>
                <a:latin typeface="+mn-lt"/>
                <a:cs typeface="+mn-cs"/>
                <a:sym typeface="Wingdings" pitchFamily="2" charset="2"/>
              </a:rPr>
              <a:t>For</a:t>
            </a:r>
            <a:r>
              <a:rPr lang="en-US" b="0" baseline="0" noProof="1">
                <a:solidFill>
                  <a:schemeClr val="tx1"/>
                </a:solidFill>
                <a:effectLst/>
                <a:latin typeface="+mn-lt"/>
                <a:cs typeface="+mn-cs"/>
                <a:sym typeface="Wingdings" pitchFamily="2" charset="2"/>
              </a:rPr>
              <a:t> example: </a:t>
            </a:r>
            <a:r>
              <a:rPr lang="en-US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event ItemChangedEventHandler ItemChanged;</a:t>
            </a:r>
            <a:endParaRPr lang="bg-BG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68C8EE7-91F5-45AC-AC78-BC0B36AD67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45360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Custom Events: Convention (3)</a:t>
            </a:r>
          </a:p>
          <a:p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dirty="0"/>
              <a:t>To fire an event a special</a:t>
            </a:r>
            <a:r>
              <a:rPr lang="bg-BG" dirty="0"/>
              <a:t>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protected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method is created </a:t>
            </a:r>
          </a:p>
          <a:p>
            <a:pPr lvl="1"/>
            <a:r>
              <a:rPr lang="en-US" dirty="0"/>
              <a:t>Named after a specific action, e.g.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OnVerb()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protected void OnItemChanged()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{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  … 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}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endParaRPr lang="en-US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endParaRPr lang="bg-BG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receiver method</a:t>
            </a:r>
            <a:r>
              <a:rPr lang="bg-BG" dirty="0"/>
              <a:t> (</a:t>
            </a:r>
            <a:r>
              <a:rPr lang="en-US" dirty="0"/>
              <a:t>handler</a:t>
            </a:r>
            <a:r>
              <a:rPr lang="bg-BG" dirty="0"/>
              <a:t>)</a:t>
            </a:r>
            <a:r>
              <a:rPr lang="en-US" dirty="0"/>
              <a:t> is named in the form </a:t>
            </a:r>
            <a:r>
              <a:rPr lang="en-US" sz="14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OnObjectEvent</a:t>
            </a:r>
            <a:r>
              <a:rPr lang="bg-BG" dirty="0"/>
              <a:t>:</a:t>
            </a:r>
            <a:endParaRPr lang="en-US" dirty="0"/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private void OnOrderListItemChanged()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…</a:t>
            </a: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/>
            </a:pPr>
            <a:r>
              <a:rPr lang="en-US" sz="16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16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E979BAF-B5D4-4427-AE5F-731A0C5458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98030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94B6ACB-C990-4F41-BF0F-836ED9CA38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0354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Събития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Комуникация</a:t>
            </a:r>
            <a:r>
              <a:rPr lang="ru-RU" dirty="0">
                <a:latin typeface="Comfortaa" pitchFamily="2" charset="0"/>
              </a:rPr>
              <a:t> между </a:t>
            </a:r>
            <a:r>
              <a:rPr lang="ru-RU" dirty="0" err="1">
                <a:latin typeface="Comfortaa" pitchFamily="2" charset="0"/>
              </a:rPr>
              <a:t>обекти</a:t>
            </a:r>
            <a:endParaRPr lang="ru-RU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9764" y="650133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9764" y="1975696"/>
            <a:ext cx="10578918" cy="4098990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Събития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Дефиниране на събития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Известяване за събития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Събития и делегати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Потребителски събития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endParaRPr lang="bg-BG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1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В компонентно-ориентираното прогамиране компоненти публикуват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събития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към други компоненти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Събитията известяват, че нещо се е случило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Обектът, който предизвиква дадено събитие се нарича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подател на събитие</a:t>
            </a:r>
            <a:endParaRPr lang="bg-BG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Обектът, който получава събитие се нарича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получател на събитие</a:t>
            </a:r>
          </a:p>
          <a:p>
            <a:r>
              <a:rPr lang="ru-RU" dirty="0">
                <a:latin typeface="Comfortaa" pitchFamily="2" charset="0"/>
              </a:rPr>
              <a:t>За да получат едно събитие, получателите на събитието първо трябва да се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"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абонират за събитието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"</a:t>
            </a:r>
            <a:endParaRPr lang="bg-BG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Събития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11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41732" y="2045081"/>
            <a:ext cx="111260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200" dirty="0">
                <a:latin typeface="Comfortaa" pitchFamily="2" charset="0"/>
              </a:rPr>
              <a:t>Събитията в </a:t>
            </a:r>
            <a:r>
              <a:rPr lang="en-US" sz="3200" dirty="0">
                <a:latin typeface="Comfortaa" pitchFamily="2" charset="0"/>
              </a:rPr>
              <a:t>C#</a:t>
            </a:r>
            <a:r>
              <a:rPr lang="bg-BG" sz="3200" dirty="0">
                <a:latin typeface="Comfortaa" pitchFamily="2" charset="0"/>
              </a:rPr>
              <a:t> са специални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инстанции на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делегати</a:t>
            </a:r>
            <a:r>
              <a:rPr lang="bg-BG" sz="32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декларирани с ключовата дума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event</a:t>
            </a:r>
          </a:p>
          <a:p>
            <a:pPr marL="0" indent="0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+=</a:t>
            </a:r>
            <a:r>
              <a:rPr lang="en-US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3200" dirty="0">
                <a:latin typeface="Comfortaa" pitchFamily="2" charset="0"/>
              </a:rPr>
              <a:t> subscribes for an event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-=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 </a:t>
            </a:r>
            <a:r>
              <a:rPr lang="en-US" sz="3200" dirty="0">
                <a:latin typeface="Comfortaa" pitchFamily="2" charset="0"/>
              </a:rPr>
              <a:t>unsubscribes for an event</a:t>
            </a:r>
            <a:r>
              <a:rPr lang="bg-BG" sz="3200" dirty="0">
                <a:latin typeface="Comfortaa" pitchFamily="2" charset="0"/>
              </a:rPr>
              <a:t> </a:t>
            </a:r>
            <a:endParaRPr lang="en-US" sz="32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746" y="608863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Дефиниране на събитие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6746" y="4065286"/>
            <a:ext cx="110109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EventHandler WorkCompleted;</a:t>
            </a:r>
            <a:endParaRPr lang="bg-BG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99032" y="2441448"/>
            <a:ext cx="89472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4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56746" y="3149334"/>
            <a:ext cx="11010997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event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WorkPerformedHandler</a:t>
            </a:r>
            <a:r>
              <a:rPr lang="bg-BG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WorkPerformed;</a:t>
            </a:r>
            <a:endParaRPr lang="bg-BG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5011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0755" y="1445614"/>
            <a:ext cx="11077992" cy="3108626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Известяване за събитие се прави чрез извикване на събитието като метод</a:t>
            </a:r>
            <a:r>
              <a:rPr lang="en-US" sz="2400" dirty="0">
                <a:latin typeface="Comfortaa" pitchFamily="2" charset="0"/>
              </a:rPr>
              <a:t>: </a:t>
            </a: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>
              <a:spcBef>
                <a:spcPts val="1800"/>
              </a:spcBef>
            </a:pPr>
            <a:r>
              <a:rPr lang="bg-BG" sz="2400" dirty="0">
                <a:latin typeface="Comfortaa" pitchFamily="2" charset="0"/>
              </a:rPr>
              <a:t>Или чрез достъп до делегата на събитето, като се извика директно:</a:t>
            </a:r>
            <a:r>
              <a:rPr lang="en-US" sz="2400" dirty="0">
                <a:latin typeface="Comfortaa" pitchFamily="2" charset="0"/>
              </a:rPr>
              <a:t> </a:t>
            </a:r>
          </a:p>
          <a:p>
            <a:endParaRPr lang="en-US" sz="1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755" y="266391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Известяване за събитие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71551" y="2102922"/>
            <a:ext cx="89472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4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77638" y="2294123"/>
            <a:ext cx="10218717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if (WorkPerformed != null)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WorkPerformed(8, WorkType.GenerateReports);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876049" y="4583710"/>
            <a:ext cx="10218717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WorkPerformedHandler del =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  WorkPerformed as WorkPerformedHandler;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if (del != null)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del(8, WorkType.GenerateReports); 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430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9765" y="3895107"/>
            <a:ext cx="10432470" cy="2638116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Събитията могат да са</a:t>
            </a:r>
            <a:r>
              <a:rPr lang="en-US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част от интерфейс</a:t>
            </a:r>
            <a:r>
              <a:rPr lang="en-US" sz="3200" dirty="0">
                <a:latin typeface="Comfortaa" pitchFamily="2" charset="0"/>
              </a:rPr>
              <a:t> –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делегатите не могат</a:t>
            </a:r>
          </a:p>
          <a:p>
            <a:pPr>
              <a:spcBef>
                <a:spcPts val="1200"/>
              </a:spcBef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Събитие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може да се извика единствено в класа в който 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дефинирано</a:t>
            </a:r>
          </a:p>
          <a:p>
            <a:pPr>
              <a:spcBef>
                <a:spcPts val="1200"/>
              </a:spcBef>
            </a:pPr>
            <a:r>
              <a:rPr lang="bg-BG" sz="3200" dirty="0">
                <a:latin typeface="Comfortaa" pitchFamily="2" charset="0"/>
              </a:rPr>
              <a:t>По подразбиране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до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c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тъпът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до събитията е синхронизиран </a:t>
            </a:r>
            <a:r>
              <a:rPr lang="en-US" sz="3200" dirty="0">
                <a:latin typeface="Comfortaa" pitchFamily="2" charset="0"/>
              </a:rPr>
              <a:t>(thread-safe)</a:t>
            </a:r>
            <a:endParaRPr lang="bg-BG" sz="32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765" y="347313"/>
            <a:ext cx="10432470" cy="122334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Събития и делегати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79765" y="1570658"/>
            <a:ext cx="10432472" cy="2012721"/>
            <a:chOff x="2039804" y="2209800"/>
            <a:chExt cx="8033016" cy="2012721"/>
          </a:xfrm>
        </p:grpSpPr>
        <p:sp>
          <p:nvSpPr>
            <p:cNvPr id="9" name="Rectangle 2"/>
            <p:cNvSpPr>
              <a:spLocks noChangeArrowheads="1"/>
            </p:cNvSpPr>
            <p:nvPr/>
          </p:nvSpPr>
          <p:spPr bwMode="auto">
            <a:xfrm>
              <a:off x="2039805" y="2209800"/>
              <a:ext cx="8033015" cy="646331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eaLnBrk="0" hangingPunct="0">
                <a:spcBef>
                  <a:spcPct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6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  <a:sym typeface="Wingdings" pitchFamily="2" charset="2"/>
                </a:rPr>
                <a:t>public Action&lt;string&gt; m;</a:t>
              </a:r>
              <a:endParaRPr lang="bg-BG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5464702" y="2605088"/>
              <a:ext cx="891075" cy="110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bg-BG" sz="6600" b="1" dirty="0">
                  <a:solidFill>
                    <a:srgbClr val="00B0F0"/>
                  </a:solidFill>
                  <a:latin typeface="Consolas" pitchFamily="49" charset="0"/>
                  <a:cs typeface="Consolas" pitchFamily="49" charset="0"/>
                </a:rPr>
                <a:t>≠</a:t>
              </a: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039804" y="3576190"/>
              <a:ext cx="8033016" cy="646331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eaLnBrk="0" hangingPunct="0">
                <a:spcBef>
                  <a:spcPct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6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  <a:sym typeface="Wingdings" pitchFamily="2" charset="2"/>
                </a:rPr>
                <a:t>public event Action&lt;string&gt; m;</a:t>
              </a:r>
              <a:endParaRPr lang="bg-BG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2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Известяване и отговор на събития</a:t>
            </a:r>
            <a:r>
              <a:rPr lang="en-US" sz="3600" dirty="0">
                <a:latin typeface="Comfortaa" pitchFamily="2" charset="0"/>
              </a:rPr>
              <a:t> [1/2]</a:t>
            </a:r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962299" y="1630795"/>
            <a:ext cx="10158943" cy="47432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void WorkPerfHandler (int hours, WorkType workType);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class Worker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event WorkPerfHandler WorkPerformed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;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public virtual void DoWork(int hours, WorkType workType)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{    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// </a:t>
            </a:r>
            <a:r>
              <a:rPr lang="bg-BG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Свършете работата и уведомете тук, потребителя, че работата е изпълнена</a:t>
            </a:r>
            <a:r>
              <a:rPr lang="en-US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   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OnWorkPerformed(hours, workType);    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}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// TODO: 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Добавете метод за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taising 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събиитие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(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следващия слайд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 </a:t>
            </a:r>
            <a:endParaRPr lang="bg-BG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38293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58815" y="1960012"/>
            <a:ext cx="10874369" cy="37856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protected virtual void OnWorkPerformed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             (int hours, WorkType workType)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  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WorkPerfHandler handler = WorkPerformed as WorkPerfHandler;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if (handler != null) //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Слушателите са прикачени/абонирани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{     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handler(hours, workType);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}         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3A6B1E60-64EE-4FC6-ADC8-B8CBA1B6B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D69662-DFFD-6744-6B5E-3FCCF65DE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08" y="365125"/>
            <a:ext cx="10611592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Известяване и отговор на събития</a:t>
            </a:r>
            <a:r>
              <a:rPr lang="en-US" sz="36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414361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96828" y="2856883"/>
            <a:ext cx="10515600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public delegate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void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ItemChangedEventHandler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object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sender,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ItemChangedEventArgs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eventArgs</a:t>
            </a:r>
          </a:p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828" y="365126"/>
            <a:ext cx="10898811" cy="971756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Потребителски събития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конвенция</a:t>
            </a:r>
            <a:r>
              <a:rPr lang="en-US" sz="3600" dirty="0">
                <a:latin typeface="Comfortaa" pitchFamily="2" charset="0"/>
              </a:rPr>
              <a:t> [1/3]</a:t>
            </a:r>
          </a:p>
        </p:txBody>
      </p:sp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5104156" y="1562393"/>
            <a:ext cx="6296011" cy="987910"/>
          </a:xfrm>
          <a:prstGeom prst="wedgeRoundRectCallout">
            <a:avLst>
              <a:gd name="adj1" fmla="val -39308"/>
              <a:gd name="adj2" fmla="val 85756"/>
              <a:gd name="adj3" fmla="val 16667"/>
            </a:avLst>
          </a:prstGeom>
          <a:solidFill>
            <a:srgbClr val="00B0F0">
              <a:alpha val="95000"/>
            </a:srgbClr>
          </a:solidFill>
          <a:ln w="6350">
            <a:noFill/>
          </a:ln>
        </p:spPr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Име на делегата</a:t>
            </a:r>
            <a:r>
              <a:rPr lang="en-US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: </a:t>
            </a:r>
            <a:r>
              <a:rPr lang="bg-BG" sz="2300" b="1" noProof="1">
                <a:latin typeface="Comfortaa" pitchFamily="2" charset="0"/>
                <a:cs typeface="Consolas" panose="020B0609020204030204" pitchFamily="49" charset="0"/>
              </a:rPr>
              <a:t>Глагол</a:t>
            </a:r>
            <a:r>
              <a:rPr lang="en-US" sz="2300" b="1" noProof="1">
                <a:latin typeface="Comfortaa" pitchFamily="2" charset="0"/>
                <a:cs typeface="Consolas" panose="020B0609020204030204" pitchFamily="49" charset="0"/>
              </a:rPr>
              <a:t> + EventHandler</a:t>
            </a:r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1559927" y="4925512"/>
            <a:ext cx="4639969" cy="1413558"/>
          </a:xfrm>
          <a:prstGeom prst="wedgeRoundRectCallout">
            <a:avLst>
              <a:gd name="adj1" fmla="val -36334"/>
              <a:gd name="adj2" fmla="val -97798"/>
              <a:gd name="adj3" fmla="val 16667"/>
            </a:avLst>
          </a:prstGeom>
          <a:solidFill>
            <a:srgbClr val="00B0F0">
              <a:alpha val="95000"/>
            </a:srgbClr>
          </a:solidFill>
          <a:ln w="6350">
            <a:noFill/>
          </a:ln>
        </p:spPr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300" b="1" noProof="1">
                <a:latin typeface="Comfortaa" pitchFamily="2" charset="0"/>
                <a:cs typeface="Consolas" panose="020B0609020204030204" pitchFamily="49" charset="0"/>
              </a:rPr>
              <a:t>Подателят</a:t>
            </a:r>
            <a:r>
              <a:rPr lang="bg-BG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 на събитието е</a:t>
            </a:r>
            <a:r>
              <a:rPr lang="en-US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2300" b="1" noProof="1">
                <a:latin typeface="Comfortaa" pitchFamily="2" charset="0"/>
                <a:cs typeface="Consolas" panose="020B0609020204030204" pitchFamily="49" charset="0"/>
              </a:rPr>
              <a:t>System.Object</a:t>
            </a:r>
          </a:p>
        </p:txBody>
      </p:sp>
      <p:sp>
        <p:nvSpPr>
          <p:cNvPr id="11" name="AutoShape 23"/>
          <p:cNvSpPr>
            <a:spLocks noChangeArrowheads="1"/>
          </p:cNvSpPr>
          <p:nvPr/>
        </p:nvSpPr>
        <p:spPr bwMode="auto">
          <a:xfrm>
            <a:off x="6599567" y="4908750"/>
            <a:ext cx="4800600" cy="1437820"/>
          </a:xfrm>
          <a:prstGeom prst="wedgeRoundRectCallout">
            <a:avLst>
              <a:gd name="adj1" fmla="val -51088"/>
              <a:gd name="adj2" fmla="val -98394"/>
              <a:gd name="adj3" fmla="val 16667"/>
            </a:avLst>
          </a:prstGeom>
          <a:solidFill>
            <a:srgbClr val="00B0F0">
              <a:alpha val="95000"/>
            </a:srgbClr>
          </a:solidFill>
          <a:ln w="6350">
            <a:noFill/>
          </a:ln>
        </p:spPr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Информацията (данните )за събитието наследява</a:t>
            </a:r>
            <a:r>
              <a:rPr lang="en-US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2300" b="1" noProof="1">
                <a:latin typeface="Comfortaa" pitchFamily="2" charset="0"/>
                <a:cs typeface="Consolas" panose="020B0609020204030204" pitchFamily="49" charset="0"/>
              </a:rPr>
              <a:t>System.EventArgs</a:t>
            </a:r>
          </a:p>
        </p:txBody>
      </p:sp>
      <p:sp>
        <p:nvSpPr>
          <p:cNvPr id="15" name="AutoShape 23"/>
          <p:cNvSpPr>
            <a:spLocks noChangeArrowheads="1"/>
          </p:cNvSpPr>
          <p:nvPr/>
        </p:nvSpPr>
        <p:spPr bwMode="auto">
          <a:xfrm>
            <a:off x="1559927" y="1529775"/>
            <a:ext cx="2801774" cy="987910"/>
          </a:xfrm>
          <a:prstGeom prst="wedgeRoundRectCallout">
            <a:avLst>
              <a:gd name="adj1" fmla="val 43560"/>
              <a:gd name="adj2" fmla="val 89469"/>
              <a:gd name="adj3" fmla="val 16667"/>
            </a:avLst>
          </a:prstGeom>
          <a:solidFill>
            <a:srgbClr val="00B0F0">
              <a:alpha val="95000"/>
            </a:srgbClr>
          </a:solidFill>
          <a:ln w="6350">
            <a:noFill/>
          </a:ln>
        </p:spPr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300" b="1" noProof="1">
                <a:latin typeface="Comfortaa" pitchFamily="2" charset="0"/>
                <a:cs typeface="Consolas" panose="020B0609020204030204" pitchFamily="49" charset="0"/>
              </a:rPr>
              <a:t>Не връща </a:t>
            </a:r>
            <a:r>
              <a:rPr lang="bg-BG" sz="23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стойност</a:t>
            </a:r>
            <a:endParaRPr lang="en-US" sz="2300" b="1" noProof="1">
              <a:solidFill>
                <a:schemeClr val="bg1"/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40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562767" y="3695164"/>
            <a:ext cx="11166947" cy="5847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 event ItemChangedEventHandler ItemChanged;</a:t>
            </a:r>
            <a:endParaRPr lang="bg-BG" sz="32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562759" y="2171895"/>
            <a:ext cx="5233432" cy="1012172"/>
          </a:xfrm>
          <a:prstGeom prst="wedgeRoundRectCallout">
            <a:avLst>
              <a:gd name="adj1" fmla="val -38947"/>
              <a:gd name="adj2" fmla="val 8855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Събитията </a:t>
            </a:r>
            <a:r>
              <a:rPr lang="bg-BG" sz="2800" b="1" noProof="1">
                <a:latin typeface="Comfortaa" pitchFamily="2" charset="0"/>
                <a:cs typeface="Consolas" panose="020B0609020204030204" pitchFamily="49" charset="0"/>
              </a:rPr>
              <a:t>се декларират като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6465528" y="2168422"/>
            <a:ext cx="5297424" cy="1012172"/>
          </a:xfrm>
          <a:prstGeom prst="wedgeRoundRectCallout">
            <a:avLst>
              <a:gd name="adj1" fmla="val -45434"/>
              <a:gd name="adj2" fmla="val 9384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mfortaa" pitchFamily="2" charset="0"/>
                <a:cs typeface="Consolas" panose="020B0609020204030204" pitchFamily="49" charset="0"/>
              </a:rPr>
              <a:t>Спазвайте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PascalCase </a:t>
            </a:r>
            <a:r>
              <a:rPr lang="bg-BG" sz="2800" b="1" noProof="1">
                <a:latin typeface="Comfortaa" pitchFamily="2" charset="0"/>
                <a:cs typeface="Consolas" panose="020B0609020204030204" pitchFamily="49" charset="0"/>
              </a:rPr>
              <a:t>ковенция за именуване</a:t>
            </a:r>
            <a:r>
              <a:rPr lang="en-US" sz="2800" b="1" noProof="1">
                <a:latin typeface="Comfortaa" pitchFamily="2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6606871" y="4791032"/>
            <a:ext cx="5014738" cy="586523"/>
          </a:xfrm>
          <a:prstGeom prst="wedgeRoundRectCallout">
            <a:avLst>
              <a:gd name="adj1" fmla="val 38944"/>
              <a:gd name="adj2" fmla="val -12331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mfortaa" pitchFamily="2" charset="0"/>
                <a:cs typeface="Consolas" panose="020B0609020204030204" pitchFamily="49" charset="0"/>
              </a:rPr>
              <a:t>Завършва с </a:t>
            </a:r>
            <a:r>
              <a:rPr lang="bg-BG" sz="28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глагол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62765" y="3695163"/>
            <a:ext cx="11166947" cy="5847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event ItemChangedEventHandler ItemChanged;</a:t>
            </a:r>
            <a:endParaRPr lang="bg-BG" sz="32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62763" y="3695162"/>
            <a:ext cx="11166947" cy="5847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event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tem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hanged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E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vent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andler ItemChanged;</a:t>
            </a:r>
            <a:endParaRPr lang="bg-BG" sz="3200" b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62759" y="3695162"/>
            <a:ext cx="11166947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public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event 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tem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hanged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E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vent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andler Item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Changed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;</a:t>
            </a:r>
            <a:endParaRPr lang="bg-BG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62726B-779F-2358-7D3C-06047C3C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828" y="365126"/>
            <a:ext cx="10898811" cy="971756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Потребителски събития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конвенция</a:t>
            </a:r>
            <a:r>
              <a:rPr lang="en-US" sz="36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1088765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691" y="1592445"/>
            <a:ext cx="10418617" cy="409187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 „запалване“ (стартиране) на събитие се създава специален </a:t>
            </a:r>
            <a:r>
              <a:rPr lang="en-US" sz="3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protected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3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void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1"/>
            <a:r>
              <a:rPr lang="bg-BG" dirty="0">
                <a:latin typeface="Comfortaa" pitchFamily="2" charset="0"/>
              </a:rPr>
              <a:t>Именуван от специфичното действие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което върши, напр.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OnVerb()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Методът получател е именуван във формат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OnObjectEvent</a:t>
            </a:r>
            <a:r>
              <a:rPr lang="bg-BG" dirty="0">
                <a:latin typeface="Comfortaa" pitchFamily="2" charset="0"/>
              </a:rPr>
              <a:t>: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958070" y="3299835"/>
            <a:ext cx="10275857" cy="8679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protected void OnItemChanged()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… }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958070" y="5250357"/>
            <a:ext cx="10275857" cy="8679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private void OnOrderListItemChanged()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 …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B65D43-C0E0-A321-EFB9-5F5BCE40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828" y="365126"/>
            <a:ext cx="10898811" cy="971756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Потребителски събития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конвенция</a:t>
            </a:r>
            <a:r>
              <a:rPr lang="en-US" sz="36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157716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5218" y="816388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76853" y="2141951"/>
            <a:ext cx="10638294" cy="37902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Делегатът 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специализиран клас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често наричан </a:t>
            </a:r>
            <a:r>
              <a:rPr lang="en-US" dirty="0">
                <a:latin typeface="Comfortaa" pitchFamily="2" charset="0"/>
              </a:rPr>
              <a:t>“</a:t>
            </a:r>
            <a:r>
              <a:rPr lang="bg-BG" dirty="0">
                <a:latin typeface="Comfortaa" pitchFamily="2" charset="0"/>
              </a:rPr>
              <a:t>указател към функция</a:t>
            </a:r>
            <a:r>
              <a:rPr lang="en-US" dirty="0">
                <a:latin typeface="Comfortaa" pitchFamily="2" charset="0"/>
              </a:rPr>
              <a:t>”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Събитията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позволяват абонамент за известия относно нещо, случващо се в обекта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Когато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събитие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се случи</a:t>
            </a:r>
            <a:r>
              <a:rPr lang="en-US" dirty="0">
                <a:latin typeface="Comfortaa" pitchFamily="2" charset="0"/>
              </a:rPr>
              <a:t>", </a:t>
            </a:r>
            <a:r>
              <a:rPr lang="bg-BG" dirty="0">
                <a:latin typeface="Comfortaa" pitchFamily="2" charset="0"/>
              </a:rPr>
              <a:t>всички абонати се известяват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571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1242</Words>
  <Application>Microsoft Office PowerPoint</Application>
  <PresentationFormat>Widescreen</PresentationFormat>
  <Paragraphs>202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Office Theme</vt:lpstr>
      <vt:lpstr>Събития</vt:lpstr>
      <vt:lpstr>Съдържание</vt:lpstr>
      <vt:lpstr>Събития</vt:lpstr>
      <vt:lpstr>Дефиниране на събитие</vt:lpstr>
      <vt:lpstr>Известяване за събитие</vt:lpstr>
      <vt:lpstr>Събития и делегати</vt:lpstr>
      <vt:lpstr>Известяване и отговор на събития [1/2]</vt:lpstr>
      <vt:lpstr>Известяване и отговор на събития [2/2]</vt:lpstr>
      <vt:lpstr>Потребителски събития: конвенция [1/3]</vt:lpstr>
      <vt:lpstr>Потребителски събития: конвенция [2/3]</vt:lpstr>
      <vt:lpstr>Потребителски събития: конвенция [3/3]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2022-09-20T06:00:37Z</dcterms:modified>
</cp:coreProperties>
</file>