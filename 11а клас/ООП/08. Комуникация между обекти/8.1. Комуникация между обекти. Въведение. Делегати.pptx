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8"/>
  </p:notesMasterIdLst>
  <p:sldIdLst>
    <p:sldId id="258" r:id="rId2"/>
    <p:sldId id="705" r:id="rId3"/>
    <p:sldId id="709" r:id="rId4"/>
    <p:sldId id="710" r:id="rId5"/>
    <p:sldId id="711" r:id="rId6"/>
    <p:sldId id="712" r:id="rId7"/>
    <p:sldId id="592" r:id="rId8"/>
    <p:sldId id="682" r:id="rId9"/>
    <p:sldId id="684" r:id="rId10"/>
    <p:sldId id="685" r:id="rId11"/>
    <p:sldId id="703" r:id="rId12"/>
    <p:sldId id="686" r:id="rId13"/>
    <p:sldId id="593" r:id="rId14"/>
    <p:sldId id="695" r:id="rId15"/>
    <p:sldId id="708" r:id="rId16"/>
    <p:sldId id="5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Въведение" id="{B53E63A6-15B2-40C3-A9DC-5006FD089CC5}">
          <p14:sldIdLst>
            <p14:sldId id="258"/>
            <p14:sldId id="705"/>
          </p14:sldIdLst>
        </p14:section>
        <p14:section name="Events Overview" id="{0B0C01F3-1F60-4ADB-AC1E-9589654EAEF3}">
          <p14:sldIdLst>
            <p14:sldId id="709"/>
            <p14:sldId id="710"/>
            <p14:sldId id="711"/>
            <p14:sldId id="712"/>
          </p14:sldIdLst>
        </p14:section>
        <p14:section name="Delegates" id="{10FCF78C-A2F2-48CD-9C22-12282133F801}">
          <p14:sldIdLst>
            <p14:sldId id="592"/>
            <p14:sldId id="682"/>
            <p14:sldId id="684"/>
            <p14:sldId id="685"/>
            <p14:sldId id="703"/>
            <p14:sldId id="686"/>
            <p14:sldId id="593"/>
            <p14:sldId id="695"/>
          </p14:sldIdLst>
        </p14:section>
        <p14:section name="Заключение" id="{9315BEE7-605C-4839-996A-A4EEA70921D9}">
          <p14:sldIdLst>
            <p14:sldId id="708"/>
            <p14:sldId id="5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8A51F5-6E34-4A9B-8787-8C29D4F40D1D}" v="1" dt="2022-08-10T06:34:56.1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4" autoAdjust="0"/>
    <p:restoredTop sz="94660"/>
  </p:normalViewPr>
  <p:slideViewPr>
    <p:cSldViewPr snapToGrid="0">
      <p:cViewPr varScale="1">
        <p:scale>
          <a:sx n="92" d="100"/>
          <a:sy n="92" d="100"/>
        </p:scale>
        <p:origin x="5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Димитър Минчев" userId="6da192e4-d32c-454b-8615-bbadf07b6639" providerId="ADAL" clId="{508A51F5-6E34-4A9B-8787-8C29D4F40D1D}"/>
    <pc:docChg chg="addSld modSld">
      <pc:chgData name="Димитър Минчев" userId="6da192e4-d32c-454b-8615-bbadf07b6639" providerId="ADAL" clId="{508A51F5-6E34-4A9B-8787-8C29D4F40D1D}" dt="2022-08-10T06:34:56.108" v="0"/>
      <pc:docMkLst>
        <pc:docMk/>
      </pc:docMkLst>
      <pc:sldChg chg="add">
        <pc:chgData name="Димитър Минчев" userId="6da192e4-d32c-454b-8615-bbadf07b6639" providerId="ADAL" clId="{508A51F5-6E34-4A9B-8787-8C29D4F40D1D}" dt="2022-08-10T06:34:56.108" v="0"/>
        <pc:sldMkLst>
          <pc:docMk/>
          <pc:sldMk cId="2002111910" sldId="43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bg-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A0D3FF-81AC-477B-919E-75762E6B2153}" type="datetimeFigureOut">
              <a:rPr lang="bg-BG" smtClean="0"/>
              <a:t>20.9.2022 г.</a:t>
            </a:fld>
            <a:endParaRPr lang="bg-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bg-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bg-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8142EC-5991-4235-A99B-961F17902D60}" type="slidenum">
              <a:rPr lang="bg-BG" smtClean="0"/>
              <a:t>‹#›</a:t>
            </a:fld>
            <a:endParaRPr lang="bg-BG"/>
          </a:p>
        </p:txBody>
      </p:sp>
    </p:spTree>
    <p:extLst>
      <p:ext uri="{BB962C8B-B14F-4D97-AF65-F5344CB8AC3E}">
        <p14:creationId xmlns:p14="http://schemas.microsoft.com/office/powerpoint/2010/main" val="2837940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Rot="1" noChangeAspect="1" noChangeArrowheads="1" noTextEdit="1"/>
          </p:cNvSpPr>
          <p:nvPr>
            <p:ph type="sldImg"/>
          </p:nvPr>
        </p:nvSpPr>
        <p:spPr>
          <a:ln/>
        </p:spPr>
      </p:sp>
      <p:sp>
        <p:nvSpPr>
          <p:cNvPr id="445443" name="Rectangle 3"/>
          <p:cNvSpPr>
            <a:spLocks noGrp="1" noChangeArrowheads="1"/>
          </p:cNvSpPr>
          <p:nvPr>
            <p:ph type="body" idx="1"/>
          </p:nvPr>
        </p:nvSpPr>
        <p:spPr/>
        <p:txBody>
          <a:bodyPr/>
          <a:lstStyle/>
          <a:p>
            <a:endParaRPr lang="bg-BG"/>
          </a:p>
        </p:txBody>
      </p:sp>
      <p:sp>
        <p:nvSpPr>
          <p:cNvPr id="4" name="Footer Placeholder">
            <a:extLst>
              <a:ext uri="{FF2B5EF4-FFF2-40B4-BE49-F238E27FC236}">
                <a16:creationId xmlns:a16="http://schemas.microsoft.com/office/drawing/2014/main" id="{C739462E-3AFA-42B2-8C01-F90EBBC1F461}"/>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1126847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solidFill>
                  <a:prstClr val="black"/>
                </a:solidFill>
              </a:rPr>
              <a:pPr/>
              <a:t>3</a:t>
            </a:fld>
            <a:endParaRPr lang="en-US" dirty="0">
              <a:solidFill>
                <a:prstClr val="black"/>
              </a:solidFill>
            </a:endParaRPr>
          </a:p>
        </p:txBody>
      </p:sp>
      <p:sp>
        <p:nvSpPr>
          <p:cNvPr id="6" name="Footer Placeholder">
            <a:extLst>
              <a:ext uri="{FF2B5EF4-FFF2-40B4-BE49-F238E27FC236}">
                <a16:creationId xmlns:a16="http://schemas.microsoft.com/office/drawing/2014/main" id="{7DC2D77F-4FAC-4F91-A3E9-952F14C0BAB4}"/>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469377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solidFill>
                  <a:prstClr val="black"/>
                </a:solidFill>
              </a:rPr>
              <a:pPr/>
              <a:t>4</a:t>
            </a:fld>
            <a:endParaRPr lang="en-US" dirty="0">
              <a:solidFill>
                <a:prstClr val="black"/>
              </a:solidFill>
            </a:endParaRPr>
          </a:p>
        </p:txBody>
      </p:sp>
      <p:sp>
        <p:nvSpPr>
          <p:cNvPr id="6" name="Footer Placeholder">
            <a:extLst>
              <a:ext uri="{FF2B5EF4-FFF2-40B4-BE49-F238E27FC236}">
                <a16:creationId xmlns:a16="http://schemas.microsoft.com/office/drawing/2014/main" id="{8B31D0C4-0D84-4B0F-A94F-BA9BEDD38831}"/>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7712827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solidFill>
                  <a:prstClr val="black"/>
                </a:solidFill>
              </a:rPr>
              <a:pPr/>
              <a:t>5</a:t>
            </a:fld>
            <a:endParaRPr lang="en-US" dirty="0">
              <a:solidFill>
                <a:prstClr val="black"/>
              </a:solidFill>
            </a:endParaRPr>
          </a:p>
        </p:txBody>
      </p:sp>
      <p:sp>
        <p:nvSpPr>
          <p:cNvPr id="6" name="Footer Placeholder">
            <a:extLst>
              <a:ext uri="{FF2B5EF4-FFF2-40B4-BE49-F238E27FC236}">
                <a16:creationId xmlns:a16="http://schemas.microsoft.com/office/drawing/2014/main" id="{E45CC3DD-DF1D-4223-B087-E537132E5EC3}"/>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569573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solidFill>
                  <a:prstClr val="black"/>
                </a:solidFill>
              </a:rPr>
              <a:pPr/>
              <a:t>6</a:t>
            </a:fld>
            <a:endParaRPr lang="en-US" dirty="0">
              <a:solidFill>
                <a:prstClr val="black"/>
              </a:solidFill>
            </a:endParaRPr>
          </a:p>
        </p:txBody>
      </p:sp>
      <p:sp>
        <p:nvSpPr>
          <p:cNvPr id="6" name="Footer Placeholder">
            <a:extLst>
              <a:ext uri="{FF2B5EF4-FFF2-40B4-BE49-F238E27FC236}">
                <a16:creationId xmlns:a16="http://schemas.microsoft.com/office/drawing/2014/main" id="{EAC354B9-EDAA-4C18-83E9-42841A71CBDC}"/>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263974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14</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14</a:t>
            </a:fld>
            <a:r>
              <a:rPr lang="en-US" sz="1000" i="1" dirty="0"/>
              <a:t>##</a:t>
            </a:r>
            <a:endParaRPr lang="en-US" sz="1200" i="1" dirty="0"/>
          </a:p>
        </p:txBody>
      </p:sp>
      <p:sp>
        <p:nvSpPr>
          <p:cNvPr id="10" name="Footer Placeholder">
            <a:extLst>
              <a:ext uri="{FF2B5EF4-FFF2-40B4-BE49-F238E27FC236}">
                <a16:creationId xmlns:a16="http://schemas.microsoft.com/office/drawing/2014/main" id="{F68D31B8-D3C6-4E92-B42C-09D450BE20E4}"/>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2834484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Rot="1" noChangeAspect="1" noChangeArrowheads="1" noTextEdit="1"/>
          </p:cNvSpPr>
          <p:nvPr>
            <p:ph type="sldImg"/>
          </p:nvPr>
        </p:nvSpPr>
        <p:spPr>
          <a:ln/>
        </p:spPr>
      </p:sp>
      <p:sp>
        <p:nvSpPr>
          <p:cNvPr id="445443" name="Rectangle 3"/>
          <p:cNvSpPr>
            <a:spLocks noGrp="1" noChangeArrowheads="1"/>
          </p:cNvSpPr>
          <p:nvPr>
            <p:ph type="body" idx="1"/>
          </p:nvPr>
        </p:nvSpPr>
        <p:spPr/>
        <p:txBody>
          <a:bodyPr/>
          <a:lstStyle/>
          <a:p>
            <a:endParaRPr lang="bg-BG"/>
          </a:p>
        </p:txBody>
      </p:sp>
      <p:sp>
        <p:nvSpPr>
          <p:cNvPr id="4" name="Footer Placeholder">
            <a:extLst>
              <a:ext uri="{FF2B5EF4-FFF2-40B4-BE49-F238E27FC236}">
                <a16:creationId xmlns:a16="http://schemas.microsoft.com/office/drawing/2014/main" id="{B2ADC2DC-FB35-4EA8-A527-766F00BD22D0}"/>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24552100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20.9.2022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171436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20.9.2022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1034437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069AEA-C8BE-4DD6-B9AB-21EA40DF5D87}" type="datetimeFigureOut">
              <a:rPr lang="bg-BG" smtClean="0"/>
              <a:t>20.9.2022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1040543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069AEA-C8BE-4DD6-B9AB-21EA40DF5D87}" type="datetimeFigureOut">
              <a:rPr lang="bg-BG" smtClean="0"/>
              <a:t>20.9.2022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329758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069AEA-C8BE-4DD6-B9AB-21EA40DF5D87}" type="datetimeFigureOut">
              <a:rPr lang="bg-BG" smtClean="0"/>
              <a:t>20.9.2022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961148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069AEA-C8BE-4DD6-B9AB-21EA40DF5D87}" type="datetimeFigureOut">
              <a:rPr lang="bg-BG" smtClean="0"/>
              <a:t>20.9.2022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986021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069AEA-C8BE-4DD6-B9AB-21EA40DF5D87}" type="datetimeFigureOut">
              <a:rPr lang="bg-BG" smtClean="0"/>
              <a:t>20.9.2022 г.</a:t>
            </a:fld>
            <a:endParaRPr lang="bg-BG"/>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3263839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69AEA-C8BE-4DD6-B9AB-21EA40DF5D87}" type="datetimeFigureOut">
              <a:rPr lang="bg-BG" smtClean="0"/>
              <a:t>20.9.2022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22370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69AEA-C8BE-4DD6-B9AB-21EA40DF5D87}" type="datetimeFigureOut">
              <a:rPr lang="bg-BG" smtClean="0"/>
              <a:t>20.9.2022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697053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20.9.2022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3528007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20.9.2022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269803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069AEA-C8BE-4DD6-B9AB-21EA40DF5D87}" type="datetimeFigureOut">
              <a:rPr lang="bg-BG" smtClean="0"/>
              <a:t>20.9.2022 г.</a:t>
            </a:fld>
            <a:endParaRPr lang="bg-B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bg-B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B18CDA-8465-4F94-AC0C-B721D911091F}" type="slidenum">
              <a:rPr lang="bg-BG" smtClean="0"/>
              <a:t>‹#›</a:t>
            </a:fld>
            <a:endParaRPr lang="bg-BG"/>
          </a:p>
        </p:txBody>
      </p:sp>
    </p:spTree>
    <p:extLst>
      <p:ext uri="{BB962C8B-B14F-4D97-AF65-F5344CB8AC3E}">
        <p14:creationId xmlns:p14="http://schemas.microsoft.com/office/powerpoint/2010/main" val="205254280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www.mon.b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creativecommons.org/licenses/by-nc-sa/4.0" TargetMode="External"/><Relationship Id="rId4" Type="http://schemas.openxmlformats.org/officeDocument/2006/relationships/hyperlink" Target="https://www.mon.b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A11B2B-6DC7-2642-A5E2-7E3177B71883}"/>
              </a:ext>
            </a:extLst>
          </p:cNvPr>
          <p:cNvSpPr>
            <a:spLocks noGrp="1"/>
          </p:cNvSpPr>
          <p:nvPr>
            <p:ph type="ctrTitle"/>
          </p:nvPr>
        </p:nvSpPr>
        <p:spPr>
          <a:xfrm>
            <a:off x="402336" y="2357279"/>
            <a:ext cx="11387328" cy="2387600"/>
          </a:xfrm>
        </p:spPr>
        <p:txBody>
          <a:bodyPr>
            <a:normAutofit fontScale="90000"/>
          </a:bodyPr>
          <a:lstStyle/>
          <a:p>
            <a:r>
              <a:rPr lang="ru-RU" dirty="0" err="1">
                <a:latin typeface="Comfortaa" pitchFamily="2" charset="0"/>
              </a:rPr>
              <a:t>Въведение</a:t>
            </a:r>
            <a:r>
              <a:rPr lang="ru-RU" dirty="0">
                <a:latin typeface="Comfortaa" pitchFamily="2" charset="0"/>
              </a:rPr>
              <a:t> в </a:t>
            </a:r>
            <a:r>
              <a:rPr lang="ru-RU" dirty="0" err="1">
                <a:latin typeface="Comfortaa" pitchFamily="2" charset="0"/>
              </a:rPr>
              <a:t>събитийното</a:t>
            </a:r>
            <a:r>
              <a:rPr lang="ru-RU" dirty="0">
                <a:latin typeface="Comfortaa" pitchFamily="2" charset="0"/>
              </a:rPr>
              <a:t> </a:t>
            </a:r>
            <a:r>
              <a:rPr lang="ru-RU" dirty="0" err="1">
                <a:latin typeface="Comfortaa" pitchFamily="2" charset="0"/>
              </a:rPr>
              <a:t>програмиране</a:t>
            </a:r>
            <a:r>
              <a:rPr lang="ru-RU" dirty="0">
                <a:latin typeface="Comfortaa" pitchFamily="2" charset="0"/>
              </a:rPr>
              <a:t>. </a:t>
            </a:r>
            <a:r>
              <a:rPr lang="ru-RU" dirty="0" err="1">
                <a:latin typeface="Comfortaa" pitchFamily="2" charset="0"/>
              </a:rPr>
              <a:t>Делегати</a:t>
            </a:r>
            <a:endParaRPr lang="bg-BG" dirty="0">
              <a:latin typeface="Comfortaa" pitchFamily="2" charset="0"/>
            </a:endParaRPr>
          </a:p>
        </p:txBody>
      </p:sp>
      <p:sp>
        <p:nvSpPr>
          <p:cNvPr id="5" name="Subtitle 4">
            <a:extLst>
              <a:ext uri="{FF2B5EF4-FFF2-40B4-BE49-F238E27FC236}">
                <a16:creationId xmlns:a16="http://schemas.microsoft.com/office/drawing/2014/main" id="{FD72CEAD-2598-2D6F-7FF9-AF95330D8A09}"/>
              </a:ext>
            </a:extLst>
          </p:cNvPr>
          <p:cNvSpPr>
            <a:spLocks noGrp="1"/>
          </p:cNvSpPr>
          <p:nvPr>
            <p:ph type="subTitle" idx="1"/>
          </p:nvPr>
        </p:nvSpPr>
        <p:spPr>
          <a:xfrm>
            <a:off x="1341120" y="4836954"/>
            <a:ext cx="9144000" cy="1655762"/>
          </a:xfrm>
        </p:spPr>
        <p:txBody>
          <a:bodyPr/>
          <a:lstStyle/>
          <a:p>
            <a:r>
              <a:rPr lang="ru-RU" dirty="0" err="1">
                <a:latin typeface="Comfortaa" pitchFamily="2" charset="0"/>
              </a:rPr>
              <a:t>Комуникация</a:t>
            </a:r>
            <a:r>
              <a:rPr lang="ru-RU" dirty="0">
                <a:latin typeface="Comfortaa" pitchFamily="2" charset="0"/>
              </a:rPr>
              <a:t> между </a:t>
            </a:r>
            <a:r>
              <a:rPr lang="ru-RU" dirty="0" err="1">
                <a:latin typeface="Comfortaa" pitchFamily="2" charset="0"/>
              </a:rPr>
              <a:t>обекти</a:t>
            </a:r>
            <a:endParaRPr lang="bg-BG" dirty="0">
              <a:latin typeface="Comfortaa" pitchFamily="2" charset="0"/>
            </a:endParaRPr>
          </a:p>
        </p:txBody>
      </p:sp>
      <p:pic>
        <p:nvPicPr>
          <p:cNvPr id="6" name="Picture 3" descr="Icon&#10;&#10;Description automatically generated with medium confidence">
            <a:extLst>
              <a:ext uri="{FF2B5EF4-FFF2-40B4-BE49-F238E27FC236}">
                <a16:creationId xmlns:a16="http://schemas.microsoft.com/office/drawing/2014/main" id="{09547CF4-B25A-F864-DA65-5C7F1F83C4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52" y="83713"/>
            <a:ext cx="1575455" cy="1575458"/>
          </a:xfrm>
          <a:prstGeom prst="rect">
            <a:avLst/>
          </a:prstGeom>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A303128A-0EF3-84BD-F9ED-2E6316CD08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4792" y="83713"/>
            <a:ext cx="1699472" cy="141469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4EB993A-D432-5177-9922-4D00100F74D8}"/>
              </a:ext>
            </a:extLst>
          </p:cNvPr>
          <p:cNvSpPr txBox="1"/>
          <p:nvPr/>
        </p:nvSpPr>
        <p:spPr>
          <a:xfrm>
            <a:off x="1734047" y="365284"/>
            <a:ext cx="4729447" cy="923330"/>
          </a:xfrm>
          <a:prstGeom prst="rect">
            <a:avLst/>
          </a:prstGeom>
          <a:noFill/>
        </p:spPr>
        <p:txBody>
          <a:bodyPr wrap="square">
            <a:spAutoFit/>
          </a:bodyPr>
          <a:lstStyle/>
          <a:p>
            <a:pPr marL="0" marR="0">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Национална програма </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pP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Обучение за ИТ умения и кариера</a:t>
            </a: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tabLst>
                <a:tab pos="2865755" algn="ctr"/>
                <a:tab pos="5731510" algn="r"/>
              </a:tabLst>
            </a:pPr>
            <a:r>
              <a:rPr lang="bg-BG" u="sng" dirty="0">
                <a:latin typeface="Comfortaa" pitchFamily="2" charset="0"/>
                <a:ea typeface="Times New Roman" panose="02020603050405020304" pitchFamily="18" charset="0"/>
                <a:cs typeface="Calibri" panose="020F0502020204030204" pitchFamily="34" charset="0"/>
              </a:rPr>
              <a:t>https://it-kariera.mon.bg</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p:txBody>
      </p:sp>
      <p:sp>
        <p:nvSpPr>
          <p:cNvPr id="9" name="TextBox 8">
            <a:extLst>
              <a:ext uri="{FF2B5EF4-FFF2-40B4-BE49-F238E27FC236}">
                <a16:creationId xmlns:a16="http://schemas.microsoft.com/office/drawing/2014/main" id="{B522BFFF-21D1-37C4-D08A-94EDDBB11DD9}"/>
              </a:ext>
            </a:extLst>
          </p:cNvPr>
          <p:cNvSpPr txBox="1"/>
          <p:nvPr/>
        </p:nvSpPr>
        <p:spPr>
          <a:xfrm>
            <a:off x="6373448" y="365284"/>
            <a:ext cx="4017104" cy="923330"/>
          </a:xfrm>
          <a:prstGeom prst="rect">
            <a:avLst/>
          </a:prstGeom>
          <a:noFill/>
        </p:spPr>
        <p:txBody>
          <a:bodyPr wrap="square">
            <a:spAutoFit/>
          </a:bodyPr>
          <a:lstStyle/>
          <a:p>
            <a:pPr marL="0" marR="0" algn="r">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Министерството на образованието и науката</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lgn="r">
              <a:spcBef>
                <a:spcPts val="0"/>
              </a:spcBef>
              <a:spcAft>
                <a:spcPts val="0"/>
              </a:spcAft>
              <a:tabLst>
                <a:tab pos="2865755" algn="ctr"/>
                <a:tab pos="5731510" algn="r"/>
              </a:tabLst>
            </a:pPr>
            <a:r>
              <a:rPr lang="en-US" u="sng" dirty="0">
                <a:solidFill>
                  <a:schemeClr val="tx1"/>
                </a:solidFill>
                <a:effectLst/>
                <a:latin typeface="Comfortaa" pitchFamily="2" charset="0"/>
                <a:ea typeface="Times New Roman" panose="02020603050405020304" pitchFamily="18" charset="0"/>
                <a:cs typeface="Calibri" panose="020F0502020204030204" pitchFamily="34" charset="0"/>
                <a:hlinkClick r:id="rId4">
                  <a:extLst>
                    <a:ext uri="{A12FA001-AC4F-418D-AE19-62706E023703}">
                      <ahyp:hlinkClr xmlns:ahyp="http://schemas.microsoft.com/office/drawing/2018/hyperlinkcolor" val="tx"/>
                    </a:ext>
                  </a:extLst>
                </a:hlinkClick>
              </a:rPr>
              <a:t>https://www</a:t>
            </a:r>
            <a:r>
              <a:rPr lang="bg-BG" u="sng" dirty="0">
                <a:solidFill>
                  <a:schemeClr val="tx1"/>
                </a:solidFill>
                <a:effectLst/>
                <a:latin typeface="Comfortaa" pitchFamily="2" charset="0"/>
                <a:ea typeface="Times New Roman" panose="02020603050405020304" pitchFamily="18" charset="0"/>
                <a:cs typeface="Calibri" panose="020F0502020204030204" pitchFamily="34" charset="0"/>
              </a:rPr>
              <a:t>.</a:t>
            </a:r>
            <a:r>
              <a:rPr lang="en-US" u="sng" dirty="0">
                <a:solidFill>
                  <a:schemeClr val="tx1"/>
                </a:solidFill>
                <a:effectLst/>
                <a:latin typeface="Comfortaa" pitchFamily="2" charset="0"/>
                <a:ea typeface="Times New Roman" panose="02020603050405020304" pitchFamily="18" charset="0"/>
                <a:cs typeface="Calibri" panose="020F0502020204030204" pitchFamily="34" charset="0"/>
              </a:rPr>
              <a:t>mon.bg</a:t>
            </a:r>
            <a:endParaRPr lang="bg-BG" dirty="0">
              <a:latin typeface="Comfortaa" pitchFamily="2" charset="0"/>
            </a:endParaRPr>
          </a:p>
        </p:txBody>
      </p:sp>
    </p:spTree>
    <p:extLst>
      <p:ext uri="{BB962C8B-B14F-4D97-AF65-F5344CB8AC3E}">
        <p14:creationId xmlns:p14="http://schemas.microsoft.com/office/powerpoint/2010/main" val="2386959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p:cNvSpPr>
            <a:spLocks noGrp="1" noChangeArrowheads="1"/>
          </p:cNvSpPr>
          <p:nvPr>
            <p:ph type="title"/>
          </p:nvPr>
        </p:nvSpPr>
        <p:spPr>
          <a:xfrm>
            <a:off x="885701" y="863889"/>
            <a:ext cx="10515600" cy="1325563"/>
          </a:xfrm>
        </p:spPr>
        <p:txBody>
          <a:bodyPr>
            <a:normAutofit/>
          </a:bodyPr>
          <a:lstStyle/>
          <a:p>
            <a:r>
              <a:rPr lang="bg-BG" dirty="0">
                <a:latin typeface="Comfortaa" pitchFamily="2" charset="0"/>
              </a:rPr>
              <a:t>Съдържание</a:t>
            </a:r>
          </a:p>
        </p:txBody>
      </p:sp>
      <p:sp>
        <p:nvSpPr>
          <p:cNvPr id="8" name="Rectangle 3"/>
          <p:cNvSpPr>
            <a:spLocks noGrp="1" noChangeArrowheads="1"/>
          </p:cNvSpPr>
          <p:nvPr>
            <p:ph idx="4294967295"/>
          </p:nvPr>
        </p:nvSpPr>
        <p:spPr>
          <a:xfrm>
            <a:off x="885701" y="2105868"/>
            <a:ext cx="10515600" cy="1717988"/>
          </a:xfrm>
        </p:spPr>
        <p:txBody>
          <a:bodyPr>
            <a:normAutofit/>
          </a:bodyPr>
          <a:lstStyle/>
          <a:p>
            <a:pPr marL="442913" indent="-442913">
              <a:lnSpc>
                <a:spcPct val="100000"/>
              </a:lnSpc>
              <a:spcBef>
                <a:spcPts val="500"/>
              </a:spcBef>
              <a:buFontTx/>
              <a:buAutoNum type="arabicPeriod"/>
            </a:pPr>
            <a:r>
              <a:rPr lang="bg-BG" dirty="0">
                <a:latin typeface="Comfortaa" pitchFamily="2" charset="0"/>
              </a:rPr>
              <a:t>Въведение в събитийното програмиране</a:t>
            </a:r>
          </a:p>
          <a:p>
            <a:pPr marL="442913" indent="-442913">
              <a:lnSpc>
                <a:spcPct val="100000"/>
              </a:lnSpc>
              <a:spcBef>
                <a:spcPts val="500"/>
              </a:spcBef>
              <a:buFontTx/>
              <a:buAutoNum type="arabicPeriod"/>
            </a:pPr>
            <a:r>
              <a:rPr lang="bg-BG" dirty="0">
                <a:latin typeface="Comfortaa" pitchFamily="2" charset="0"/>
              </a:rPr>
              <a:t>Делегати</a:t>
            </a:r>
            <a:endParaRPr lang="en-US" dirty="0">
              <a:latin typeface="Comfortaa" pitchFamily="2" charset="0"/>
            </a:endParaRPr>
          </a:p>
        </p:txBody>
      </p:sp>
    </p:spTree>
    <p:extLst>
      <p:ext uri="{BB962C8B-B14F-4D97-AF65-F5344CB8AC3E}">
        <p14:creationId xmlns:p14="http://schemas.microsoft.com/office/powerpoint/2010/main" val="172206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0699" y="2075007"/>
            <a:ext cx="10515600" cy="4351338"/>
          </a:xfrm>
        </p:spPr>
        <p:txBody>
          <a:bodyPr>
            <a:normAutofit/>
          </a:bodyPr>
          <a:lstStyle/>
          <a:p>
            <a:r>
              <a:rPr lang="bg-BG" dirty="0">
                <a:latin typeface="Comfortaa" pitchFamily="2" charset="0"/>
              </a:rPr>
              <a:t>Събитията са уведомления (</a:t>
            </a:r>
            <a:r>
              <a:rPr lang="bg-BG" b="1" dirty="0">
                <a:solidFill>
                  <a:srgbClr val="00B0F0"/>
                </a:solidFill>
                <a:latin typeface="Comfortaa" pitchFamily="2" charset="0"/>
              </a:rPr>
              <a:t>известия</a:t>
            </a:r>
            <a:r>
              <a:rPr lang="bg-BG" dirty="0">
                <a:latin typeface="Comfortaa" pitchFamily="2" charset="0"/>
              </a:rPr>
              <a:t>)</a:t>
            </a:r>
            <a:endParaRPr lang="bg-BG" dirty="0">
              <a:solidFill>
                <a:schemeClr val="tx2">
                  <a:lumMod val="75000"/>
                </a:schemeClr>
              </a:solidFill>
              <a:latin typeface="Comfortaa" pitchFamily="2" charset="0"/>
            </a:endParaRPr>
          </a:p>
          <a:p>
            <a:r>
              <a:rPr lang="bg-BG" dirty="0">
                <a:latin typeface="Comfortaa" pitchFamily="2" charset="0"/>
              </a:rPr>
              <a:t>Играят централна роля в</a:t>
            </a:r>
            <a:r>
              <a:rPr lang="en-US" dirty="0">
                <a:latin typeface="Comfortaa" pitchFamily="2" charset="0"/>
              </a:rPr>
              <a:t> .NET framework</a:t>
            </a:r>
          </a:p>
          <a:p>
            <a:r>
              <a:rPr lang="bg-BG" dirty="0">
                <a:latin typeface="Comfortaa" pitchFamily="2" charset="0"/>
              </a:rPr>
              <a:t>Дават начина за </a:t>
            </a:r>
            <a:r>
              <a:rPr lang="bg-BG" b="1" dirty="0">
                <a:solidFill>
                  <a:srgbClr val="00B0F0"/>
                </a:solidFill>
                <a:latin typeface="Comfortaa" pitchFamily="2" charset="0"/>
              </a:rPr>
              <a:t>задействане</a:t>
            </a:r>
            <a:r>
              <a:rPr lang="en-US" b="1" dirty="0">
                <a:solidFill>
                  <a:srgbClr val="00B0F0"/>
                </a:solidFill>
                <a:latin typeface="Comfortaa" pitchFamily="2" charset="0"/>
              </a:rPr>
              <a:t> </a:t>
            </a:r>
            <a:r>
              <a:rPr lang="bg-BG" b="1" dirty="0">
                <a:solidFill>
                  <a:srgbClr val="00B0F0"/>
                </a:solidFill>
                <a:latin typeface="Comfortaa" pitchFamily="2" charset="0"/>
              </a:rPr>
              <a:t>на уведомления</a:t>
            </a:r>
            <a:r>
              <a:rPr lang="en-US" b="1" dirty="0">
                <a:solidFill>
                  <a:srgbClr val="00B0F0"/>
                </a:solidFill>
                <a:latin typeface="Comfortaa" pitchFamily="2" charset="0"/>
              </a:rPr>
              <a:t> </a:t>
            </a:r>
            <a:r>
              <a:rPr lang="bg-BG" dirty="0">
                <a:latin typeface="Comfortaa" pitchFamily="2" charset="0"/>
              </a:rPr>
              <a:t>от потребителя</a:t>
            </a:r>
            <a:r>
              <a:rPr lang="en-US" dirty="0">
                <a:latin typeface="Comfortaa" pitchFamily="2" charset="0"/>
              </a:rPr>
              <a:t> </a:t>
            </a:r>
            <a:r>
              <a:rPr lang="bg-BG" dirty="0">
                <a:latin typeface="Comfortaa" pitchFamily="2" charset="0"/>
              </a:rPr>
              <a:t>или от обект</a:t>
            </a:r>
            <a:endParaRPr lang="en-US" dirty="0">
              <a:latin typeface="Comfortaa" pitchFamily="2" charset="0"/>
            </a:endParaRPr>
          </a:p>
        </p:txBody>
      </p:sp>
      <p:sp>
        <p:nvSpPr>
          <p:cNvPr id="2" name="Title 1"/>
          <p:cNvSpPr>
            <a:spLocks noGrp="1"/>
          </p:cNvSpPr>
          <p:nvPr>
            <p:ph type="title"/>
          </p:nvPr>
        </p:nvSpPr>
        <p:spPr>
          <a:xfrm>
            <a:off x="790699" y="614507"/>
            <a:ext cx="10515600" cy="1325563"/>
          </a:xfrm>
        </p:spPr>
        <p:txBody>
          <a:bodyPr/>
          <a:lstStyle/>
          <a:p>
            <a:r>
              <a:rPr lang="bg-BG" dirty="0">
                <a:latin typeface="Comfortaa" pitchFamily="2" charset="0"/>
              </a:rPr>
              <a:t>Какво са събитията</a:t>
            </a:r>
            <a:r>
              <a:rPr lang="en-US" dirty="0">
                <a:latin typeface="Comfortaa" pitchFamily="2" charset="0"/>
              </a:rPr>
              <a:t>?</a:t>
            </a:r>
          </a:p>
        </p:txBody>
      </p:sp>
    </p:spTree>
    <p:extLst>
      <p:ext uri="{BB962C8B-B14F-4D97-AF65-F5344CB8AC3E}">
        <p14:creationId xmlns:p14="http://schemas.microsoft.com/office/powerpoint/2010/main" val="2633641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bg-BG" dirty="0">
                <a:latin typeface="Comfortaa" pitchFamily="2" charset="0"/>
              </a:rPr>
              <a:t>Събитията </a:t>
            </a:r>
            <a:r>
              <a:rPr lang="en-US" dirty="0">
                <a:latin typeface="Comfortaa" pitchFamily="2" charset="0"/>
              </a:rPr>
              <a:t> </a:t>
            </a:r>
            <a:r>
              <a:rPr lang="bg-BG" b="1" dirty="0">
                <a:solidFill>
                  <a:srgbClr val="00B0F0"/>
                </a:solidFill>
                <a:latin typeface="Comfortaa" pitchFamily="2" charset="0"/>
              </a:rPr>
              <a:t>сигнализират</a:t>
            </a:r>
            <a:r>
              <a:rPr lang="en-US" dirty="0">
                <a:latin typeface="Comfortaa" pitchFamily="2" charset="0"/>
              </a:rPr>
              <a:t> </a:t>
            </a:r>
            <a:r>
              <a:rPr lang="bg-BG" dirty="0">
                <a:latin typeface="Comfortaa" pitchFamily="2" charset="0"/>
              </a:rPr>
              <a:t>появата на действие/обявяване</a:t>
            </a:r>
          </a:p>
          <a:p>
            <a:r>
              <a:rPr lang="bg-BG" dirty="0">
                <a:latin typeface="Comfortaa" pitchFamily="2" charset="0"/>
              </a:rPr>
              <a:t>Обектите, създаващи събития</a:t>
            </a:r>
            <a:r>
              <a:rPr lang="en-US" dirty="0">
                <a:latin typeface="Comfortaa" pitchFamily="2" charset="0"/>
              </a:rPr>
              <a:t> </a:t>
            </a:r>
            <a:r>
              <a:rPr lang="bg-BG" b="1" dirty="0">
                <a:solidFill>
                  <a:srgbClr val="00B0F0"/>
                </a:solidFill>
                <a:latin typeface="Comfortaa" pitchFamily="2" charset="0"/>
              </a:rPr>
              <a:t>не е необходимо изрично да знаят </a:t>
            </a:r>
            <a:r>
              <a:rPr lang="bg-BG" dirty="0">
                <a:latin typeface="Comfortaa" pitchFamily="2" charset="0"/>
              </a:rPr>
              <a:t>кои</a:t>
            </a:r>
            <a:r>
              <a:rPr lang="en-US" dirty="0">
                <a:latin typeface="Comfortaa" pitchFamily="2" charset="0"/>
              </a:rPr>
              <a:t> </a:t>
            </a:r>
            <a:r>
              <a:rPr lang="bg-BG" b="1" dirty="0">
                <a:solidFill>
                  <a:srgbClr val="00B0F0"/>
                </a:solidFill>
                <a:latin typeface="Comfortaa" pitchFamily="2" charset="0"/>
              </a:rPr>
              <a:t>обекти ще обработват събитието</a:t>
            </a:r>
            <a:endParaRPr lang="en-US" b="1" dirty="0">
              <a:solidFill>
                <a:srgbClr val="00B0F0"/>
              </a:solidFill>
              <a:latin typeface="Comfortaa" pitchFamily="2" charset="0"/>
            </a:endParaRPr>
          </a:p>
          <a:p>
            <a:r>
              <a:rPr lang="bg-BG" dirty="0">
                <a:latin typeface="Comfortaa" pitchFamily="2" charset="0"/>
              </a:rPr>
              <a:t>Събитията дават </a:t>
            </a:r>
            <a:r>
              <a:rPr lang="en-US" b="1" noProof="1">
                <a:solidFill>
                  <a:srgbClr val="00B0F0"/>
                </a:solidFill>
                <a:latin typeface="Comfortaa" pitchFamily="2" charset="0"/>
              </a:rPr>
              <a:t>EventArgs</a:t>
            </a:r>
            <a:r>
              <a:rPr lang="en-US" b="1" dirty="0">
                <a:solidFill>
                  <a:srgbClr val="00B0F0"/>
                </a:solidFill>
                <a:latin typeface="Comfortaa" pitchFamily="2" charset="0"/>
              </a:rPr>
              <a:t>(</a:t>
            </a:r>
            <a:r>
              <a:rPr lang="bg-BG" b="1" dirty="0">
                <a:solidFill>
                  <a:srgbClr val="00B0F0"/>
                </a:solidFill>
                <a:latin typeface="Comfortaa" pitchFamily="2" charset="0"/>
              </a:rPr>
              <a:t>данни за събитието</a:t>
            </a:r>
            <a:r>
              <a:rPr lang="en-US" b="1" dirty="0">
                <a:solidFill>
                  <a:srgbClr val="00B0F0"/>
                </a:solidFill>
                <a:latin typeface="Comfortaa" pitchFamily="2" charset="0"/>
              </a:rPr>
              <a:t>)</a:t>
            </a:r>
          </a:p>
        </p:txBody>
      </p:sp>
      <p:sp>
        <p:nvSpPr>
          <p:cNvPr id="2" name="Title 1"/>
          <p:cNvSpPr>
            <a:spLocks noGrp="1"/>
          </p:cNvSpPr>
          <p:nvPr>
            <p:ph type="title"/>
          </p:nvPr>
        </p:nvSpPr>
        <p:spPr>
          <a:ln>
            <a:noFill/>
          </a:ln>
        </p:spPr>
        <p:txBody>
          <a:bodyPr/>
          <a:lstStyle/>
          <a:p>
            <a:r>
              <a:rPr lang="bg-BG" dirty="0">
                <a:latin typeface="Comfortaa" pitchFamily="2" charset="0"/>
              </a:rPr>
              <a:t>Какво са събитията</a:t>
            </a:r>
            <a:r>
              <a:rPr lang="en-US" dirty="0">
                <a:latin typeface="Comfortaa" pitchFamily="2" charset="0"/>
              </a:rPr>
              <a:t>?</a:t>
            </a:r>
          </a:p>
        </p:txBody>
      </p:sp>
      <p:grpSp>
        <p:nvGrpSpPr>
          <p:cNvPr id="8" name="Group 7"/>
          <p:cNvGrpSpPr/>
          <p:nvPr/>
        </p:nvGrpSpPr>
        <p:grpSpPr>
          <a:xfrm>
            <a:off x="2300844" y="4890272"/>
            <a:ext cx="7223166" cy="1286691"/>
            <a:chOff x="3056802" y="4267200"/>
            <a:chExt cx="7223166" cy="1286691"/>
          </a:xfrm>
        </p:grpSpPr>
        <p:sp>
          <p:nvSpPr>
            <p:cNvPr id="6" name="Text Box 16">
              <a:extLst>
                <a:ext uri="{FF2B5EF4-FFF2-40B4-BE49-F238E27FC236}">
                  <a16:creationId xmlns:a16="http://schemas.microsoft.com/office/drawing/2014/main" id="{94F49E56-789A-4A37-AA11-F750F9DBF215}"/>
                </a:ext>
              </a:extLst>
            </p:cNvPr>
            <p:cNvSpPr txBox="1">
              <a:spLocks noChangeArrowheads="1"/>
            </p:cNvSpPr>
            <p:nvPr/>
          </p:nvSpPr>
          <p:spPr bwMode="auto">
            <a:xfrm>
              <a:off x="3056802" y="4334691"/>
              <a:ext cx="2514600" cy="1219200"/>
            </a:xfrm>
            <a:prstGeom prst="roundRect">
              <a:avLst/>
            </a:prstGeom>
            <a:ln>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lnSpc>
                  <a:spcPct val="95000"/>
                </a:lnSpc>
                <a:defRPr/>
              </a:pPr>
              <a:r>
                <a:rPr lang="bg-BG" sz="3600" b="1" noProof="1">
                  <a:solidFill>
                    <a:schemeClr val="bg1"/>
                  </a:solidFill>
                  <a:latin typeface="Comfortaa" pitchFamily="2" charset="0"/>
                </a:rPr>
                <a:t>Бутон</a:t>
              </a:r>
              <a:endParaRPr lang="en-US" b="1" noProof="1">
                <a:solidFill>
                  <a:schemeClr val="bg1"/>
                </a:solidFill>
                <a:latin typeface="Comfortaa" pitchFamily="2" charset="0"/>
              </a:endParaRPr>
            </a:p>
          </p:txBody>
        </p:sp>
        <p:sp>
          <p:nvSpPr>
            <p:cNvPr id="7" name="Right Arrow 6"/>
            <p:cNvSpPr/>
            <p:nvPr/>
          </p:nvSpPr>
          <p:spPr>
            <a:xfrm>
              <a:off x="5571402" y="4267200"/>
              <a:ext cx="4708566" cy="1286691"/>
            </a:xfrm>
            <a:prstGeom prst="rightArrow">
              <a:avLst/>
            </a:prstGeom>
            <a:solidFill>
              <a:srgbClr val="00B0F0"/>
            </a:solidFill>
            <a:ln>
              <a:no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lnSpc>
                  <a:spcPct val="95000"/>
                </a:lnSpc>
              </a:pPr>
              <a:r>
                <a:rPr lang="bg-BG" sz="3600" b="1" dirty="0">
                  <a:solidFill>
                    <a:schemeClr val="bg1"/>
                  </a:solidFill>
                  <a:latin typeface="Comfortaa" pitchFamily="2" charset="0"/>
                </a:rPr>
                <a:t>Събитие </a:t>
              </a:r>
              <a:r>
                <a:rPr lang="en-US" sz="3600" b="1" dirty="0">
                  <a:solidFill>
                    <a:schemeClr val="bg1"/>
                  </a:solidFill>
                  <a:latin typeface="Comfortaa" pitchFamily="2" charset="0"/>
                </a:rPr>
                <a:t>Click</a:t>
              </a:r>
            </a:p>
          </p:txBody>
        </p:sp>
      </p:grpSp>
    </p:spTree>
    <p:extLst>
      <p:ext uri="{BB962C8B-B14F-4D97-AF65-F5344CB8AC3E}">
        <p14:creationId xmlns:p14="http://schemas.microsoft.com/office/powerpoint/2010/main" val="1722394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5152" y="1813433"/>
            <a:ext cx="10515600" cy="4351338"/>
          </a:xfrm>
        </p:spPr>
        <p:txBody>
          <a:bodyPr>
            <a:normAutofit/>
          </a:bodyPr>
          <a:lstStyle/>
          <a:p>
            <a:r>
              <a:rPr lang="bg-BG" dirty="0">
                <a:latin typeface="Comfortaa" pitchFamily="2" charset="0"/>
              </a:rPr>
              <a:t>Делегатът е </a:t>
            </a:r>
            <a:r>
              <a:rPr lang="bg-BG" b="1" dirty="0">
                <a:solidFill>
                  <a:srgbClr val="00B0F0"/>
                </a:solidFill>
                <a:latin typeface="Comfortaa" pitchFamily="2" charset="0"/>
              </a:rPr>
              <a:t>специализиран клас</a:t>
            </a:r>
            <a:r>
              <a:rPr lang="bg-BG" dirty="0">
                <a:solidFill>
                  <a:schemeClr val="tx2">
                    <a:lumMod val="75000"/>
                  </a:schemeClr>
                </a:solidFill>
                <a:latin typeface="Comfortaa" pitchFamily="2" charset="0"/>
              </a:rPr>
              <a:t>,</a:t>
            </a:r>
            <a:r>
              <a:rPr lang="en-US" dirty="0">
                <a:solidFill>
                  <a:schemeClr val="tx2">
                    <a:lumMod val="75000"/>
                  </a:schemeClr>
                </a:solidFill>
                <a:latin typeface="Comfortaa" pitchFamily="2" charset="0"/>
              </a:rPr>
              <a:t> </a:t>
            </a:r>
            <a:r>
              <a:rPr lang="bg-BG" dirty="0">
                <a:latin typeface="Comfortaa" pitchFamily="2" charset="0"/>
              </a:rPr>
              <a:t>често наричан </a:t>
            </a:r>
            <a:r>
              <a:rPr lang="en-US" dirty="0">
                <a:latin typeface="Comfortaa" pitchFamily="2" charset="0"/>
              </a:rPr>
              <a:t>“</a:t>
            </a:r>
            <a:r>
              <a:rPr lang="bg-BG" b="1" dirty="0">
                <a:solidFill>
                  <a:srgbClr val="00B0F0"/>
                </a:solidFill>
                <a:latin typeface="Comfortaa" pitchFamily="2" charset="0"/>
              </a:rPr>
              <a:t>указател към функция</a:t>
            </a:r>
            <a:r>
              <a:rPr lang="en-US" dirty="0">
                <a:latin typeface="Comfortaa" pitchFamily="2" charset="0"/>
              </a:rPr>
              <a:t>”</a:t>
            </a:r>
            <a:endParaRPr lang="bg-BG" dirty="0">
              <a:latin typeface="Comfortaa" pitchFamily="2" charset="0"/>
            </a:endParaRPr>
          </a:p>
          <a:p>
            <a:pPr lvl="1"/>
            <a:r>
              <a:rPr lang="bg-BG" dirty="0">
                <a:latin typeface="Comfortaa" pitchFamily="2" charset="0"/>
              </a:rPr>
              <a:t>Той е променлива</a:t>
            </a:r>
            <a:endParaRPr lang="en-US" dirty="0">
              <a:latin typeface="Comfortaa" pitchFamily="2" charset="0"/>
            </a:endParaRPr>
          </a:p>
          <a:p>
            <a:r>
              <a:rPr lang="bg-BG" b="1" dirty="0">
                <a:solidFill>
                  <a:srgbClr val="00B0F0"/>
                </a:solidFill>
                <a:latin typeface="Comfortaa" pitchFamily="2" charset="0"/>
              </a:rPr>
              <a:t>Лепилото/тръбопровода</a:t>
            </a:r>
            <a:r>
              <a:rPr lang="en-US" b="1" dirty="0">
                <a:solidFill>
                  <a:srgbClr val="00B0F0"/>
                </a:solidFill>
                <a:latin typeface="Comfortaa" pitchFamily="2" charset="0"/>
              </a:rPr>
              <a:t> </a:t>
            </a:r>
            <a:r>
              <a:rPr lang="bg-BG" dirty="0">
                <a:latin typeface="Comfortaa" pitchFamily="2" charset="0"/>
              </a:rPr>
              <a:t>между</a:t>
            </a:r>
            <a:r>
              <a:rPr lang="en-US" dirty="0">
                <a:latin typeface="Comfortaa" pitchFamily="2" charset="0"/>
              </a:rPr>
              <a:t> </a:t>
            </a:r>
            <a:r>
              <a:rPr lang="bg-BG" b="1" dirty="0">
                <a:solidFill>
                  <a:srgbClr val="00B0F0"/>
                </a:solidFill>
                <a:latin typeface="Comfortaa" pitchFamily="2" charset="0"/>
              </a:rPr>
              <a:t>събитието и  обработчика му</a:t>
            </a:r>
            <a:endParaRPr lang="en-US" b="1" dirty="0">
              <a:solidFill>
                <a:srgbClr val="00B0F0"/>
              </a:solidFill>
              <a:latin typeface="Comfortaa" pitchFamily="2" charset="0"/>
            </a:endParaRPr>
          </a:p>
          <a:p>
            <a:r>
              <a:rPr lang="bg-BG" dirty="0">
                <a:latin typeface="Comfortaa" pitchFamily="2" charset="0"/>
              </a:rPr>
              <a:t>На основата на класа</a:t>
            </a:r>
            <a:r>
              <a:rPr lang="en-US" dirty="0">
                <a:latin typeface="Comfortaa" pitchFamily="2" charset="0"/>
              </a:rPr>
              <a:t> </a:t>
            </a:r>
            <a:r>
              <a:rPr lang="en-US" b="1" dirty="0" err="1">
                <a:solidFill>
                  <a:srgbClr val="00B0F0"/>
                </a:solidFill>
                <a:latin typeface="Comfortaa" pitchFamily="2" charset="0"/>
              </a:rPr>
              <a:t>MulticastDelegateBase</a:t>
            </a:r>
            <a:endParaRPr lang="en-US" b="1" dirty="0">
              <a:solidFill>
                <a:srgbClr val="00B0F0"/>
              </a:solidFill>
              <a:latin typeface="Comfortaa" pitchFamily="2" charset="0"/>
            </a:endParaRPr>
          </a:p>
        </p:txBody>
      </p:sp>
      <p:sp>
        <p:nvSpPr>
          <p:cNvPr id="2" name="Title 1"/>
          <p:cNvSpPr>
            <a:spLocks noGrp="1"/>
          </p:cNvSpPr>
          <p:nvPr>
            <p:ph type="title"/>
          </p:nvPr>
        </p:nvSpPr>
        <p:spPr/>
        <p:txBody>
          <a:bodyPr/>
          <a:lstStyle/>
          <a:p>
            <a:r>
              <a:rPr lang="bg-BG" dirty="0">
                <a:latin typeface="Comfortaa" pitchFamily="2" charset="0"/>
              </a:rPr>
              <a:t>Какво са делегатите</a:t>
            </a:r>
            <a:r>
              <a:rPr lang="en-US" dirty="0">
                <a:latin typeface="Comfortaa" pitchFamily="2" charset="0"/>
              </a:rPr>
              <a:t>?</a:t>
            </a:r>
          </a:p>
        </p:txBody>
      </p:sp>
    </p:spTree>
    <p:extLst>
      <p:ext uri="{BB962C8B-B14F-4D97-AF65-F5344CB8AC3E}">
        <p14:creationId xmlns:p14="http://schemas.microsoft.com/office/powerpoint/2010/main" val="2981587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bg-BG" b="1" dirty="0">
                <a:solidFill>
                  <a:srgbClr val="00B0F0"/>
                </a:solidFill>
                <a:latin typeface="Comfortaa" pitchFamily="2" charset="0"/>
              </a:rPr>
              <a:t>Обработчикът</a:t>
            </a:r>
            <a:r>
              <a:rPr lang="bg-BG" dirty="0">
                <a:solidFill>
                  <a:schemeClr val="tx2">
                    <a:lumMod val="75000"/>
                  </a:schemeClr>
                </a:solidFill>
                <a:latin typeface="Comfortaa" pitchFamily="2" charset="0"/>
              </a:rPr>
              <a:t> </a:t>
            </a:r>
            <a:r>
              <a:rPr lang="bg-BG" dirty="0">
                <a:latin typeface="Comfortaa" pitchFamily="2" charset="0"/>
              </a:rPr>
              <a:t>отговаря за</a:t>
            </a:r>
            <a:r>
              <a:rPr lang="en-US" dirty="0">
                <a:latin typeface="Comfortaa" pitchFamily="2" charset="0"/>
              </a:rPr>
              <a:t> </a:t>
            </a:r>
            <a:r>
              <a:rPr lang="bg-BG" b="1" dirty="0">
                <a:solidFill>
                  <a:srgbClr val="00B0F0"/>
                </a:solidFill>
                <a:latin typeface="Comfortaa" pitchFamily="2" charset="0"/>
              </a:rPr>
              <a:t>получаване и обработване</a:t>
            </a:r>
            <a:r>
              <a:rPr lang="en-US" b="1" dirty="0">
                <a:solidFill>
                  <a:srgbClr val="00B0F0"/>
                </a:solidFill>
                <a:latin typeface="Comfortaa" pitchFamily="2" charset="0"/>
              </a:rPr>
              <a:t> </a:t>
            </a:r>
            <a:r>
              <a:rPr lang="bg-BG" b="1" dirty="0">
                <a:solidFill>
                  <a:srgbClr val="00B0F0"/>
                </a:solidFill>
                <a:latin typeface="Comfortaa" pitchFamily="2" charset="0"/>
              </a:rPr>
              <a:t>на данните</a:t>
            </a:r>
            <a:r>
              <a:rPr lang="en-US" b="1" dirty="0">
                <a:solidFill>
                  <a:srgbClr val="00B0F0"/>
                </a:solidFill>
                <a:latin typeface="Comfortaa" pitchFamily="2" charset="0"/>
              </a:rPr>
              <a:t> </a:t>
            </a:r>
            <a:r>
              <a:rPr lang="bg-BG" dirty="0">
                <a:latin typeface="Comfortaa" pitchFamily="2" charset="0"/>
              </a:rPr>
              <a:t>от делегата</a:t>
            </a:r>
            <a:endParaRPr lang="en-US" dirty="0">
              <a:latin typeface="Comfortaa" pitchFamily="2" charset="0"/>
            </a:endParaRPr>
          </a:p>
          <a:p>
            <a:r>
              <a:rPr lang="bg-BG" dirty="0">
                <a:latin typeface="Comfortaa" pitchFamily="2" charset="0"/>
              </a:rPr>
              <a:t>Нормално получава два</a:t>
            </a:r>
            <a:r>
              <a:rPr lang="en-US" dirty="0">
                <a:latin typeface="Comfortaa" pitchFamily="2" charset="0"/>
              </a:rPr>
              <a:t> </a:t>
            </a:r>
            <a:r>
              <a:rPr lang="bg-BG" dirty="0">
                <a:latin typeface="Comfortaa" pitchFamily="2" charset="0"/>
              </a:rPr>
              <a:t>параметъра</a:t>
            </a:r>
            <a:r>
              <a:rPr lang="en-US" dirty="0">
                <a:latin typeface="Comfortaa" pitchFamily="2" charset="0"/>
              </a:rPr>
              <a:t>: </a:t>
            </a:r>
          </a:p>
          <a:p>
            <a:pPr lvl="1"/>
            <a:r>
              <a:rPr lang="bg-BG" b="1" dirty="0">
                <a:solidFill>
                  <a:srgbClr val="00B0F0"/>
                </a:solidFill>
                <a:latin typeface="Comfortaa" pitchFamily="2" charset="0"/>
              </a:rPr>
              <a:t>изпращач</a:t>
            </a:r>
            <a:r>
              <a:rPr lang="en-US" b="1" dirty="0">
                <a:solidFill>
                  <a:srgbClr val="00B0F0"/>
                </a:solidFill>
                <a:latin typeface="Comfortaa" pitchFamily="2" charset="0"/>
              </a:rPr>
              <a:t> </a:t>
            </a:r>
          </a:p>
          <a:p>
            <a:pPr lvl="1"/>
            <a:r>
              <a:rPr lang="bg-BG" b="1" dirty="0">
                <a:solidFill>
                  <a:srgbClr val="00B0F0"/>
                </a:solidFill>
                <a:latin typeface="Comfortaa" pitchFamily="2" charset="0"/>
              </a:rPr>
              <a:t>данни на събитието (</a:t>
            </a:r>
            <a:r>
              <a:rPr lang="en-US" b="1" dirty="0" err="1">
                <a:solidFill>
                  <a:srgbClr val="00B0F0"/>
                </a:solidFill>
                <a:latin typeface="Comfortaa" pitchFamily="2" charset="0"/>
              </a:rPr>
              <a:t>EventArgs</a:t>
            </a:r>
            <a:r>
              <a:rPr lang="bg-BG" b="1" dirty="0">
                <a:solidFill>
                  <a:srgbClr val="00B0F0"/>
                </a:solidFill>
                <a:latin typeface="Comfortaa" pitchFamily="2" charset="0"/>
              </a:rPr>
              <a:t>)</a:t>
            </a:r>
            <a:endParaRPr lang="en-US" b="1" dirty="0">
              <a:solidFill>
                <a:srgbClr val="00B0F0"/>
              </a:solidFill>
              <a:latin typeface="Comfortaa" pitchFamily="2" charset="0"/>
            </a:endParaRPr>
          </a:p>
          <a:p>
            <a:r>
              <a:rPr lang="en-US" dirty="0" err="1">
                <a:latin typeface="Comfortaa" pitchFamily="2" charset="0"/>
              </a:rPr>
              <a:t>EventArgs</a:t>
            </a:r>
            <a:r>
              <a:rPr lang="en-US" dirty="0">
                <a:latin typeface="Comfortaa" pitchFamily="2" charset="0"/>
              </a:rPr>
              <a:t> </a:t>
            </a:r>
            <a:r>
              <a:rPr lang="bg-BG" dirty="0">
                <a:latin typeface="Comfortaa" pitchFamily="2" charset="0"/>
              </a:rPr>
              <a:t>отговарят за</a:t>
            </a:r>
            <a:r>
              <a:rPr lang="en-US" dirty="0">
                <a:latin typeface="Comfortaa" pitchFamily="2" charset="0"/>
              </a:rPr>
              <a:t> </a:t>
            </a:r>
            <a:r>
              <a:rPr lang="bg-BG" b="1" dirty="0">
                <a:solidFill>
                  <a:srgbClr val="00B0F0"/>
                </a:solidFill>
                <a:latin typeface="Comfortaa" pitchFamily="2" charset="0"/>
              </a:rPr>
              <a:t>капсулирането на данните за събитието</a:t>
            </a:r>
            <a:endParaRPr lang="en-US" b="1" dirty="0">
              <a:solidFill>
                <a:srgbClr val="00B0F0"/>
              </a:solidFill>
              <a:latin typeface="Comfortaa" pitchFamily="2" charset="0"/>
            </a:endParaRPr>
          </a:p>
        </p:txBody>
      </p:sp>
      <p:sp>
        <p:nvSpPr>
          <p:cNvPr id="2" name="Title 1"/>
          <p:cNvSpPr>
            <a:spLocks noGrp="1"/>
          </p:cNvSpPr>
          <p:nvPr>
            <p:ph type="title"/>
          </p:nvPr>
        </p:nvSpPr>
        <p:spPr/>
        <p:txBody>
          <a:bodyPr>
            <a:normAutofit/>
          </a:bodyPr>
          <a:lstStyle/>
          <a:p>
            <a:r>
              <a:rPr lang="bg-BG" sz="4000" dirty="0">
                <a:latin typeface="Comfortaa" pitchFamily="2" charset="0"/>
              </a:rPr>
              <a:t>Какво е обработчик на събитето</a:t>
            </a:r>
            <a:r>
              <a:rPr lang="en-US" sz="4000" dirty="0">
                <a:latin typeface="Comfortaa" pitchFamily="2" charset="0"/>
              </a:rPr>
              <a:t>?</a:t>
            </a:r>
          </a:p>
        </p:txBody>
      </p:sp>
    </p:spTree>
    <p:extLst>
      <p:ext uri="{BB962C8B-B14F-4D97-AF65-F5344CB8AC3E}">
        <p14:creationId xmlns:p14="http://schemas.microsoft.com/office/powerpoint/2010/main" val="554056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bg-BG" b="1" dirty="0">
                <a:solidFill>
                  <a:srgbClr val="00B0F0"/>
                </a:solidFill>
                <a:latin typeface="Comfortaa" pitchFamily="2" charset="0"/>
              </a:rPr>
              <a:t>Делегатите</a:t>
            </a:r>
            <a:r>
              <a:rPr lang="en-US" dirty="0">
                <a:solidFill>
                  <a:schemeClr val="tx2">
                    <a:lumMod val="75000"/>
                  </a:schemeClr>
                </a:solidFill>
                <a:latin typeface="Comfortaa" pitchFamily="2" charset="0"/>
              </a:rPr>
              <a:t> </a:t>
            </a:r>
            <a:r>
              <a:rPr lang="bg-BG" dirty="0">
                <a:latin typeface="Comfortaa" pitchFamily="2" charset="0"/>
              </a:rPr>
              <a:t>са</a:t>
            </a:r>
            <a:r>
              <a:rPr lang="en-US" dirty="0">
                <a:latin typeface="Comfortaa" pitchFamily="2" charset="0"/>
              </a:rPr>
              <a:t> </a:t>
            </a:r>
            <a:r>
              <a:rPr lang="bg-BG" dirty="0">
                <a:latin typeface="Comfortaa" pitchFamily="2" charset="0"/>
              </a:rPr>
              <a:t>специални</a:t>
            </a:r>
            <a:r>
              <a:rPr lang="en-US" dirty="0">
                <a:latin typeface="Comfortaa" pitchFamily="2" charset="0"/>
              </a:rPr>
              <a:t> </a:t>
            </a:r>
            <a:r>
              <a:rPr lang="bg-BG" dirty="0">
                <a:latin typeface="Comfortaa" pitchFamily="2" charset="0"/>
              </a:rPr>
              <a:t>типове в </a:t>
            </a:r>
            <a:r>
              <a:rPr lang="en-US" dirty="0">
                <a:latin typeface="Comfortaa" pitchFamily="2" charset="0"/>
              </a:rPr>
              <a:t>C#</a:t>
            </a:r>
            <a:r>
              <a:rPr lang="bg-BG" dirty="0">
                <a:latin typeface="Comfortaa" pitchFamily="2" charset="0"/>
              </a:rPr>
              <a:t>, които държат </a:t>
            </a:r>
            <a:r>
              <a:rPr lang="en-US" dirty="0">
                <a:latin typeface="Comfortaa" pitchFamily="2" charset="0"/>
              </a:rPr>
              <a:t> </a:t>
            </a:r>
            <a:r>
              <a:rPr lang="bg-BG" b="1" dirty="0">
                <a:solidFill>
                  <a:srgbClr val="00B0F0"/>
                </a:solidFill>
                <a:latin typeface="Comfortaa" pitchFamily="2" charset="0"/>
              </a:rPr>
              <a:t>референция (указател) към метод</a:t>
            </a:r>
          </a:p>
          <a:p>
            <a:r>
              <a:rPr lang="bg-BG" dirty="0">
                <a:latin typeface="Comfortaa" pitchFamily="2" charset="0"/>
              </a:rPr>
              <a:t>Типът данни, съдържащ функцията (метода) като нейна стойност</a:t>
            </a:r>
          </a:p>
          <a:p>
            <a:r>
              <a:rPr lang="bg-BG" dirty="0">
                <a:latin typeface="Comfortaa" pitchFamily="2" charset="0"/>
              </a:rPr>
              <a:t>Описва параметрите – приемани и връщаната стойност </a:t>
            </a:r>
            <a:r>
              <a:rPr lang="en-US" dirty="0">
                <a:latin typeface="Comfortaa" pitchFamily="2" charset="0"/>
              </a:rPr>
              <a:t>(</a:t>
            </a:r>
            <a:r>
              <a:rPr lang="bg-BG" dirty="0">
                <a:latin typeface="Comfortaa" pitchFamily="2" charset="0"/>
              </a:rPr>
              <a:t>сигнатура на метода</a:t>
            </a:r>
            <a:r>
              <a:rPr lang="en-US" dirty="0">
                <a:latin typeface="Comfortaa" pitchFamily="2" charset="0"/>
              </a:rPr>
              <a:t>)</a:t>
            </a:r>
          </a:p>
          <a:p>
            <a:r>
              <a:rPr lang="bg-BG" dirty="0">
                <a:latin typeface="Comfortaa" pitchFamily="2" charset="0"/>
              </a:rPr>
              <a:t>Делегатите наподобяват </a:t>
            </a:r>
            <a:r>
              <a:rPr lang="bg-BG" b="1" dirty="0">
                <a:solidFill>
                  <a:srgbClr val="00B0F0"/>
                </a:solidFill>
                <a:latin typeface="Comfortaa" pitchFamily="2" charset="0"/>
              </a:rPr>
              <a:t>указателите към функции </a:t>
            </a:r>
            <a:r>
              <a:rPr lang="bg-BG" dirty="0">
                <a:latin typeface="Comfortaa" pitchFamily="2" charset="0"/>
              </a:rPr>
              <a:t>в </a:t>
            </a:r>
            <a:r>
              <a:rPr lang="en-US" dirty="0">
                <a:latin typeface="Comfortaa" pitchFamily="2" charset="0"/>
              </a:rPr>
              <a:t>C</a:t>
            </a:r>
            <a:r>
              <a:rPr lang="bg-BG" dirty="0">
                <a:latin typeface="Comfortaa" pitchFamily="2" charset="0"/>
              </a:rPr>
              <a:t> и </a:t>
            </a:r>
            <a:r>
              <a:rPr lang="en-US" dirty="0">
                <a:latin typeface="Comfortaa" pitchFamily="2" charset="0"/>
              </a:rPr>
              <a:t>C++</a:t>
            </a:r>
          </a:p>
          <a:p>
            <a:r>
              <a:rPr lang="bg-BG" dirty="0">
                <a:latin typeface="Comfortaa" pitchFamily="2" charset="0"/>
              </a:rPr>
              <a:t>В</a:t>
            </a:r>
            <a:r>
              <a:rPr lang="en-US" dirty="0">
                <a:latin typeface="Comfortaa" pitchFamily="2" charset="0"/>
              </a:rPr>
              <a:t> JavaScript </a:t>
            </a:r>
            <a:r>
              <a:rPr lang="bg-BG" dirty="0">
                <a:latin typeface="Comfortaa" pitchFamily="2" charset="0"/>
              </a:rPr>
              <a:t>променливите могат да държат функция</a:t>
            </a:r>
            <a:endParaRPr lang="en-US" dirty="0">
              <a:latin typeface="Comfortaa" pitchFamily="2" charset="0"/>
            </a:endParaRPr>
          </a:p>
          <a:p>
            <a:pPr marL="0" indent="0">
              <a:buNone/>
            </a:pPr>
            <a:endParaRPr lang="en-US" dirty="0">
              <a:latin typeface="Comfortaa" pitchFamily="2" charset="0"/>
            </a:endParaRPr>
          </a:p>
        </p:txBody>
      </p:sp>
      <p:sp>
        <p:nvSpPr>
          <p:cNvPr id="2" name="Title 1"/>
          <p:cNvSpPr>
            <a:spLocks noGrp="1"/>
          </p:cNvSpPr>
          <p:nvPr>
            <p:ph type="title"/>
          </p:nvPr>
        </p:nvSpPr>
        <p:spPr/>
        <p:txBody>
          <a:bodyPr/>
          <a:lstStyle/>
          <a:p>
            <a:r>
              <a:rPr lang="bg-BG" dirty="0">
                <a:latin typeface="Comfortaa" pitchFamily="2" charset="0"/>
              </a:rPr>
              <a:t>Какво са делегатите</a:t>
            </a:r>
            <a:r>
              <a:rPr lang="en-US" dirty="0">
                <a:latin typeface="Comfortaa" pitchFamily="2" charset="0"/>
              </a:rPr>
              <a:t>?</a:t>
            </a:r>
          </a:p>
        </p:txBody>
      </p:sp>
      <p:sp>
        <p:nvSpPr>
          <p:cNvPr id="5" name="Slide Number Placeholder">
            <a:extLst>
              <a:ext uri="{FF2B5EF4-FFF2-40B4-BE49-F238E27FC236}">
                <a16:creationId xmlns:a16="http://schemas.microsoft.com/office/drawing/2014/main" id="{BF47A6F3-9A10-4D1F-B403-C9256D09193B}"/>
              </a:ext>
            </a:extLst>
          </p:cNvPr>
          <p:cNvSpPr>
            <a:spLocks noGrp="1"/>
          </p:cNvSpPr>
          <p:nvPr>
            <p:ph type="sldNum" sz="quarter" idx="4"/>
          </p:nvPr>
        </p:nvSpPr>
        <p:spPr>
          <a:xfrm>
            <a:off x="11566412" y="6525002"/>
            <a:ext cx="428822" cy="196477"/>
          </a:xfrm>
          <a:prstGeom prst="rect">
            <a:avLst/>
          </a:prstGeom>
        </p:spPr>
        <p:txBody>
          <a:bodyPr vert="horz" lIns="36000" tIns="36000" rIns="36000" bIns="36000" rtlCol="0" anchor="ctr"/>
          <a:lstStyle>
            <a:defPPr>
              <a:defRPr lang="en-US"/>
            </a:defPPr>
            <a:lvl1pPr marL="0" algn="r" defTabSz="1218987" rtl="0" eaLnBrk="1" latinLnBrk="0" hangingPunct="1">
              <a:defRPr sz="1000" kern="1200">
                <a:solidFill>
                  <a:schemeClr val="tx1">
                    <a:tint val="75000"/>
                  </a:schemeClr>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fld id="{C014DD1E-5D91-48A3-AD6D-45FBA980D106}" type="slidenum">
              <a:rPr lang="en-US" smtClean="0">
                <a:solidFill>
                  <a:prstClr val="white">
                    <a:tint val="75000"/>
                  </a:prstClr>
                </a:solidFill>
              </a:rPr>
              <a:pPr/>
              <a:t>7</a:t>
            </a:fld>
            <a:endParaRPr lang="en-US" dirty="0">
              <a:solidFill>
                <a:prstClr val="white">
                  <a:tint val="75000"/>
                </a:prstClr>
              </a:solidFill>
            </a:endParaRPr>
          </a:p>
        </p:txBody>
      </p:sp>
    </p:spTree>
    <p:extLst>
      <p:ext uri="{BB962C8B-B14F-4D97-AF65-F5344CB8AC3E}">
        <p14:creationId xmlns:p14="http://schemas.microsoft.com/office/powerpoint/2010/main" val="2477297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2134" y="1532081"/>
            <a:ext cx="11106466" cy="924288"/>
          </a:xfrm>
        </p:spPr>
        <p:txBody>
          <a:bodyPr>
            <a:normAutofit/>
          </a:bodyPr>
          <a:lstStyle/>
          <a:p>
            <a:pPr marL="0" indent="0">
              <a:buNone/>
            </a:pPr>
            <a:r>
              <a:rPr lang="bg-BG" dirty="0">
                <a:latin typeface="Comfortaa" pitchFamily="2" charset="0"/>
              </a:rPr>
              <a:t>Потребителски дефинираните делегати съдържат ключовата дума </a:t>
            </a:r>
            <a:r>
              <a:rPr lang="en-US" b="1" dirty="0">
                <a:solidFill>
                  <a:srgbClr val="00B0F0"/>
                </a:solidFill>
                <a:latin typeface="Comfortaa" pitchFamily="2" charset="0"/>
              </a:rPr>
              <a:t>delegate</a:t>
            </a:r>
            <a:endParaRPr lang="en-US" dirty="0">
              <a:solidFill>
                <a:srgbClr val="00B0F0"/>
              </a:solidFill>
              <a:latin typeface="Comfortaa" pitchFamily="2" charset="0"/>
            </a:endParaRPr>
          </a:p>
        </p:txBody>
      </p:sp>
      <p:sp>
        <p:nvSpPr>
          <p:cNvPr id="2" name="Title 1"/>
          <p:cNvSpPr>
            <a:spLocks noGrp="1"/>
          </p:cNvSpPr>
          <p:nvPr>
            <p:ph type="title"/>
          </p:nvPr>
        </p:nvSpPr>
        <p:spPr>
          <a:xfrm>
            <a:off x="552134" y="502126"/>
            <a:ext cx="11106466" cy="1036163"/>
          </a:xfrm>
        </p:spPr>
        <p:txBody>
          <a:bodyPr/>
          <a:lstStyle/>
          <a:p>
            <a:r>
              <a:rPr lang="bg-BG" dirty="0">
                <a:latin typeface="Comfortaa" pitchFamily="2" charset="0"/>
              </a:rPr>
              <a:t>Създаване на делегати</a:t>
            </a:r>
            <a:endParaRPr lang="en-US" dirty="0">
              <a:latin typeface="Comfortaa" pitchFamily="2" charset="0"/>
            </a:endParaRPr>
          </a:p>
        </p:txBody>
      </p:sp>
      <p:sp>
        <p:nvSpPr>
          <p:cNvPr id="6" name="Rectangle 5">
            <a:extLst>
              <a:ext uri="{FF2B5EF4-FFF2-40B4-BE49-F238E27FC236}">
                <a16:creationId xmlns:a16="http://schemas.microsoft.com/office/drawing/2014/main" id="{AD1FF434-57C8-4197-BD51-E911190890AD}"/>
              </a:ext>
            </a:extLst>
          </p:cNvPr>
          <p:cNvSpPr>
            <a:spLocks noChangeArrowheads="1"/>
          </p:cNvSpPr>
          <p:nvPr/>
        </p:nvSpPr>
        <p:spPr bwMode="auto">
          <a:xfrm>
            <a:off x="552134" y="2632770"/>
            <a:ext cx="11106466" cy="3539430"/>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sz="2800" b="1" noProof="1">
                <a:solidFill>
                  <a:schemeClr val="bg1"/>
                </a:solidFill>
                <a:latin typeface="Consolas" pitchFamily="49" charset="0"/>
                <a:cs typeface="Consolas" pitchFamily="49" charset="0"/>
              </a:rPr>
              <a:t>public </a:t>
            </a:r>
            <a:r>
              <a:rPr lang="en-US" sz="2800" b="1" noProof="1">
                <a:solidFill>
                  <a:srgbClr val="00B0F0"/>
                </a:solidFill>
                <a:latin typeface="Consolas" pitchFamily="49" charset="0"/>
                <a:cs typeface="Consolas" pitchFamily="49" charset="0"/>
              </a:rPr>
              <a:t>delegate</a:t>
            </a:r>
            <a:r>
              <a:rPr lang="en-US" sz="2800" b="1" noProof="1">
                <a:solidFill>
                  <a:schemeClr val="bg1"/>
                </a:solidFill>
                <a:latin typeface="Consolas" pitchFamily="49" charset="0"/>
                <a:cs typeface="Consolas" pitchFamily="49" charset="0"/>
              </a:rPr>
              <a:t> void WorkPerformedHandler</a:t>
            </a:r>
          </a:p>
          <a:p>
            <a:r>
              <a:rPr lang="en-US" sz="2800" b="1" noProof="1">
                <a:solidFill>
                  <a:schemeClr val="bg1"/>
                </a:solidFill>
                <a:latin typeface="Consolas" pitchFamily="49" charset="0"/>
                <a:cs typeface="Consolas" pitchFamily="49" charset="0"/>
              </a:rPr>
              <a:t>                  (</a:t>
            </a:r>
            <a:r>
              <a:rPr lang="en-US" sz="2800" b="1" noProof="1">
                <a:solidFill>
                  <a:srgbClr val="00B0F0"/>
                </a:solidFill>
                <a:latin typeface="Consolas" pitchFamily="49" charset="0"/>
                <a:cs typeface="Consolas" pitchFamily="49" charset="0"/>
              </a:rPr>
              <a:t>int</a:t>
            </a:r>
            <a:r>
              <a:rPr lang="en-US" sz="2800" b="1" noProof="1">
                <a:solidFill>
                  <a:schemeClr val="bg1"/>
                </a:solidFill>
                <a:latin typeface="Consolas" pitchFamily="49" charset="0"/>
                <a:cs typeface="Consolas" pitchFamily="49" charset="0"/>
              </a:rPr>
              <a:t> hours, </a:t>
            </a:r>
            <a:r>
              <a:rPr lang="en-US" sz="2800" b="1" noProof="1">
                <a:solidFill>
                  <a:srgbClr val="00B0F0"/>
                </a:solidFill>
                <a:latin typeface="Consolas" pitchFamily="49" charset="0"/>
                <a:cs typeface="Consolas" pitchFamily="49" charset="0"/>
              </a:rPr>
              <a:t>WorkType</a:t>
            </a:r>
            <a:r>
              <a:rPr lang="en-US" sz="2800" b="1" noProof="1">
                <a:solidFill>
                  <a:schemeClr val="bg1"/>
                </a:solidFill>
                <a:latin typeface="Consolas" pitchFamily="49" charset="0"/>
                <a:cs typeface="Consolas" pitchFamily="49" charset="0"/>
              </a:rPr>
              <a:t> workType)</a:t>
            </a:r>
          </a:p>
          <a:p>
            <a:endParaRPr lang="en-US" sz="2800" b="1" noProof="1">
              <a:solidFill>
                <a:schemeClr val="bg1"/>
              </a:solidFill>
              <a:latin typeface="Consolas" pitchFamily="49" charset="0"/>
              <a:cs typeface="Consolas" pitchFamily="49" charset="0"/>
            </a:endParaRPr>
          </a:p>
          <a:p>
            <a:endParaRPr lang="en-US" sz="2800" b="1" noProof="1">
              <a:solidFill>
                <a:schemeClr val="bg1"/>
              </a:solidFill>
              <a:latin typeface="Consolas" pitchFamily="49" charset="0"/>
              <a:cs typeface="Consolas" pitchFamily="49" charset="0"/>
            </a:endParaRPr>
          </a:p>
          <a:p>
            <a:endParaRPr lang="en-US" sz="2800" b="1" noProof="1">
              <a:solidFill>
                <a:schemeClr val="bg1"/>
              </a:solidFill>
              <a:latin typeface="Consolas" pitchFamily="49" charset="0"/>
              <a:cs typeface="Consolas" pitchFamily="49" charset="0"/>
            </a:endParaRPr>
          </a:p>
          <a:p>
            <a:endParaRPr lang="en-US" sz="2800" b="1" noProof="1">
              <a:solidFill>
                <a:schemeClr val="bg1"/>
              </a:solidFill>
              <a:latin typeface="Consolas" pitchFamily="49" charset="0"/>
              <a:cs typeface="Consolas" pitchFamily="49" charset="0"/>
            </a:endParaRPr>
          </a:p>
          <a:p>
            <a:r>
              <a:rPr lang="en-US" sz="2800" b="1" noProof="1">
                <a:solidFill>
                  <a:schemeClr val="bg1"/>
                </a:solidFill>
                <a:latin typeface="Consolas" pitchFamily="49" charset="0"/>
                <a:cs typeface="Consolas" pitchFamily="49" charset="0"/>
              </a:rPr>
              <a:t>public void ManagerWorkPerformed</a:t>
            </a:r>
          </a:p>
          <a:p>
            <a:r>
              <a:rPr lang="en-US" sz="2800" b="1" noProof="1">
                <a:solidFill>
                  <a:schemeClr val="bg1"/>
                </a:solidFill>
                <a:latin typeface="Consolas" pitchFamily="49" charset="0"/>
                <a:cs typeface="Consolas" pitchFamily="49" charset="0"/>
              </a:rPr>
              <a:t>                 (</a:t>
            </a:r>
            <a:r>
              <a:rPr lang="en-US" sz="2800" b="1" noProof="1">
                <a:solidFill>
                  <a:srgbClr val="00B0F0"/>
                </a:solidFill>
                <a:latin typeface="Consolas" pitchFamily="49" charset="0"/>
                <a:cs typeface="Consolas" pitchFamily="49" charset="0"/>
              </a:rPr>
              <a:t>int</a:t>
            </a:r>
            <a:r>
              <a:rPr lang="en-US" sz="2800" b="1" noProof="1">
                <a:solidFill>
                  <a:schemeClr val="bg1"/>
                </a:solidFill>
                <a:latin typeface="Consolas" pitchFamily="49" charset="0"/>
                <a:cs typeface="Consolas" pitchFamily="49" charset="0"/>
              </a:rPr>
              <a:t> workHours, </a:t>
            </a:r>
            <a:r>
              <a:rPr lang="en-US" sz="2800" b="1" noProof="1">
                <a:solidFill>
                  <a:srgbClr val="00B0F0"/>
                </a:solidFill>
                <a:latin typeface="Consolas" pitchFamily="49" charset="0"/>
                <a:cs typeface="Consolas" pitchFamily="49" charset="0"/>
              </a:rPr>
              <a:t>WorkType</a:t>
            </a:r>
            <a:r>
              <a:rPr lang="en-US" sz="2800" b="1" noProof="1">
                <a:solidFill>
                  <a:schemeClr val="bg1"/>
                </a:solidFill>
                <a:latin typeface="Consolas" pitchFamily="49" charset="0"/>
                <a:cs typeface="Consolas" pitchFamily="49" charset="0"/>
              </a:rPr>
              <a:t> workType) </a:t>
            </a:r>
          </a:p>
        </p:txBody>
      </p:sp>
      <p:sp>
        <p:nvSpPr>
          <p:cNvPr id="9" name="AutoShape 5"/>
          <p:cNvSpPr>
            <a:spLocks noChangeArrowheads="1"/>
          </p:cNvSpPr>
          <p:nvPr/>
        </p:nvSpPr>
        <p:spPr bwMode="auto">
          <a:xfrm>
            <a:off x="2906041" y="3749351"/>
            <a:ext cx="7550181" cy="1101720"/>
          </a:xfrm>
          <a:prstGeom prst="wedgeRoundRectCallout">
            <a:avLst>
              <a:gd name="adj1" fmla="val -21848"/>
              <a:gd name="adj2" fmla="val 84095"/>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400" dirty="0">
                <a:solidFill>
                  <a:srgbClr val="FFFFFF"/>
                </a:solidFill>
                <a:latin typeface="Comfortaa" pitchFamily="2" charset="0"/>
              </a:rPr>
              <a:t>Трябва да е сходна с метода, който я обработва (еднаква сигнатура)</a:t>
            </a:r>
          </a:p>
        </p:txBody>
      </p:sp>
    </p:spTree>
    <p:extLst>
      <p:ext uri="{BB962C8B-B14F-4D97-AF65-F5344CB8AC3E}">
        <p14:creationId xmlns:p14="http://schemas.microsoft.com/office/powerpoint/2010/main" val="3421439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111445"/>
            <a:ext cx="5877296" cy="4075598"/>
          </a:xfrm>
        </p:spPr>
        <p:txBody>
          <a:bodyPr>
            <a:normAutofit/>
          </a:bodyPr>
          <a:lstStyle/>
          <a:p>
            <a:pPr>
              <a:spcBef>
                <a:spcPts val="1800"/>
              </a:spcBef>
              <a:spcAft>
                <a:spcPts val="1200"/>
              </a:spcAft>
            </a:pPr>
            <a:r>
              <a:rPr lang="bg-BG" dirty="0">
                <a:latin typeface="Comfortaa" pitchFamily="2" charset="0"/>
              </a:rPr>
              <a:t>Може да</a:t>
            </a:r>
            <a:r>
              <a:rPr lang="en-US" dirty="0">
                <a:latin typeface="Comfortaa" pitchFamily="2" charset="0"/>
              </a:rPr>
              <a:t> </a:t>
            </a:r>
            <a:r>
              <a:rPr lang="bg-BG" b="1" dirty="0">
                <a:solidFill>
                  <a:srgbClr val="00B0F0"/>
                </a:solidFill>
                <a:latin typeface="Comfortaa" pitchFamily="2" charset="0"/>
              </a:rPr>
              <a:t>реферира повече</a:t>
            </a:r>
            <a:r>
              <a:rPr lang="en-US" b="1" dirty="0">
                <a:solidFill>
                  <a:srgbClr val="00B0F0"/>
                </a:solidFill>
                <a:latin typeface="Comfortaa" pitchFamily="2" charset="0"/>
              </a:rPr>
              <a:t> </a:t>
            </a:r>
            <a:br>
              <a:rPr lang="en-US" dirty="0">
                <a:solidFill>
                  <a:schemeClr val="tx2">
                    <a:lumMod val="75000"/>
                  </a:schemeClr>
                </a:solidFill>
                <a:latin typeface="Comfortaa" pitchFamily="2" charset="0"/>
              </a:rPr>
            </a:br>
            <a:r>
              <a:rPr lang="bg-BG" b="1" dirty="0">
                <a:solidFill>
                  <a:srgbClr val="00B0F0"/>
                </a:solidFill>
                <a:latin typeface="Comfortaa" pitchFamily="2" charset="0"/>
              </a:rPr>
              <a:t>от една делигирана</a:t>
            </a:r>
            <a:r>
              <a:rPr lang="en-US" b="1" dirty="0">
                <a:solidFill>
                  <a:srgbClr val="00B0F0"/>
                </a:solidFill>
                <a:latin typeface="Comfortaa" pitchFamily="2" charset="0"/>
              </a:rPr>
              <a:t> </a:t>
            </a:r>
            <a:r>
              <a:rPr lang="bg-BG" dirty="0">
                <a:latin typeface="Comfortaa" pitchFamily="2" charset="0"/>
              </a:rPr>
              <a:t>функция</a:t>
            </a:r>
            <a:r>
              <a:rPr lang="en-US" dirty="0">
                <a:latin typeface="Comfortaa" pitchFamily="2" charset="0"/>
              </a:rPr>
              <a:t> </a:t>
            </a:r>
          </a:p>
          <a:p>
            <a:pPr>
              <a:spcBef>
                <a:spcPts val="1800"/>
              </a:spcBef>
              <a:spcAft>
                <a:spcPts val="1200"/>
              </a:spcAft>
            </a:pPr>
            <a:r>
              <a:rPr lang="bg-BG" b="1" dirty="0">
                <a:solidFill>
                  <a:srgbClr val="00B0F0"/>
                </a:solidFill>
                <a:latin typeface="Comfortaa" pitchFamily="2" charset="0"/>
              </a:rPr>
              <a:t>Подрежда </a:t>
            </a:r>
            <a:r>
              <a:rPr lang="bg-BG" b="1" dirty="0" err="1">
                <a:solidFill>
                  <a:srgbClr val="00B0F0"/>
                </a:solidFill>
                <a:latin typeface="Comfortaa" pitchFamily="2" charset="0"/>
              </a:rPr>
              <a:t>делигираните</a:t>
            </a:r>
            <a:r>
              <a:rPr lang="bg-BG" b="1" dirty="0">
                <a:solidFill>
                  <a:srgbClr val="00B0F0"/>
                </a:solidFill>
                <a:latin typeface="Comfortaa" pitchFamily="2" charset="0"/>
              </a:rPr>
              <a:t> </a:t>
            </a:r>
            <a:r>
              <a:rPr lang="bg-BG" dirty="0">
                <a:latin typeface="Comfortaa" pitchFamily="2" charset="0"/>
              </a:rPr>
              <a:t>референции, използвайки списък на извикванията</a:t>
            </a:r>
            <a:r>
              <a:rPr lang="en-US" dirty="0">
                <a:solidFill>
                  <a:schemeClr val="tx2">
                    <a:lumMod val="75000"/>
                  </a:schemeClr>
                </a:solidFill>
                <a:latin typeface="Comfortaa" pitchFamily="2" charset="0"/>
              </a:rPr>
              <a:t> </a:t>
            </a:r>
          </a:p>
          <a:p>
            <a:pPr>
              <a:spcBef>
                <a:spcPts val="1800"/>
              </a:spcBef>
              <a:spcAft>
                <a:spcPts val="1200"/>
              </a:spcAft>
            </a:pPr>
            <a:r>
              <a:rPr lang="bg-BG" b="1" dirty="0">
                <a:solidFill>
                  <a:srgbClr val="00B0F0"/>
                </a:solidFill>
                <a:latin typeface="Comfortaa" pitchFamily="2" charset="0"/>
              </a:rPr>
              <a:t>Делегатите</a:t>
            </a:r>
            <a:r>
              <a:rPr lang="bg-BG" dirty="0">
                <a:solidFill>
                  <a:schemeClr val="tx2">
                    <a:lumMod val="75000"/>
                  </a:schemeClr>
                </a:solidFill>
                <a:latin typeface="Comfortaa" pitchFamily="2" charset="0"/>
              </a:rPr>
              <a:t> </a:t>
            </a:r>
            <a:r>
              <a:rPr lang="bg-BG" dirty="0">
                <a:latin typeface="Comfortaa" pitchFamily="2" charset="0"/>
              </a:rPr>
              <a:t>в списъка</a:t>
            </a:r>
            <a:r>
              <a:rPr lang="en-US" dirty="0">
                <a:latin typeface="Comfortaa" pitchFamily="2" charset="0"/>
              </a:rPr>
              <a:t> </a:t>
            </a:r>
            <a:r>
              <a:rPr lang="bg-BG" b="1" dirty="0">
                <a:solidFill>
                  <a:srgbClr val="00B0F0"/>
                </a:solidFill>
                <a:latin typeface="Comfortaa" pitchFamily="2" charset="0"/>
              </a:rPr>
              <a:t>се</a:t>
            </a:r>
            <a:br>
              <a:rPr lang="bg-BG" b="1" dirty="0">
                <a:solidFill>
                  <a:srgbClr val="00B0F0"/>
                </a:solidFill>
                <a:latin typeface="Comfortaa" pitchFamily="2" charset="0"/>
              </a:rPr>
            </a:br>
            <a:r>
              <a:rPr lang="bg-BG" b="1" dirty="0">
                <a:solidFill>
                  <a:srgbClr val="00B0F0"/>
                </a:solidFill>
                <a:latin typeface="Comfortaa" pitchFamily="2" charset="0"/>
              </a:rPr>
              <a:t>извикват последователно</a:t>
            </a:r>
            <a:endParaRPr lang="en-US" b="1" dirty="0">
              <a:solidFill>
                <a:srgbClr val="00B0F0"/>
              </a:solidFill>
              <a:latin typeface="Comfortaa" pitchFamily="2" charset="0"/>
            </a:endParaRPr>
          </a:p>
        </p:txBody>
      </p:sp>
      <p:sp>
        <p:nvSpPr>
          <p:cNvPr id="2" name="Title 1"/>
          <p:cNvSpPr>
            <a:spLocks noGrp="1"/>
          </p:cNvSpPr>
          <p:nvPr>
            <p:ph type="title"/>
          </p:nvPr>
        </p:nvSpPr>
        <p:spPr>
          <a:xfrm>
            <a:off x="838200" y="365125"/>
            <a:ext cx="10515600" cy="1573403"/>
          </a:xfrm>
        </p:spPr>
        <p:txBody>
          <a:bodyPr>
            <a:normAutofit/>
          </a:bodyPr>
          <a:lstStyle/>
          <a:p>
            <a:r>
              <a:rPr lang="bg-BG" dirty="0">
                <a:latin typeface="Comfortaa" pitchFamily="2" charset="0"/>
              </a:rPr>
              <a:t>Какво е</a:t>
            </a:r>
            <a:r>
              <a:rPr lang="en-US" dirty="0">
                <a:latin typeface="Comfortaa" pitchFamily="2" charset="0"/>
              </a:rPr>
              <a:t> </a:t>
            </a:r>
            <a:r>
              <a:rPr lang="bg-BG" dirty="0">
                <a:latin typeface="Comfortaa" pitchFamily="2" charset="0"/>
              </a:rPr>
              <a:t>Делегат за пакетна обработка (</a:t>
            </a:r>
            <a:r>
              <a:rPr lang="en-US" dirty="0">
                <a:latin typeface="Comfortaa" pitchFamily="2" charset="0"/>
              </a:rPr>
              <a:t>Multicast</a:t>
            </a:r>
            <a:r>
              <a:rPr lang="bg-BG" dirty="0">
                <a:latin typeface="Comfortaa" pitchFamily="2" charset="0"/>
              </a:rPr>
              <a:t>)</a:t>
            </a:r>
            <a:r>
              <a:rPr lang="en-US" dirty="0">
                <a:latin typeface="Comfortaa" pitchFamily="2" charset="0"/>
              </a:rPr>
              <a:t>? </a:t>
            </a:r>
          </a:p>
        </p:txBody>
      </p:sp>
      <p:grpSp>
        <p:nvGrpSpPr>
          <p:cNvPr id="5" name="Group 4"/>
          <p:cNvGrpSpPr/>
          <p:nvPr/>
        </p:nvGrpSpPr>
        <p:grpSpPr>
          <a:xfrm>
            <a:off x="6861287" y="2111445"/>
            <a:ext cx="4291622" cy="3960804"/>
            <a:chOff x="3860191" y="1612900"/>
            <a:chExt cx="4291622" cy="3960804"/>
          </a:xfrm>
        </p:grpSpPr>
        <p:sp>
          <p:nvSpPr>
            <p:cNvPr id="6" name="Rectangle 5"/>
            <p:cNvSpPr>
              <a:spLocks noChangeArrowheads="1"/>
            </p:cNvSpPr>
            <p:nvPr/>
          </p:nvSpPr>
          <p:spPr bwMode="auto">
            <a:xfrm>
              <a:off x="3860192" y="1612900"/>
              <a:ext cx="4291619" cy="576262"/>
            </a:xfrm>
            <a:prstGeom prst="rect">
              <a:avLst/>
            </a:prstGeom>
            <a:ln>
              <a:solidFill>
                <a:schemeClr val="bg1"/>
              </a:solid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defRPr/>
              </a:pPr>
              <a:r>
                <a:rPr lang="en-GB" sz="3200" b="1" noProof="1">
                  <a:solidFill>
                    <a:schemeClr val="bg1"/>
                  </a:solidFill>
                  <a:latin typeface="Consolas" pitchFamily="49" charset="0"/>
                </a:rPr>
                <a:t>Delegate</a:t>
              </a:r>
            </a:p>
          </p:txBody>
        </p:sp>
        <p:sp>
          <p:nvSpPr>
            <p:cNvPr id="7" name="Rectangle 6"/>
            <p:cNvSpPr>
              <a:spLocks noChangeArrowheads="1"/>
            </p:cNvSpPr>
            <p:nvPr/>
          </p:nvSpPr>
          <p:spPr bwMode="auto">
            <a:xfrm>
              <a:off x="3860193" y="2189163"/>
              <a:ext cx="4291620" cy="1228733"/>
            </a:xfrm>
            <a:prstGeom prst="rect">
              <a:avLst/>
            </a:prstGeom>
            <a:ln>
              <a:solidFill>
                <a:schemeClr val="bg1"/>
              </a:solid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nSpc>
                  <a:spcPct val="95000"/>
                </a:lnSpc>
                <a:defRPr/>
              </a:pPr>
              <a:r>
                <a:rPr lang="en-US" sz="2800" b="1" noProof="1">
                  <a:solidFill>
                    <a:schemeClr val="bg1"/>
                  </a:solidFill>
                  <a:latin typeface="Consolas" pitchFamily="49" charset="0"/>
                </a:rPr>
                <a:t>+Method</a:t>
              </a:r>
            </a:p>
            <a:p>
              <a:pPr>
                <a:lnSpc>
                  <a:spcPct val="95000"/>
                </a:lnSpc>
                <a:defRPr/>
              </a:pPr>
              <a:r>
                <a:rPr lang="en-US" sz="2800" b="1" noProof="1">
                  <a:solidFill>
                    <a:schemeClr val="bg1"/>
                  </a:solidFill>
                  <a:latin typeface="Consolas" pitchFamily="49" charset="0"/>
                </a:rPr>
                <a:t>+Target</a:t>
              </a:r>
            </a:p>
            <a:p>
              <a:pPr>
                <a:lnSpc>
                  <a:spcPct val="95000"/>
                </a:lnSpc>
                <a:defRPr/>
              </a:pPr>
              <a:r>
                <a:rPr lang="en-US" sz="2800" b="1" noProof="1">
                  <a:solidFill>
                    <a:schemeClr val="bg1"/>
                  </a:solidFill>
                  <a:latin typeface="Consolas" pitchFamily="49" charset="0"/>
                </a:rPr>
                <a:t>+GetInvocationList()</a:t>
              </a:r>
              <a:endParaRPr lang="en-GB" sz="2800" b="1" noProof="1">
                <a:solidFill>
                  <a:schemeClr val="bg1"/>
                </a:solidFill>
                <a:latin typeface="Consolas" pitchFamily="49" charset="0"/>
              </a:endParaRPr>
            </a:p>
          </p:txBody>
        </p:sp>
        <p:sp>
          <p:nvSpPr>
            <p:cNvPr id="8" name="Rectangle 7"/>
            <p:cNvSpPr>
              <a:spLocks noChangeArrowheads="1"/>
            </p:cNvSpPr>
            <p:nvPr/>
          </p:nvSpPr>
          <p:spPr bwMode="auto">
            <a:xfrm>
              <a:off x="3860192" y="3919538"/>
              <a:ext cx="4291620" cy="576262"/>
            </a:xfrm>
            <a:prstGeom prst="rect">
              <a:avLst/>
            </a:prstGeom>
            <a:ln>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defRPr/>
              </a:pPr>
              <a:r>
                <a:rPr lang="en-US" sz="3200" b="1" noProof="1">
                  <a:solidFill>
                    <a:schemeClr val="bg1"/>
                  </a:solidFill>
                  <a:latin typeface="Consolas" pitchFamily="49" charset="0"/>
                </a:rPr>
                <a:t>MulticastDelegate</a:t>
              </a:r>
            </a:p>
          </p:txBody>
        </p:sp>
        <p:sp>
          <p:nvSpPr>
            <p:cNvPr id="9" name="Rectangle 8"/>
            <p:cNvSpPr>
              <a:spLocks noChangeArrowheads="1"/>
            </p:cNvSpPr>
            <p:nvPr/>
          </p:nvSpPr>
          <p:spPr bwMode="auto">
            <a:xfrm>
              <a:off x="3860191" y="4997442"/>
              <a:ext cx="4291619" cy="576262"/>
            </a:xfrm>
            <a:prstGeom prst="rect">
              <a:avLst/>
            </a:prstGeom>
            <a:ln>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defRPr/>
              </a:pPr>
              <a:r>
                <a:rPr lang="en-US" sz="3200" b="1" noProof="1">
                  <a:solidFill>
                    <a:schemeClr val="bg1"/>
                  </a:solidFill>
                  <a:latin typeface="Consolas" pitchFamily="49" charset="0"/>
                </a:rPr>
                <a:t>Custom Delegate</a:t>
              </a:r>
            </a:p>
          </p:txBody>
        </p:sp>
      </p:grpSp>
      <p:sp>
        <p:nvSpPr>
          <p:cNvPr id="10" name="AutoShape 6"/>
          <p:cNvSpPr>
            <a:spLocks noChangeArrowheads="1"/>
          </p:cNvSpPr>
          <p:nvPr/>
        </p:nvSpPr>
        <p:spPr bwMode="auto">
          <a:xfrm>
            <a:off x="9774382" y="2818242"/>
            <a:ext cx="2286000" cy="596198"/>
          </a:xfrm>
          <a:prstGeom prst="wedgeRoundRectCallout">
            <a:avLst>
              <a:gd name="adj1" fmla="val -43011"/>
              <a:gd name="adj2" fmla="val -104508"/>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400" dirty="0">
                <a:solidFill>
                  <a:srgbClr val="FFFFFF"/>
                </a:solidFill>
                <a:latin typeface="Comfortaa" pitchFamily="2" charset="0"/>
              </a:rPr>
              <a:t>Базов клас</a:t>
            </a:r>
            <a:endParaRPr lang="bg-BG" sz="2400" dirty="0">
              <a:solidFill>
                <a:schemeClr val="tx2">
                  <a:lumMod val="75000"/>
                </a:schemeClr>
              </a:solidFill>
              <a:latin typeface="Comfortaa" pitchFamily="2" charset="0"/>
            </a:endParaRPr>
          </a:p>
        </p:txBody>
      </p:sp>
      <p:cxnSp>
        <p:nvCxnSpPr>
          <p:cNvPr id="12" name="Straight Arrow Connector 11"/>
          <p:cNvCxnSpPr>
            <a:stCxn id="9" idx="0"/>
            <a:endCxn id="8" idx="2"/>
          </p:cNvCxnSpPr>
          <p:nvPr/>
        </p:nvCxnSpPr>
        <p:spPr>
          <a:xfrm flipV="1">
            <a:off x="9007098" y="4994345"/>
            <a:ext cx="1" cy="501642"/>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8990268" y="3897643"/>
            <a:ext cx="1" cy="501642"/>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572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9610" y="394814"/>
            <a:ext cx="10375075" cy="988662"/>
          </a:xfrm>
        </p:spPr>
        <p:txBody>
          <a:bodyPr>
            <a:normAutofit/>
          </a:bodyPr>
          <a:lstStyle/>
          <a:p>
            <a:r>
              <a:rPr lang="bg-BG" sz="3600" dirty="0">
                <a:latin typeface="Comfortaa" pitchFamily="2" charset="0"/>
              </a:rPr>
              <a:t>Създаване на инстанция на делегат</a:t>
            </a:r>
            <a:endParaRPr lang="en-US" sz="3600" dirty="0">
              <a:latin typeface="Comfortaa" pitchFamily="2" charset="0"/>
            </a:endParaRPr>
          </a:p>
        </p:txBody>
      </p:sp>
      <p:sp>
        <p:nvSpPr>
          <p:cNvPr id="6" name="Rectangle 5">
            <a:extLst>
              <a:ext uri="{FF2B5EF4-FFF2-40B4-BE49-F238E27FC236}">
                <a16:creationId xmlns:a16="http://schemas.microsoft.com/office/drawing/2014/main" id="{AD1FF434-57C8-4197-BD51-E911190890AD}"/>
              </a:ext>
            </a:extLst>
          </p:cNvPr>
          <p:cNvSpPr>
            <a:spLocks noChangeArrowheads="1"/>
          </p:cNvSpPr>
          <p:nvPr/>
        </p:nvSpPr>
        <p:spPr bwMode="auto">
          <a:xfrm>
            <a:off x="989610" y="1477488"/>
            <a:ext cx="10375075" cy="4708981"/>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sz="2000" b="1" noProof="1">
                <a:solidFill>
                  <a:schemeClr val="bg1"/>
                </a:solidFill>
                <a:latin typeface="Consolas" pitchFamily="49" charset="0"/>
                <a:cs typeface="Consolas" pitchFamily="49" charset="0"/>
              </a:rPr>
              <a:t>public delegate void </a:t>
            </a:r>
            <a:r>
              <a:rPr lang="en-US" sz="2000" b="1" noProof="1">
                <a:solidFill>
                  <a:srgbClr val="00B0F0"/>
                </a:solidFill>
                <a:latin typeface="Consolas" pitchFamily="49" charset="0"/>
                <a:cs typeface="Consolas" pitchFamily="49" charset="0"/>
              </a:rPr>
              <a:t>WorkPerformedHandler</a:t>
            </a:r>
            <a:r>
              <a:rPr lang="en-US" sz="2000" b="1" noProof="1">
                <a:solidFill>
                  <a:schemeClr val="bg1"/>
                </a:solidFill>
                <a:latin typeface="Consolas" pitchFamily="49" charset="0"/>
                <a:cs typeface="Consolas" pitchFamily="49" charset="0"/>
              </a:rPr>
              <a:t>(int hours, WorkType workType);</a:t>
            </a:r>
          </a:p>
          <a:p>
            <a:endParaRPr lang="bg-BG" sz="2000" b="1" noProof="1">
              <a:solidFill>
                <a:schemeClr val="bg1"/>
              </a:solidFill>
              <a:latin typeface="Consolas" pitchFamily="49" charset="0"/>
              <a:cs typeface="Consolas" pitchFamily="49" charset="0"/>
            </a:endParaRPr>
          </a:p>
          <a:p>
            <a:endParaRPr lang="bg-BG" sz="2000" b="1" noProof="1">
              <a:solidFill>
                <a:schemeClr val="bg1"/>
              </a:solidFill>
              <a:latin typeface="Consolas" pitchFamily="49" charset="0"/>
              <a:cs typeface="Consolas" pitchFamily="49" charset="0"/>
            </a:endParaRPr>
          </a:p>
          <a:p>
            <a:endParaRPr lang="en-US" sz="2000" b="1" noProof="1">
              <a:solidFill>
                <a:schemeClr val="bg1"/>
              </a:solidFill>
              <a:latin typeface="Consolas" pitchFamily="49" charset="0"/>
              <a:cs typeface="Consolas" pitchFamily="49" charset="0"/>
            </a:endParaRPr>
          </a:p>
          <a:p>
            <a:endParaRPr lang="en-US" sz="2000" b="1" noProof="1">
              <a:solidFill>
                <a:schemeClr val="bg1"/>
              </a:solidFill>
              <a:latin typeface="Consolas" pitchFamily="49" charset="0"/>
              <a:cs typeface="Consolas" pitchFamily="49" charset="0"/>
            </a:endParaRPr>
          </a:p>
          <a:p>
            <a:r>
              <a:rPr lang="en-US" sz="2000" b="1" noProof="1">
                <a:solidFill>
                  <a:srgbClr val="00B0F0"/>
                </a:solidFill>
                <a:latin typeface="Consolas" pitchFamily="49" charset="0"/>
                <a:cs typeface="Consolas" pitchFamily="49" charset="0"/>
              </a:rPr>
              <a:t>WorkPerformedHandler</a:t>
            </a:r>
            <a:r>
              <a:rPr lang="en-US" sz="2000" b="1" noProof="1">
                <a:solidFill>
                  <a:schemeClr val="bg1"/>
                </a:solidFill>
                <a:latin typeface="Consolas" pitchFamily="49" charset="0"/>
                <a:cs typeface="Consolas" pitchFamily="49" charset="0"/>
              </a:rPr>
              <a:t> handler = new WorkPerformedHandler(</a:t>
            </a:r>
            <a:r>
              <a:rPr lang="en-US" sz="2000" b="1" noProof="1">
                <a:solidFill>
                  <a:srgbClr val="00B0F0"/>
                </a:solidFill>
                <a:latin typeface="Consolas" pitchFamily="49" charset="0"/>
                <a:cs typeface="Consolas" pitchFamily="49" charset="0"/>
              </a:rPr>
              <a:t>WorkPerformed</a:t>
            </a:r>
            <a:r>
              <a:rPr lang="en-US" sz="2000" b="1" noProof="1">
                <a:solidFill>
                  <a:schemeClr val="bg1"/>
                </a:solidFill>
                <a:latin typeface="Consolas" pitchFamily="49" charset="0"/>
                <a:cs typeface="Consolas" pitchFamily="49" charset="0"/>
              </a:rPr>
              <a:t>);</a:t>
            </a:r>
          </a:p>
          <a:p>
            <a:endParaRPr lang="bg-BG" sz="2000" b="1" noProof="1">
              <a:solidFill>
                <a:schemeClr val="bg1"/>
              </a:solidFill>
              <a:latin typeface="Consolas" pitchFamily="49" charset="0"/>
              <a:cs typeface="Consolas" pitchFamily="49" charset="0"/>
            </a:endParaRPr>
          </a:p>
          <a:p>
            <a:endParaRPr lang="bg-BG" sz="2000" b="1" noProof="1">
              <a:solidFill>
                <a:schemeClr val="bg1"/>
              </a:solidFill>
              <a:latin typeface="Consolas" pitchFamily="49" charset="0"/>
              <a:cs typeface="Consolas" pitchFamily="49" charset="0"/>
            </a:endParaRPr>
          </a:p>
          <a:p>
            <a:endParaRPr lang="bg-BG" sz="2000" b="1" noProof="1">
              <a:solidFill>
                <a:schemeClr val="bg1"/>
              </a:solidFill>
              <a:latin typeface="Consolas" pitchFamily="49" charset="0"/>
              <a:cs typeface="Consolas" pitchFamily="49" charset="0"/>
            </a:endParaRPr>
          </a:p>
          <a:p>
            <a:endParaRPr lang="bg-BG" sz="2000" b="1" noProof="1">
              <a:solidFill>
                <a:schemeClr val="bg1"/>
              </a:solidFill>
              <a:latin typeface="Consolas" pitchFamily="49" charset="0"/>
              <a:cs typeface="Consolas" pitchFamily="49" charset="0"/>
            </a:endParaRPr>
          </a:p>
          <a:p>
            <a:endParaRPr lang="en-US" sz="2000" b="1" noProof="1">
              <a:solidFill>
                <a:schemeClr val="bg1"/>
              </a:solidFill>
              <a:latin typeface="Consolas" pitchFamily="49" charset="0"/>
              <a:cs typeface="Consolas" pitchFamily="49" charset="0"/>
            </a:endParaRPr>
          </a:p>
          <a:p>
            <a:r>
              <a:rPr lang="en-US" sz="2000" b="1" noProof="1">
                <a:solidFill>
                  <a:schemeClr val="bg1"/>
                </a:solidFill>
                <a:latin typeface="Consolas" pitchFamily="49" charset="0"/>
                <a:cs typeface="Consolas" pitchFamily="49" charset="0"/>
              </a:rPr>
              <a:t>static void </a:t>
            </a:r>
            <a:r>
              <a:rPr lang="en-US" sz="2000" b="1" noProof="1">
                <a:solidFill>
                  <a:srgbClr val="00B0F0"/>
                </a:solidFill>
                <a:latin typeface="Consolas" pitchFamily="49" charset="0"/>
                <a:cs typeface="Consolas" pitchFamily="49" charset="0"/>
              </a:rPr>
              <a:t>WorkPerformed</a:t>
            </a:r>
            <a:r>
              <a:rPr lang="en-US" sz="2000" b="1" noProof="1">
                <a:solidFill>
                  <a:schemeClr val="bg1"/>
                </a:solidFill>
                <a:latin typeface="Consolas" pitchFamily="49" charset="0"/>
                <a:cs typeface="Consolas" pitchFamily="49" charset="0"/>
              </a:rPr>
              <a:t>(int hours, WorkType workType)</a:t>
            </a:r>
          </a:p>
          <a:p>
            <a:r>
              <a:rPr lang="en-US" sz="2000" b="1" noProof="1">
                <a:solidFill>
                  <a:schemeClr val="bg1"/>
                </a:solidFill>
                <a:latin typeface="Consolas" pitchFamily="49" charset="0"/>
                <a:cs typeface="Consolas" pitchFamily="49" charset="0"/>
              </a:rPr>
              <a:t>{</a:t>
            </a:r>
          </a:p>
          <a:p>
            <a:r>
              <a:rPr lang="en-US" sz="2000" b="1" noProof="1">
                <a:solidFill>
                  <a:schemeClr val="bg1"/>
                </a:solidFill>
                <a:latin typeface="Consolas" pitchFamily="49" charset="0"/>
                <a:cs typeface="Consolas" pitchFamily="49" charset="0"/>
              </a:rPr>
              <a:t>  Console.WriteLine("WorkPerformed called " + hours.ToString());</a:t>
            </a:r>
          </a:p>
          <a:p>
            <a:r>
              <a:rPr lang="en-US" sz="2000" b="1" noProof="1">
                <a:solidFill>
                  <a:schemeClr val="bg1"/>
                </a:solidFill>
                <a:latin typeface="Consolas" pitchFamily="49" charset="0"/>
                <a:cs typeface="Consolas" pitchFamily="49" charset="0"/>
              </a:rPr>
              <a:t>}</a:t>
            </a:r>
          </a:p>
        </p:txBody>
      </p:sp>
      <p:sp>
        <p:nvSpPr>
          <p:cNvPr id="10" name="AutoShape 6"/>
          <p:cNvSpPr>
            <a:spLocks noChangeArrowheads="1"/>
          </p:cNvSpPr>
          <p:nvPr/>
        </p:nvSpPr>
        <p:spPr bwMode="auto">
          <a:xfrm>
            <a:off x="621009" y="2076001"/>
            <a:ext cx="2369673" cy="596198"/>
          </a:xfrm>
          <a:prstGeom prst="wedgeRoundRectCallout">
            <a:avLst>
              <a:gd name="adj1" fmla="val 17727"/>
              <a:gd name="adj2" fmla="val -77220"/>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400" dirty="0">
                <a:solidFill>
                  <a:schemeClr val="bg1"/>
                </a:solidFill>
                <a:latin typeface="Comfortaa" pitchFamily="2" charset="0"/>
              </a:rPr>
              <a:t>Делегат</a:t>
            </a:r>
          </a:p>
        </p:txBody>
      </p:sp>
      <p:sp>
        <p:nvSpPr>
          <p:cNvPr id="11" name="AutoShape 6"/>
          <p:cNvSpPr>
            <a:spLocks noChangeArrowheads="1"/>
          </p:cNvSpPr>
          <p:nvPr/>
        </p:nvSpPr>
        <p:spPr bwMode="auto">
          <a:xfrm>
            <a:off x="561633" y="3648980"/>
            <a:ext cx="2369673" cy="596198"/>
          </a:xfrm>
          <a:prstGeom prst="wedgeRoundRectCallout">
            <a:avLst>
              <a:gd name="adj1" fmla="val 19270"/>
              <a:gd name="adj2" fmla="val -81310"/>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400" dirty="0">
                <a:solidFill>
                  <a:schemeClr val="bg1"/>
                </a:solidFill>
                <a:latin typeface="Comfortaa" pitchFamily="2" charset="0"/>
              </a:rPr>
              <a:t>Инстанция</a:t>
            </a:r>
          </a:p>
        </p:txBody>
      </p:sp>
      <p:sp>
        <p:nvSpPr>
          <p:cNvPr id="12" name="AutoShape 6"/>
          <p:cNvSpPr>
            <a:spLocks noChangeArrowheads="1"/>
          </p:cNvSpPr>
          <p:nvPr/>
        </p:nvSpPr>
        <p:spPr bwMode="auto">
          <a:xfrm>
            <a:off x="3194149" y="4073485"/>
            <a:ext cx="2780733" cy="596198"/>
          </a:xfrm>
          <a:prstGeom prst="wedgeRoundRectCallout">
            <a:avLst>
              <a:gd name="adj1" fmla="val -21327"/>
              <a:gd name="adj2" fmla="val 80242"/>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400" dirty="0" err="1">
                <a:solidFill>
                  <a:schemeClr val="bg1"/>
                </a:solidFill>
                <a:latin typeface="Comfortaa" pitchFamily="2" charset="0"/>
              </a:rPr>
              <a:t>Обработчик</a:t>
            </a:r>
            <a:endParaRPr lang="bg-BG" sz="2400" dirty="0">
              <a:solidFill>
                <a:schemeClr val="bg1"/>
              </a:solidFill>
              <a:latin typeface="Comfortaa" pitchFamily="2" charset="0"/>
            </a:endParaRPr>
          </a:p>
        </p:txBody>
      </p:sp>
    </p:spTree>
    <p:extLst>
      <p:ext uri="{BB962C8B-B14F-4D97-AF65-F5344CB8AC3E}">
        <p14:creationId xmlns:p14="http://schemas.microsoft.com/office/powerpoint/2010/main" val="253713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542767" y="1816924"/>
            <a:ext cx="11106466" cy="714560"/>
          </a:xfrm>
        </p:spPr>
        <p:txBody>
          <a:bodyPr>
            <a:normAutofit/>
          </a:bodyPr>
          <a:lstStyle/>
          <a:p>
            <a:pPr marL="0" indent="0">
              <a:buNone/>
            </a:pPr>
            <a:r>
              <a:rPr lang="bg-BG" sz="2400" dirty="0">
                <a:latin typeface="Comfortaa" pitchFamily="2" charset="0"/>
              </a:rPr>
              <a:t>Ламбда</a:t>
            </a:r>
            <a:r>
              <a:rPr lang="en-US" sz="2400" dirty="0">
                <a:latin typeface="Comfortaa" pitchFamily="2" charset="0"/>
              </a:rPr>
              <a:t> </a:t>
            </a:r>
            <a:r>
              <a:rPr lang="bg-BG" sz="2400" dirty="0">
                <a:latin typeface="Comfortaa" pitchFamily="2" charset="0"/>
              </a:rPr>
              <a:t>изразите могат да се присвояват на делегат</a:t>
            </a:r>
            <a:endParaRPr lang="en-US" sz="2400" dirty="0">
              <a:latin typeface="Comfortaa" pitchFamily="2" charset="0"/>
            </a:endParaRPr>
          </a:p>
        </p:txBody>
      </p:sp>
      <p:sp>
        <p:nvSpPr>
          <p:cNvPr id="2" name="Title 1"/>
          <p:cNvSpPr>
            <a:spLocks noGrp="1"/>
          </p:cNvSpPr>
          <p:nvPr>
            <p:ph type="title"/>
          </p:nvPr>
        </p:nvSpPr>
        <p:spPr>
          <a:xfrm>
            <a:off x="542767" y="982642"/>
            <a:ext cx="11099935" cy="935223"/>
          </a:xfrm>
        </p:spPr>
        <p:txBody>
          <a:bodyPr>
            <a:normAutofit/>
          </a:bodyPr>
          <a:lstStyle/>
          <a:p>
            <a:r>
              <a:rPr lang="bg-BG" sz="4000" dirty="0">
                <a:latin typeface="Comfortaa" pitchFamily="2" charset="0"/>
              </a:rPr>
              <a:t>Присвяване на</a:t>
            </a:r>
            <a:r>
              <a:rPr lang="en-US" sz="4000" dirty="0">
                <a:latin typeface="Comfortaa" pitchFamily="2" charset="0"/>
              </a:rPr>
              <a:t> </a:t>
            </a:r>
            <a:r>
              <a:rPr lang="bg-BG" sz="4000" dirty="0">
                <a:latin typeface="Comfortaa" pitchFamily="2" charset="0"/>
              </a:rPr>
              <a:t>ламбда</a:t>
            </a:r>
            <a:r>
              <a:rPr lang="en-US" sz="4000" dirty="0">
                <a:latin typeface="Comfortaa" pitchFamily="2" charset="0"/>
              </a:rPr>
              <a:t> </a:t>
            </a:r>
            <a:r>
              <a:rPr lang="bg-BG" sz="4000" dirty="0">
                <a:latin typeface="Comfortaa" pitchFamily="2" charset="0"/>
              </a:rPr>
              <a:t>към делегат</a:t>
            </a:r>
            <a:endParaRPr lang="en-US" sz="4000" dirty="0">
              <a:latin typeface="Comfortaa" pitchFamily="2" charset="0"/>
            </a:endParaRPr>
          </a:p>
        </p:txBody>
      </p:sp>
      <p:sp>
        <p:nvSpPr>
          <p:cNvPr id="6" name="Rectangle 5">
            <a:extLst>
              <a:ext uri="{FF2B5EF4-FFF2-40B4-BE49-F238E27FC236}">
                <a16:creationId xmlns:a16="http://schemas.microsoft.com/office/drawing/2014/main" id="{AD1FF434-57C8-4197-BD51-E911190890AD}"/>
              </a:ext>
            </a:extLst>
          </p:cNvPr>
          <p:cNvSpPr>
            <a:spLocks noChangeArrowheads="1"/>
          </p:cNvSpPr>
          <p:nvPr/>
        </p:nvSpPr>
        <p:spPr bwMode="auto">
          <a:xfrm>
            <a:off x="536236" y="2453667"/>
            <a:ext cx="11106466" cy="3539430"/>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sz="3200" b="1" noProof="1">
                <a:solidFill>
                  <a:schemeClr val="bg1"/>
                </a:solidFill>
                <a:latin typeface="Consolas" pitchFamily="49" charset="0"/>
                <a:cs typeface="Consolas" pitchFamily="49" charset="0"/>
              </a:rPr>
              <a:t>delegate int AddDelegate(int a, int b);</a:t>
            </a:r>
          </a:p>
          <a:p>
            <a:r>
              <a:rPr lang="en-US" sz="3200" b="1" noProof="1">
                <a:solidFill>
                  <a:schemeClr val="bg1"/>
                </a:solidFill>
                <a:latin typeface="Consolas" pitchFamily="49" charset="0"/>
                <a:cs typeface="Consolas" pitchFamily="49" charset="0"/>
              </a:rPr>
              <a:t>static void Main(string[] args)</a:t>
            </a:r>
          </a:p>
          <a:p>
            <a:r>
              <a:rPr lang="en-US" sz="3200" b="1" noProof="1">
                <a:solidFill>
                  <a:schemeClr val="bg1"/>
                </a:solidFill>
                <a:latin typeface="Consolas" pitchFamily="49" charset="0"/>
                <a:cs typeface="Consolas" pitchFamily="49" charset="0"/>
              </a:rPr>
              <a:t>{         </a:t>
            </a:r>
          </a:p>
          <a:p>
            <a:r>
              <a:rPr lang="en-US" sz="3200" b="1" noProof="1">
                <a:solidFill>
                  <a:schemeClr val="bg1"/>
                </a:solidFill>
                <a:latin typeface="Consolas" pitchFamily="49" charset="0"/>
                <a:cs typeface="Consolas" pitchFamily="49" charset="0"/>
              </a:rPr>
              <a:t>  AddDelegate ab = </a:t>
            </a:r>
            <a:r>
              <a:rPr lang="en-US" sz="3200" b="1" noProof="1">
                <a:solidFill>
                  <a:srgbClr val="00B0F0"/>
                </a:solidFill>
                <a:latin typeface="Consolas" pitchFamily="49" charset="0"/>
                <a:cs typeface="Consolas" pitchFamily="49" charset="0"/>
              </a:rPr>
              <a:t>( a, b ) =&gt; a + b</a:t>
            </a:r>
            <a:r>
              <a:rPr lang="en-US" sz="3200" b="1" noProof="1">
                <a:solidFill>
                  <a:schemeClr val="bg1"/>
                </a:solidFill>
                <a:latin typeface="Consolas" pitchFamily="49" charset="0"/>
                <a:cs typeface="Consolas" pitchFamily="49" charset="0"/>
              </a:rPr>
              <a:t>;</a:t>
            </a:r>
          </a:p>
          <a:p>
            <a:r>
              <a:rPr lang="en-US" sz="3200" b="1" noProof="1">
                <a:solidFill>
                  <a:schemeClr val="bg1"/>
                </a:solidFill>
                <a:latin typeface="Consolas" pitchFamily="49" charset="0"/>
                <a:cs typeface="Consolas" pitchFamily="49" charset="0"/>
              </a:rPr>
              <a:t>  int result = ab</a:t>
            </a:r>
            <a:r>
              <a:rPr lang="en-US" sz="3200" b="1" noProof="1">
                <a:solidFill>
                  <a:srgbClr val="00B0F0"/>
                </a:solidFill>
                <a:latin typeface="Consolas" pitchFamily="49" charset="0"/>
                <a:cs typeface="Consolas" pitchFamily="49" charset="0"/>
              </a:rPr>
              <a:t>(1, 1)</a:t>
            </a:r>
            <a:r>
              <a:rPr lang="en-US" sz="3200" b="1" noProof="1">
                <a:solidFill>
                  <a:schemeClr val="bg1"/>
                </a:solidFill>
                <a:latin typeface="Consolas" pitchFamily="49" charset="0"/>
                <a:cs typeface="Consolas" pitchFamily="49" charset="0"/>
              </a:rPr>
              <a:t>;</a:t>
            </a:r>
          </a:p>
          <a:p>
            <a:r>
              <a:rPr lang="en-US" sz="3200" b="1" noProof="1">
                <a:solidFill>
                  <a:schemeClr val="bg1"/>
                </a:solidFill>
                <a:latin typeface="Consolas" pitchFamily="49" charset="0"/>
                <a:cs typeface="Consolas" pitchFamily="49" charset="0"/>
              </a:rPr>
              <a:t>  // result = 2</a:t>
            </a:r>
          </a:p>
          <a:p>
            <a:r>
              <a:rPr lang="en-US" sz="3200" b="1" noProof="1">
                <a:solidFill>
                  <a:schemeClr val="bg1"/>
                </a:solidFill>
                <a:latin typeface="Consolas" pitchFamily="49" charset="0"/>
                <a:cs typeface="Consolas" pitchFamily="49" charset="0"/>
              </a:rPr>
              <a:t>} </a:t>
            </a:r>
          </a:p>
        </p:txBody>
      </p:sp>
    </p:spTree>
    <p:extLst>
      <p:ext uri="{BB962C8B-B14F-4D97-AF65-F5344CB8AC3E}">
        <p14:creationId xmlns:p14="http://schemas.microsoft.com/office/powerpoint/2010/main" val="3297810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989" y="757326"/>
            <a:ext cx="11582399" cy="1148663"/>
          </a:xfrm>
        </p:spPr>
        <p:txBody>
          <a:bodyPr/>
          <a:lstStyle/>
          <a:p>
            <a:r>
              <a:rPr lang="bg-BG" dirty="0">
                <a:latin typeface="Comfortaa" pitchFamily="2" charset="0"/>
              </a:rPr>
              <a:t>Операции с делегати</a:t>
            </a:r>
            <a:endParaRPr lang="en-US" dirty="0">
              <a:latin typeface="Comfortaa" pitchFamily="2" charset="0"/>
            </a:endParaRPr>
          </a:p>
        </p:txBody>
      </p:sp>
      <p:sp>
        <p:nvSpPr>
          <p:cNvPr id="8" name="Content Placeholder 2"/>
          <p:cNvSpPr>
            <a:spLocks noGrp="1"/>
          </p:cNvSpPr>
          <p:nvPr>
            <p:ph idx="1"/>
          </p:nvPr>
        </p:nvSpPr>
        <p:spPr>
          <a:xfrm>
            <a:off x="476991" y="1787236"/>
            <a:ext cx="11481461" cy="2481943"/>
          </a:xfrm>
        </p:spPr>
        <p:txBody>
          <a:bodyPr>
            <a:normAutofit/>
          </a:bodyPr>
          <a:lstStyle/>
          <a:p>
            <a:pPr>
              <a:spcBef>
                <a:spcPts val="1800"/>
              </a:spcBef>
              <a:spcAft>
                <a:spcPts val="1200"/>
              </a:spcAft>
            </a:pPr>
            <a:r>
              <a:rPr lang="bg-BG" dirty="0">
                <a:latin typeface="Comfortaa" pitchFamily="2" charset="0"/>
              </a:rPr>
              <a:t>Извикване</a:t>
            </a:r>
            <a:endParaRPr lang="en-US" dirty="0">
              <a:latin typeface="Comfortaa" pitchFamily="2" charset="0"/>
            </a:endParaRPr>
          </a:p>
          <a:p>
            <a:pPr>
              <a:spcBef>
                <a:spcPts val="1800"/>
              </a:spcBef>
              <a:spcAft>
                <a:spcPts val="1200"/>
              </a:spcAft>
            </a:pPr>
            <a:endParaRPr lang="en-US" dirty="0">
              <a:latin typeface="Comfortaa" pitchFamily="2" charset="0"/>
            </a:endParaRPr>
          </a:p>
          <a:p>
            <a:pPr>
              <a:spcBef>
                <a:spcPts val="2400"/>
              </a:spcBef>
              <a:spcAft>
                <a:spcPts val="1200"/>
              </a:spcAft>
            </a:pPr>
            <a:r>
              <a:rPr lang="bg-BG" dirty="0">
                <a:latin typeface="Comfortaa" pitchFamily="2" charset="0"/>
              </a:rPr>
              <a:t>Добавяне към списъка с извиквания</a:t>
            </a:r>
            <a:endParaRPr lang="en-US" dirty="0">
              <a:latin typeface="Comfortaa" pitchFamily="2" charset="0"/>
            </a:endParaRPr>
          </a:p>
        </p:txBody>
      </p:sp>
      <p:sp>
        <p:nvSpPr>
          <p:cNvPr id="6" name="Rectangle 5">
            <a:extLst>
              <a:ext uri="{FF2B5EF4-FFF2-40B4-BE49-F238E27FC236}">
                <a16:creationId xmlns:a16="http://schemas.microsoft.com/office/drawing/2014/main" id="{AD1FF434-57C8-4197-BD51-E911190890AD}"/>
              </a:ext>
            </a:extLst>
          </p:cNvPr>
          <p:cNvSpPr>
            <a:spLocks noChangeArrowheads="1"/>
          </p:cNvSpPr>
          <p:nvPr/>
        </p:nvSpPr>
        <p:spPr bwMode="auto">
          <a:xfrm>
            <a:off x="781792" y="2409702"/>
            <a:ext cx="10363200" cy="769441"/>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sz="2200" b="1" noProof="1">
                <a:solidFill>
                  <a:schemeClr val="bg1"/>
                </a:solidFill>
                <a:latin typeface="Consolas" pitchFamily="49" charset="0"/>
                <a:cs typeface="Consolas" pitchFamily="49" charset="0"/>
              </a:rPr>
              <a:t>WorkPerfHandler handler = new WorkPerfHandler(WorkPerformed); </a:t>
            </a:r>
          </a:p>
          <a:p>
            <a:r>
              <a:rPr lang="en-US" sz="2200" b="1" noProof="1">
                <a:solidFill>
                  <a:schemeClr val="bg1"/>
                </a:solidFill>
                <a:latin typeface="Consolas" pitchFamily="49" charset="0"/>
                <a:cs typeface="Consolas" pitchFamily="49" charset="0"/>
              </a:rPr>
              <a:t>handler</a:t>
            </a:r>
            <a:r>
              <a:rPr lang="en-US" sz="2200" b="1" noProof="1">
                <a:solidFill>
                  <a:srgbClr val="00B0F0"/>
                </a:solidFill>
                <a:latin typeface="Consolas" pitchFamily="49" charset="0"/>
                <a:cs typeface="Consolas" pitchFamily="49" charset="0"/>
              </a:rPr>
              <a:t>(5, WorkType.Golf); </a:t>
            </a:r>
          </a:p>
        </p:txBody>
      </p:sp>
      <p:sp>
        <p:nvSpPr>
          <p:cNvPr id="9" name="Rectangle 8">
            <a:extLst>
              <a:ext uri="{FF2B5EF4-FFF2-40B4-BE49-F238E27FC236}">
                <a16:creationId xmlns:a16="http://schemas.microsoft.com/office/drawing/2014/main" id="{AD1FF434-57C8-4197-BD51-E911190890AD}"/>
              </a:ext>
            </a:extLst>
          </p:cNvPr>
          <p:cNvSpPr>
            <a:spLocks noChangeArrowheads="1"/>
          </p:cNvSpPr>
          <p:nvPr/>
        </p:nvSpPr>
        <p:spPr bwMode="auto">
          <a:xfrm>
            <a:off x="781792" y="4016828"/>
            <a:ext cx="10363200" cy="1446550"/>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sz="2200" b="1" noProof="1">
                <a:solidFill>
                  <a:schemeClr val="bg1"/>
                </a:solidFill>
                <a:latin typeface="Consolas" pitchFamily="49" charset="0"/>
                <a:cs typeface="Consolas" pitchFamily="49" charset="0"/>
              </a:rPr>
              <a:t>var first = new WorkPerfHandler(WorkPerformed);</a:t>
            </a:r>
          </a:p>
          <a:p>
            <a:r>
              <a:rPr lang="en-US" sz="2200" b="1" noProof="1">
                <a:solidFill>
                  <a:schemeClr val="bg1"/>
                </a:solidFill>
                <a:latin typeface="Consolas" pitchFamily="49" charset="0"/>
                <a:cs typeface="Consolas" pitchFamily="49" charset="0"/>
              </a:rPr>
              <a:t>var second = new WorkPerfHandler(</a:t>
            </a:r>
            <a:r>
              <a:rPr lang="en-US" sz="2200" b="1" noProof="1">
                <a:solidFill>
                  <a:srgbClr val="00B0F0"/>
                </a:solidFill>
                <a:latin typeface="Consolas" pitchFamily="49" charset="0"/>
                <a:cs typeface="Consolas" pitchFamily="49" charset="0"/>
              </a:rPr>
              <a:t>WorkPerformedSecond</a:t>
            </a:r>
            <a:r>
              <a:rPr lang="en-US" sz="2200" b="1" noProof="1">
                <a:solidFill>
                  <a:schemeClr val="bg1"/>
                </a:solidFill>
                <a:latin typeface="Consolas" pitchFamily="49" charset="0"/>
                <a:cs typeface="Consolas" pitchFamily="49" charset="0"/>
              </a:rPr>
              <a:t>); </a:t>
            </a:r>
          </a:p>
          <a:p>
            <a:r>
              <a:rPr lang="en-US" sz="2200" b="1" noProof="1">
                <a:solidFill>
                  <a:schemeClr val="bg1"/>
                </a:solidFill>
                <a:latin typeface="Consolas" pitchFamily="49" charset="0"/>
                <a:cs typeface="Consolas" pitchFamily="49" charset="0"/>
              </a:rPr>
              <a:t>first </a:t>
            </a:r>
            <a:r>
              <a:rPr lang="en-US" sz="2200" b="1" noProof="1">
                <a:solidFill>
                  <a:srgbClr val="00B0F0"/>
                </a:solidFill>
                <a:latin typeface="Consolas" pitchFamily="49" charset="0"/>
                <a:cs typeface="Consolas" pitchFamily="49" charset="0"/>
              </a:rPr>
              <a:t>+=</a:t>
            </a:r>
            <a:r>
              <a:rPr lang="en-US" sz="2200" b="1" noProof="1">
                <a:solidFill>
                  <a:schemeClr val="bg1"/>
                </a:solidFill>
                <a:latin typeface="Consolas" pitchFamily="49" charset="0"/>
                <a:cs typeface="Consolas" pitchFamily="49" charset="0"/>
              </a:rPr>
              <a:t> second;</a:t>
            </a:r>
          </a:p>
          <a:p>
            <a:r>
              <a:rPr lang="en-US" sz="2200" b="1" noProof="1">
                <a:solidFill>
                  <a:schemeClr val="bg1"/>
                </a:solidFill>
                <a:latin typeface="Consolas" pitchFamily="49" charset="0"/>
                <a:cs typeface="Consolas" pitchFamily="49" charset="0"/>
              </a:rPr>
              <a:t>first(5, WorkType.Golf); </a:t>
            </a:r>
          </a:p>
        </p:txBody>
      </p:sp>
    </p:spTree>
    <p:extLst>
      <p:ext uri="{BB962C8B-B14F-4D97-AF65-F5344CB8AC3E}">
        <p14:creationId xmlns:p14="http://schemas.microsoft.com/office/powerpoint/2010/main" val="3576558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bg-BG" dirty="0">
                <a:latin typeface="Comfortaa" pitchFamily="2" charset="0"/>
              </a:rPr>
              <a:t>Могат да сочат статични методи или инстанции на методи</a:t>
            </a:r>
            <a:endParaRPr lang="en-US" dirty="0">
              <a:latin typeface="Comfortaa" pitchFamily="2" charset="0"/>
            </a:endParaRPr>
          </a:p>
          <a:p>
            <a:r>
              <a:rPr lang="bg-BG" dirty="0">
                <a:latin typeface="Comfortaa" pitchFamily="2" charset="0"/>
              </a:rPr>
              <a:t>Могат да сочат към последователност от множество методи</a:t>
            </a:r>
            <a:endParaRPr lang="en-US" dirty="0">
              <a:latin typeface="Comfortaa" pitchFamily="2" charset="0"/>
            </a:endParaRPr>
          </a:p>
          <a:p>
            <a:r>
              <a:rPr lang="bg-BG" dirty="0">
                <a:latin typeface="Comfortaa" pitchFamily="2" charset="0"/>
              </a:rPr>
              <a:t>Използват се за изпълнение на извиквания от тип обратно извикване (</a:t>
            </a:r>
            <a:r>
              <a:rPr lang="en-US" dirty="0">
                <a:latin typeface="Comfortaa" pitchFamily="2" charset="0"/>
              </a:rPr>
              <a:t>callback</a:t>
            </a:r>
            <a:r>
              <a:rPr lang="bg-BG" dirty="0">
                <a:latin typeface="Comfortaa" pitchFamily="2" charset="0"/>
              </a:rPr>
              <a:t>)</a:t>
            </a:r>
            <a:endParaRPr lang="en-US" dirty="0">
              <a:latin typeface="Comfortaa" pitchFamily="2" charset="0"/>
            </a:endParaRPr>
          </a:p>
          <a:p>
            <a:r>
              <a:rPr lang="bg-BG" dirty="0">
                <a:latin typeface="Comfortaa" pitchFamily="2" charset="0"/>
              </a:rPr>
              <a:t>Използват се за реализацията на </a:t>
            </a:r>
            <a:r>
              <a:rPr lang="en-US" dirty="0">
                <a:latin typeface="Comfortaa" pitchFamily="2" charset="0"/>
              </a:rPr>
              <a:t> </a:t>
            </a:r>
            <a:r>
              <a:rPr lang="bg-BG" dirty="0">
                <a:solidFill>
                  <a:srgbClr val="00B0F0"/>
                </a:solidFill>
                <a:latin typeface="Comfortaa" pitchFamily="2" charset="0"/>
              </a:rPr>
              <a:t>модела</a:t>
            </a:r>
            <a:r>
              <a:rPr lang="bg-BG" dirty="0">
                <a:solidFill>
                  <a:schemeClr val="tx2">
                    <a:lumMod val="75000"/>
                  </a:schemeClr>
                </a:solidFill>
                <a:latin typeface="Comfortaa" pitchFamily="2" charset="0"/>
              </a:rPr>
              <a:t> </a:t>
            </a:r>
            <a:r>
              <a:rPr lang="en-US" dirty="0">
                <a:solidFill>
                  <a:srgbClr val="00B0F0"/>
                </a:solidFill>
                <a:latin typeface="Comfortaa" pitchFamily="2" charset="0"/>
              </a:rPr>
              <a:t>„</a:t>
            </a:r>
            <a:r>
              <a:rPr lang="bg-BG" dirty="0">
                <a:solidFill>
                  <a:srgbClr val="00B0F0"/>
                </a:solidFill>
                <a:latin typeface="Comfortaa" pitchFamily="2" charset="0"/>
              </a:rPr>
              <a:t>публикация-абониране</a:t>
            </a:r>
            <a:r>
              <a:rPr lang="en-US" dirty="0">
                <a:solidFill>
                  <a:srgbClr val="00B0F0"/>
                </a:solidFill>
                <a:latin typeface="Comfortaa" pitchFamily="2" charset="0"/>
              </a:rPr>
              <a:t>" </a:t>
            </a:r>
            <a:endParaRPr lang="bg-BG" dirty="0">
              <a:solidFill>
                <a:srgbClr val="00B0F0"/>
              </a:solidFill>
              <a:latin typeface="Comfortaa" pitchFamily="2" charset="0"/>
            </a:endParaRPr>
          </a:p>
          <a:p>
            <a:r>
              <a:rPr lang="bg-BG" dirty="0">
                <a:latin typeface="Comfortaa" pitchFamily="2" charset="0"/>
              </a:rPr>
              <a:t>Компонентите </a:t>
            </a:r>
            <a:r>
              <a:rPr lang="en-US" dirty="0">
                <a:latin typeface="Comfortaa" pitchFamily="2" charset="0"/>
              </a:rPr>
              <a:t> </a:t>
            </a:r>
            <a:r>
              <a:rPr lang="bg-BG" dirty="0">
                <a:solidFill>
                  <a:srgbClr val="00B0F0"/>
                </a:solidFill>
                <a:latin typeface="Comfortaa" pitchFamily="2" charset="0"/>
              </a:rPr>
              <a:t>публикуват</a:t>
            </a:r>
            <a:r>
              <a:rPr lang="en-US" dirty="0">
                <a:latin typeface="Comfortaa" pitchFamily="2" charset="0"/>
              </a:rPr>
              <a:t> </a:t>
            </a:r>
            <a:r>
              <a:rPr lang="bg-BG" dirty="0">
                <a:latin typeface="Comfortaa" pitchFamily="2" charset="0"/>
              </a:rPr>
              <a:t>събитията си</a:t>
            </a:r>
            <a:endParaRPr lang="en-US" dirty="0">
              <a:latin typeface="Comfortaa" pitchFamily="2" charset="0"/>
            </a:endParaRPr>
          </a:p>
          <a:p>
            <a:pPr lvl="2"/>
            <a:r>
              <a:rPr lang="bg-BG" dirty="0">
                <a:latin typeface="Comfortaa" pitchFamily="2" charset="0"/>
              </a:rPr>
              <a:t>Напр. </a:t>
            </a:r>
            <a:r>
              <a:rPr lang="en-US" noProof="1">
                <a:solidFill>
                  <a:srgbClr val="00B0F0"/>
                </a:solidFill>
                <a:latin typeface="Comfortaa" pitchFamily="2" charset="0"/>
                <a:cs typeface="Consolas" panose="020B0609020204030204" pitchFamily="49" charset="0"/>
              </a:rPr>
              <a:t>Button</a:t>
            </a:r>
            <a:r>
              <a:rPr lang="en-US" dirty="0">
                <a:solidFill>
                  <a:schemeClr val="tx2">
                    <a:lumMod val="75000"/>
                  </a:schemeClr>
                </a:solidFill>
                <a:latin typeface="Comfortaa" pitchFamily="2" charset="0"/>
              </a:rPr>
              <a:t> </a:t>
            </a:r>
            <a:r>
              <a:rPr lang="bg-BG" dirty="0">
                <a:latin typeface="Comfortaa" pitchFamily="2" charset="0"/>
              </a:rPr>
              <a:t>публикува</a:t>
            </a:r>
            <a:r>
              <a:rPr lang="en-US" dirty="0">
                <a:latin typeface="Comfortaa" pitchFamily="2" charset="0"/>
              </a:rPr>
              <a:t> </a:t>
            </a:r>
            <a:r>
              <a:rPr lang="bg-BG" dirty="0">
                <a:latin typeface="Comfortaa" pitchFamily="2" charset="0"/>
              </a:rPr>
              <a:t>събития </a:t>
            </a:r>
            <a:r>
              <a:rPr lang="en-US" noProof="1">
                <a:solidFill>
                  <a:srgbClr val="00B0F0"/>
                </a:solidFill>
                <a:latin typeface="Comfortaa" pitchFamily="2" charset="0"/>
                <a:cs typeface="Consolas" panose="020B0609020204030204" pitchFamily="49" charset="0"/>
              </a:rPr>
              <a:t>Click</a:t>
            </a:r>
            <a:r>
              <a:rPr lang="en-US" dirty="0">
                <a:latin typeface="Comfortaa" pitchFamily="2" charset="0"/>
              </a:rPr>
              <a:t> </a:t>
            </a:r>
            <a:r>
              <a:rPr lang="bg-BG" dirty="0">
                <a:latin typeface="Comfortaa" pitchFamily="2" charset="0"/>
              </a:rPr>
              <a:t>и</a:t>
            </a:r>
            <a:r>
              <a:rPr lang="en-US" dirty="0">
                <a:latin typeface="Comfortaa" pitchFamily="2" charset="0"/>
              </a:rPr>
              <a:t> </a:t>
            </a:r>
            <a:r>
              <a:rPr lang="en-US" noProof="1">
                <a:solidFill>
                  <a:srgbClr val="00B0F0"/>
                </a:solidFill>
                <a:latin typeface="Comfortaa" pitchFamily="2" charset="0"/>
                <a:cs typeface="Consolas" panose="020B0609020204030204" pitchFamily="49" charset="0"/>
              </a:rPr>
              <a:t>MouseOver</a:t>
            </a:r>
            <a:r>
              <a:rPr lang="en-US" dirty="0">
                <a:latin typeface="Comfortaa" pitchFamily="2" charset="0"/>
              </a:rPr>
              <a:t> </a:t>
            </a:r>
            <a:endParaRPr lang="bg-BG" dirty="0">
              <a:latin typeface="Comfortaa" pitchFamily="2" charset="0"/>
            </a:endParaRPr>
          </a:p>
          <a:p>
            <a:pPr lvl="2"/>
            <a:r>
              <a:rPr lang="bg-BG" dirty="0">
                <a:latin typeface="Comfortaa" pitchFamily="2" charset="0"/>
              </a:rPr>
              <a:t>Други компоненти се абонират за събитията</a:t>
            </a:r>
            <a:endParaRPr lang="en-US" dirty="0">
              <a:latin typeface="Comfortaa" pitchFamily="2" charset="0"/>
            </a:endParaRPr>
          </a:p>
          <a:p>
            <a:pPr lvl="2"/>
            <a:r>
              <a:rPr lang="bg-BG" dirty="0">
                <a:latin typeface="Comfortaa" pitchFamily="2" charset="0"/>
              </a:rPr>
              <a:t>напр</a:t>
            </a:r>
            <a:r>
              <a:rPr lang="en-US" dirty="0">
                <a:latin typeface="Comfortaa" pitchFamily="2" charset="0"/>
              </a:rPr>
              <a:t>.</a:t>
            </a:r>
            <a:r>
              <a:rPr lang="bg-BG" dirty="0">
                <a:latin typeface="Comfortaa" pitchFamily="2" charset="0"/>
              </a:rPr>
              <a:t> </a:t>
            </a:r>
            <a:r>
              <a:rPr lang="en-US" dirty="0">
                <a:latin typeface="Comfortaa" pitchFamily="2" charset="0"/>
              </a:rPr>
              <a:t> </a:t>
            </a:r>
            <a:r>
              <a:rPr lang="en-US" noProof="1">
                <a:solidFill>
                  <a:srgbClr val="00B0F0"/>
                </a:solidFill>
                <a:latin typeface="Comfortaa" pitchFamily="2" charset="0"/>
                <a:cs typeface="Consolas" panose="020B0609020204030204" pitchFamily="49" charset="0"/>
              </a:rPr>
              <a:t>LoginForm</a:t>
            </a:r>
            <a:r>
              <a:rPr lang="en-US" dirty="0">
                <a:latin typeface="Comfortaa" pitchFamily="2" charset="0"/>
              </a:rPr>
              <a:t> </a:t>
            </a:r>
            <a:r>
              <a:rPr lang="bg-BG" dirty="0">
                <a:latin typeface="Comfortaa" pitchFamily="2" charset="0"/>
              </a:rPr>
              <a:t>се абонира за </a:t>
            </a:r>
            <a:r>
              <a:rPr lang="en-US" noProof="1">
                <a:solidFill>
                  <a:srgbClr val="00B0F0"/>
                </a:solidFill>
                <a:latin typeface="Comfortaa" pitchFamily="2" charset="0"/>
                <a:cs typeface="Consolas" panose="020B0609020204030204" pitchFamily="49" charset="0"/>
              </a:rPr>
              <a:t>LoginButton</a:t>
            </a:r>
            <a:r>
              <a:rPr lang="en-US" b="1" noProof="1">
                <a:solidFill>
                  <a:schemeClr val="tx2">
                    <a:lumMod val="75000"/>
                  </a:schemeClr>
                </a:solidFill>
                <a:latin typeface="Comfortaa" pitchFamily="2" charset="0"/>
                <a:cs typeface="Consolas" panose="020B0609020204030204" pitchFamily="49" charset="0"/>
              </a:rPr>
              <a:t>.</a:t>
            </a:r>
            <a:r>
              <a:rPr lang="en-US" noProof="1">
                <a:solidFill>
                  <a:srgbClr val="00B0F0"/>
                </a:solidFill>
                <a:latin typeface="Comfortaa" pitchFamily="2" charset="0"/>
                <a:cs typeface="Consolas" panose="020B0609020204030204" pitchFamily="49" charset="0"/>
              </a:rPr>
              <a:t>Click</a:t>
            </a:r>
          </a:p>
        </p:txBody>
      </p:sp>
      <p:sp>
        <p:nvSpPr>
          <p:cNvPr id="2" name="Title 1"/>
          <p:cNvSpPr>
            <a:spLocks noGrp="1"/>
          </p:cNvSpPr>
          <p:nvPr>
            <p:ph type="title"/>
          </p:nvPr>
        </p:nvSpPr>
        <p:spPr/>
        <p:txBody>
          <a:bodyPr/>
          <a:lstStyle/>
          <a:p>
            <a:r>
              <a:rPr lang="bg-BG" dirty="0">
                <a:latin typeface="Comfortaa" pitchFamily="2" charset="0"/>
              </a:rPr>
              <a:t>Ограничения за делегат</a:t>
            </a:r>
            <a:endParaRPr lang="en-US" dirty="0">
              <a:latin typeface="Comfortaa" pitchFamily="2" charset="0"/>
            </a:endParaRPr>
          </a:p>
        </p:txBody>
      </p:sp>
    </p:spTree>
    <p:extLst>
      <p:ext uri="{BB962C8B-B14F-4D97-AF65-F5344CB8AC3E}">
        <p14:creationId xmlns:p14="http://schemas.microsoft.com/office/powerpoint/2010/main" val="2230058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447" y="1114778"/>
            <a:ext cx="11266376" cy="980432"/>
          </a:xfrm>
          <a:prstGeom prst="rect">
            <a:avLst/>
          </a:prstGeom>
        </p:spPr>
        <p:txBody>
          <a:bodyPr anchor="ctr" anchorCtr="0"/>
          <a:lstStyle/>
          <a:p>
            <a:pPr>
              <a:lnSpc>
                <a:spcPts val="4000"/>
              </a:lnSpc>
              <a:defRPr/>
            </a:pPr>
            <a:r>
              <a:rPr lang="bg-BG" dirty="0">
                <a:latin typeface="Comfortaa" pitchFamily="2" charset="0"/>
              </a:rPr>
              <a:t>Примери за делегати</a:t>
            </a:r>
            <a:endParaRPr lang="bg-BG" sz="4000" dirty="0">
              <a:latin typeface="Comfortaa" pitchFamily="2" charset="0"/>
            </a:endParaRPr>
          </a:p>
        </p:txBody>
      </p:sp>
      <p:sp>
        <p:nvSpPr>
          <p:cNvPr id="11" name="Text Placeholder 5"/>
          <p:cNvSpPr txBox="1">
            <a:spLocks/>
          </p:cNvSpPr>
          <p:nvPr/>
        </p:nvSpPr>
        <p:spPr>
          <a:xfrm>
            <a:off x="503223" y="2095210"/>
            <a:ext cx="11266376" cy="3192394"/>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dirty="0">
                <a:solidFill>
                  <a:schemeClr val="bg1"/>
                </a:solidFill>
                <a:effectLst/>
              </a:rPr>
              <a:t>static void DoWork(</a:t>
            </a:r>
            <a:r>
              <a:rPr lang="en-US" dirty="0" err="1">
                <a:solidFill>
                  <a:schemeClr val="bg1"/>
                </a:solidFill>
                <a:effectLst/>
              </a:rPr>
              <a:t>WorkPerformedHandler</a:t>
            </a:r>
            <a:r>
              <a:rPr lang="en-US" dirty="0">
                <a:solidFill>
                  <a:schemeClr val="bg1"/>
                </a:solidFill>
                <a:effectLst/>
              </a:rPr>
              <a:t> handler)</a:t>
            </a:r>
          </a:p>
          <a:p>
            <a:r>
              <a:rPr lang="en-US" dirty="0">
                <a:solidFill>
                  <a:schemeClr val="bg1"/>
                </a:solidFill>
                <a:effectLst/>
              </a:rPr>
              <a:t>{</a:t>
            </a:r>
          </a:p>
          <a:p>
            <a:r>
              <a:rPr lang="en-US" dirty="0">
                <a:solidFill>
                  <a:schemeClr val="bg1"/>
                </a:solidFill>
                <a:effectLst/>
              </a:rPr>
              <a:t>  handler(5, WorkType.Golf);</a:t>
            </a:r>
          </a:p>
          <a:p>
            <a:r>
              <a:rPr lang="en-US" dirty="0">
                <a:solidFill>
                  <a:schemeClr val="bg1"/>
                </a:solidFill>
                <a:effectLst/>
              </a:rPr>
              <a:t>} </a:t>
            </a:r>
          </a:p>
          <a:p>
            <a:r>
              <a:rPr lang="en-US" dirty="0">
                <a:solidFill>
                  <a:schemeClr val="bg1"/>
                </a:solidFill>
                <a:effectLst/>
              </a:rPr>
              <a:t>static void WorkPerformed(int hours, WorkType workType)</a:t>
            </a:r>
          </a:p>
          <a:p>
            <a:r>
              <a:rPr lang="en-US" dirty="0">
                <a:solidFill>
                  <a:schemeClr val="bg1"/>
                </a:solidFill>
                <a:effectLst/>
              </a:rPr>
              <a:t>{</a:t>
            </a:r>
          </a:p>
          <a:p>
            <a:r>
              <a:rPr lang="en-US" dirty="0">
                <a:solidFill>
                  <a:schemeClr val="bg1"/>
                </a:solidFill>
                <a:effectLst/>
              </a:rPr>
              <a:t>  Console.WriteLine("WorkPerformed " + </a:t>
            </a:r>
            <a:r>
              <a:rPr lang="en-US" dirty="0" err="1">
                <a:solidFill>
                  <a:schemeClr val="bg1"/>
                </a:solidFill>
                <a:effectLst/>
              </a:rPr>
              <a:t>hours.ToString</a:t>
            </a:r>
            <a:r>
              <a:rPr lang="en-US" dirty="0">
                <a:solidFill>
                  <a:schemeClr val="bg1"/>
                </a:solidFill>
                <a:effectLst/>
              </a:rPr>
              <a:t>() + " hours of " + workType);</a:t>
            </a:r>
          </a:p>
          <a:p>
            <a:r>
              <a:rPr lang="en-US" dirty="0">
                <a:solidFill>
                  <a:schemeClr val="bg1"/>
                </a:solidFill>
                <a:effectLst/>
              </a:rPr>
              <a:t>}</a:t>
            </a:r>
          </a:p>
          <a:p>
            <a:r>
              <a:rPr lang="en-US" dirty="0">
                <a:solidFill>
                  <a:srgbClr val="00B0F0"/>
                </a:solidFill>
                <a:effectLst/>
              </a:rPr>
              <a:t>// TODO: </a:t>
            </a:r>
            <a:r>
              <a:rPr lang="bg-BG" dirty="0">
                <a:solidFill>
                  <a:srgbClr val="00B0F0"/>
                </a:solidFill>
                <a:effectLst/>
              </a:rPr>
              <a:t>имплементирайте логика в следващите два метода</a:t>
            </a:r>
            <a:endParaRPr lang="en-US" dirty="0">
              <a:solidFill>
                <a:srgbClr val="00B0F0"/>
              </a:solidFill>
              <a:effectLst/>
            </a:endParaRPr>
          </a:p>
          <a:p>
            <a:r>
              <a:rPr lang="en-US" dirty="0">
                <a:solidFill>
                  <a:srgbClr val="00B0F0"/>
                </a:solidFill>
                <a:effectLst/>
              </a:rPr>
              <a:t>static void WorkPerformedSecond(int hours, WorkType workType)</a:t>
            </a:r>
          </a:p>
          <a:p>
            <a:r>
              <a:rPr lang="en-US" dirty="0">
                <a:solidFill>
                  <a:srgbClr val="00B0F0"/>
                </a:solidFill>
                <a:effectLst/>
              </a:rPr>
              <a:t>static void WorkPerformedThird(int hours, WorkType workType)</a:t>
            </a:r>
          </a:p>
        </p:txBody>
      </p:sp>
    </p:spTree>
    <p:extLst>
      <p:ext uri="{BB962C8B-B14F-4D97-AF65-F5344CB8AC3E}">
        <p14:creationId xmlns:p14="http://schemas.microsoft.com/office/powerpoint/2010/main" val="236558960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p:cNvSpPr>
            <a:spLocks noGrp="1" noChangeArrowheads="1"/>
          </p:cNvSpPr>
          <p:nvPr>
            <p:ph type="title"/>
          </p:nvPr>
        </p:nvSpPr>
        <p:spPr/>
        <p:txBody>
          <a:bodyPr>
            <a:normAutofit/>
          </a:bodyPr>
          <a:lstStyle/>
          <a:p>
            <a:r>
              <a:rPr lang="bg-BG" dirty="0">
                <a:latin typeface="Comfortaa" pitchFamily="2" charset="0"/>
              </a:rPr>
              <a:t>Какво научихме?</a:t>
            </a:r>
          </a:p>
        </p:txBody>
      </p:sp>
      <p:sp>
        <p:nvSpPr>
          <p:cNvPr id="8" name="Rectangle 3"/>
          <p:cNvSpPr>
            <a:spLocks noGrp="1" noChangeArrowheads="1"/>
          </p:cNvSpPr>
          <p:nvPr>
            <p:ph idx="4294967295"/>
          </p:nvPr>
        </p:nvSpPr>
        <p:spPr>
          <a:xfrm>
            <a:off x="707113" y="1690688"/>
            <a:ext cx="10646687" cy="4526581"/>
          </a:xfrm>
        </p:spPr>
        <p:txBody>
          <a:bodyPr>
            <a:normAutofit/>
          </a:bodyPr>
          <a:lstStyle/>
          <a:p>
            <a:pPr>
              <a:lnSpc>
                <a:spcPct val="100000"/>
              </a:lnSpc>
              <a:spcBef>
                <a:spcPts val="1200"/>
              </a:spcBef>
            </a:pPr>
            <a:r>
              <a:rPr lang="bg-BG" dirty="0">
                <a:latin typeface="Comfortaa" pitchFamily="2" charset="0"/>
              </a:rPr>
              <a:t>Събитията</a:t>
            </a:r>
            <a:r>
              <a:rPr lang="en-US" dirty="0">
                <a:latin typeface="Comfortaa" pitchFamily="2" charset="0"/>
              </a:rPr>
              <a:t> </a:t>
            </a:r>
            <a:r>
              <a:rPr lang="bg-BG" dirty="0">
                <a:latin typeface="Comfortaa" pitchFamily="2" charset="0"/>
              </a:rPr>
              <a:t>ни информират за настъпило действие/състояние в даден обект и дават информация, чрез </a:t>
            </a:r>
            <a:r>
              <a:rPr lang="en-US" b="1" dirty="0" err="1">
                <a:solidFill>
                  <a:srgbClr val="00B0F0"/>
                </a:solidFill>
                <a:latin typeface="Comfortaa" pitchFamily="2" charset="0"/>
              </a:rPr>
              <a:t>EventArgs</a:t>
            </a:r>
            <a:endParaRPr lang="bg-BG" b="1" dirty="0">
              <a:solidFill>
                <a:srgbClr val="00B0F0"/>
              </a:solidFill>
              <a:latin typeface="Comfortaa" pitchFamily="2" charset="0"/>
            </a:endParaRPr>
          </a:p>
          <a:p>
            <a:pPr>
              <a:lnSpc>
                <a:spcPct val="100000"/>
              </a:lnSpc>
              <a:spcBef>
                <a:spcPts val="1200"/>
              </a:spcBef>
            </a:pPr>
            <a:r>
              <a:rPr lang="bg-BG" b="1" dirty="0">
                <a:solidFill>
                  <a:srgbClr val="00B0F0"/>
                </a:solidFill>
                <a:latin typeface="Comfortaa" pitchFamily="2" charset="0"/>
              </a:rPr>
              <a:t>Обработчикът на събитието </a:t>
            </a:r>
            <a:r>
              <a:rPr lang="bg-BG" dirty="0">
                <a:latin typeface="Comfortaa" pitchFamily="2" charset="0"/>
              </a:rPr>
              <a:t>се е абонирал за него и го обработва след като събитието настъпи</a:t>
            </a:r>
          </a:p>
          <a:p>
            <a:pPr>
              <a:lnSpc>
                <a:spcPct val="100000"/>
              </a:lnSpc>
              <a:spcBef>
                <a:spcPts val="1200"/>
              </a:spcBef>
            </a:pPr>
            <a:r>
              <a:rPr lang="bg-BG" dirty="0">
                <a:latin typeface="Comfortaa" pitchFamily="2" charset="0"/>
              </a:rPr>
              <a:t>Делегатът е </a:t>
            </a:r>
            <a:r>
              <a:rPr lang="bg-BG" b="1" dirty="0">
                <a:solidFill>
                  <a:srgbClr val="00B0F0"/>
                </a:solidFill>
                <a:latin typeface="Comfortaa" pitchFamily="2" charset="0"/>
              </a:rPr>
              <a:t>специализиран клас</a:t>
            </a:r>
            <a:r>
              <a:rPr lang="bg-BG" dirty="0">
                <a:latin typeface="Comfortaa" pitchFamily="2" charset="0"/>
              </a:rPr>
              <a:t>, често наричан </a:t>
            </a:r>
            <a:r>
              <a:rPr lang="en-US" dirty="0">
                <a:latin typeface="Comfortaa" pitchFamily="2" charset="0"/>
              </a:rPr>
              <a:t>“</a:t>
            </a:r>
            <a:r>
              <a:rPr lang="bg-BG" dirty="0">
                <a:latin typeface="Comfortaa" pitchFamily="2" charset="0"/>
              </a:rPr>
              <a:t>указател към функция</a:t>
            </a:r>
            <a:r>
              <a:rPr lang="en-US" dirty="0">
                <a:latin typeface="Comfortaa" pitchFamily="2" charset="0"/>
              </a:rPr>
              <a:t>” </a:t>
            </a:r>
            <a:r>
              <a:rPr lang="bg-BG" dirty="0">
                <a:latin typeface="Comfortaa" pitchFamily="2" charset="0"/>
              </a:rPr>
              <a:t>използва се за обработка на събития</a:t>
            </a:r>
            <a:endParaRPr lang="en-US" dirty="0">
              <a:solidFill>
                <a:schemeClr val="tx2">
                  <a:lumMod val="75000"/>
                </a:schemeClr>
              </a:solidFill>
              <a:latin typeface="Comfortaa" pitchFamily="2" charset="0"/>
            </a:endParaRPr>
          </a:p>
        </p:txBody>
      </p:sp>
    </p:spTree>
    <p:extLst>
      <p:ext uri="{BB962C8B-B14F-4D97-AF65-F5344CB8AC3E}">
        <p14:creationId xmlns:p14="http://schemas.microsoft.com/office/powerpoint/2010/main" val="2745684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descr="Icon&#10;&#10;Description automatically generated with medium confidence">
            <a:extLst>
              <a:ext uri="{FF2B5EF4-FFF2-40B4-BE49-F238E27FC236}">
                <a16:creationId xmlns:a16="http://schemas.microsoft.com/office/drawing/2014/main" id="{09547CF4-B25A-F864-DA65-5C7F1F83C4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52" y="83713"/>
            <a:ext cx="1575455" cy="1575458"/>
          </a:xfrm>
          <a:prstGeom prst="rect">
            <a:avLst/>
          </a:prstGeom>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A303128A-0EF3-84BD-F9ED-2E6316CD08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4792" y="83713"/>
            <a:ext cx="1699472" cy="141469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4EB993A-D432-5177-9922-4D00100F74D8}"/>
              </a:ext>
            </a:extLst>
          </p:cNvPr>
          <p:cNvSpPr txBox="1"/>
          <p:nvPr/>
        </p:nvSpPr>
        <p:spPr>
          <a:xfrm>
            <a:off x="1734047" y="365284"/>
            <a:ext cx="4729447" cy="923330"/>
          </a:xfrm>
          <a:prstGeom prst="rect">
            <a:avLst/>
          </a:prstGeom>
          <a:noFill/>
        </p:spPr>
        <p:txBody>
          <a:bodyPr wrap="square">
            <a:spAutoFit/>
          </a:bodyPr>
          <a:lstStyle/>
          <a:p>
            <a:pPr marL="0" marR="0">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Национална програма </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pP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Обучение за ИТ умения и кариера</a:t>
            </a: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tabLst>
                <a:tab pos="2865755" algn="ctr"/>
                <a:tab pos="5731510" algn="r"/>
              </a:tabLst>
            </a:pPr>
            <a:r>
              <a:rPr lang="bg-BG" u="sng" dirty="0">
                <a:latin typeface="Comfortaa" pitchFamily="2" charset="0"/>
                <a:ea typeface="Times New Roman" panose="02020603050405020304" pitchFamily="18" charset="0"/>
                <a:cs typeface="Calibri" panose="020F0502020204030204" pitchFamily="34" charset="0"/>
              </a:rPr>
              <a:t>https://it-kariera.mon.bg</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p:txBody>
      </p:sp>
      <p:sp>
        <p:nvSpPr>
          <p:cNvPr id="9" name="TextBox 8">
            <a:extLst>
              <a:ext uri="{FF2B5EF4-FFF2-40B4-BE49-F238E27FC236}">
                <a16:creationId xmlns:a16="http://schemas.microsoft.com/office/drawing/2014/main" id="{B522BFFF-21D1-37C4-D08A-94EDDBB11DD9}"/>
              </a:ext>
            </a:extLst>
          </p:cNvPr>
          <p:cNvSpPr txBox="1"/>
          <p:nvPr/>
        </p:nvSpPr>
        <p:spPr>
          <a:xfrm>
            <a:off x="6373448" y="365284"/>
            <a:ext cx="4017104" cy="923330"/>
          </a:xfrm>
          <a:prstGeom prst="rect">
            <a:avLst/>
          </a:prstGeom>
          <a:noFill/>
        </p:spPr>
        <p:txBody>
          <a:bodyPr wrap="square">
            <a:spAutoFit/>
          </a:bodyPr>
          <a:lstStyle/>
          <a:p>
            <a:pPr marL="0" marR="0" algn="r">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Министерството на образованието и науката</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lgn="r">
              <a:spcBef>
                <a:spcPts val="0"/>
              </a:spcBef>
              <a:spcAft>
                <a:spcPts val="0"/>
              </a:spcAft>
              <a:tabLst>
                <a:tab pos="2865755" algn="ctr"/>
                <a:tab pos="5731510" algn="r"/>
              </a:tabLst>
            </a:pPr>
            <a:r>
              <a:rPr lang="en-US" u="sng" dirty="0">
                <a:solidFill>
                  <a:schemeClr val="tx1"/>
                </a:solidFill>
                <a:effectLst/>
                <a:latin typeface="Comfortaa" pitchFamily="2" charset="0"/>
                <a:ea typeface="Times New Roman" panose="02020603050405020304" pitchFamily="18" charset="0"/>
                <a:cs typeface="Calibri" panose="020F0502020204030204" pitchFamily="34" charset="0"/>
                <a:hlinkClick r:id="rId4">
                  <a:extLst>
                    <a:ext uri="{A12FA001-AC4F-418D-AE19-62706E023703}">
                      <ahyp:hlinkClr xmlns:ahyp="http://schemas.microsoft.com/office/drawing/2018/hyperlinkcolor" val="tx"/>
                    </a:ext>
                  </a:extLst>
                </a:hlinkClick>
              </a:rPr>
              <a:t>https://www</a:t>
            </a:r>
            <a:r>
              <a:rPr lang="bg-BG" u="sng" dirty="0">
                <a:solidFill>
                  <a:schemeClr val="tx1"/>
                </a:solidFill>
                <a:effectLst/>
                <a:latin typeface="Comfortaa" pitchFamily="2" charset="0"/>
                <a:ea typeface="Times New Roman" panose="02020603050405020304" pitchFamily="18" charset="0"/>
                <a:cs typeface="Calibri" panose="020F0502020204030204" pitchFamily="34" charset="0"/>
              </a:rPr>
              <a:t>.</a:t>
            </a:r>
            <a:r>
              <a:rPr lang="en-US" u="sng" dirty="0">
                <a:solidFill>
                  <a:schemeClr val="tx1"/>
                </a:solidFill>
                <a:effectLst/>
                <a:latin typeface="Comfortaa" pitchFamily="2" charset="0"/>
                <a:ea typeface="Times New Roman" panose="02020603050405020304" pitchFamily="18" charset="0"/>
                <a:cs typeface="Calibri" panose="020F0502020204030204" pitchFamily="34" charset="0"/>
              </a:rPr>
              <a:t>mon.bg</a:t>
            </a:r>
            <a:endParaRPr lang="bg-BG" dirty="0">
              <a:latin typeface="Comfortaa" pitchFamily="2" charset="0"/>
            </a:endParaRPr>
          </a:p>
        </p:txBody>
      </p:sp>
      <p:pic>
        <p:nvPicPr>
          <p:cNvPr id="2" name="Logo CC-BY-NC-SA">
            <a:hlinkClick r:id="rId5"/>
            <a:extLst>
              <a:ext uri="{FF2B5EF4-FFF2-40B4-BE49-F238E27FC236}">
                <a16:creationId xmlns:a16="http://schemas.microsoft.com/office/drawing/2014/main" id="{39F87C09-7AAD-A59F-33F5-8BECE165CB0C}"/>
              </a:ext>
            </a:extLst>
          </p:cNvPr>
          <p:cNvPicPr>
            <a:picLocks noChangeAspect="1"/>
          </p:cNvPicPr>
          <p:nvPr/>
        </p:nvPicPr>
        <p:blipFill>
          <a:blip r:embed="rId6"/>
          <a:stretch>
            <a:fillRect/>
          </a:stretch>
        </p:blipFill>
        <p:spPr>
          <a:xfrm>
            <a:off x="4087447" y="2650021"/>
            <a:ext cx="4017104" cy="1440815"/>
          </a:xfrm>
          <a:prstGeom prst="rect">
            <a:avLst/>
          </a:prstGeom>
        </p:spPr>
      </p:pic>
      <p:sp>
        <p:nvSpPr>
          <p:cNvPr id="12" name="TextBox 11">
            <a:extLst>
              <a:ext uri="{FF2B5EF4-FFF2-40B4-BE49-F238E27FC236}">
                <a16:creationId xmlns:a16="http://schemas.microsoft.com/office/drawing/2014/main" id="{ADBEA407-2EEF-D82D-ADB6-D20902F79FA2}"/>
              </a:ext>
            </a:extLst>
          </p:cNvPr>
          <p:cNvSpPr txBox="1"/>
          <p:nvPr/>
        </p:nvSpPr>
        <p:spPr>
          <a:xfrm>
            <a:off x="262246" y="5452243"/>
            <a:ext cx="11667507" cy="1200329"/>
          </a:xfrm>
          <a:prstGeom prst="rect">
            <a:avLst/>
          </a:prstGeom>
          <a:noFill/>
        </p:spPr>
        <p:txBody>
          <a:bodyPr wrap="square">
            <a:spAutoFit/>
          </a:bodyPr>
          <a:lstStyle/>
          <a:p>
            <a:pPr algn="ctr"/>
            <a:r>
              <a:rPr lang="bg-BG" sz="1800" dirty="0">
                <a:latin typeface="Comfortaa" pitchFamily="2" charset="0"/>
              </a:rPr>
              <a:t>Документът е разработен за нуждите на Национална програма "Обучение за ИТ умения и кариера" на Министерството на образованието и науката (МОН)</a:t>
            </a:r>
            <a:r>
              <a:rPr lang="en-US" sz="1800" dirty="0">
                <a:latin typeface="Comfortaa" pitchFamily="2" charset="0"/>
              </a:rPr>
              <a:t> </a:t>
            </a:r>
            <a:r>
              <a:rPr lang="bg-BG" sz="1800" dirty="0">
                <a:latin typeface="Comfortaa" pitchFamily="2" charset="0"/>
              </a:rPr>
              <a:t>и се разпространява под свободен лиценз CC-BY-NC-SA (</a:t>
            </a:r>
            <a:r>
              <a:rPr lang="bg-BG" sz="1800" dirty="0" err="1">
                <a:latin typeface="Comfortaa" pitchFamily="2" charset="0"/>
              </a:rPr>
              <a:t>Creative</a:t>
            </a:r>
            <a:r>
              <a:rPr lang="bg-BG" sz="1800" dirty="0">
                <a:latin typeface="Comfortaa" pitchFamily="2" charset="0"/>
              </a:rPr>
              <a:t> </a:t>
            </a:r>
            <a:r>
              <a:rPr lang="bg-BG" sz="1800" dirty="0" err="1">
                <a:latin typeface="Comfortaa" pitchFamily="2" charset="0"/>
              </a:rPr>
              <a:t>Commons</a:t>
            </a:r>
            <a:r>
              <a:rPr lang="bg-BG" sz="1800" dirty="0">
                <a:latin typeface="Comfortaa" pitchFamily="2" charset="0"/>
              </a:rPr>
              <a:t> </a:t>
            </a:r>
            <a:r>
              <a:rPr lang="bg-BG" sz="1800" dirty="0" err="1">
                <a:latin typeface="Comfortaa" pitchFamily="2" charset="0"/>
              </a:rPr>
              <a:t>Attribution-Non-Commercial-Share-Alike</a:t>
            </a:r>
            <a:r>
              <a:rPr lang="bg-BG" sz="1800" dirty="0">
                <a:latin typeface="Comfortaa" pitchFamily="2" charset="0"/>
              </a:rPr>
              <a:t> 4.0 International).</a:t>
            </a:r>
            <a:endParaRPr lang="bg-BG" dirty="0"/>
          </a:p>
        </p:txBody>
      </p:sp>
    </p:spTree>
    <p:extLst>
      <p:ext uri="{BB962C8B-B14F-4D97-AF65-F5344CB8AC3E}">
        <p14:creationId xmlns:p14="http://schemas.microsoft.com/office/powerpoint/2010/main" val="12413446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110</TotalTime>
  <Words>1076</Words>
  <Application>Microsoft Office PowerPoint</Application>
  <PresentationFormat>Widescreen</PresentationFormat>
  <Paragraphs>157</Paragraphs>
  <Slides>16</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Comfortaa</vt:lpstr>
      <vt:lpstr>Consolas</vt:lpstr>
      <vt:lpstr>Wingdings</vt:lpstr>
      <vt:lpstr>Office Theme</vt:lpstr>
      <vt:lpstr>Въведение в събитийното програмиране. Делегати</vt:lpstr>
      <vt:lpstr>Съдържание</vt:lpstr>
      <vt:lpstr>Какво са събитията?</vt:lpstr>
      <vt:lpstr>Какво са събитията?</vt:lpstr>
      <vt:lpstr>Какво са делегатите?</vt:lpstr>
      <vt:lpstr>Какво е обработчик на събитето?</vt:lpstr>
      <vt:lpstr>Какво са делегатите?</vt:lpstr>
      <vt:lpstr>Създаване на делегати</vt:lpstr>
      <vt:lpstr>Какво е Делегат за пакетна обработка (Multicast)? </vt:lpstr>
      <vt:lpstr>Създаване на инстанция на делегат</vt:lpstr>
      <vt:lpstr>Присвяване на ламбда към делегат</vt:lpstr>
      <vt:lpstr>Операции с делегати</vt:lpstr>
      <vt:lpstr>Ограничения за делегат</vt:lpstr>
      <vt:lpstr>Примери за делегати</vt:lpstr>
      <vt:lpstr>Какво научихме?</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Димитър Минчев</dc:creator>
  <cp:lastModifiedBy>Димитър Минчев</cp:lastModifiedBy>
  <cp:revision>11</cp:revision>
  <dcterms:created xsi:type="dcterms:W3CDTF">2022-08-09T09:25:46Z</dcterms:created>
  <dcterms:modified xsi:type="dcterms:W3CDTF">2022-09-20T05:39:23Z</dcterms:modified>
</cp:coreProperties>
</file>