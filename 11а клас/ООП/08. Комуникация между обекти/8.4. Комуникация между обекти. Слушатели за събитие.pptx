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712" r:id="rId3"/>
    <p:sldId id="705" r:id="rId4"/>
    <p:sldId id="706" r:id="rId5"/>
    <p:sldId id="707" r:id="rId6"/>
    <p:sldId id="708" r:id="rId7"/>
    <p:sldId id="709" r:id="rId8"/>
    <p:sldId id="710" r:id="rId9"/>
    <p:sldId id="715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712"/>
          </p14:sldIdLst>
        </p14:section>
        <p14:section name="Съдържание" id="{0B0C01F3-1F60-4ADB-AC1E-9589654EAEF3}">
          <p14:sldIdLst>
            <p14:sldId id="705"/>
            <p14:sldId id="706"/>
            <p14:sldId id="707"/>
            <p14:sldId id="708"/>
            <p14:sldId id="709"/>
            <p14:sldId id="710"/>
          </p14:sldIdLst>
        </p14:section>
        <p14:section name="Заключение" id="{9315BEE7-605C-4839-996A-A4EEA70921D9}">
          <p14:sldIdLst>
            <p14:sldId id="715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4A6FAD9-F224-47BA-A25F-DE3E844BB0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78683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BE5BE71-54B9-4F87-9B8C-5527B2222B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6714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D978CB2-20F4-4336-A58A-425D8CC65C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34221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1A0508-3FAA-4073-8F2A-13496D4C9E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2149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Слушатели за събитие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Комуникация</a:t>
            </a:r>
            <a:r>
              <a:rPr lang="ru-RU" dirty="0">
                <a:latin typeface="Comfortaa" pitchFamily="2" charset="0"/>
              </a:rPr>
              <a:t> между </a:t>
            </a:r>
            <a:r>
              <a:rPr lang="ru-RU" dirty="0" err="1">
                <a:latin typeface="Comfortaa" pitchFamily="2" charset="0"/>
              </a:rPr>
              <a:t>обекти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3514" y="792636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03514" y="2118199"/>
            <a:ext cx="10515600" cy="1658611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sz="3200" dirty="0">
                <a:latin typeface="Comfortaa" pitchFamily="2" charset="0"/>
              </a:rPr>
              <a:t>Наблюдателски/слушателски шаблон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en-US" sz="3200" dirty="0">
                <a:latin typeface="Comfortaa" pitchFamily="2" charset="0"/>
              </a:rPr>
              <a:t>UML</a:t>
            </a:r>
          </a:p>
        </p:txBody>
      </p:sp>
    </p:spTree>
    <p:extLst>
      <p:ext uri="{BB962C8B-B14F-4D97-AF65-F5344CB8AC3E}">
        <p14:creationId xmlns:p14="http://schemas.microsoft.com/office/powerpoint/2010/main" val="314570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848" y="2239328"/>
            <a:ext cx="10840496" cy="17307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Дефиниране на връзка</a:t>
            </a:r>
            <a:r>
              <a:rPr lang="en-GB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(едно към много) о</a:t>
            </a:r>
            <a:r>
              <a:rPr lang="en-GB" sz="2400" b="1" dirty="0">
                <a:solidFill>
                  <a:srgbClr val="00B0F0"/>
                </a:solidFill>
                <a:latin typeface="Comfortaa" pitchFamily="2" charset="0"/>
              </a:rPr>
              <a:t>ne-to-many</a:t>
            </a:r>
            <a:endParaRPr lang="en-GB" sz="2400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ru-RU" sz="2400" b="1" dirty="0">
                <a:solidFill>
                  <a:srgbClr val="00B0F0"/>
                </a:solidFill>
                <a:latin typeface="Comfortaa" pitchFamily="2" charset="0"/>
              </a:rPr>
              <a:t>Наблюдателите</a:t>
            </a:r>
            <a:r>
              <a:rPr lang="ru-RU" sz="2400" dirty="0">
                <a:latin typeface="Comfortaa" pitchFamily="2" charset="0"/>
              </a:rPr>
              <a:t> се актуализират след настъпване на събитие </a:t>
            </a:r>
            <a:r>
              <a:rPr lang="en-GB" sz="2400" dirty="0">
                <a:latin typeface="Comfortaa" pitchFamily="2" charset="0"/>
              </a:rPr>
              <a:t> 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248" y="913765"/>
            <a:ext cx="9600210" cy="1325563"/>
          </a:xfrm>
        </p:spPr>
        <p:txBody>
          <a:bodyPr>
            <a:normAutofit/>
          </a:bodyPr>
          <a:lstStyle/>
          <a:p>
            <a:r>
              <a:rPr lang="bg-BG" sz="3600" b="1" dirty="0" err="1">
                <a:latin typeface="Comfortaa" pitchFamily="2" charset="0"/>
              </a:rPr>
              <a:t>Наблюдателски</a:t>
            </a:r>
            <a:r>
              <a:rPr lang="en-US" sz="3600" b="1" dirty="0">
                <a:latin typeface="Comfortaa" pitchFamily="2" charset="0"/>
              </a:rPr>
              <a:t> / </a:t>
            </a:r>
            <a:r>
              <a:rPr lang="bg-BG" sz="3600" b="1" dirty="0">
                <a:latin typeface="Comfortaa" pitchFamily="2" charset="0"/>
              </a:rPr>
              <a:t>Слушателски шаблон на дизайн</a:t>
            </a:r>
            <a:endParaRPr lang="en-US" sz="3600" b="1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5752" y="3672840"/>
            <a:ext cx="10840496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Subject subject = new Subject();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subject.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addObserver</a:t>
            </a: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(new Observer());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subject.</a:t>
            </a:r>
            <a:r>
              <a:rPr lang="en-GB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addObserver</a:t>
            </a:r>
            <a:r>
              <a:rPr lang="en-GB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(new Observer());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ru-RU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наблюдателите са уведомени след промяна на състоянието</a:t>
            </a:r>
            <a:endParaRPr lang="en-GB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43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5723"/>
            <a:ext cx="10437421" cy="1162791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Предмет, наблюдател </a:t>
            </a:r>
            <a:endParaRPr lang="en-US" dirty="0">
              <a:latin typeface="Comfortaa" pitchFamily="2" charset="0"/>
            </a:endParaRPr>
          </a:p>
          <a:p>
            <a:r>
              <a:rPr lang="en-US" dirty="0" err="1">
                <a:latin typeface="Comfortaa" pitchFamily="2" charset="0"/>
              </a:rPr>
              <a:t>ConcreteObserver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Наблюдател</a:t>
            </a:r>
            <a:r>
              <a:rPr lang="en-US" dirty="0">
                <a:latin typeface="Comfortaa" pitchFamily="2" charset="0"/>
              </a:rPr>
              <a:t> – UML</a:t>
            </a:r>
          </a:p>
        </p:txBody>
      </p:sp>
      <p:cxnSp>
        <p:nvCxnSpPr>
          <p:cNvPr id="23" name="Straight Connector 22"/>
          <p:cNvCxnSpPr>
            <a:cxnSpLocks/>
            <a:stCxn id="22" idx="1"/>
            <a:endCxn id="22" idx="3"/>
          </p:cNvCxnSpPr>
          <p:nvPr/>
        </p:nvCxnSpPr>
        <p:spPr>
          <a:xfrm>
            <a:off x="6668920" y="3844739"/>
            <a:ext cx="2514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184119" y="3006539"/>
            <a:ext cx="9828201" cy="3120138"/>
            <a:chOff x="1155580" y="2590800"/>
            <a:chExt cx="9828201" cy="3120138"/>
          </a:xfrm>
        </p:grpSpPr>
        <p:cxnSp>
          <p:nvCxnSpPr>
            <p:cNvPr id="38" name="Connector: Elbow 37"/>
            <p:cNvCxnSpPr>
              <a:cxnSpLocks/>
              <a:stCxn id="41" idx="0"/>
              <a:endCxn id="22" idx="2"/>
            </p:cNvCxnSpPr>
            <p:nvPr/>
          </p:nvCxnSpPr>
          <p:spPr>
            <a:xfrm rot="5400000" flipH="1" flipV="1">
              <a:off x="6670941" y="3569798"/>
              <a:ext cx="910338" cy="1543142"/>
            </a:xfrm>
            <a:prstGeom prst="bentConnector3">
              <a:avLst>
                <a:gd name="adj1" fmla="val 50000"/>
              </a:avLst>
            </a:prstGeom>
            <a:solidFill>
              <a:srgbClr val="00B0F0"/>
            </a:solidFill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/>
            <p:cNvCxnSpPr>
              <a:cxnSpLocks/>
              <a:stCxn id="35" idx="0"/>
              <a:endCxn id="22" idx="2"/>
            </p:cNvCxnSpPr>
            <p:nvPr/>
          </p:nvCxnSpPr>
          <p:spPr>
            <a:xfrm rot="16200000" flipV="1">
              <a:off x="8295610" y="3488271"/>
              <a:ext cx="910338" cy="1706195"/>
            </a:xfrm>
            <a:prstGeom prst="bentConnector3">
              <a:avLst>
                <a:gd name="adj1" fmla="val 50000"/>
              </a:avLst>
            </a:prstGeom>
            <a:solidFill>
              <a:srgbClr val="00B0F0"/>
            </a:solidFill>
            <a:ln w="254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/>
              <a:stCxn id="26" idx="3"/>
              <a:endCxn id="22" idx="1"/>
            </p:cNvCxnSpPr>
            <p:nvPr/>
          </p:nvCxnSpPr>
          <p:spPr>
            <a:xfrm>
              <a:off x="5332412" y="3429000"/>
              <a:ext cx="1307969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/>
            <p:cNvSpPr/>
            <p:nvPr/>
          </p:nvSpPr>
          <p:spPr>
            <a:xfrm>
              <a:off x="6640381" y="2971800"/>
              <a:ext cx="2514600" cy="914400"/>
            </a:xfrm>
            <a:prstGeom prst="roundRect">
              <a:avLst>
                <a:gd name="adj" fmla="val 8156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Observer</a:t>
              </a:r>
            </a:p>
            <a:p>
              <a:pPr algn="ctr"/>
              <a:r>
                <a:rPr lang="en-GB" dirty="0">
                  <a:solidFill>
                    <a:schemeClr val="bg1"/>
                  </a:solidFill>
                </a:rPr>
                <a:t>+notify()</a:t>
              </a:r>
            </a:p>
          </p:txBody>
        </p:sp>
        <p:sp>
          <p:nvSpPr>
            <p:cNvPr id="41" name="Rectangle: Rounded Corners 40"/>
            <p:cNvSpPr/>
            <p:nvPr/>
          </p:nvSpPr>
          <p:spPr>
            <a:xfrm>
              <a:off x="4897590" y="4796538"/>
              <a:ext cx="2913898" cy="914400"/>
            </a:xfrm>
            <a:prstGeom prst="roundRect">
              <a:avLst>
                <a:gd name="adj" fmla="val 8156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bg1"/>
                  </a:solidFill>
                </a:rPr>
                <a:t>ConcreteObserver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: Rounded Corners 34"/>
            <p:cNvSpPr/>
            <p:nvPr/>
          </p:nvSpPr>
          <p:spPr>
            <a:xfrm>
              <a:off x="8223971" y="4796538"/>
              <a:ext cx="2759810" cy="914400"/>
            </a:xfrm>
            <a:prstGeom prst="roundRect">
              <a:avLst>
                <a:gd name="adj" fmla="val 8156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bg1"/>
                  </a:solidFill>
                </a:rPr>
                <a:t>ConcreteObserver</a:t>
              </a:r>
              <a:endParaRPr lang="en-GB" dirty="0">
                <a:solidFill>
                  <a:schemeClr val="bg1"/>
                </a:solidFill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155580" y="2590800"/>
              <a:ext cx="4399512" cy="1676400"/>
              <a:chOff x="1155580" y="2819400"/>
              <a:chExt cx="4399512" cy="1676400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1163088" y="2819400"/>
                <a:ext cx="4169324" cy="1676400"/>
              </a:xfrm>
              <a:prstGeom prst="roundRect">
                <a:avLst>
                  <a:gd name="adj" fmla="val 8156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>
                    <a:solidFill>
                      <a:schemeClr val="bg1"/>
                    </a:solidFill>
                  </a:rPr>
                  <a:t>Subject</a:t>
                </a:r>
                <a:endParaRPr lang="bg-BG" dirty="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GB" dirty="0">
                    <a:solidFill>
                      <a:schemeClr val="bg1"/>
                    </a:solidFill>
                  </a:rPr>
                  <a:t>-</a:t>
                </a:r>
                <a:r>
                  <a:rPr lang="en-GB" dirty="0" err="1">
                    <a:solidFill>
                      <a:schemeClr val="bg1"/>
                    </a:solidFill>
                  </a:rPr>
                  <a:t>ObserverCollection</a:t>
                </a:r>
                <a:endParaRPr lang="en-GB" dirty="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GB" dirty="0">
                    <a:solidFill>
                      <a:schemeClr val="bg1"/>
                    </a:solidFill>
                  </a:rPr>
                  <a:t>+registerObserver(Observer)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GB" dirty="0">
                    <a:solidFill>
                      <a:schemeClr val="bg1"/>
                    </a:solidFill>
                  </a:rPr>
                  <a:t>+notifyObservers()</a:t>
                </a:r>
              </a:p>
            </p:txBody>
          </p:sp>
          <p:sp>
            <p:nvSpPr>
              <p:cNvPr id="24" name="Flowchart: Decision 23"/>
              <p:cNvSpPr/>
              <p:nvPr/>
            </p:nvSpPr>
            <p:spPr>
              <a:xfrm>
                <a:off x="5324904" y="3591128"/>
                <a:ext cx="230188" cy="152400"/>
              </a:xfrm>
              <a:prstGeom prst="flowChartDecision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/>
              </a:p>
            </p:txBody>
          </p:sp>
          <p:cxnSp>
            <p:nvCxnSpPr>
              <p:cNvPr id="30" name="Straight Connector 29"/>
              <p:cNvCxnSpPr>
                <a:cxnSpLocks/>
              </p:cNvCxnSpPr>
              <p:nvPr/>
            </p:nvCxnSpPr>
            <p:spPr>
              <a:xfrm>
                <a:off x="1155580" y="3307278"/>
                <a:ext cx="4169324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cxnSpLocks/>
              </p:cNvCxnSpPr>
              <p:nvPr/>
            </p:nvCxnSpPr>
            <p:spPr>
              <a:xfrm>
                <a:off x="1155580" y="3743528"/>
                <a:ext cx="4169324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8995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79925" cy="4554972"/>
          </a:xfrm>
        </p:spPr>
        <p:txBody>
          <a:bodyPr>
            <a:normAutofit/>
          </a:bodyPr>
          <a:lstStyle/>
          <a:p>
            <a:r>
              <a:rPr lang="bg-BG" noProof="1">
                <a:latin typeface="Comfortaa" pitchFamily="2" charset="0"/>
              </a:rPr>
              <a:t>Направете следното</a:t>
            </a:r>
            <a:r>
              <a:rPr lang="en-US" noProof="1">
                <a:latin typeface="Comfortaa" pitchFamily="2" charset="0"/>
              </a:rPr>
              <a:t>: </a:t>
            </a:r>
          </a:p>
          <a:p>
            <a:r>
              <a:rPr lang="bg-BG" noProof="1">
                <a:latin typeface="Comfortaa" pitchFamily="2" charset="0"/>
              </a:rPr>
              <a:t>интерфейс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ISubject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void Register(IObserver)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void Unregister(IObserver)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void NotifyObservers()</a:t>
            </a:r>
          </a:p>
          <a:p>
            <a:r>
              <a:rPr lang="bg-BG" noProof="1">
                <a:latin typeface="Comfortaa" pitchFamily="2" charset="0"/>
              </a:rPr>
              <a:t>интерфейс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IObserver</a:t>
            </a:r>
          </a:p>
          <a:p>
            <a:pPr lvl="1"/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Update(int)</a:t>
            </a:r>
          </a:p>
          <a:p>
            <a:r>
              <a:rPr lang="bg-BG" noProof="1">
                <a:latin typeface="Comfortaa" pitchFamily="2" charset="0"/>
              </a:rPr>
              <a:t>Ако </a:t>
            </a: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целта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bg-BG" noProof="1" smtClean="0">
                <a:solidFill>
                  <a:srgbClr val="FF0000"/>
                </a:solidFill>
                <a:latin typeface="Comfortaa" pitchFamily="2" charset="0"/>
              </a:rPr>
              <a:t>приключи</a:t>
            </a:r>
            <a:r>
              <a:rPr lang="en-US" noProof="1" smtClean="0">
                <a:latin typeface="Comfortaa" pitchFamily="2" charset="0"/>
              </a:rPr>
              <a:t>, </a:t>
            </a:r>
            <a:r>
              <a:rPr lang="bg-BG" noProof="1">
                <a:latin typeface="Comfortaa" pitchFamily="2" charset="0"/>
              </a:rPr>
              <a:t>това ще </a:t>
            </a: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изпрати награда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към всички свои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наблюдатели</a:t>
            </a:r>
            <a:endParaRPr lang="en-US" b="1" noProof="1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наблюдател 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924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752" y="249383"/>
            <a:ext cx="10840496" cy="127513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наблюдател </a:t>
            </a:r>
            <a:r>
              <a:rPr lang="en-US" dirty="0">
                <a:latin typeface="Comfortaa" pitchFamily="2" charset="0"/>
              </a:rPr>
              <a:t>[</a:t>
            </a:r>
            <a:r>
              <a:rPr lang="bg-BG" dirty="0">
                <a:latin typeface="Comfortaa" pitchFamily="2" charset="0"/>
              </a:rPr>
              <a:t>1/3</a:t>
            </a:r>
            <a:r>
              <a:rPr lang="en-US" dirty="0">
                <a:latin typeface="Comfortaa" pitchFamily="2" charset="0"/>
              </a:rPr>
              <a:t>]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75752" y="1524513"/>
            <a:ext cx="10840496" cy="26776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interface Subject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void Register(IObserver observer);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void Unregister(IObserver observer);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void NotifyObservers();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5752" y="4611989"/>
            <a:ext cx="10840496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en-GB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Target</a:t>
            </a: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: </a:t>
            </a:r>
            <a:r>
              <a:rPr lang="en-GB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Subject</a:t>
            </a: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639448" y="5263802"/>
            <a:ext cx="4648200" cy="1143000"/>
          </a:xfrm>
          <a:prstGeom prst="wedgeRoundRectCallout">
            <a:avLst>
              <a:gd name="adj1" fmla="val -57211"/>
              <a:gd name="adj2" fmla="val -5417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* 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Това е </a:t>
            </a:r>
            <a:r>
              <a:rPr lang="bg-BG" b="1" dirty="0">
                <a:solidFill>
                  <a:schemeClr val="tx1"/>
                </a:solidFill>
                <a:latin typeface="Comfortaa" pitchFamily="2" charset="0"/>
              </a:rPr>
              <a:t>нарушение</a:t>
            </a:r>
            <a:r>
              <a:rPr lang="bg-BG" b="1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на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mfortaa" pitchFamily="2" charset="0"/>
              </a:rPr>
              <a:t>ISP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, 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намерете по-добро решение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2E8D2FC8-CA8F-45A2-A064-C90DA0601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35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85442" y="1655141"/>
            <a:ext cx="10329862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interface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Observer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void Update(int val);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85442" y="3940628"/>
            <a:ext cx="10329862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 class Hero : 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Attacker</a:t>
            </a: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GB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Observer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реализация на класа</a:t>
            </a:r>
            <a:endParaRPr lang="en-GB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FFF24FF-BCB8-B1CB-5BCD-5CFF0077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52" y="249383"/>
            <a:ext cx="10840496" cy="127513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наблюдател </a:t>
            </a:r>
            <a:r>
              <a:rPr lang="en-US" dirty="0">
                <a:latin typeface="Comfortaa" pitchFamily="2" charset="0"/>
              </a:rPr>
              <a:t>[2</a:t>
            </a:r>
            <a:r>
              <a:rPr lang="bg-BG" dirty="0">
                <a:latin typeface="Comfortaa" pitchFamily="2" charset="0"/>
              </a:rPr>
              <a:t>/3</a:t>
            </a:r>
            <a:r>
              <a:rPr lang="en-US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38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75752" y="1422200"/>
            <a:ext cx="10840496" cy="489364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Register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(IObserver observer)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this.observers.add(observer);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Unregister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(IObserver observer)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this.observers.remove(observer);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void </a:t>
            </a:r>
            <a:r>
              <a:rPr lang="en-GB" sz="24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NotifyObservers</a:t>
            </a: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foreach (IObserver observer in observers)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observer.Update(this.reward);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8544297" y="2849087"/>
            <a:ext cx="3286647" cy="1984169"/>
          </a:xfrm>
          <a:prstGeom prst="wedgeRoundRectCallout">
            <a:avLst>
              <a:gd name="adj1" fmla="val -70780"/>
              <a:gd name="adj2" fmla="val -3154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Добавете методи за довършване на задачата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4C42384-6D12-8C6C-4041-2C3BE543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52" y="249383"/>
            <a:ext cx="10840496" cy="127513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наблюдател </a:t>
            </a:r>
            <a:r>
              <a:rPr lang="en-US" dirty="0">
                <a:latin typeface="Comfortaa" pitchFamily="2" charset="0"/>
              </a:rPr>
              <a:t>[3</a:t>
            </a:r>
            <a:r>
              <a:rPr lang="bg-BG" dirty="0">
                <a:latin typeface="Comfortaa" pitchFamily="2" charset="0"/>
              </a:rPr>
              <a:t>/3</a:t>
            </a:r>
            <a:r>
              <a:rPr lang="en-US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3266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27265" y="834200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27265" y="2159763"/>
            <a:ext cx="10192969" cy="180111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bg-BG" sz="3200" dirty="0">
                <a:latin typeface="Comfortaa" pitchFamily="2" charset="0"/>
              </a:rPr>
              <a:t>Запознахме се с шаблона</a:t>
            </a:r>
            <a:r>
              <a:rPr lang="en-US" sz="3200" dirty="0">
                <a:latin typeface="Comfortaa" pitchFamily="2" charset="0"/>
              </a:rPr>
              <a:t> "</a:t>
            </a:r>
            <a:r>
              <a:rPr lang="bg-BG" sz="3200" dirty="0">
                <a:latin typeface="Comfortaa" pitchFamily="2" charset="0"/>
              </a:rPr>
              <a:t>наблюдател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/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слушател на събитие</a:t>
            </a:r>
            <a:r>
              <a:rPr lang="en-US" sz="3200" dirty="0">
                <a:latin typeface="Comfortaa" pitchFamily="2" charset="0"/>
              </a:rPr>
              <a:t>"</a:t>
            </a:r>
            <a:endParaRPr lang="bg-BG" sz="32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225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419</Words>
  <Application>Microsoft Office PowerPoint</Application>
  <PresentationFormat>Widescreen</PresentationFormat>
  <Paragraphs>91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Comfortaa</vt:lpstr>
      <vt:lpstr>Consolas</vt:lpstr>
      <vt:lpstr>Times New Roman</vt:lpstr>
      <vt:lpstr>Office Theme</vt:lpstr>
      <vt:lpstr>Слушатели за събитие</vt:lpstr>
      <vt:lpstr>Съдържание</vt:lpstr>
      <vt:lpstr>Наблюдателски / Слушателски шаблон на дизайн</vt:lpstr>
      <vt:lpstr>Наблюдател – UML</vt:lpstr>
      <vt:lpstr>Задача: наблюдател </vt:lpstr>
      <vt:lpstr>Решение: наблюдател [1/3]</vt:lpstr>
      <vt:lpstr>Решение: наблюдател [2/3]</vt:lpstr>
      <vt:lpstr>Решение: наблюдател [3/3]</vt:lpstr>
      <vt:lpstr>Какво научихме?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12</cp:revision>
  <dcterms:created xsi:type="dcterms:W3CDTF">2022-08-09T09:25:46Z</dcterms:created>
  <dcterms:modified xsi:type="dcterms:W3CDTF">2025-10-03T14:34:33Z</dcterms:modified>
</cp:coreProperties>
</file>