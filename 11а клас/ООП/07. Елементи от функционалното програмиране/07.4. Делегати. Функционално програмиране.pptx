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2"/>
  </p:notesMasterIdLst>
  <p:sldIdLst>
    <p:sldId id="258" r:id="rId2"/>
    <p:sldId id="503" r:id="rId3"/>
    <p:sldId id="487" r:id="rId4"/>
    <p:sldId id="488" r:id="rId5"/>
    <p:sldId id="489" r:id="rId6"/>
    <p:sldId id="507" r:id="rId7"/>
    <p:sldId id="490" r:id="rId8"/>
    <p:sldId id="491" r:id="rId9"/>
    <p:sldId id="492" r:id="rId10"/>
    <p:sldId id="493" r:id="rId11"/>
    <p:sldId id="494" r:id="rId12"/>
    <p:sldId id="495" r:id="rId13"/>
    <p:sldId id="496" r:id="rId14"/>
    <p:sldId id="497" r:id="rId15"/>
    <p:sldId id="498" r:id="rId16"/>
    <p:sldId id="499" r:id="rId17"/>
    <p:sldId id="500" r:id="rId18"/>
    <p:sldId id="502" r:id="rId19"/>
    <p:sldId id="501" r:id="rId20"/>
    <p:sldId id="572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</p14:sldIdLst>
        </p14:section>
        <p14:section name="Съдържание" id="{0B0C01F3-1F60-4ADB-AC1E-9589654EAEF3}">
          <p14:sldIdLst>
            <p14:sldId id="503"/>
            <p14:sldId id="487"/>
            <p14:sldId id="488"/>
            <p14:sldId id="489"/>
            <p14:sldId id="507"/>
            <p14:sldId id="490"/>
            <p14:sldId id="491"/>
            <p14:sldId id="492"/>
            <p14:sldId id="493"/>
            <p14:sldId id="494"/>
            <p14:sldId id="495"/>
            <p14:sldId id="496"/>
            <p14:sldId id="497"/>
            <p14:sldId id="498"/>
            <p14:sldId id="499"/>
            <p14:sldId id="500"/>
            <p14:sldId id="502"/>
            <p14:sldId id="501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8A51F5-6E34-4A9B-8787-8C29D4F40D1D}" v="1" dt="2022-08-10T06:34:56.1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92" d="100"/>
          <a:sy n="92" d="100"/>
        </p:scale>
        <p:origin x="5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9091DC6D-C2B3-4EEB-8119-BDA29C77324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1402307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3A346AB7-1CAB-4C5A-9A5A-2427BC2F264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044928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mon.bg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udge.softuni.bg/Contests/Practice/Index/597#1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judge.softuni.bg/Contests/Practice/Index/597#2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judge.softuni.bg/Contests/Practice/Index/597#3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judge.softuni.bg/Contests/Practice/Index/597#4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judge.softuni.bg/Contests/Practice/Index/597#4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creativecommons.org/licenses/by-nc-sa/4.0" TargetMode="External"/><Relationship Id="rId4" Type="http://schemas.openxmlformats.org/officeDocument/2006/relationships/hyperlink" Target="https://www.mon.b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bg-BG" dirty="0">
                <a:latin typeface="Comfortaa" pitchFamily="2" charset="0"/>
              </a:rPr>
              <a:t>Елементи от функционалното програмиране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ru-RU" dirty="0" err="1">
                <a:latin typeface="Comfortaa" pitchFamily="2" charset="0"/>
              </a:rPr>
              <a:t>Делегати</a:t>
            </a:r>
            <a:r>
              <a:rPr lang="ru-RU" dirty="0">
                <a:latin typeface="Comfortaa" pitchFamily="2" charset="0"/>
              </a:rPr>
              <a:t>, функции, действия. </a:t>
            </a:r>
            <a:r>
              <a:rPr lang="ru-RU" dirty="0" err="1">
                <a:latin typeface="Comfortaa" pitchFamily="2" charset="0"/>
              </a:rPr>
              <a:t>Предаване</a:t>
            </a:r>
            <a:r>
              <a:rPr lang="ru-RU" dirty="0">
                <a:latin typeface="Comfortaa" pitchFamily="2" charset="0"/>
              </a:rPr>
              <a:t> на функции и действия </a:t>
            </a:r>
            <a:r>
              <a:rPr lang="ru-RU" dirty="0" err="1">
                <a:latin typeface="Comfortaa" pitchFamily="2" charset="0"/>
              </a:rPr>
              <a:t>като</a:t>
            </a:r>
            <a:r>
              <a:rPr lang="ru-RU" dirty="0">
                <a:latin typeface="Comfortaa" pitchFamily="2" charset="0"/>
              </a:rPr>
              <a:t> </a:t>
            </a:r>
            <a:r>
              <a:rPr lang="ru-RU" dirty="0" err="1">
                <a:latin typeface="Comfortaa" pitchFamily="2" charset="0"/>
              </a:rPr>
              <a:t>параметри</a:t>
            </a:r>
            <a:endParaRPr lang="ru-RU" dirty="0">
              <a:latin typeface="Comfortaa" pitchFamily="2" charset="0"/>
            </a:endParaRP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975260" y="1137022"/>
            <a:ext cx="10241478" cy="1325563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Съдържание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975261" y="2478852"/>
            <a:ext cx="10241478" cy="2982710"/>
          </a:xfrm>
        </p:spPr>
        <p:txBody>
          <a:bodyPr>
            <a:normAutofit/>
          </a:bodyPr>
          <a:lstStyle/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Променливи от тип "функция" в </a:t>
            </a:r>
            <a:r>
              <a:rPr lang="en-US" dirty="0">
                <a:latin typeface="Comfortaa" pitchFamily="2" charset="0"/>
              </a:rPr>
              <a:t>C#</a:t>
            </a:r>
            <a:endParaRPr lang="bg-BG" dirty="0">
              <a:latin typeface="Comfortaa" pitchFamily="2" charset="0"/>
            </a:endParaRPr>
          </a:p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Действия (процедури): </a:t>
            </a:r>
            <a:r>
              <a:rPr lang="en-US" dirty="0">
                <a:latin typeface="Comfortaa" pitchFamily="2" charset="0"/>
              </a:rPr>
              <a:t>Action&lt;T&gt;</a:t>
            </a:r>
            <a:endParaRPr lang="bg-BG" dirty="0">
              <a:latin typeface="Comfortaa" pitchFamily="2" charset="0"/>
            </a:endParaRPr>
          </a:p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Делегати</a:t>
            </a:r>
          </a:p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Предаване на функции към метод</a:t>
            </a:r>
          </a:p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905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4"/>
            <a:ext cx="10515600" cy="469937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Инициализация на функция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3000" dirty="0">
                <a:latin typeface="Comfortaa" pitchFamily="2" charset="0"/>
              </a:rPr>
              <a:t>входният и изходният тип могат да са </a:t>
            </a:r>
            <a:r>
              <a:rPr lang="bg-BG" sz="30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различни</a:t>
            </a:r>
            <a:endParaRPr lang="en-US" sz="3000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3000" dirty="0">
                <a:latin typeface="Comfortaa" pitchFamily="2" charset="0"/>
              </a:rPr>
              <a:t>входният и изходният тип </a:t>
            </a:r>
            <a:r>
              <a:rPr lang="bg-BG" sz="30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може</a:t>
            </a:r>
            <a:r>
              <a:rPr lang="en-US" sz="3000" dirty="0">
                <a:latin typeface="Comfortaa" pitchFamily="2" charset="0"/>
              </a:rPr>
              <a:t> </a:t>
            </a:r>
            <a:r>
              <a:rPr lang="bg-BG" sz="3000" dirty="0">
                <a:latin typeface="Comfortaa" pitchFamily="2" charset="0"/>
              </a:rPr>
              <a:t>да са от </a:t>
            </a:r>
            <a:r>
              <a:rPr lang="bg-BG" sz="30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тип,</a:t>
            </a:r>
            <a:r>
              <a:rPr lang="en-US" sz="3000" dirty="0">
                <a:latin typeface="Comfortaa" pitchFamily="2" charset="0"/>
              </a:rPr>
              <a:t> </a:t>
            </a:r>
            <a:r>
              <a:rPr lang="bg-BG" sz="3000" dirty="0">
                <a:latin typeface="Comfortaa" pitchFamily="2" charset="0"/>
              </a:rPr>
              <a:t>който ние сме </a:t>
            </a:r>
            <a:r>
              <a:rPr lang="bg-BG" sz="30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декларирали</a:t>
            </a:r>
            <a:endParaRPr lang="en-US" sz="3000" dirty="0">
              <a:latin typeface="Comfortaa" pitchFamily="2" charset="0"/>
            </a:endParaRPr>
          </a:p>
        </p:txBody>
      </p:sp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3200" b="1" dirty="0">
                <a:latin typeface="Comfortaa" pitchFamily="2" charset="0"/>
              </a:rPr>
              <a:t>Променливи от тип (референция към) функция в </a:t>
            </a:r>
            <a:r>
              <a:rPr lang="en-US" sz="3200" b="1" dirty="0">
                <a:latin typeface="Comfortaa" pitchFamily="2" charset="0"/>
              </a:rPr>
              <a:t>C# </a:t>
            </a:r>
            <a:r>
              <a:rPr lang="en-US" sz="3200" b="1" dirty="0" err="1">
                <a:latin typeface="Comfortaa" pitchFamily="2" charset="0"/>
              </a:rPr>
              <a:t>Func</a:t>
            </a:r>
            <a:r>
              <a:rPr lang="en-US" sz="3200" b="1" dirty="0">
                <a:latin typeface="Comfortaa" pitchFamily="2" charset="0"/>
              </a:rPr>
              <a:t>&lt;T, </a:t>
            </a:r>
            <a:r>
              <a:rPr lang="en-US" sz="3200" b="1" dirty="0" err="1">
                <a:latin typeface="Comfortaa" pitchFamily="2" charset="0"/>
              </a:rPr>
              <a:t>TResult</a:t>
            </a:r>
            <a:r>
              <a:rPr lang="en-US" sz="3200" b="1" dirty="0">
                <a:latin typeface="Comfortaa" pitchFamily="2" charset="0"/>
              </a:rPr>
              <a:t>&gt;</a:t>
            </a:r>
            <a:endParaRPr lang="bg-BG" sz="3200" b="1" dirty="0">
              <a:latin typeface="Comfortaa" pitchFamily="2" charset="0"/>
            </a:endParaRP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461128" y="2403031"/>
            <a:ext cx="10100934" cy="55483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sv-SE" sz="30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Func&lt;int, string&gt; func = n =&gt; n.ToString();</a:t>
            </a:r>
            <a:endParaRPr lang="en-US" sz="3000" b="1" noProof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2604624" y="3345200"/>
            <a:ext cx="2414543" cy="666254"/>
          </a:xfrm>
          <a:prstGeom prst="wedgeRoundRectCallout">
            <a:avLst>
              <a:gd name="adj1" fmla="val 34819"/>
              <a:gd name="adj2" fmla="val -113402"/>
              <a:gd name="adj3" fmla="val 16667"/>
            </a:avLst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000" dirty="0">
                <a:solidFill>
                  <a:srgbClr val="FFFFFF"/>
                </a:solidFill>
                <a:latin typeface="Comfortaa" pitchFamily="2" charset="0"/>
              </a:rPr>
              <a:t>Изходен тип</a:t>
            </a:r>
          </a:p>
        </p:txBody>
      </p:sp>
      <p:sp>
        <p:nvSpPr>
          <p:cNvPr id="7" name="AutoShape 5"/>
          <p:cNvSpPr>
            <a:spLocks noChangeArrowheads="1"/>
          </p:cNvSpPr>
          <p:nvPr/>
        </p:nvSpPr>
        <p:spPr bwMode="auto">
          <a:xfrm>
            <a:off x="280918" y="3363964"/>
            <a:ext cx="2228850" cy="666254"/>
          </a:xfrm>
          <a:prstGeom prst="wedgeRoundRectCallout">
            <a:avLst>
              <a:gd name="adj1" fmla="val 63955"/>
              <a:gd name="adj2" fmla="val -121134"/>
              <a:gd name="adj3" fmla="val 16667"/>
            </a:avLst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000" dirty="0">
                <a:solidFill>
                  <a:srgbClr val="FFFFFF"/>
                </a:solidFill>
                <a:latin typeface="Comfortaa" pitchFamily="2" charset="0"/>
              </a:rPr>
              <a:t>Входен тип</a:t>
            </a:r>
          </a:p>
        </p:txBody>
      </p:sp>
      <p:sp>
        <p:nvSpPr>
          <p:cNvPr id="9" name="AutoShape 5"/>
          <p:cNvSpPr>
            <a:spLocks noChangeArrowheads="1"/>
          </p:cNvSpPr>
          <p:nvPr/>
        </p:nvSpPr>
        <p:spPr bwMode="auto">
          <a:xfrm>
            <a:off x="5109729" y="3362617"/>
            <a:ext cx="1485900" cy="666254"/>
          </a:xfrm>
          <a:prstGeom prst="wedgeRoundRectCallout">
            <a:avLst>
              <a:gd name="adj1" fmla="val 8485"/>
              <a:gd name="adj2" fmla="val -117268"/>
              <a:gd name="adj3" fmla="val 16667"/>
            </a:avLst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000" dirty="0">
                <a:solidFill>
                  <a:srgbClr val="FFFFFF"/>
                </a:solidFill>
                <a:latin typeface="Comfortaa" pitchFamily="2" charset="0"/>
              </a:rPr>
              <a:t>Име</a:t>
            </a:r>
          </a:p>
        </p:txBody>
      </p:sp>
      <p:sp>
        <p:nvSpPr>
          <p:cNvPr id="3" name="Right Brace 2"/>
          <p:cNvSpPr/>
          <p:nvPr/>
        </p:nvSpPr>
        <p:spPr>
          <a:xfrm rot="16200000" flipV="1">
            <a:off x="8387239" y="260562"/>
            <a:ext cx="465640" cy="3993193"/>
          </a:xfrm>
          <a:prstGeom prst="rightBrace">
            <a:avLst>
              <a:gd name="adj1" fmla="val 62577"/>
              <a:gd name="adj2" fmla="val 50000"/>
            </a:avLst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3" name="AutoShape 5"/>
          <p:cNvSpPr>
            <a:spLocks noChangeArrowheads="1"/>
          </p:cNvSpPr>
          <p:nvPr/>
        </p:nvSpPr>
        <p:spPr bwMode="auto">
          <a:xfrm>
            <a:off x="7897564" y="1335040"/>
            <a:ext cx="3811623" cy="666254"/>
          </a:xfrm>
          <a:prstGeom prst="wedgeRoundRectCallout">
            <a:avLst>
              <a:gd name="adj1" fmla="val -4516"/>
              <a:gd name="adj2" fmla="val 6446"/>
              <a:gd name="adj3" fmla="val 16667"/>
            </a:avLst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latin typeface="Comfortaa" pitchFamily="2" charset="0"/>
              </a:rPr>
              <a:t>Lambda </a:t>
            </a:r>
            <a:r>
              <a:rPr lang="bg-BG" sz="2000" dirty="0">
                <a:latin typeface="Comfortaa" pitchFamily="2" charset="0"/>
              </a:rPr>
              <a:t>израз</a:t>
            </a:r>
            <a:endParaRPr lang="bg-BG" sz="2000" dirty="0">
              <a:solidFill>
                <a:srgbClr val="FFFFFF"/>
              </a:solidFill>
              <a:latin typeface="Comfortaa" pitchFamily="2" charset="0"/>
            </a:endParaRPr>
          </a:p>
        </p:txBody>
      </p:sp>
      <p:sp>
        <p:nvSpPr>
          <p:cNvPr id="14" name="AutoShape 5"/>
          <p:cNvSpPr>
            <a:spLocks noChangeArrowheads="1"/>
          </p:cNvSpPr>
          <p:nvPr/>
        </p:nvSpPr>
        <p:spPr bwMode="auto">
          <a:xfrm>
            <a:off x="4413663" y="4175625"/>
            <a:ext cx="3924590" cy="663555"/>
          </a:xfrm>
          <a:prstGeom prst="wedgeRoundRectCallout">
            <a:avLst>
              <a:gd name="adj1" fmla="val 4061"/>
              <a:gd name="adj2" fmla="val -251849"/>
              <a:gd name="adj3" fmla="val 16667"/>
            </a:avLst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000" dirty="0">
                <a:solidFill>
                  <a:srgbClr val="FFFFFF"/>
                </a:solidFill>
                <a:latin typeface="Comfortaa" pitchFamily="2" charset="0"/>
              </a:rPr>
              <a:t>Входен параметър</a:t>
            </a:r>
          </a:p>
        </p:txBody>
      </p:sp>
      <p:sp>
        <p:nvSpPr>
          <p:cNvPr id="15" name="AutoShape 5"/>
          <p:cNvSpPr>
            <a:spLocks noChangeArrowheads="1"/>
          </p:cNvSpPr>
          <p:nvPr/>
        </p:nvSpPr>
        <p:spPr bwMode="auto">
          <a:xfrm>
            <a:off x="8490410" y="4175625"/>
            <a:ext cx="3348319" cy="663555"/>
          </a:xfrm>
          <a:prstGeom prst="wedgeRoundRectCallout">
            <a:avLst>
              <a:gd name="adj1" fmla="val -23663"/>
              <a:gd name="adj2" fmla="val -245343"/>
              <a:gd name="adj3" fmla="val 16667"/>
            </a:avLst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000" dirty="0">
                <a:latin typeface="Comfortaa" pitchFamily="2" charset="0"/>
              </a:rPr>
              <a:t>Връщан резултат</a:t>
            </a:r>
            <a:endParaRPr lang="bg-BG" sz="2000" dirty="0">
              <a:solidFill>
                <a:srgbClr val="FFFFFF"/>
              </a:solidFill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873149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В </a:t>
            </a:r>
            <a:r>
              <a:rPr lang="en-US" sz="2400" dirty="0">
                <a:latin typeface="Comfortaa" pitchFamily="2" charset="0"/>
              </a:rPr>
              <a:t>.NET </a:t>
            </a:r>
            <a:r>
              <a:rPr lang="en-US" sz="24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Action&lt;T&gt;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е метод, който не връща резултат</a:t>
            </a:r>
            <a:r>
              <a:rPr lang="en-US" sz="2400" dirty="0">
                <a:latin typeface="Comfortaa" pitchFamily="2" charset="0"/>
              </a:rPr>
              <a:t>:</a:t>
            </a: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Вместо да пишем метода можем да напишем</a:t>
            </a:r>
            <a:r>
              <a:rPr lang="en-US" sz="2400" dirty="0">
                <a:latin typeface="Comfortaa" pitchFamily="2" charset="0"/>
              </a:rPr>
              <a:t>:</a:t>
            </a: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Тогава ние го използваме така</a:t>
            </a:r>
            <a:r>
              <a:rPr lang="en-US" sz="2400" dirty="0">
                <a:latin typeface="Comfortaa" pitchFamily="2" charset="0"/>
              </a:rPr>
              <a:t>:</a:t>
            </a:r>
          </a:p>
        </p:txBody>
      </p:sp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Действия (процедури): </a:t>
            </a:r>
            <a:r>
              <a:rPr lang="en-US" dirty="0">
                <a:latin typeface="Comfortaa" pitchFamily="2" charset="0"/>
              </a:rPr>
              <a:t>Action&lt;T&gt;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161855" y="2166238"/>
            <a:ext cx="9712036" cy="99719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private void Print(string message)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  <a:r>
              <a:rPr lang="bg-BG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</a:t>
            </a: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Console.WriteLine(message);</a:t>
            </a:r>
            <a:r>
              <a:rPr lang="bg-BG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</a:t>
            </a: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161699" y="3681751"/>
            <a:ext cx="9712037" cy="913263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Action&lt;string&gt; print = message =&gt; Console.WriteLine(message);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161699" y="5176050"/>
            <a:ext cx="9712037" cy="99719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print("pesho");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print(5.ToString());</a:t>
            </a:r>
          </a:p>
        </p:txBody>
      </p:sp>
    </p:spTree>
    <p:extLst>
      <p:ext uri="{BB962C8B-B14F-4D97-AF65-F5344CB8AC3E}">
        <p14:creationId xmlns:p14="http://schemas.microsoft.com/office/powerpoint/2010/main" val="2283139566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909452" y="1938634"/>
            <a:ext cx="9694207" cy="245110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Въведете числа от клавиатурата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Използвайте собствена функция за парсване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Изведете броя на числата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Изведете сбора им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09452" y="542568"/>
            <a:ext cx="10515600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Задача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bg-BG" dirty="0">
                <a:latin typeface="Comfortaa" pitchFamily="2" charset="0"/>
              </a:rPr>
              <a:t>Сбор на числа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auto">
          <a:xfrm>
            <a:off x="8065580" y="4329774"/>
            <a:ext cx="2331266" cy="99719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10</a:t>
            </a:r>
          </a:p>
          <a:p>
            <a:pPr>
              <a:lnSpc>
                <a:spcPct val="105000"/>
              </a:lnSpc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41</a:t>
            </a:r>
            <a:endParaRPr lang="sv-SE" sz="2800" b="1" noProof="1">
              <a:solidFill>
                <a:schemeClr val="bg1"/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1192816" y="4555991"/>
            <a:ext cx="5957264" cy="54476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lang="sv-SE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4, 2, 1, 3, 5, 7, 1, 4, 2, 12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0C7EE742-2024-5208-0F8B-69105144406F}"/>
              </a:ext>
            </a:extLst>
          </p:cNvPr>
          <p:cNvSpPr/>
          <p:nvPr/>
        </p:nvSpPr>
        <p:spPr>
          <a:xfrm>
            <a:off x="7150079" y="4626492"/>
            <a:ext cx="915501" cy="40376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4340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85942"/>
            <a:ext cx="10515600" cy="4351338"/>
          </a:xfrm>
        </p:spPr>
        <p:txBody>
          <a:bodyPr/>
          <a:lstStyle/>
          <a:p>
            <a:r>
              <a:rPr lang="en-US" b="1" dirty="0" err="1">
                <a:latin typeface="Comfortaa" pitchFamily="2" charset="0"/>
              </a:rPr>
              <a:t>Func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и </a:t>
            </a:r>
            <a:r>
              <a:rPr lang="en-US" b="1" dirty="0">
                <a:latin typeface="Comfortaa" pitchFamily="2" charset="0"/>
              </a:rPr>
              <a:t>Action</a:t>
            </a:r>
            <a:r>
              <a:rPr lang="bg-BG" dirty="0">
                <a:latin typeface="Comfortaa" pitchFamily="2" charset="0"/>
              </a:rPr>
              <a:t> се реализират чрез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делегати</a:t>
            </a:r>
            <a:r>
              <a:rPr lang="bg-BG" dirty="0">
                <a:latin typeface="Comfortaa" pitchFamily="2" charset="0"/>
              </a:rPr>
              <a:t> и сами по себе си са вградени делегати. Допускат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до 15 параметъра</a:t>
            </a:r>
            <a:r>
              <a:rPr lang="bg-BG" dirty="0">
                <a:latin typeface="Comfortaa" pitchFamily="2" charset="0"/>
              </a:rPr>
              <a:t>, които са напълно достатъчни за практическа работа.</a:t>
            </a:r>
          </a:p>
          <a:p>
            <a:r>
              <a:rPr lang="bg-BG" dirty="0">
                <a:latin typeface="Comfortaa" pitchFamily="2" charset="0"/>
              </a:rPr>
              <a:t>Ако желаем да работим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с повече</a:t>
            </a:r>
            <a:r>
              <a:rPr lang="bg-BG" b="1" dirty="0">
                <a:solidFill>
                  <a:schemeClr val="accent1"/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параметри се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ползват</a:t>
            </a:r>
            <a:r>
              <a:rPr lang="bg-BG" dirty="0">
                <a:latin typeface="Comfortaa" pitchFamily="2" charset="0"/>
              </a:rPr>
              <a:t> делегати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8200" y="525442"/>
            <a:ext cx="10515600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Делегати</a:t>
            </a:r>
          </a:p>
        </p:txBody>
      </p:sp>
    </p:spTree>
    <p:extLst>
      <p:ext uri="{BB962C8B-B14F-4D97-AF65-F5344CB8AC3E}">
        <p14:creationId xmlns:p14="http://schemas.microsoft.com/office/powerpoint/2010/main" val="3649569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35783" y="365125"/>
            <a:ext cx="10884223" cy="1101477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Решение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bg-BG" dirty="0">
                <a:latin typeface="Comfortaa" pitchFamily="2" charset="0"/>
              </a:rPr>
              <a:t>Сбор на числа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6" name="Text Placeholder 5"/>
          <p:cNvSpPr txBox="1">
            <a:spLocks/>
          </p:cNvSpPr>
          <p:nvPr/>
        </p:nvSpPr>
        <p:spPr>
          <a:xfrm>
            <a:off x="735783" y="1466602"/>
            <a:ext cx="10884223" cy="445427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144000" tIns="72000" rIns="144000" bIns="72000" rtlCol="0" anchor="t" anchorCtr="0">
            <a:spAutoFit/>
          </a:bodyPr>
          <a:lstStyle>
            <a:lvl1pPr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  <a:defRPr lang="en-US" b="1" noProof="1" smtClean="0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  <a:lvl2pPr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sz="3200" b="0"/>
            </a:lvl2pPr>
            <a:lvl3pPr marL="914240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F9A1D"/>
              </a:buClr>
              <a:buSzPct val="80000"/>
              <a:buFont typeface="Wingdings" panose="05000000000000000000" pitchFamily="2" charset="2"/>
              <a:buChar char="§"/>
              <a:defRPr sz="3000" b="0"/>
            </a:lvl3pPr>
            <a:lvl4pPr marL="1218987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D9411"/>
              </a:buClr>
              <a:buSzPct val="80000"/>
              <a:buFont typeface="Wingdings" panose="05000000000000000000" pitchFamily="2" charset="2"/>
              <a:buChar char="§"/>
              <a:defRPr sz="2800" b="0"/>
            </a:lvl4pPr>
            <a:lvl5pPr marL="1523733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28D10"/>
              </a:buClr>
              <a:buSzPct val="80000"/>
              <a:buFont typeface="Wingdings" panose="05000000000000000000" pitchFamily="2" charset="2"/>
              <a:buChar char="§"/>
              <a:defRPr sz="2600" b="0"/>
            </a:lvl5pPr>
            <a:lvl6pPr marL="182848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6pPr>
            <a:lvl7pPr marL="2133227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7pPr>
            <a:lvl8pPr marL="2437972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8pPr>
            <a:lvl9pPr marL="274272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9pPr>
          </a:lstStyle>
          <a:p>
            <a:r>
              <a:rPr lang="en-US" sz="2800" dirty="0">
                <a:solidFill>
                  <a:schemeClr val="bg1"/>
                </a:solidFill>
              </a:rPr>
              <a:t>string input = Console.ReadLine();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rgbClr val="00B0F0"/>
                </a:solidFill>
              </a:rPr>
              <a:t>Func</a:t>
            </a:r>
            <a:r>
              <a:rPr lang="en-US" sz="2800" dirty="0">
                <a:solidFill>
                  <a:schemeClr val="bg1"/>
                </a:solidFill>
              </a:rPr>
              <a:t>&lt;string, int&gt; parser = </a:t>
            </a:r>
            <a:r>
              <a:rPr lang="en-US" sz="2800" dirty="0">
                <a:solidFill>
                  <a:srgbClr val="00B0F0"/>
                </a:solidFill>
              </a:rPr>
              <a:t>n =&gt; int.Parse(n)</a:t>
            </a:r>
            <a:r>
              <a:rPr lang="en-US" sz="2800" dirty="0">
                <a:solidFill>
                  <a:schemeClr val="bg1"/>
                </a:solidFill>
              </a:rPr>
              <a:t>;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int[] numbers = input.Split(new string[] {", "}, 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           </a:t>
            </a:r>
            <a:r>
              <a:rPr lang="en-US" sz="2800" dirty="0" err="1">
                <a:solidFill>
                  <a:schemeClr val="bg1"/>
                </a:solidFill>
              </a:rPr>
              <a:t>StringSplitOptions.RemoveEmptyEntries</a:t>
            </a:r>
            <a:r>
              <a:rPr lang="en-US" sz="2800" dirty="0">
                <a:solidFill>
                  <a:schemeClr val="bg1"/>
                </a:solidFill>
              </a:rPr>
              <a:t>)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           Select(</a:t>
            </a:r>
            <a:r>
              <a:rPr lang="en-US" sz="2800" dirty="0">
                <a:solidFill>
                  <a:srgbClr val="00B0F0"/>
                </a:solidFill>
              </a:rPr>
              <a:t>parser</a:t>
            </a:r>
            <a:r>
              <a:rPr lang="en-US" sz="2800" dirty="0">
                <a:solidFill>
                  <a:schemeClr val="bg1"/>
                </a:solidFill>
              </a:rPr>
              <a:t>).ToArray();</a:t>
            </a:r>
          </a:p>
          <a:p>
            <a:endParaRPr lang="bg-BG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Console.WriteLine(numbers.Length);</a:t>
            </a:r>
          </a:p>
          <a:p>
            <a:r>
              <a:rPr lang="en-US" sz="2800" dirty="0">
                <a:solidFill>
                  <a:schemeClr val="bg1"/>
                </a:solidFill>
              </a:rPr>
              <a:t>Console.WriteLine(numbers.Sum());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5784" y="6038275"/>
            <a:ext cx="10884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mfortaa" pitchFamily="2" charset="0"/>
              </a:rPr>
              <a:t>Check your solution here: </a:t>
            </a:r>
            <a:r>
              <a:rPr lang="en-US" dirty="0">
                <a:latin typeface="Comfortaa" pitchFamily="2" charset="0"/>
                <a:hlinkClick r:id="rId2"/>
              </a:rPr>
              <a:t>https://judge.softuni.bg/Contests/Practice/Index/597#1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431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942860" y="2144701"/>
            <a:ext cx="9937651" cy="256859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Въведете текст от конзолата (клавиатурата)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Пребройте колко думи започват с главна буква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Изведете броя на думите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Използвайте предикати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21327" y="553925"/>
            <a:ext cx="9959184" cy="1325563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Задача: Пребройте думите, започващи с главна буква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220189" y="4713298"/>
            <a:ext cx="4343400" cy="144962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The following example shows how to use Predicate</a:t>
            </a:r>
            <a:endParaRPr lang="sv-SE" sz="2800" b="1" noProof="1">
              <a:solidFill>
                <a:schemeClr val="bg1"/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auto">
          <a:xfrm>
            <a:off x="6541997" y="4713298"/>
            <a:ext cx="3329783" cy="144962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The</a:t>
            </a:r>
          </a:p>
          <a:p>
            <a:pPr>
              <a:lnSpc>
                <a:spcPct val="105000"/>
              </a:lnSpc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Predicate</a:t>
            </a:r>
          </a:p>
          <a:p>
            <a:pPr>
              <a:lnSpc>
                <a:spcPct val="105000"/>
              </a:lnSpc>
            </a:pPr>
            <a:endParaRPr lang="sv-SE" sz="2800" b="1" noProof="1">
              <a:solidFill>
                <a:schemeClr val="bg1"/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5563589" y="5195796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 sz="2800"/>
          </a:p>
        </p:txBody>
      </p:sp>
    </p:spTree>
    <p:extLst>
      <p:ext uri="{BB962C8B-B14F-4D97-AF65-F5344CB8AC3E}">
        <p14:creationId xmlns:p14="http://schemas.microsoft.com/office/powerpoint/2010/main" val="3573867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23849" y="365125"/>
            <a:ext cx="11544299" cy="1498418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Решение: Пребройте думите, започващи с главна буква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6" name="Text Placeholder 5"/>
          <p:cNvSpPr txBox="1">
            <a:spLocks/>
          </p:cNvSpPr>
          <p:nvPr/>
        </p:nvSpPr>
        <p:spPr>
          <a:xfrm>
            <a:off x="323850" y="2007949"/>
            <a:ext cx="11544299" cy="3592504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144000" tIns="72000" rIns="144000" bIns="72000" rtlCol="0" anchor="t" anchorCtr="0">
            <a:spAutoFit/>
          </a:bodyPr>
          <a:lstStyle>
            <a:lvl1pPr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  <a:defRPr lang="en-US" b="1" noProof="1" smtClean="0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  <a:lvl2pPr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sz="3200" b="0"/>
            </a:lvl2pPr>
            <a:lvl3pPr marL="914240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F9A1D"/>
              </a:buClr>
              <a:buSzPct val="80000"/>
              <a:buFont typeface="Wingdings" panose="05000000000000000000" pitchFamily="2" charset="2"/>
              <a:buChar char="§"/>
              <a:defRPr sz="3000" b="0"/>
            </a:lvl3pPr>
            <a:lvl4pPr marL="1218987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D9411"/>
              </a:buClr>
              <a:buSzPct val="80000"/>
              <a:buFont typeface="Wingdings" panose="05000000000000000000" pitchFamily="2" charset="2"/>
              <a:buChar char="§"/>
              <a:defRPr sz="2800" b="0"/>
            </a:lvl4pPr>
            <a:lvl5pPr marL="1523733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28D10"/>
              </a:buClr>
              <a:buSzPct val="80000"/>
              <a:buFont typeface="Wingdings" panose="05000000000000000000" pitchFamily="2" charset="2"/>
              <a:buChar char="§"/>
              <a:defRPr sz="2600" b="0"/>
            </a:lvl5pPr>
            <a:lvl6pPr marL="182848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6pPr>
            <a:lvl7pPr marL="2133227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7pPr>
            <a:lvl8pPr marL="2437972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8pPr>
            <a:lvl9pPr marL="274272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9pPr>
          </a:lstStyle>
          <a:p>
            <a:r>
              <a:rPr lang="en-US" sz="2800" dirty="0">
                <a:solidFill>
                  <a:schemeClr val="bg1"/>
                </a:solidFill>
                <a:effectLst/>
              </a:rPr>
              <a:t>var words = Console.ReadLine().Split(new string[] {" "}, 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                 StringSplitOptions.RemoveEmptyEntries);</a:t>
            </a:r>
          </a:p>
          <a:p>
            <a:endParaRPr lang="en-US" sz="2800" dirty="0">
              <a:solidFill>
                <a:schemeClr val="bg1"/>
              </a:solidFill>
              <a:effectLst/>
            </a:endParaRPr>
          </a:p>
          <a:p>
            <a:r>
              <a:rPr lang="en-US" sz="2800" dirty="0">
                <a:solidFill>
                  <a:srgbClr val="00B0F0"/>
                </a:solidFill>
                <a:effectLst/>
              </a:rPr>
              <a:t>Func&lt;string, bool&gt; checker = n =&gt; n[0] == n.ToUpper()[0];</a:t>
            </a:r>
          </a:p>
          <a:p>
            <a:endParaRPr lang="en-US" sz="2800" dirty="0">
              <a:solidFill>
                <a:schemeClr val="bg1"/>
              </a:solidFill>
              <a:effectLst/>
            </a:endParaRP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words.Where(</a:t>
            </a:r>
            <a:r>
              <a:rPr lang="en-US" sz="2800" dirty="0">
                <a:solidFill>
                  <a:srgbClr val="00B0F0"/>
                </a:solidFill>
                <a:effectLst/>
              </a:rPr>
              <a:t>checker</a:t>
            </a:r>
            <a:r>
              <a:rPr lang="en-US" sz="2800" dirty="0">
                <a:solidFill>
                  <a:schemeClr val="bg1"/>
                </a:solidFill>
                <a:effectLst/>
              </a:rPr>
              <a:t>)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     .ToList()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     .ForEach(n =&gt; Console.WriteLine(n));</a:t>
            </a:r>
            <a:endParaRPr lang="en-US" sz="3200" dirty="0">
              <a:solidFill>
                <a:schemeClr val="bg1"/>
              </a:solidFill>
              <a:effectLst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3849" y="5744859"/>
            <a:ext cx="11544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mfortaa" pitchFamily="2" charset="0"/>
              </a:rPr>
              <a:t>Check your solution here: </a:t>
            </a:r>
            <a:r>
              <a:rPr lang="en-US" dirty="0">
                <a:latin typeface="Comfortaa" pitchFamily="2" charset="0"/>
                <a:hlinkClick r:id="rId2"/>
              </a:rPr>
              <a:t>https://judge.softuni.bg/Contests/Practice/Index/597#2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8531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589816" y="2065965"/>
            <a:ext cx="11012368" cy="205327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Въведете от клавиатурата няколко цени на стоки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Добавете 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ДДС (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VAT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)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 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20%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 на всяка стока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Използвайте унарна (едноаргументна) операция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89816" y="758084"/>
            <a:ext cx="10798620" cy="1198338"/>
          </a:xfrm>
        </p:spPr>
        <p:txBody>
          <a:bodyPr/>
          <a:lstStyle/>
          <a:p>
            <a:r>
              <a:rPr lang="bg-BG" b="1" dirty="0">
                <a:latin typeface="Comfortaa" pitchFamily="2" charset="0"/>
              </a:rPr>
              <a:t>Задача</a:t>
            </a:r>
            <a:r>
              <a:rPr lang="en-US" b="1" dirty="0">
                <a:latin typeface="Comfortaa" pitchFamily="2" charset="0"/>
              </a:rPr>
              <a:t>: </a:t>
            </a:r>
            <a:r>
              <a:rPr lang="bg-BG" b="1" dirty="0">
                <a:latin typeface="Comfortaa" pitchFamily="2" charset="0"/>
              </a:rPr>
              <a:t>начисляване на ДДС (</a:t>
            </a:r>
            <a:r>
              <a:rPr lang="en-US" b="1" dirty="0">
                <a:latin typeface="Comfortaa" pitchFamily="2" charset="0"/>
              </a:rPr>
              <a:t>VAT</a:t>
            </a:r>
            <a:r>
              <a:rPr lang="bg-BG" b="1" dirty="0">
                <a:latin typeface="Comfortaa" pitchFamily="2" charset="0"/>
              </a:rPr>
              <a:t>)</a:t>
            </a:r>
            <a:endParaRPr lang="en-US" b="1" dirty="0">
              <a:latin typeface="Comfortaa" pitchFamily="2" charset="0"/>
            </a:endParaRPr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942605" y="4761968"/>
            <a:ext cx="3276600" cy="54476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lang="sv-SE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1.38, 2.56, 4.4</a:t>
            </a:r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auto">
          <a:xfrm>
            <a:off x="6197613" y="4083320"/>
            <a:ext cx="3548345" cy="190205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lang="bg-BG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Цени с ДДС (</a:t>
            </a: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VAT</a:t>
            </a:r>
            <a:r>
              <a:rPr lang="bg-BG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)</a:t>
            </a: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:</a:t>
            </a:r>
          </a:p>
          <a:p>
            <a:pPr>
              <a:lnSpc>
                <a:spcPct val="105000"/>
              </a:lnSpc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1,66</a:t>
            </a:r>
          </a:p>
          <a:p>
            <a:pPr>
              <a:lnSpc>
                <a:spcPct val="105000"/>
              </a:lnSpc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3,07</a:t>
            </a:r>
          </a:p>
          <a:p>
            <a:pPr>
              <a:lnSpc>
                <a:spcPct val="105000"/>
              </a:lnSpc>
            </a:pPr>
            <a:r>
              <a:rPr lang="en-US" sz="28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5,28</a:t>
            </a:r>
            <a:endParaRPr lang="sv-SE" sz="2800" b="1" noProof="1">
              <a:solidFill>
                <a:schemeClr val="bg1"/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</p:txBody>
      </p:sp>
      <p:sp>
        <p:nvSpPr>
          <p:cNvPr id="5" name="Right Arrow 5">
            <a:extLst>
              <a:ext uri="{FF2B5EF4-FFF2-40B4-BE49-F238E27FC236}">
                <a16:creationId xmlns:a16="http://schemas.microsoft.com/office/drawing/2014/main" id="{F83532AF-45D7-7D2B-461D-227DD43A6434}"/>
              </a:ext>
            </a:extLst>
          </p:cNvPr>
          <p:cNvSpPr/>
          <p:nvPr/>
        </p:nvSpPr>
        <p:spPr>
          <a:xfrm>
            <a:off x="5219205" y="4792035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 sz="2800"/>
          </a:p>
        </p:txBody>
      </p:sp>
    </p:spTree>
    <p:extLst>
      <p:ext uri="{BB962C8B-B14F-4D97-AF65-F5344CB8AC3E}">
        <p14:creationId xmlns:p14="http://schemas.microsoft.com/office/powerpoint/2010/main" val="2865040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>
                <a:latin typeface="Comfortaa" pitchFamily="2" charset="0"/>
              </a:rPr>
              <a:t>Решение: Добавяне на ДДС (</a:t>
            </a:r>
            <a:r>
              <a:rPr lang="en-US" b="1" dirty="0">
                <a:latin typeface="Comfortaa" pitchFamily="2" charset="0"/>
              </a:rPr>
              <a:t>VAT</a:t>
            </a:r>
            <a:r>
              <a:rPr lang="bg-BG" b="1" dirty="0">
                <a:latin typeface="Comfortaa" pitchFamily="2" charset="0"/>
              </a:rPr>
              <a:t>)</a:t>
            </a:r>
            <a:endParaRPr lang="en-US" b="1" dirty="0">
              <a:latin typeface="Comfortaa" pitchFamily="2" charset="0"/>
            </a:endParaRPr>
          </a:p>
        </p:txBody>
      </p:sp>
      <p:sp>
        <p:nvSpPr>
          <p:cNvPr id="6" name="Text Placeholder 5"/>
          <p:cNvSpPr txBox="1">
            <a:spLocks/>
          </p:cNvSpPr>
          <p:nvPr/>
        </p:nvSpPr>
        <p:spPr>
          <a:xfrm>
            <a:off x="228600" y="1920834"/>
            <a:ext cx="11734799" cy="3592504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144000" tIns="72000" rIns="144000" bIns="72000" rtlCol="0" anchor="t" anchorCtr="0">
            <a:spAutoFit/>
          </a:bodyPr>
          <a:lstStyle>
            <a:lvl1pPr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  <a:defRPr lang="en-US" b="1" noProof="1" smtClean="0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  <a:lvl2pPr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sz="3200" b="0"/>
            </a:lvl2pPr>
            <a:lvl3pPr marL="914240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F9A1D"/>
              </a:buClr>
              <a:buSzPct val="80000"/>
              <a:buFont typeface="Wingdings" panose="05000000000000000000" pitchFamily="2" charset="2"/>
              <a:buChar char="§"/>
              <a:defRPr sz="3000" b="0"/>
            </a:lvl3pPr>
            <a:lvl4pPr marL="1218987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D9411"/>
              </a:buClr>
              <a:buSzPct val="80000"/>
              <a:buFont typeface="Wingdings" panose="05000000000000000000" pitchFamily="2" charset="2"/>
              <a:buChar char="§"/>
              <a:defRPr sz="2800" b="0"/>
            </a:lvl4pPr>
            <a:lvl5pPr marL="1523733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28D10"/>
              </a:buClr>
              <a:buSzPct val="80000"/>
              <a:buFont typeface="Wingdings" panose="05000000000000000000" pitchFamily="2" charset="2"/>
              <a:buChar char="§"/>
              <a:defRPr sz="2600" b="0"/>
            </a:lvl5pPr>
            <a:lvl6pPr marL="182848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6pPr>
            <a:lvl7pPr marL="2133227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7pPr>
            <a:lvl8pPr marL="2437972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8pPr>
            <a:lvl9pPr marL="274272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9pPr>
          </a:lstStyle>
          <a:p>
            <a:r>
              <a:rPr lang="en-US" sz="3200" dirty="0">
                <a:solidFill>
                  <a:schemeClr val="bg1"/>
                </a:solidFill>
                <a:effectLst/>
              </a:rPr>
              <a:t>Console.ReadLine()</a:t>
            </a:r>
          </a:p>
          <a:p>
            <a:r>
              <a:rPr lang="en-US" sz="3200" dirty="0">
                <a:solidFill>
                  <a:schemeClr val="bg1"/>
                </a:solidFill>
                <a:effectLst/>
              </a:rPr>
              <a:t>       .Split(new string[] { ", " }, </a:t>
            </a:r>
          </a:p>
          <a:p>
            <a:r>
              <a:rPr lang="en-US" sz="3200" dirty="0">
                <a:solidFill>
                  <a:schemeClr val="bg1"/>
                </a:solidFill>
                <a:effectLst/>
              </a:rPr>
              <a:t>           StringSplitOptions.RemoveEmptyEntries)</a:t>
            </a:r>
          </a:p>
          <a:p>
            <a:r>
              <a:rPr lang="en-US" sz="3200" dirty="0">
                <a:solidFill>
                  <a:schemeClr val="bg1"/>
                </a:solidFill>
                <a:effectLst/>
              </a:rPr>
              <a:t>       .Select(</a:t>
            </a:r>
            <a:r>
              <a:rPr lang="en-US" sz="3200" dirty="0">
                <a:solidFill>
                  <a:srgbClr val="00B0F0"/>
                </a:solidFill>
                <a:effectLst/>
              </a:rPr>
              <a:t>double.Parse</a:t>
            </a:r>
            <a:r>
              <a:rPr lang="en-US" sz="3200" dirty="0">
                <a:solidFill>
                  <a:schemeClr val="bg1"/>
                </a:solidFill>
                <a:effectLst/>
              </a:rPr>
              <a:t>)</a:t>
            </a:r>
          </a:p>
          <a:p>
            <a:r>
              <a:rPr lang="en-US" sz="3200" dirty="0">
                <a:solidFill>
                  <a:schemeClr val="bg1"/>
                </a:solidFill>
                <a:effectLst/>
              </a:rPr>
              <a:t>       .Select(</a:t>
            </a:r>
            <a:r>
              <a:rPr lang="en-US" sz="3200" dirty="0">
                <a:solidFill>
                  <a:srgbClr val="00B0F0"/>
                </a:solidFill>
                <a:effectLst/>
              </a:rPr>
              <a:t>n =&gt; n * 1.2</a:t>
            </a:r>
            <a:r>
              <a:rPr lang="en-US" sz="3200" dirty="0">
                <a:solidFill>
                  <a:schemeClr val="bg1"/>
                </a:solidFill>
                <a:effectLst/>
              </a:rPr>
              <a:t>)</a:t>
            </a:r>
          </a:p>
          <a:p>
            <a:r>
              <a:rPr lang="en-US" sz="3200" dirty="0">
                <a:solidFill>
                  <a:schemeClr val="bg1"/>
                </a:solidFill>
                <a:effectLst/>
              </a:rPr>
              <a:t>       .ToList()</a:t>
            </a:r>
          </a:p>
          <a:p>
            <a:r>
              <a:rPr lang="en-US" sz="3200" dirty="0">
                <a:solidFill>
                  <a:schemeClr val="bg1"/>
                </a:solidFill>
                <a:effectLst/>
              </a:rPr>
              <a:t>       .ForEach(n =&gt; Console.WriteLine(</a:t>
            </a:r>
            <a:r>
              <a:rPr lang="en-US" sz="3200" dirty="0">
                <a:solidFill>
                  <a:srgbClr val="00B0F0"/>
                </a:solidFill>
                <a:effectLst/>
              </a:rPr>
              <a:t>$"{n:F2}")</a:t>
            </a:r>
            <a:r>
              <a:rPr lang="en-US" sz="3200" dirty="0">
                <a:solidFill>
                  <a:schemeClr val="bg1"/>
                </a:solidFill>
                <a:effectLst/>
              </a:rPr>
              <a:t>);</a:t>
            </a:r>
            <a:endParaRPr lang="en-US" sz="3600" dirty="0">
              <a:solidFill>
                <a:schemeClr val="bg1"/>
              </a:solidFill>
              <a:effectLst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788" y="5713307"/>
            <a:ext cx="12114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mfortaa" pitchFamily="2" charset="0"/>
              </a:rPr>
              <a:t>Check your solution here: </a:t>
            </a:r>
            <a:r>
              <a:rPr lang="en-US" dirty="0">
                <a:latin typeface="Comfortaa" pitchFamily="2" charset="0"/>
                <a:hlinkClick r:id="rId2"/>
              </a:rPr>
              <a:t>https://judge.softuni.bg/Contests/Practice/Index/597#3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794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20518" y="489776"/>
            <a:ext cx="11918043" cy="918538"/>
          </a:xfrm>
        </p:spPr>
        <p:txBody>
          <a:bodyPr>
            <a:normAutofit fontScale="90000"/>
          </a:bodyPr>
          <a:lstStyle/>
          <a:p>
            <a:r>
              <a:rPr lang="bg-BG" sz="3200" b="1" dirty="0">
                <a:latin typeface="Comfortaa" pitchFamily="2" charset="0"/>
              </a:rPr>
              <a:t>Решение: Добавяне на ДДС (</a:t>
            </a:r>
            <a:r>
              <a:rPr lang="en-US" sz="3200" b="1" dirty="0">
                <a:latin typeface="Comfortaa" pitchFamily="2" charset="0"/>
              </a:rPr>
              <a:t>VAT</a:t>
            </a:r>
            <a:r>
              <a:rPr lang="bg-BG" sz="3200" b="1" dirty="0">
                <a:latin typeface="Comfortaa" pitchFamily="2" charset="0"/>
              </a:rPr>
              <a:t>)</a:t>
            </a:r>
            <a:r>
              <a:rPr lang="en-US" sz="3200" b="1" dirty="0">
                <a:latin typeface="Comfortaa" pitchFamily="2" charset="0"/>
              </a:rPr>
              <a:t> </a:t>
            </a:r>
            <a:r>
              <a:rPr lang="bg-BG" sz="3200" b="1" dirty="0">
                <a:latin typeface="Comfortaa" pitchFamily="2" charset="0"/>
              </a:rPr>
              <a:t>вариант 2 с функции</a:t>
            </a:r>
            <a:endParaRPr lang="en-US" sz="3200" b="1" dirty="0">
              <a:latin typeface="Comfortaa" pitchFamily="2" charset="0"/>
            </a:endParaRPr>
          </a:p>
        </p:txBody>
      </p:sp>
      <p:sp>
        <p:nvSpPr>
          <p:cNvPr id="6" name="Text Placeholder 5"/>
          <p:cNvSpPr txBox="1">
            <a:spLocks/>
          </p:cNvSpPr>
          <p:nvPr/>
        </p:nvSpPr>
        <p:spPr>
          <a:xfrm>
            <a:off x="273958" y="1700898"/>
            <a:ext cx="11627097" cy="4208057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144000" tIns="72000" rIns="144000" bIns="72000" rtlCol="0" anchor="t" anchorCtr="0">
            <a:spAutoFit/>
          </a:bodyPr>
          <a:lstStyle>
            <a:lvl1pPr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  <a:defRPr lang="en-US" b="1" noProof="1" smtClean="0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  <a:lvl2pPr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sz="3200" b="0"/>
            </a:lvl2pPr>
            <a:lvl3pPr marL="914240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F9A1D"/>
              </a:buClr>
              <a:buSzPct val="80000"/>
              <a:buFont typeface="Wingdings" panose="05000000000000000000" pitchFamily="2" charset="2"/>
              <a:buChar char="§"/>
              <a:defRPr sz="3000" b="0"/>
            </a:lvl3pPr>
            <a:lvl4pPr marL="1218987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D9411"/>
              </a:buClr>
              <a:buSzPct val="80000"/>
              <a:buFont typeface="Wingdings" panose="05000000000000000000" pitchFamily="2" charset="2"/>
              <a:buChar char="§"/>
              <a:defRPr sz="2800" b="0"/>
            </a:lvl4pPr>
            <a:lvl5pPr marL="1523733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28D10"/>
              </a:buClr>
              <a:buSzPct val="80000"/>
              <a:buFont typeface="Wingdings" panose="05000000000000000000" pitchFamily="2" charset="2"/>
              <a:buChar char="§"/>
              <a:defRPr sz="2600" b="0"/>
            </a:lvl5pPr>
            <a:lvl6pPr marL="182848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6pPr>
            <a:lvl7pPr marL="2133227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7pPr>
            <a:lvl8pPr marL="2437972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8pPr>
            <a:lvl9pPr marL="274272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9pPr>
          </a:lstStyle>
          <a:p>
            <a:r>
              <a:rPr lang="en-US" sz="2400" dirty="0" err="1">
                <a:solidFill>
                  <a:srgbClr val="00B0F0"/>
                </a:solidFill>
                <a:effectLst/>
              </a:rPr>
              <a:t>Func</a:t>
            </a:r>
            <a:r>
              <a:rPr lang="en-US" sz="2400" dirty="0">
                <a:solidFill>
                  <a:srgbClr val="00B0F0"/>
                </a:solidFill>
                <a:effectLst/>
              </a:rPr>
              <a:t>&lt;string, double&gt; </a:t>
            </a:r>
            <a:r>
              <a:rPr lang="en-US" sz="2400" dirty="0" err="1">
                <a:solidFill>
                  <a:srgbClr val="00B0F0"/>
                </a:solidFill>
                <a:effectLst/>
              </a:rPr>
              <a:t>costumDoubleParser</a:t>
            </a:r>
            <a:r>
              <a:rPr lang="en-US" sz="2400" dirty="0">
                <a:solidFill>
                  <a:srgbClr val="00B0F0"/>
                </a:solidFill>
                <a:effectLst/>
              </a:rPr>
              <a:t> = str =&gt; </a:t>
            </a:r>
            <a:r>
              <a:rPr lang="en-US" sz="2400" dirty="0" err="1">
                <a:solidFill>
                  <a:srgbClr val="00B0F0"/>
                </a:solidFill>
                <a:effectLst/>
              </a:rPr>
              <a:t>double.Parse</a:t>
            </a:r>
            <a:r>
              <a:rPr lang="en-US" sz="2400" dirty="0">
                <a:solidFill>
                  <a:srgbClr val="00B0F0"/>
                </a:solidFill>
                <a:effectLst/>
              </a:rPr>
              <a:t>(str);</a:t>
            </a:r>
          </a:p>
          <a:p>
            <a:endParaRPr lang="en-US" sz="2400" dirty="0">
              <a:solidFill>
                <a:srgbClr val="00B0F0"/>
              </a:solidFill>
              <a:effectLst/>
            </a:endParaRPr>
          </a:p>
          <a:p>
            <a:r>
              <a:rPr lang="en-US" sz="2400" dirty="0" err="1">
                <a:solidFill>
                  <a:srgbClr val="00B0F0"/>
                </a:solidFill>
                <a:effectLst/>
              </a:rPr>
              <a:t>Func</a:t>
            </a:r>
            <a:r>
              <a:rPr lang="en-US" sz="2400" dirty="0">
                <a:solidFill>
                  <a:srgbClr val="00B0F0"/>
                </a:solidFill>
                <a:effectLst/>
              </a:rPr>
              <a:t>&lt;double, double&gt; </a:t>
            </a:r>
            <a:r>
              <a:rPr lang="en-US" sz="2400" dirty="0" err="1">
                <a:solidFill>
                  <a:srgbClr val="00B0F0"/>
                </a:solidFill>
                <a:effectLst/>
              </a:rPr>
              <a:t>taxVAT</a:t>
            </a:r>
            <a:r>
              <a:rPr lang="en-US" sz="2400" dirty="0">
                <a:solidFill>
                  <a:srgbClr val="00B0F0"/>
                </a:solidFill>
                <a:effectLst/>
              </a:rPr>
              <a:t> = (double price) =&gt; {return price*1.2;} </a:t>
            </a:r>
          </a:p>
          <a:p>
            <a:endParaRPr lang="bg-BG" sz="2400" dirty="0">
              <a:solidFill>
                <a:srgbClr val="00B0F0"/>
              </a:solidFill>
              <a:effectLst/>
            </a:endParaRPr>
          </a:p>
          <a:p>
            <a:r>
              <a:rPr lang="en-US" sz="2400" dirty="0" err="1">
                <a:solidFill>
                  <a:schemeClr val="bg1"/>
                </a:solidFill>
                <a:effectLst/>
              </a:rPr>
              <a:t>Console.ReadLine</a:t>
            </a:r>
            <a:r>
              <a:rPr lang="en-US" sz="2400" dirty="0">
                <a:solidFill>
                  <a:schemeClr val="bg1"/>
                </a:solidFill>
                <a:effectLst/>
              </a:rPr>
              <a:t>()</a:t>
            </a:r>
          </a:p>
          <a:p>
            <a:r>
              <a:rPr lang="en-US" sz="2400" dirty="0">
                <a:solidFill>
                  <a:schemeClr val="bg1"/>
                </a:solidFill>
                <a:effectLst/>
              </a:rPr>
              <a:t>  .Split(new string[] { ", " }, </a:t>
            </a:r>
          </a:p>
          <a:p>
            <a:r>
              <a:rPr lang="en-US" sz="2400" dirty="0">
                <a:solidFill>
                  <a:schemeClr val="bg1"/>
                </a:solidFill>
                <a:effectLst/>
              </a:rPr>
              <a:t>   </a:t>
            </a:r>
            <a:r>
              <a:rPr lang="en-US" sz="2400" dirty="0" err="1">
                <a:solidFill>
                  <a:schemeClr val="bg1"/>
                </a:solidFill>
                <a:effectLst/>
              </a:rPr>
              <a:t>StringSplitOptions.RemoveEmptyEntries</a:t>
            </a:r>
            <a:r>
              <a:rPr lang="en-US" sz="2400" dirty="0">
                <a:solidFill>
                  <a:schemeClr val="bg1"/>
                </a:solidFill>
                <a:effectLst/>
              </a:rPr>
              <a:t>)</a:t>
            </a:r>
          </a:p>
          <a:p>
            <a:r>
              <a:rPr lang="en-US" sz="2400" dirty="0">
                <a:solidFill>
                  <a:schemeClr val="bg1"/>
                </a:solidFill>
                <a:effectLst/>
              </a:rPr>
              <a:t>  .Select(</a:t>
            </a:r>
            <a:r>
              <a:rPr lang="en-US" sz="2400" dirty="0" err="1">
                <a:solidFill>
                  <a:srgbClr val="00B0F0"/>
                </a:solidFill>
                <a:effectLst/>
              </a:rPr>
              <a:t>costumDoubleParser</a:t>
            </a:r>
            <a:r>
              <a:rPr lang="en-US" sz="2400" dirty="0">
                <a:solidFill>
                  <a:schemeClr val="bg1"/>
                </a:solidFill>
                <a:effectLst/>
              </a:rPr>
              <a:t>)</a:t>
            </a:r>
          </a:p>
          <a:p>
            <a:r>
              <a:rPr lang="en-US" sz="2400" dirty="0">
                <a:solidFill>
                  <a:schemeClr val="bg1"/>
                </a:solidFill>
                <a:effectLst/>
              </a:rPr>
              <a:t>  .Select(</a:t>
            </a:r>
            <a:r>
              <a:rPr lang="en-US" sz="2400" dirty="0" err="1">
                <a:solidFill>
                  <a:srgbClr val="00B0F0"/>
                </a:solidFill>
                <a:effectLst/>
              </a:rPr>
              <a:t>taxVAT</a:t>
            </a:r>
            <a:r>
              <a:rPr lang="en-US" sz="2400" dirty="0">
                <a:solidFill>
                  <a:schemeClr val="bg1"/>
                </a:solidFill>
                <a:effectLst/>
              </a:rPr>
              <a:t>)</a:t>
            </a:r>
          </a:p>
          <a:p>
            <a:r>
              <a:rPr lang="en-US" sz="2400" dirty="0">
                <a:solidFill>
                  <a:schemeClr val="bg1"/>
                </a:solidFill>
                <a:effectLst/>
              </a:rPr>
              <a:t>  .ToList()</a:t>
            </a:r>
          </a:p>
          <a:p>
            <a:r>
              <a:rPr lang="en-US" sz="2400" dirty="0">
                <a:solidFill>
                  <a:schemeClr val="bg1"/>
                </a:solidFill>
                <a:effectLst/>
              </a:rPr>
              <a:t>  .ForEach(n =&gt; Console.WriteLine(</a:t>
            </a:r>
            <a:r>
              <a:rPr lang="en-US" sz="2400" dirty="0">
                <a:solidFill>
                  <a:srgbClr val="00B0F0"/>
                </a:solidFill>
                <a:effectLst/>
              </a:rPr>
              <a:t>$"{n:F2}")</a:t>
            </a:r>
            <a:r>
              <a:rPr lang="en-US" sz="2400" dirty="0">
                <a:solidFill>
                  <a:schemeClr val="bg1"/>
                </a:solidFill>
                <a:effectLst/>
              </a:rPr>
              <a:t>);</a:t>
            </a:r>
            <a:endParaRPr lang="en-US" sz="2800" dirty="0">
              <a:solidFill>
                <a:schemeClr val="bg1"/>
              </a:solidFill>
              <a:effectLst/>
            </a:endParaRPr>
          </a:p>
        </p:txBody>
      </p:sp>
      <p:sp>
        <p:nvSpPr>
          <p:cNvPr id="8" name="AutoShape 5"/>
          <p:cNvSpPr>
            <a:spLocks noChangeArrowheads="1"/>
          </p:cNvSpPr>
          <p:nvPr/>
        </p:nvSpPr>
        <p:spPr bwMode="auto">
          <a:xfrm>
            <a:off x="8678716" y="3473532"/>
            <a:ext cx="3367811" cy="2725387"/>
          </a:xfrm>
          <a:prstGeom prst="wedgeRoundRectCallout">
            <a:avLst>
              <a:gd name="adj1" fmla="val -66050"/>
              <a:gd name="adj2" fmla="val -21504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000" dirty="0">
                <a:solidFill>
                  <a:srgbClr val="FFFFFF"/>
                </a:solidFill>
                <a:latin typeface="Comfortaa" pitchFamily="2" charset="0"/>
              </a:rPr>
              <a:t>Очевидно, вариант 1 е по-кратък и прегледен, тъй като за случая има синтактична захар</a:t>
            </a:r>
            <a:endParaRPr lang="bg-BG" dirty="0">
              <a:solidFill>
                <a:srgbClr val="FFFFFF"/>
              </a:solidFill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084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1" name="Rectangle 3"/>
          <p:cNvSpPr>
            <a:spLocks noGrp="1" noChangeArrowheads="1"/>
          </p:cNvSpPr>
          <p:nvPr>
            <p:ph idx="1"/>
          </p:nvPr>
        </p:nvSpPr>
        <p:spPr>
          <a:xfrm>
            <a:off x="236511" y="1347850"/>
            <a:ext cx="11715800" cy="487067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Може да предаваме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Func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&lt;T&gt;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към методи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Може да използваме метод като този</a:t>
            </a:r>
            <a:r>
              <a:rPr lang="en-US" dirty="0">
                <a:latin typeface="Comfortaa" pitchFamily="2" charset="0"/>
              </a:rPr>
              <a:t>:</a:t>
            </a:r>
          </a:p>
        </p:txBody>
      </p:sp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36511" y="323562"/>
            <a:ext cx="11715800" cy="1024288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Предаване на функции към метод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563083" y="2032963"/>
            <a:ext cx="10831292" cy="162576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private int Operation(int number, Func&lt;int, int&gt; operation)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return operation(number);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563084" y="4787563"/>
            <a:ext cx="10831291" cy="162576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int a = 5;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int b = Operation(a, number =&gt; number * 5);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int c = Operation(a, number =&gt; number – 3);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int d = Operation(b, number =&gt; number % 2);</a:t>
            </a:r>
          </a:p>
        </p:txBody>
      </p:sp>
    </p:spTree>
    <p:extLst>
      <p:ext uri="{BB962C8B-B14F-4D97-AF65-F5344CB8AC3E}">
        <p14:creationId xmlns:p14="http://schemas.microsoft.com/office/powerpoint/2010/main" val="2466619906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892646" y="1505036"/>
            <a:ext cx="7501592" cy="2396616"/>
          </a:xfrm>
        </p:spPr>
        <p:txBody>
          <a:bodyPr>
            <a:normAutofit fontScale="92500"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Въведете </a:t>
            </a:r>
            <a:r>
              <a:rPr lang="en-US" sz="24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n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души с тяхната възраст</a:t>
            </a: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Въведете условие и възраст за филтър</a:t>
            </a: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Въведете начина на форматиране на изхода</a:t>
            </a: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Изведете всички хора, които</a:t>
            </a:r>
            <a:br>
              <a:rPr lang="bg-BG" sz="2400" dirty="0">
                <a:latin typeface="Comfortaa" pitchFamily="2" charset="0"/>
              </a:rPr>
            </a:br>
            <a:r>
              <a:rPr lang="bg-BG" sz="2400" dirty="0">
                <a:latin typeface="Comfortaa" pitchFamily="2" charset="0"/>
              </a:rPr>
              <a:t>удовлетворяват условието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92646" y="426226"/>
            <a:ext cx="10603752" cy="1118316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Задача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bg-BG" dirty="0">
                <a:latin typeface="Comfortaa" pitchFamily="2" charset="0"/>
              </a:rPr>
              <a:t>Филтриране по възраст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59582" y="2755509"/>
            <a:ext cx="2683474" cy="3581400"/>
          </a:xfrm>
          <a:prstGeom prst="roundRect">
            <a:avLst>
              <a:gd name="adj" fmla="val 6659"/>
            </a:avLst>
          </a:prstGeom>
          <a:solidFill>
            <a:schemeClr val="tx1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144000" tIns="108000" rIns="144000" bIns="108000" rtlCol="0">
            <a:noAutofit/>
          </a:bodyPr>
          <a:lstStyle/>
          <a:p>
            <a:pPr defTabSz="1218987">
              <a:buClr>
                <a:srgbClr val="F2B254"/>
              </a:buClr>
              <a:buSzPct val="100000"/>
            </a:pPr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</p:txBody>
      </p:sp>
      <p:graphicFrame>
        <p:nvGraphicFramePr>
          <p:cNvPr id="14" name="Group 13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84264214"/>
              </p:ext>
            </p:extLst>
          </p:nvPr>
        </p:nvGraphicFramePr>
        <p:xfrm>
          <a:off x="8927601" y="3048259"/>
          <a:ext cx="2150110" cy="29959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62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77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9180"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solidFill>
                            <a:schemeClr val="bg1"/>
                          </a:solidFill>
                        </a:rPr>
                        <a:t>Pesho</a:t>
                      </a:r>
                      <a:endParaRPr lang="bg-BG" sz="32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solidFill>
                            <a:schemeClr val="bg1"/>
                          </a:solidFill>
                        </a:rPr>
                        <a:t>20</a:t>
                      </a:r>
                      <a:endParaRPr lang="bg-BG" sz="32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9180"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solidFill>
                            <a:schemeClr val="bg1"/>
                          </a:solidFill>
                        </a:rPr>
                        <a:t>Gosho</a:t>
                      </a:r>
                      <a:endParaRPr lang="bg-BG" sz="32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solidFill>
                            <a:schemeClr val="bg1"/>
                          </a:solidFill>
                        </a:rPr>
                        <a:t>18</a:t>
                      </a:r>
                      <a:endParaRPr lang="bg-BG" sz="32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9180"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solidFill>
                            <a:schemeClr val="bg1"/>
                          </a:solidFill>
                        </a:rPr>
                        <a:t>Radka</a:t>
                      </a:r>
                      <a:endParaRPr lang="bg-BG" sz="32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solidFill>
                            <a:schemeClr val="bg1"/>
                          </a:solidFill>
                        </a:rPr>
                        <a:t>29</a:t>
                      </a:r>
                      <a:endParaRPr lang="bg-BG" sz="32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9180"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solidFill>
                            <a:schemeClr val="bg1"/>
                          </a:solidFill>
                        </a:rPr>
                        <a:t>Mara</a:t>
                      </a:r>
                      <a:endParaRPr lang="bg-BG" sz="32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solidFill>
                            <a:schemeClr val="bg1"/>
                          </a:solidFill>
                        </a:rPr>
                        <a:t>32</a:t>
                      </a:r>
                      <a:endParaRPr lang="bg-BG" sz="32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9180"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solidFill>
                            <a:schemeClr val="bg1"/>
                          </a:solidFill>
                        </a:rPr>
                        <a:t>Izdislav</a:t>
                      </a:r>
                      <a:endParaRPr lang="bg-BG" sz="32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solidFill>
                            <a:schemeClr val="bg1"/>
                          </a:solidFill>
                        </a:rPr>
                        <a:t>16</a:t>
                      </a:r>
                      <a:endParaRPr lang="bg-BG" sz="32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Content Placeholder 2"/>
          <p:cNvSpPr txBox="1">
            <a:spLocks/>
          </p:cNvSpPr>
          <p:nvPr/>
        </p:nvSpPr>
        <p:spPr>
          <a:xfrm>
            <a:off x="4333585" y="4971225"/>
            <a:ext cx="4321793" cy="1292627"/>
          </a:xfrm>
          <a:prstGeom prst="rect">
            <a:avLst/>
          </a:prstGeom>
        </p:spPr>
        <p:txBody>
          <a:bodyPr vert="horz" lIns="108000" tIns="36000" rIns="108000" bIns="36000" rtlCol="0">
            <a:noAutofit/>
          </a:bodyPr>
          <a:lstStyle>
            <a:lvl1pPr marL="304747" indent="-304747" algn="l" defTabSz="1218987" rtl="0" eaLnBrk="1" latinLnBrk="0" hangingPunct="1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Char char="§"/>
              <a:defRPr sz="3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6" algn="l" defTabSz="1218987" rtl="0" eaLnBrk="1" latinLnBrk="0" hangingPunct="1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sz="3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6" algn="l" defTabSz="1218987" rtl="0" eaLnBrk="1" latinLnBrk="0" hangingPunct="1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F9A1D"/>
              </a:buClr>
              <a:buSzPct val="80000"/>
              <a:buFont typeface="Wingdings" panose="05000000000000000000" pitchFamily="2" charset="2"/>
              <a:buChar char="§"/>
              <a:defRPr sz="3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6" algn="l" defTabSz="1218987" rtl="0" eaLnBrk="1" latinLnBrk="0" hangingPunct="1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D9411"/>
              </a:buClr>
              <a:buSzPct val="80000"/>
              <a:buFont typeface="Wingdings" panose="05000000000000000000" pitchFamily="2" charset="2"/>
              <a:buChar char="§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6" algn="l" defTabSz="1218987" rtl="0" eaLnBrk="1" latinLnBrk="0" hangingPunct="1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28D10"/>
              </a:buClr>
              <a:buSzPct val="80000"/>
              <a:buFont typeface="Wingdings" panose="05000000000000000000" pitchFamily="2" charset="2"/>
              <a:buChar char="§"/>
              <a:defRPr sz="2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6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6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2" indent="-231606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6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Font typeface="Wingdings" panose="05000000000000000000" pitchFamily="2" charset="2"/>
              <a:buChar char="ü"/>
            </a:pPr>
            <a:r>
              <a:rPr lang="bg-BG" sz="2400" b="1" dirty="0">
                <a:solidFill>
                  <a:srgbClr val="00B0F0"/>
                </a:solidFill>
                <a:latin typeface="Comfortaa" pitchFamily="2" charset="0"/>
              </a:rPr>
              <a:t>условие</a:t>
            </a:r>
            <a:r>
              <a:rPr lang="en-US" sz="2400" b="1" dirty="0">
                <a:solidFill>
                  <a:srgbClr val="00B0F0"/>
                </a:solidFill>
                <a:latin typeface="Comfortaa" pitchFamily="2" charset="0"/>
              </a:rPr>
              <a:t> - "older"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Font typeface="Wingdings" panose="05000000000000000000" pitchFamily="2" charset="2"/>
              <a:buChar char="ü"/>
            </a:pPr>
            <a:r>
              <a:rPr lang="bg-BG" sz="2400" b="1" dirty="0">
                <a:solidFill>
                  <a:srgbClr val="00B0F0"/>
                </a:solidFill>
                <a:latin typeface="Comfortaa" pitchFamily="2" charset="0"/>
              </a:rPr>
              <a:t>възраст</a:t>
            </a:r>
            <a:r>
              <a:rPr lang="en-US" sz="2400" b="1" dirty="0">
                <a:solidFill>
                  <a:srgbClr val="00B0F0"/>
                </a:solidFill>
                <a:latin typeface="Comfortaa" pitchFamily="2" charset="0"/>
              </a:rPr>
              <a:t> - 20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Font typeface="Wingdings" panose="05000000000000000000" pitchFamily="2" charset="2"/>
              <a:buChar char="ü"/>
            </a:pPr>
            <a:r>
              <a:rPr lang="bg-BG" sz="2400" b="1" dirty="0">
                <a:solidFill>
                  <a:srgbClr val="00B0F0"/>
                </a:solidFill>
                <a:latin typeface="Comfortaa" pitchFamily="2" charset="0"/>
              </a:rPr>
              <a:t>формат</a:t>
            </a:r>
            <a:r>
              <a:rPr lang="en-US" sz="2400" b="1" dirty="0">
                <a:solidFill>
                  <a:srgbClr val="00B0F0"/>
                </a:solidFill>
                <a:latin typeface="Comfortaa" pitchFamily="2" charset="0"/>
              </a:rPr>
              <a:t>- "name age"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9869" y="4054052"/>
            <a:ext cx="2920825" cy="2209800"/>
          </a:xfrm>
          <a:prstGeom prst="roundRect">
            <a:avLst>
              <a:gd name="adj" fmla="val 6659"/>
            </a:avLst>
          </a:prstGeom>
          <a:solidFill>
            <a:schemeClr val="tx1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144000" tIns="108000" rIns="144000" bIns="108000" rtlCol="0">
            <a:noAutofit/>
          </a:bodyPr>
          <a:lstStyle/>
          <a:p>
            <a:pPr defTabSz="1218987">
              <a:buClr>
                <a:srgbClr val="F2B254"/>
              </a:buClr>
              <a:buSzPct val="100000"/>
            </a:pPr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</p:txBody>
      </p:sp>
      <p:graphicFrame>
        <p:nvGraphicFramePr>
          <p:cNvPr id="24" name="Group 13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40158795"/>
              </p:ext>
            </p:extLst>
          </p:nvPr>
        </p:nvGraphicFramePr>
        <p:xfrm>
          <a:off x="1222423" y="4313912"/>
          <a:ext cx="2459670" cy="17975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7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918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solidFill>
                            <a:schemeClr val="bg1"/>
                          </a:solidFill>
                        </a:rPr>
                        <a:t>Pesho</a:t>
                      </a:r>
                      <a:endParaRPr lang="bg-BG" sz="28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solidFill>
                            <a:schemeClr val="bg1"/>
                          </a:solidFill>
                        </a:rPr>
                        <a:t>20</a:t>
                      </a:r>
                      <a:endParaRPr lang="bg-BG" sz="28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918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solidFill>
                            <a:schemeClr val="bg1"/>
                          </a:solidFill>
                        </a:rPr>
                        <a:t>Radka</a:t>
                      </a:r>
                      <a:endParaRPr lang="bg-BG" sz="28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solidFill>
                            <a:schemeClr val="bg1"/>
                          </a:solidFill>
                        </a:rPr>
                        <a:t>29</a:t>
                      </a:r>
                      <a:endParaRPr lang="bg-BG" sz="28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918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solidFill>
                            <a:schemeClr val="bg1"/>
                          </a:solidFill>
                        </a:rPr>
                        <a:t>Mara</a:t>
                      </a:r>
                      <a:endParaRPr lang="bg-BG" sz="28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solidFill>
                            <a:schemeClr val="bg1"/>
                          </a:solidFill>
                        </a:rPr>
                        <a:t>32</a:t>
                      </a:r>
                      <a:endParaRPr lang="bg-BG" sz="28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Left Arrow 2"/>
          <p:cNvSpPr/>
          <p:nvPr/>
        </p:nvSpPr>
        <p:spPr>
          <a:xfrm>
            <a:off x="3912920" y="4468230"/>
            <a:ext cx="4742458" cy="484632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 sz="2800"/>
          </a:p>
        </p:txBody>
      </p:sp>
    </p:spTree>
    <p:extLst>
      <p:ext uri="{BB962C8B-B14F-4D97-AF65-F5344CB8AC3E}">
        <p14:creationId xmlns:p14="http://schemas.microsoft.com/office/powerpoint/2010/main" val="3231942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23999" y="365125"/>
            <a:ext cx="10942413" cy="1325563"/>
          </a:xfrm>
        </p:spPr>
        <p:txBody>
          <a:bodyPr>
            <a:normAutofit/>
          </a:bodyPr>
          <a:lstStyle/>
          <a:p>
            <a:r>
              <a:rPr lang="bg-BG" sz="3600" b="1" dirty="0">
                <a:latin typeface="Comfortaa" pitchFamily="2" charset="0"/>
              </a:rPr>
              <a:t>Решение</a:t>
            </a:r>
            <a:r>
              <a:rPr lang="en-US" sz="3600" b="1" dirty="0">
                <a:latin typeface="Comfortaa" pitchFamily="2" charset="0"/>
              </a:rPr>
              <a:t>: </a:t>
            </a:r>
            <a:r>
              <a:rPr lang="bg-BG" sz="3600" b="1" dirty="0">
                <a:latin typeface="Comfortaa" pitchFamily="2" charset="0"/>
              </a:rPr>
              <a:t>Филтриране по възраст </a:t>
            </a:r>
            <a:r>
              <a:rPr lang="en-US" sz="3600" b="1" dirty="0">
                <a:latin typeface="Comfortaa" pitchFamily="2" charset="0"/>
              </a:rPr>
              <a:t>[1/4]</a:t>
            </a:r>
          </a:p>
        </p:txBody>
      </p:sp>
      <p:sp>
        <p:nvSpPr>
          <p:cNvPr id="6" name="Text Placeholder 5"/>
          <p:cNvSpPr txBox="1">
            <a:spLocks/>
          </p:cNvSpPr>
          <p:nvPr/>
        </p:nvSpPr>
        <p:spPr>
          <a:xfrm>
            <a:off x="624001" y="1676400"/>
            <a:ext cx="10944000" cy="3592504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144000" tIns="72000" rIns="144000" bIns="72000" rtlCol="0" anchor="t" anchorCtr="0">
            <a:spAutoFit/>
          </a:bodyPr>
          <a:lstStyle>
            <a:lvl1pPr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  <a:defRPr lang="en-US" b="1" noProof="1" smtClean="0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  <a:lvl2pPr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sz="3200" b="0"/>
            </a:lvl2pPr>
            <a:lvl3pPr marL="914240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F9A1D"/>
              </a:buClr>
              <a:buSzPct val="80000"/>
              <a:buFont typeface="Wingdings" panose="05000000000000000000" pitchFamily="2" charset="2"/>
              <a:buChar char="§"/>
              <a:defRPr sz="3000" b="0"/>
            </a:lvl3pPr>
            <a:lvl4pPr marL="1218987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D9411"/>
              </a:buClr>
              <a:buSzPct val="80000"/>
              <a:buFont typeface="Wingdings" panose="05000000000000000000" pitchFamily="2" charset="2"/>
              <a:buChar char="§"/>
              <a:defRPr sz="2800" b="0"/>
            </a:lvl4pPr>
            <a:lvl5pPr marL="1523733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28D10"/>
              </a:buClr>
              <a:buSzPct val="80000"/>
              <a:buFont typeface="Wingdings" panose="05000000000000000000" pitchFamily="2" charset="2"/>
              <a:buChar char="§"/>
              <a:defRPr sz="2600" b="0"/>
            </a:lvl5pPr>
            <a:lvl6pPr marL="182848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6pPr>
            <a:lvl7pPr marL="2133227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7pPr>
            <a:lvl8pPr marL="2437972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8pPr>
            <a:lvl9pPr marL="274272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9pPr>
          </a:lstStyle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//</a:t>
            </a:r>
            <a:r>
              <a:rPr lang="bg-BG" sz="28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TODO: </a:t>
            </a:r>
            <a:r>
              <a:rPr lang="bg-BG" sz="2800" dirty="0">
                <a:solidFill>
                  <a:schemeClr val="bg1">
                    <a:lumMod val="65000"/>
                  </a:schemeClr>
                </a:solidFill>
              </a:rPr>
              <a:t>Въвеждане на данни от клавиатурата</a:t>
            </a:r>
            <a:endParaRPr lang="en-US" sz="28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//</a:t>
            </a:r>
            <a:r>
              <a:rPr lang="bg-BG" sz="2800" dirty="0">
                <a:solidFill>
                  <a:schemeClr val="bg1">
                    <a:lumMod val="65000"/>
                  </a:schemeClr>
                </a:solidFill>
              </a:rPr>
              <a:t> Реализация на методите на следващите слайдове</a:t>
            </a:r>
            <a:endParaRPr lang="en-US" sz="2800" dirty="0">
              <a:solidFill>
                <a:schemeClr val="bg1">
                  <a:lumMod val="65000"/>
                </a:schemeClr>
              </a:solidFill>
            </a:endParaRP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rgbClr val="00B0F0"/>
                </a:solidFill>
              </a:rPr>
              <a:t>Func&lt;int, bool&gt; </a:t>
            </a:r>
            <a:r>
              <a:rPr lang="en-US" sz="2800" dirty="0">
                <a:solidFill>
                  <a:schemeClr val="bg1"/>
                </a:solidFill>
              </a:rPr>
              <a:t>tester = CreateTester(condition, age);</a:t>
            </a:r>
          </a:p>
          <a:p>
            <a:r>
              <a:rPr lang="en-US" sz="2800" dirty="0">
                <a:solidFill>
                  <a:srgbClr val="00B0F0"/>
                </a:solidFill>
              </a:rPr>
              <a:t>Action&lt;KeyValuePair&lt;string, int&gt;&gt; </a:t>
            </a:r>
            <a:r>
              <a:rPr lang="en-US" sz="2800" dirty="0">
                <a:solidFill>
                  <a:schemeClr val="bg1"/>
                </a:solidFill>
              </a:rPr>
              <a:t>printer = </a:t>
            </a:r>
            <a:endParaRPr lang="bg-BG" sz="2800" dirty="0">
              <a:solidFill>
                <a:schemeClr val="bg1"/>
              </a:solidFill>
            </a:endParaRPr>
          </a:p>
          <a:p>
            <a:r>
              <a:rPr lang="bg-BG" sz="2800" dirty="0">
                <a:solidFill>
                  <a:schemeClr val="bg1"/>
                </a:solidFill>
              </a:rPr>
              <a:t>  </a:t>
            </a:r>
            <a:r>
              <a:rPr lang="en-US" sz="2800" dirty="0" err="1">
                <a:solidFill>
                  <a:schemeClr val="bg1"/>
                </a:solidFill>
              </a:rPr>
              <a:t>CreatePrinter</a:t>
            </a:r>
            <a:r>
              <a:rPr lang="en-US" sz="2800" dirty="0">
                <a:solidFill>
                  <a:schemeClr val="bg1"/>
                </a:solidFill>
              </a:rPr>
              <a:t>(format);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PrintFilteredStudent(people, </a:t>
            </a:r>
            <a:r>
              <a:rPr lang="en-US" sz="2800" dirty="0">
                <a:solidFill>
                  <a:srgbClr val="00B0F0"/>
                </a:solidFill>
              </a:rPr>
              <a:t>tester</a:t>
            </a:r>
            <a:r>
              <a:rPr lang="en-US" sz="2800" dirty="0">
                <a:solidFill>
                  <a:schemeClr val="bg1"/>
                </a:solidFill>
              </a:rPr>
              <a:t>, </a:t>
            </a:r>
            <a:r>
              <a:rPr lang="en-US" sz="2800" dirty="0">
                <a:solidFill>
                  <a:srgbClr val="00B0F0"/>
                </a:solidFill>
              </a:rPr>
              <a:t>printer</a:t>
            </a:r>
            <a:r>
              <a:rPr lang="en-US" sz="2800" dirty="0">
                <a:solidFill>
                  <a:schemeClr val="bg1"/>
                </a:solidFill>
              </a:rPr>
              <a:t>);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0" y="5400218"/>
            <a:ext cx="12114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mfortaa" pitchFamily="2" charset="0"/>
              </a:rPr>
              <a:t>Check your solution here: </a:t>
            </a:r>
            <a:r>
              <a:rPr lang="en-US" dirty="0">
                <a:latin typeface="Comfortaa" pitchFamily="2" charset="0"/>
                <a:hlinkClick r:id="rId2"/>
              </a:rPr>
              <a:t>https://judge.softuni.bg/Contests/Practice/Index/597#4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0688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 txBox="1">
            <a:spLocks/>
          </p:cNvSpPr>
          <p:nvPr/>
        </p:nvSpPr>
        <p:spPr>
          <a:xfrm>
            <a:off x="496094" y="1540781"/>
            <a:ext cx="11125200" cy="445427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144000" tIns="72000" rIns="144000" bIns="72000" rtlCol="0" anchor="t" anchorCtr="0">
            <a:spAutoFit/>
          </a:bodyPr>
          <a:lstStyle>
            <a:lvl1pPr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  <a:defRPr lang="en-US" b="1" noProof="1" smtClean="0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  <a:lvl2pPr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sz="3200" b="0"/>
            </a:lvl2pPr>
            <a:lvl3pPr marL="914240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F9A1D"/>
              </a:buClr>
              <a:buSzPct val="80000"/>
              <a:buFont typeface="Wingdings" panose="05000000000000000000" pitchFamily="2" charset="2"/>
              <a:buChar char="§"/>
              <a:defRPr sz="3000" b="0"/>
            </a:lvl3pPr>
            <a:lvl4pPr marL="1218987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D9411"/>
              </a:buClr>
              <a:buSzPct val="80000"/>
              <a:buFont typeface="Wingdings" panose="05000000000000000000" pitchFamily="2" charset="2"/>
              <a:buChar char="§"/>
              <a:defRPr sz="2800" b="0"/>
            </a:lvl4pPr>
            <a:lvl5pPr marL="1523733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28D10"/>
              </a:buClr>
              <a:buSzPct val="80000"/>
              <a:buFont typeface="Wingdings" panose="05000000000000000000" pitchFamily="2" charset="2"/>
              <a:buChar char="§"/>
              <a:defRPr sz="2600" b="0"/>
            </a:lvl5pPr>
            <a:lvl6pPr marL="182848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6pPr>
            <a:lvl7pPr marL="2133227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7pPr>
            <a:lvl8pPr marL="2437972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8pPr>
            <a:lvl9pPr marL="274272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9pPr>
          </a:lstStyle>
          <a:p>
            <a:r>
              <a:rPr lang="en-US" sz="2800" dirty="0">
                <a:solidFill>
                  <a:schemeClr val="bg1"/>
                </a:solidFill>
                <a:effectLst/>
              </a:rPr>
              <a:t>public static </a:t>
            </a:r>
            <a:r>
              <a:rPr lang="en-US" sz="2800" dirty="0">
                <a:solidFill>
                  <a:srgbClr val="00B0F0"/>
                </a:solidFill>
                <a:effectLst/>
              </a:rPr>
              <a:t>Func&lt;int, bool&gt; </a:t>
            </a:r>
            <a:r>
              <a:rPr lang="en-US" sz="2800" dirty="0">
                <a:solidFill>
                  <a:schemeClr val="bg1"/>
                </a:solidFill>
                <a:effectLst/>
              </a:rPr>
              <a:t>CreateTester</a:t>
            </a:r>
            <a:endParaRPr lang="bg-BG" sz="2800" dirty="0">
              <a:solidFill>
                <a:schemeClr val="bg1"/>
              </a:solidFill>
              <a:effectLst/>
            </a:endParaRPr>
          </a:p>
          <a:p>
            <a:r>
              <a:rPr lang="bg-BG" sz="2800" dirty="0">
                <a:solidFill>
                  <a:schemeClr val="bg1"/>
                </a:solidFill>
                <a:effectLst/>
              </a:rPr>
              <a:t>  </a:t>
            </a:r>
            <a:r>
              <a:rPr lang="en-US" sz="2800" dirty="0">
                <a:solidFill>
                  <a:schemeClr val="bg1"/>
                </a:solidFill>
                <a:effectLst/>
              </a:rPr>
              <a:t>(string condition, int age)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{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 </a:t>
            </a:r>
            <a:r>
              <a:rPr lang="bg-BG" sz="2800" dirty="0">
                <a:solidFill>
                  <a:schemeClr val="bg1"/>
                </a:solidFill>
                <a:effectLst/>
              </a:rPr>
              <a:t> </a:t>
            </a:r>
            <a:r>
              <a:rPr lang="en-US" sz="2800" dirty="0">
                <a:solidFill>
                  <a:schemeClr val="bg1"/>
                </a:solidFill>
                <a:effectLst/>
              </a:rPr>
              <a:t>switch (condition)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 </a:t>
            </a:r>
            <a:r>
              <a:rPr lang="bg-BG" sz="2800" dirty="0">
                <a:solidFill>
                  <a:schemeClr val="bg1"/>
                </a:solidFill>
                <a:effectLst/>
              </a:rPr>
              <a:t> </a:t>
            </a:r>
            <a:r>
              <a:rPr lang="en-US" sz="2800" dirty="0">
                <a:solidFill>
                  <a:schemeClr val="bg1"/>
                </a:solidFill>
                <a:effectLst/>
              </a:rPr>
              <a:t>{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   </a:t>
            </a:r>
            <a:r>
              <a:rPr lang="bg-BG" sz="2800" dirty="0">
                <a:solidFill>
                  <a:schemeClr val="bg1"/>
                </a:solidFill>
                <a:effectLst/>
              </a:rPr>
              <a:t> </a:t>
            </a:r>
            <a:r>
              <a:rPr lang="en-US" sz="2800" dirty="0">
                <a:solidFill>
                  <a:schemeClr val="bg1"/>
                </a:solidFill>
                <a:effectLst/>
              </a:rPr>
              <a:t>case "younger":</a:t>
            </a:r>
            <a:r>
              <a:rPr lang="bg-BG" sz="2800" dirty="0">
                <a:solidFill>
                  <a:schemeClr val="bg1"/>
                </a:solidFill>
                <a:effectLst/>
              </a:rPr>
              <a:t> </a:t>
            </a:r>
            <a:r>
              <a:rPr lang="en-US" sz="2800" dirty="0">
                <a:solidFill>
                  <a:schemeClr val="bg1"/>
                </a:solidFill>
                <a:effectLst/>
              </a:rPr>
              <a:t>return </a:t>
            </a:r>
            <a:r>
              <a:rPr lang="en-US" sz="2800" dirty="0">
                <a:solidFill>
                  <a:srgbClr val="00B0F0"/>
                </a:solidFill>
                <a:effectLst/>
              </a:rPr>
              <a:t>x =&gt; x &lt; age</a:t>
            </a:r>
            <a:r>
              <a:rPr lang="en-US" sz="2800" dirty="0">
                <a:solidFill>
                  <a:schemeClr val="bg1"/>
                </a:solidFill>
                <a:effectLst/>
              </a:rPr>
              <a:t>;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   </a:t>
            </a:r>
            <a:r>
              <a:rPr lang="bg-BG" sz="2800" dirty="0">
                <a:solidFill>
                  <a:schemeClr val="bg1"/>
                </a:solidFill>
                <a:effectLst/>
              </a:rPr>
              <a:t> </a:t>
            </a:r>
            <a:r>
              <a:rPr lang="en-US" sz="2800" dirty="0">
                <a:solidFill>
                  <a:schemeClr val="bg1"/>
                </a:solidFill>
                <a:effectLst/>
              </a:rPr>
              <a:t>case "older":</a:t>
            </a:r>
            <a:r>
              <a:rPr lang="bg-BG" sz="2800" dirty="0">
                <a:solidFill>
                  <a:schemeClr val="bg1"/>
                </a:solidFill>
                <a:effectLst/>
              </a:rPr>
              <a:t> </a:t>
            </a:r>
            <a:r>
              <a:rPr lang="en-US" sz="2800" dirty="0">
                <a:solidFill>
                  <a:schemeClr val="bg1"/>
                </a:solidFill>
                <a:effectLst/>
              </a:rPr>
              <a:t>return </a:t>
            </a:r>
            <a:r>
              <a:rPr lang="en-US" sz="2800" dirty="0">
                <a:solidFill>
                  <a:srgbClr val="00B0F0"/>
                </a:solidFill>
                <a:effectLst/>
              </a:rPr>
              <a:t>x =&gt; x &gt;= age</a:t>
            </a:r>
            <a:r>
              <a:rPr lang="en-US" sz="2800" dirty="0">
                <a:solidFill>
                  <a:schemeClr val="bg1"/>
                </a:solidFill>
                <a:effectLst/>
              </a:rPr>
              <a:t>;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   </a:t>
            </a:r>
            <a:r>
              <a:rPr lang="bg-BG" sz="2800" dirty="0">
                <a:solidFill>
                  <a:schemeClr val="bg1"/>
                </a:solidFill>
                <a:effectLst/>
              </a:rPr>
              <a:t> </a:t>
            </a:r>
            <a:r>
              <a:rPr lang="en-US" sz="2800" dirty="0">
                <a:solidFill>
                  <a:schemeClr val="bg1"/>
                </a:solidFill>
                <a:effectLst/>
              </a:rPr>
              <a:t>default:</a:t>
            </a:r>
            <a:r>
              <a:rPr lang="bg-BG" sz="2800" dirty="0">
                <a:solidFill>
                  <a:schemeClr val="bg1"/>
                </a:solidFill>
                <a:effectLst/>
              </a:rPr>
              <a:t> </a:t>
            </a:r>
            <a:r>
              <a:rPr lang="en-US" sz="2800" dirty="0">
                <a:solidFill>
                  <a:schemeClr val="bg1"/>
                </a:solidFill>
                <a:effectLst/>
              </a:rPr>
              <a:t>return null;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 </a:t>
            </a:r>
            <a:r>
              <a:rPr lang="bg-BG" sz="2800" dirty="0">
                <a:solidFill>
                  <a:schemeClr val="bg1"/>
                </a:solidFill>
                <a:effectLst/>
              </a:rPr>
              <a:t> </a:t>
            </a:r>
            <a:r>
              <a:rPr lang="en-US" sz="2800" dirty="0">
                <a:solidFill>
                  <a:schemeClr val="bg1"/>
                </a:solidFill>
                <a:effectLst/>
              </a:rPr>
              <a:t>}</a:t>
            </a:r>
          </a:p>
          <a:p>
            <a:r>
              <a:rPr lang="en-US" sz="2800" dirty="0">
                <a:solidFill>
                  <a:schemeClr val="bg1"/>
                </a:solidFill>
                <a:effectLst/>
              </a:rPr>
              <a:t>}</a:t>
            </a:r>
            <a:endParaRPr lang="en-US" sz="3200" dirty="0">
              <a:solidFill>
                <a:schemeClr val="bg1"/>
              </a:solidFill>
              <a:effectLst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099" y="6123543"/>
            <a:ext cx="12114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mfortaa" pitchFamily="2" charset="0"/>
              </a:rPr>
              <a:t>Check your solution here: </a:t>
            </a:r>
            <a:r>
              <a:rPr lang="en-US" dirty="0">
                <a:latin typeface="Comfortaa" pitchFamily="2" charset="0"/>
                <a:hlinkClick r:id="rId2"/>
              </a:rPr>
              <a:t>https://judge.softuni.bg/Contests/Practice/Index/597#4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69522FE1-B839-F330-2C7E-7D785DCEC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999" y="365125"/>
            <a:ext cx="10942413" cy="1325563"/>
          </a:xfrm>
        </p:spPr>
        <p:txBody>
          <a:bodyPr>
            <a:normAutofit/>
          </a:bodyPr>
          <a:lstStyle/>
          <a:p>
            <a:r>
              <a:rPr lang="bg-BG" sz="3600" b="1" dirty="0">
                <a:latin typeface="Comfortaa" pitchFamily="2" charset="0"/>
              </a:rPr>
              <a:t>Решение</a:t>
            </a:r>
            <a:r>
              <a:rPr lang="en-US" sz="3600" b="1" dirty="0">
                <a:latin typeface="Comfortaa" pitchFamily="2" charset="0"/>
              </a:rPr>
              <a:t>: </a:t>
            </a:r>
            <a:r>
              <a:rPr lang="bg-BG" sz="3600" b="1" dirty="0">
                <a:latin typeface="Comfortaa" pitchFamily="2" charset="0"/>
              </a:rPr>
              <a:t>Филтриране по възраст </a:t>
            </a:r>
            <a:r>
              <a:rPr lang="en-US" sz="3600" b="1" dirty="0">
                <a:latin typeface="Comfortaa" pitchFamily="2" charset="0"/>
              </a:rPr>
              <a:t>[2/4]</a:t>
            </a:r>
          </a:p>
        </p:txBody>
      </p:sp>
    </p:spTree>
    <p:extLst>
      <p:ext uri="{BB962C8B-B14F-4D97-AF65-F5344CB8AC3E}">
        <p14:creationId xmlns:p14="http://schemas.microsoft.com/office/powerpoint/2010/main" val="1086958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 txBox="1">
            <a:spLocks/>
          </p:cNvSpPr>
          <p:nvPr/>
        </p:nvSpPr>
        <p:spPr>
          <a:xfrm>
            <a:off x="495300" y="1066801"/>
            <a:ext cx="11391900" cy="5546885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144000" tIns="72000" rIns="144000" bIns="72000" rtlCol="0" anchor="t" anchorCtr="0">
            <a:spAutoFit/>
          </a:bodyPr>
          <a:lstStyle>
            <a:lvl1pPr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  <a:defRPr lang="en-US" b="1" noProof="1" smtClean="0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  <a:lvl2pPr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sz="3200" b="0"/>
            </a:lvl2pPr>
            <a:lvl3pPr marL="914240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F9A1D"/>
              </a:buClr>
              <a:buSzPct val="80000"/>
              <a:buFont typeface="Wingdings" panose="05000000000000000000" pitchFamily="2" charset="2"/>
              <a:buChar char="§"/>
              <a:defRPr sz="3000" b="0"/>
            </a:lvl3pPr>
            <a:lvl4pPr marL="1218987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D9411"/>
              </a:buClr>
              <a:buSzPct val="80000"/>
              <a:buFont typeface="Wingdings" panose="05000000000000000000" pitchFamily="2" charset="2"/>
              <a:buChar char="§"/>
              <a:defRPr sz="2800" b="0"/>
            </a:lvl4pPr>
            <a:lvl5pPr marL="1523733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28D10"/>
              </a:buClr>
              <a:buSzPct val="80000"/>
              <a:buFont typeface="Wingdings" panose="05000000000000000000" pitchFamily="2" charset="2"/>
              <a:buChar char="§"/>
              <a:defRPr sz="2600" b="0"/>
            </a:lvl5pPr>
            <a:lvl6pPr marL="182848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6pPr>
            <a:lvl7pPr marL="2133227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7pPr>
            <a:lvl8pPr marL="2437972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8pPr>
            <a:lvl9pPr marL="274272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9pPr>
          </a:lstStyle>
          <a:p>
            <a:pPr>
              <a:lnSpc>
                <a:spcPct val="90000"/>
              </a:lnSpc>
            </a:pPr>
            <a:r>
              <a:rPr lang="en-US" sz="2600" dirty="0">
                <a:solidFill>
                  <a:schemeClr val="bg1"/>
                </a:solidFill>
                <a:effectLst/>
              </a:rPr>
              <a:t>public static </a:t>
            </a:r>
            <a:r>
              <a:rPr lang="en-US" sz="2600" dirty="0">
                <a:solidFill>
                  <a:srgbClr val="00B0F0"/>
                </a:solidFill>
                <a:effectLst/>
              </a:rPr>
              <a:t>Action&lt;KeyValuePair&lt;string, int&gt;&gt;</a:t>
            </a:r>
            <a:endParaRPr lang="bg-BG" sz="2600" dirty="0">
              <a:solidFill>
                <a:srgbClr val="00B0F0"/>
              </a:solidFill>
              <a:effectLst/>
            </a:endParaRPr>
          </a:p>
          <a:p>
            <a:pPr>
              <a:lnSpc>
                <a:spcPct val="90000"/>
              </a:lnSpc>
            </a:pPr>
            <a:r>
              <a:rPr lang="bg-BG" sz="2600" dirty="0">
                <a:solidFill>
                  <a:schemeClr val="bg1"/>
                </a:solidFill>
                <a:effectLst/>
              </a:rPr>
              <a:t>  </a:t>
            </a:r>
            <a:r>
              <a:rPr lang="en-US" sz="2600" dirty="0" err="1">
                <a:solidFill>
                  <a:schemeClr val="bg1"/>
                </a:solidFill>
                <a:effectLst/>
              </a:rPr>
              <a:t>CreatePrinter</a:t>
            </a:r>
            <a:r>
              <a:rPr lang="en-US" sz="2600" dirty="0">
                <a:solidFill>
                  <a:schemeClr val="bg1"/>
                </a:solidFill>
                <a:effectLst/>
              </a:rPr>
              <a:t>(string format)</a:t>
            </a:r>
          </a:p>
          <a:p>
            <a:pPr>
              <a:lnSpc>
                <a:spcPct val="90000"/>
              </a:lnSpc>
            </a:pPr>
            <a:r>
              <a:rPr lang="en-US" sz="2600" dirty="0">
                <a:solidFill>
                  <a:schemeClr val="bg1"/>
                </a:solidFill>
                <a:effectLst/>
              </a:rPr>
              <a:t>{</a:t>
            </a:r>
          </a:p>
          <a:p>
            <a:pPr>
              <a:lnSpc>
                <a:spcPct val="90000"/>
              </a:lnSpc>
            </a:pPr>
            <a:r>
              <a:rPr lang="en-US" sz="2600" dirty="0">
                <a:solidFill>
                  <a:schemeClr val="bg1"/>
                </a:solidFill>
                <a:effectLst/>
              </a:rPr>
              <a:t> </a:t>
            </a:r>
            <a:r>
              <a:rPr lang="bg-BG" sz="2600" dirty="0">
                <a:solidFill>
                  <a:schemeClr val="bg1"/>
                </a:solidFill>
                <a:effectLst/>
              </a:rPr>
              <a:t> </a:t>
            </a:r>
            <a:r>
              <a:rPr lang="en-US" sz="2600" dirty="0">
                <a:solidFill>
                  <a:schemeClr val="bg1"/>
                </a:solidFill>
                <a:effectLst/>
              </a:rPr>
              <a:t>switch (format)</a:t>
            </a:r>
            <a:endParaRPr lang="bg-BG" sz="2600" dirty="0">
              <a:solidFill>
                <a:schemeClr val="bg1"/>
              </a:solidFill>
              <a:effectLst/>
            </a:endParaRPr>
          </a:p>
          <a:p>
            <a:pPr>
              <a:lnSpc>
                <a:spcPct val="90000"/>
              </a:lnSpc>
            </a:pPr>
            <a:r>
              <a:rPr lang="bg-BG" sz="2600" dirty="0">
                <a:solidFill>
                  <a:schemeClr val="bg1"/>
                </a:solidFill>
                <a:effectLst/>
              </a:rPr>
              <a:t>  </a:t>
            </a:r>
            <a:r>
              <a:rPr lang="en-US" sz="2600" dirty="0">
                <a:solidFill>
                  <a:schemeClr val="bg1"/>
                </a:solidFill>
                <a:effectLst/>
              </a:rPr>
              <a:t>{</a:t>
            </a:r>
            <a:r>
              <a:rPr lang="bg-BG" sz="2600" dirty="0">
                <a:solidFill>
                  <a:schemeClr val="bg1"/>
                </a:solidFill>
                <a:effectLst/>
              </a:rPr>
              <a:t> </a:t>
            </a:r>
            <a:endParaRPr lang="en-US" sz="2600" dirty="0">
              <a:solidFill>
                <a:schemeClr val="bg1"/>
              </a:solidFill>
              <a:effectLst/>
            </a:endParaRPr>
          </a:p>
          <a:p>
            <a:pPr>
              <a:lnSpc>
                <a:spcPct val="90000"/>
              </a:lnSpc>
            </a:pPr>
            <a:r>
              <a:rPr lang="en-US" sz="2600" dirty="0">
                <a:solidFill>
                  <a:schemeClr val="bg1"/>
                </a:solidFill>
                <a:effectLst/>
              </a:rPr>
              <a:t>    case "name":</a:t>
            </a:r>
            <a:r>
              <a:rPr lang="bg-BG" sz="2600" dirty="0">
                <a:solidFill>
                  <a:schemeClr val="bg1"/>
                </a:solidFill>
                <a:effectLst/>
              </a:rPr>
              <a:t> </a:t>
            </a:r>
          </a:p>
          <a:p>
            <a:pPr>
              <a:lnSpc>
                <a:spcPct val="90000"/>
              </a:lnSpc>
            </a:pPr>
            <a:r>
              <a:rPr lang="bg-BG" sz="2600" dirty="0">
                <a:solidFill>
                  <a:schemeClr val="bg1"/>
                </a:solidFill>
                <a:effectLst/>
              </a:rPr>
              <a:t>      </a:t>
            </a:r>
            <a:r>
              <a:rPr lang="en-US" sz="2600" dirty="0">
                <a:solidFill>
                  <a:schemeClr val="bg1"/>
                </a:solidFill>
                <a:effectLst/>
              </a:rPr>
              <a:t>return person =&gt; </a:t>
            </a:r>
            <a:r>
              <a:rPr lang="en-US" sz="2600" dirty="0" err="1">
                <a:solidFill>
                  <a:schemeClr val="bg1"/>
                </a:solidFill>
                <a:effectLst/>
              </a:rPr>
              <a:t>Console.WriteLine</a:t>
            </a:r>
            <a:r>
              <a:rPr lang="en-US" sz="2600" dirty="0">
                <a:solidFill>
                  <a:schemeClr val="bg1"/>
                </a:solidFill>
                <a:effectLst/>
              </a:rPr>
              <a:t>(</a:t>
            </a:r>
            <a:r>
              <a:rPr lang="en-US" sz="2600" dirty="0">
                <a:solidFill>
                  <a:srgbClr val="00B0F0"/>
                </a:solidFill>
                <a:effectLst/>
              </a:rPr>
              <a:t>$"{person.Key}"</a:t>
            </a:r>
            <a:r>
              <a:rPr lang="en-US" sz="2600" dirty="0">
                <a:solidFill>
                  <a:schemeClr val="bg1"/>
                </a:solidFill>
                <a:effectLst/>
              </a:rPr>
              <a:t>);</a:t>
            </a:r>
          </a:p>
          <a:p>
            <a:pPr>
              <a:lnSpc>
                <a:spcPct val="90000"/>
              </a:lnSpc>
            </a:pPr>
            <a:r>
              <a:rPr lang="en-US" sz="2600" dirty="0">
                <a:solidFill>
                  <a:schemeClr val="bg1"/>
                </a:solidFill>
                <a:effectLst/>
              </a:rPr>
              <a:t>   </a:t>
            </a:r>
            <a:r>
              <a:rPr lang="bg-BG" sz="2600" dirty="0">
                <a:solidFill>
                  <a:schemeClr val="bg1"/>
                </a:solidFill>
                <a:effectLst/>
              </a:rPr>
              <a:t> </a:t>
            </a:r>
            <a:r>
              <a:rPr lang="en-US" sz="2600" dirty="0">
                <a:solidFill>
                  <a:schemeClr val="bg1"/>
                </a:solidFill>
                <a:effectLst/>
              </a:rPr>
              <a:t>case "age":</a:t>
            </a:r>
          </a:p>
          <a:p>
            <a:pPr>
              <a:lnSpc>
                <a:spcPct val="90000"/>
              </a:lnSpc>
            </a:pPr>
            <a:r>
              <a:rPr lang="en-US" sz="2600" dirty="0">
                <a:solidFill>
                  <a:schemeClr val="bg1"/>
                </a:solidFill>
                <a:effectLst/>
              </a:rPr>
              <a:t>     </a:t>
            </a:r>
            <a:r>
              <a:rPr lang="bg-BG" sz="2600" dirty="0">
                <a:solidFill>
                  <a:schemeClr val="bg1"/>
                </a:solidFill>
                <a:effectLst/>
              </a:rPr>
              <a:t> </a:t>
            </a:r>
            <a:r>
              <a:rPr lang="en-US" sz="2600" dirty="0">
                <a:solidFill>
                  <a:schemeClr val="bg1"/>
                </a:solidFill>
                <a:effectLst/>
              </a:rPr>
              <a:t>return person =&gt; </a:t>
            </a:r>
            <a:r>
              <a:rPr lang="en-US" sz="2600" dirty="0" err="1">
                <a:solidFill>
                  <a:schemeClr val="bg1"/>
                </a:solidFill>
                <a:effectLst/>
              </a:rPr>
              <a:t>Console.WriteLine</a:t>
            </a:r>
            <a:r>
              <a:rPr lang="en-US" sz="2600" dirty="0">
                <a:solidFill>
                  <a:schemeClr val="bg1"/>
                </a:solidFill>
                <a:effectLst/>
              </a:rPr>
              <a:t>(</a:t>
            </a:r>
            <a:r>
              <a:rPr lang="en-US" sz="2600" dirty="0">
                <a:solidFill>
                  <a:srgbClr val="00B0F0"/>
                </a:solidFill>
                <a:effectLst/>
              </a:rPr>
              <a:t>$"{</a:t>
            </a:r>
            <a:r>
              <a:rPr lang="en-US" sz="2600" dirty="0" err="1">
                <a:solidFill>
                  <a:srgbClr val="00B0F0"/>
                </a:solidFill>
                <a:effectLst/>
              </a:rPr>
              <a:t>person.Value</a:t>
            </a:r>
            <a:r>
              <a:rPr lang="en-US" sz="2600" dirty="0">
                <a:solidFill>
                  <a:srgbClr val="00B0F0"/>
                </a:solidFill>
                <a:effectLst/>
              </a:rPr>
              <a:t>}"</a:t>
            </a:r>
            <a:r>
              <a:rPr lang="en-US" sz="2600" dirty="0">
                <a:solidFill>
                  <a:schemeClr val="bg1"/>
                </a:solidFill>
                <a:effectLst/>
              </a:rPr>
              <a:t>);</a:t>
            </a:r>
          </a:p>
          <a:p>
            <a:pPr>
              <a:lnSpc>
                <a:spcPct val="90000"/>
              </a:lnSpc>
            </a:pPr>
            <a:r>
              <a:rPr lang="bg-BG" sz="2600" dirty="0">
                <a:solidFill>
                  <a:schemeClr val="bg1"/>
                </a:solidFill>
                <a:effectLst/>
              </a:rPr>
              <a:t>    </a:t>
            </a:r>
            <a:r>
              <a:rPr lang="en-US" sz="2600" dirty="0">
                <a:solidFill>
                  <a:schemeClr val="bg1"/>
                </a:solidFill>
                <a:effectLst/>
              </a:rPr>
              <a:t>case "name age":</a:t>
            </a:r>
          </a:p>
          <a:p>
            <a:pPr>
              <a:lnSpc>
                <a:spcPct val="90000"/>
              </a:lnSpc>
            </a:pPr>
            <a:r>
              <a:rPr lang="en-US" sz="2600" dirty="0">
                <a:solidFill>
                  <a:schemeClr val="bg1"/>
                </a:solidFill>
                <a:effectLst/>
              </a:rPr>
              <a:t>     </a:t>
            </a:r>
            <a:r>
              <a:rPr lang="bg-BG" sz="2600" dirty="0">
                <a:solidFill>
                  <a:schemeClr val="bg1"/>
                </a:solidFill>
                <a:effectLst/>
              </a:rPr>
              <a:t> </a:t>
            </a:r>
            <a:r>
              <a:rPr lang="en-US" sz="2600" dirty="0">
                <a:solidFill>
                  <a:schemeClr val="bg1"/>
                </a:solidFill>
                <a:effectLst/>
              </a:rPr>
              <a:t>return person =&gt; </a:t>
            </a:r>
            <a:endParaRPr lang="bg-BG" sz="2600" dirty="0">
              <a:solidFill>
                <a:schemeClr val="bg1"/>
              </a:solidFill>
              <a:effectLst/>
            </a:endParaRPr>
          </a:p>
          <a:p>
            <a:pPr>
              <a:lnSpc>
                <a:spcPct val="90000"/>
              </a:lnSpc>
            </a:pPr>
            <a:r>
              <a:rPr lang="bg-BG" sz="2600" dirty="0">
                <a:solidFill>
                  <a:schemeClr val="bg1"/>
                </a:solidFill>
                <a:effectLst/>
              </a:rPr>
              <a:t>         </a:t>
            </a:r>
            <a:r>
              <a:rPr lang="en-US" sz="2600" dirty="0" err="1">
                <a:solidFill>
                  <a:schemeClr val="bg1"/>
                </a:solidFill>
                <a:effectLst/>
              </a:rPr>
              <a:t>Console.WriteLine</a:t>
            </a:r>
            <a:r>
              <a:rPr lang="en-US" sz="2600" dirty="0">
                <a:solidFill>
                  <a:schemeClr val="bg1"/>
                </a:solidFill>
                <a:effectLst/>
              </a:rPr>
              <a:t>(</a:t>
            </a:r>
            <a:r>
              <a:rPr lang="en-US" sz="2600" dirty="0">
                <a:solidFill>
                  <a:srgbClr val="00B0F0"/>
                </a:solidFill>
                <a:effectLst/>
              </a:rPr>
              <a:t>$"{</a:t>
            </a:r>
            <a:r>
              <a:rPr lang="en-US" sz="2600" dirty="0" err="1">
                <a:solidFill>
                  <a:srgbClr val="00B0F0"/>
                </a:solidFill>
                <a:effectLst/>
              </a:rPr>
              <a:t>person.Key</a:t>
            </a:r>
            <a:r>
              <a:rPr lang="en-US" sz="2600" dirty="0">
                <a:solidFill>
                  <a:srgbClr val="00B0F0"/>
                </a:solidFill>
                <a:effectLst/>
              </a:rPr>
              <a:t>} </a:t>
            </a:r>
            <a:r>
              <a:rPr lang="en-US" dirty="0">
                <a:solidFill>
                  <a:srgbClr val="00B0F0"/>
                </a:solidFill>
                <a:effectLst/>
              </a:rPr>
              <a:t>-</a:t>
            </a:r>
            <a:r>
              <a:rPr lang="en-US" sz="2600" dirty="0">
                <a:solidFill>
                  <a:srgbClr val="00B0F0"/>
                </a:solidFill>
                <a:effectLst/>
              </a:rPr>
              <a:t> {</a:t>
            </a:r>
            <a:r>
              <a:rPr lang="en-US" sz="2600" dirty="0" err="1">
                <a:solidFill>
                  <a:srgbClr val="00B0F0"/>
                </a:solidFill>
                <a:effectLst/>
              </a:rPr>
              <a:t>person.Value</a:t>
            </a:r>
            <a:r>
              <a:rPr lang="en-US" sz="2600" dirty="0">
                <a:solidFill>
                  <a:srgbClr val="00B0F0"/>
                </a:solidFill>
                <a:effectLst/>
              </a:rPr>
              <a:t>}</a:t>
            </a:r>
            <a:r>
              <a:rPr lang="en-US" sz="2600" dirty="0">
                <a:solidFill>
                  <a:schemeClr val="bg1"/>
                </a:solidFill>
                <a:effectLst/>
              </a:rPr>
              <a:t>");</a:t>
            </a:r>
          </a:p>
          <a:p>
            <a:pPr>
              <a:lnSpc>
                <a:spcPct val="90000"/>
              </a:lnSpc>
            </a:pPr>
            <a:r>
              <a:rPr lang="en-US" sz="2600" dirty="0">
                <a:solidFill>
                  <a:schemeClr val="bg1"/>
                </a:solidFill>
                <a:effectLst/>
              </a:rPr>
              <a:t>    default:</a:t>
            </a:r>
            <a:r>
              <a:rPr lang="bg-BG" sz="2600" dirty="0">
                <a:solidFill>
                  <a:schemeClr val="bg1"/>
                </a:solidFill>
                <a:effectLst/>
              </a:rPr>
              <a:t> </a:t>
            </a:r>
            <a:r>
              <a:rPr lang="en-US" sz="2600" dirty="0">
                <a:solidFill>
                  <a:schemeClr val="bg1"/>
                </a:solidFill>
                <a:effectLst/>
              </a:rPr>
              <a:t>return null;</a:t>
            </a:r>
          </a:p>
          <a:p>
            <a:pPr>
              <a:lnSpc>
                <a:spcPct val="90000"/>
              </a:lnSpc>
            </a:pPr>
            <a:r>
              <a:rPr lang="en-US" sz="2600" dirty="0">
                <a:solidFill>
                  <a:schemeClr val="bg1"/>
                </a:solidFill>
                <a:effectLst/>
              </a:rPr>
              <a:t>  }</a:t>
            </a:r>
          </a:p>
          <a:p>
            <a:pPr>
              <a:lnSpc>
                <a:spcPct val="90000"/>
              </a:lnSpc>
            </a:pPr>
            <a:r>
              <a:rPr lang="en-US" sz="2600" dirty="0">
                <a:solidFill>
                  <a:schemeClr val="bg1"/>
                </a:solidFill>
                <a:effectLst/>
              </a:rPr>
              <a:t>}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19035CCC-3E0B-4516-97B6-A0E57A1CD2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defPPr>
              <a:defRPr lang="en-US"/>
            </a:defPPr>
            <a:lvl1pPr marL="0" algn="r" defTabSz="1218987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14DD1E-5D91-48A3-AD6D-45FBA980D106}" type="slidenum">
              <a:rPr lang="en-US" smtClean="0">
                <a:solidFill>
                  <a:prstClr val="white">
                    <a:tint val="75000"/>
                  </a:prstClr>
                </a:solidFill>
              </a:rPr>
              <a:pPr/>
              <a:t>17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C315889A-DFB1-CDC7-C8AA-BC683D46D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999" y="62305"/>
            <a:ext cx="10942413" cy="1071790"/>
          </a:xfrm>
        </p:spPr>
        <p:txBody>
          <a:bodyPr>
            <a:normAutofit/>
          </a:bodyPr>
          <a:lstStyle/>
          <a:p>
            <a:r>
              <a:rPr lang="bg-BG" sz="3600" b="1" dirty="0">
                <a:latin typeface="Comfortaa" pitchFamily="2" charset="0"/>
              </a:rPr>
              <a:t>Решение</a:t>
            </a:r>
            <a:r>
              <a:rPr lang="en-US" sz="3600" b="1" dirty="0">
                <a:latin typeface="Comfortaa" pitchFamily="2" charset="0"/>
              </a:rPr>
              <a:t>: </a:t>
            </a:r>
            <a:r>
              <a:rPr lang="bg-BG" sz="3600" b="1" dirty="0">
                <a:latin typeface="Comfortaa" pitchFamily="2" charset="0"/>
              </a:rPr>
              <a:t>Филтриране по възраст </a:t>
            </a:r>
            <a:r>
              <a:rPr lang="en-US" sz="3600" b="1" dirty="0">
                <a:latin typeface="Comfortaa" pitchFamily="2" charset="0"/>
              </a:rPr>
              <a:t>[3/4]</a:t>
            </a:r>
          </a:p>
        </p:txBody>
      </p:sp>
    </p:spTree>
    <p:extLst>
      <p:ext uri="{BB962C8B-B14F-4D97-AF65-F5344CB8AC3E}">
        <p14:creationId xmlns:p14="http://schemas.microsoft.com/office/powerpoint/2010/main" val="10716420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 txBox="1">
            <a:spLocks/>
          </p:cNvSpPr>
          <p:nvPr/>
        </p:nvSpPr>
        <p:spPr>
          <a:xfrm>
            <a:off x="402497" y="1841525"/>
            <a:ext cx="11220478" cy="3469393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square" lIns="144000" tIns="72000" rIns="144000" bIns="72000" rtlCol="0" anchor="t" anchorCtr="0">
            <a:spAutoFit/>
          </a:bodyPr>
          <a:lstStyle>
            <a:lvl1pPr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  <a:defRPr lang="en-US" b="1" noProof="1" smtClean="0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  <a:lvl2pPr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sz="3200" b="0"/>
            </a:lvl2pPr>
            <a:lvl3pPr marL="914240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F9A1D"/>
              </a:buClr>
              <a:buSzPct val="80000"/>
              <a:buFont typeface="Wingdings" panose="05000000000000000000" pitchFamily="2" charset="2"/>
              <a:buChar char="§"/>
              <a:defRPr sz="3000" b="0"/>
            </a:lvl3pPr>
            <a:lvl4pPr marL="1218987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D9411"/>
              </a:buClr>
              <a:buSzPct val="80000"/>
              <a:buFont typeface="Wingdings" panose="05000000000000000000" pitchFamily="2" charset="2"/>
              <a:buChar char="§"/>
              <a:defRPr sz="2800" b="0"/>
            </a:lvl4pPr>
            <a:lvl5pPr marL="1523733" indent="-231606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E28D10"/>
              </a:buClr>
              <a:buSzPct val="80000"/>
              <a:buFont typeface="Wingdings" panose="05000000000000000000" pitchFamily="2" charset="2"/>
              <a:buChar char="§"/>
              <a:defRPr sz="2600" b="0"/>
            </a:lvl5pPr>
            <a:lvl6pPr marL="182848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6pPr>
            <a:lvl7pPr marL="2133227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/>
            </a:lvl7pPr>
            <a:lvl8pPr marL="2437972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8pPr>
            <a:lvl9pPr marL="2742720" indent="-23160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baseline="0"/>
            </a:lvl9pPr>
          </a:lstStyle>
          <a:p>
            <a:pPr>
              <a:lnSpc>
                <a:spcPct val="90000"/>
              </a:lnSpc>
            </a:pPr>
            <a:r>
              <a:rPr lang="en-US" sz="2400" dirty="0">
                <a:solidFill>
                  <a:schemeClr val="bg1"/>
                </a:solidFill>
                <a:effectLst/>
              </a:rPr>
              <a:t>public static void </a:t>
            </a:r>
            <a:r>
              <a:rPr lang="en-US" sz="2400" dirty="0" err="1">
                <a:solidFill>
                  <a:schemeClr val="bg1"/>
                </a:solidFill>
                <a:effectLst/>
              </a:rPr>
              <a:t>PrintFilteredStudent</a:t>
            </a:r>
            <a:r>
              <a:rPr lang="en-US" sz="2400" dirty="0">
                <a:solidFill>
                  <a:schemeClr val="bg1"/>
                </a:solidFill>
                <a:effectLst/>
              </a:rPr>
              <a:t>(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solidFill>
                  <a:schemeClr val="bg1"/>
                </a:solidFill>
                <a:effectLst/>
              </a:rPr>
              <a:t>   Dictionary&lt;string, </a:t>
            </a:r>
            <a:r>
              <a:rPr lang="en-US" sz="2400" dirty="0" err="1">
                <a:solidFill>
                  <a:schemeClr val="bg1"/>
                </a:solidFill>
                <a:effectLst/>
              </a:rPr>
              <a:t>int</a:t>
            </a:r>
            <a:r>
              <a:rPr lang="en-US" sz="2400" dirty="0">
                <a:solidFill>
                  <a:schemeClr val="bg1"/>
                </a:solidFill>
                <a:effectLst/>
              </a:rPr>
              <a:t>&gt; people, 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solidFill>
                  <a:schemeClr val="bg1"/>
                </a:solidFill>
                <a:effectLst/>
              </a:rPr>
              <a:t>   </a:t>
            </a:r>
            <a:r>
              <a:rPr lang="en-US" sz="2400" dirty="0" err="1">
                <a:solidFill>
                  <a:schemeClr val="bg1"/>
                </a:solidFill>
                <a:effectLst/>
              </a:rPr>
              <a:t>Func</a:t>
            </a:r>
            <a:r>
              <a:rPr lang="en-US" sz="2400" dirty="0">
                <a:solidFill>
                  <a:schemeClr val="bg1"/>
                </a:solidFill>
                <a:effectLst/>
              </a:rPr>
              <a:t>&lt;</a:t>
            </a:r>
            <a:r>
              <a:rPr lang="en-US" sz="2400" dirty="0" err="1">
                <a:solidFill>
                  <a:schemeClr val="bg1"/>
                </a:solidFill>
                <a:effectLst/>
              </a:rPr>
              <a:t>int</a:t>
            </a:r>
            <a:r>
              <a:rPr lang="en-US" sz="2400" dirty="0">
                <a:solidFill>
                  <a:schemeClr val="bg1"/>
                </a:solidFill>
                <a:effectLst/>
              </a:rPr>
              <a:t>, </a:t>
            </a:r>
            <a:r>
              <a:rPr lang="en-US" sz="2400" dirty="0" err="1">
                <a:solidFill>
                  <a:schemeClr val="bg1"/>
                </a:solidFill>
                <a:effectLst/>
              </a:rPr>
              <a:t>bool</a:t>
            </a:r>
            <a:r>
              <a:rPr lang="en-US" sz="2400" dirty="0">
                <a:solidFill>
                  <a:schemeClr val="bg1"/>
                </a:solidFill>
                <a:effectLst/>
              </a:rPr>
              <a:t>&gt; tester,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solidFill>
                  <a:schemeClr val="bg1"/>
                </a:solidFill>
                <a:effectLst/>
              </a:rPr>
              <a:t>   Action&lt;</a:t>
            </a:r>
            <a:r>
              <a:rPr lang="en-US" sz="2400" dirty="0" err="1">
                <a:solidFill>
                  <a:schemeClr val="bg1"/>
                </a:solidFill>
                <a:effectLst/>
              </a:rPr>
              <a:t>KeyValuePair</a:t>
            </a:r>
            <a:r>
              <a:rPr lang="en-US" sz="2400" dirty="0">
                <a:solidFill>
                  <a:schemeClr val="bg1"/>
                </a:solidFill>
                <a:effectLst/>
              </a:rPr>
              <a:t>&lt;string, </a:t>
            </a:r>
            <a:r>
              <a:rPr lang="en-US" sz="2400" dirty="0" err="1">
                <a:solidFill>
                  <a:schemeClr val="bg1"/>
                </a:solidFill>
                <a:effectLst/>
              </a:rPr>
              <a:t>int</a:t>
            </a:r>
            <a:r>
              <a:rPr lang="en-US" sz="2400" dirty="0">
                <a:solidFill>
                  <a:schemeClr val="bg1"/>
                </a:solidFill>
                <a:effectLst/>
              </a:rPr>
              <a:t>&gt;&gt; printer) 			</a:t>
            </a:r>
            <a:r>
              <a:rPr lang="bg-BG" sz="2400" dirty="0">
                <a:solidFill>
                  <a:schemeClr val="bg1"/>
                </a:solidFill>
                <a:effectLst/>
              </a:rPr>
              <a:t> </a:t>
            </a:r>
            <a:endParaRPr lang="en-US" sz="2400" dirty="0">
              <a:solidFill>
                <a:schemeClr val="bg1"/>
              </a:solidFill>
              <a:effectLst/>
            </a:endParaRPr>
          </a:p>
          <a:p>
            <a:pPr>
              <a:lnSpc>
                <a:spcPct val="90000"/>
              </a:lnSpc>
            </a:pPr>
            <a:r>
              <a:rPr lang="en-US" sz="2400" dirty="0">
                <a:solidFill>
                  <a:schemeClr val="bg1"/>
                </a:solidFill>
                <a:effectLst/>
              </a:rPr>
              <a:t>{</a:t>
            </a:r>
            <a:endParaRPr lang="bg-BG" sz="2400" dirty="0">
              <a:solidFill>
                <a:schemeClr val="bg1"/>
              </a:solidFill>
              <a:effectLst/>
            </a:endParaRPr>
          </a:p>
          <a:p>
            <a:pPr>
              <a:lnSpc>
                <a:spcPct val="90000"/>
              </a:lnSpc>
            </a:pPr>
            <a:r>
              <a:rPr lang="bg-BG" sz="2400" dirty="0">
                <a:solidFill>
                  <a:schemeClr val="bg1"/>
                </a:solidFill>
                <a:effectLst/>
              </a:rPr>
              <a:t>  </a:t>
            </a:r>
            <a:r>
              <a:rPr lang="en-US" sz="2400" dirty="0">
                <a:solidFill>
                  <a:schemeClr val="bg1"/>
                </a:solidFill>
                <a:effectLst/>
              </a:rPr>
              <a:t>foreach (var person in people)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solidFill>
                  <a:schemeClr val="bg1"/>
                </a:solidFill>
                <a:effectLst/>
              </a:rPr>
              <a:t>  </a:t>
            </a:r>
            <a:r>
              <a:rPr lang="bg-BG" sz="2400" dirty="0">
                <a:solidFill>
                  <a:schemeClr val="bg1"/>
                </a:solidFill>
                <a:effectLst/>
              </a:rPr>
              <a:t>  </a:t>
            </a:r>
            <a:r>
              <a:rPr lang="en-US" sz="2400" dirty="0">
                <a:solidFill>
                  <a:schemeClr val="bg1"/>
                </a:solidFill>
                <a:effectLst/>
              </a:rPr>
              <a:t>if (tester(</a:t>
            </a:r>
            <a:r>
              <a:rPr lang="en-US" sz="2400" dirty="0" err="1">
                <a:solidFill>
                  <a:schemeClr val="bg1"/>
                </a:solidFill>
                <a:effectLst/>
              </a:rPr>
              <a:t>person.Value</a:t>
            </a:r>
            <a:r>
              <a:rPr lang="en-US" sz="2400" dirty="0">
                <a:solidFill>
                  <a:schemeClr val="bg1"/>
                </a:solidFill>
                <a:effectLst/>
              </a:rPr>
              <a:t>))</a:t>
            </a:r>
          </a:p>
          <a:p>
            <a:pPr>
              <a:lnSpc>
                <a:spcPct val="90000"/>
              </a:lnSpc>
            </a:pPr>
            <a:r>
              <a:rPr lang="bg-BG" sz="2400" dirty="0">
                <a:solidFill>
                  <a:schemeClr val="bg1"/>
                </a:solidFill>
                <a:effectLst/>
              </a:rPr>
              <a:t>      </a:t>
            </a:r>
            <a:r>
              <a:rPr lang="en-US" sz="2400" dirty="0">
                <a:solidFill>
                  <a:schemeClr val="bg1"/>
                </a:solidFill>
                <a:effectLst/>
              </a:rPr>
              <a:t>printer(person);</a:t>
            </a:r>
          </a:p>
          <a:p>
            <a:pPr>
              <a:lnSpc>
                <a:spcPct val="90000"/>
              </a:lnSpc>
            </a:pPr>
            <a:endParaRPr lang="bg-BG" sz="2400" dirty="0">
              <a:solidFill>
                <a:schemeClr val="bg1"/>
              </a:solidFill>
              <a:effectLst/>
            </a:endParaRPr>
          </a:p>
          <a:p>
            <a:pPr>
              <a:lnSpc>
                <a:spcPct val="90000"/>
              </a:lnSpc>
            </a:pPr>
            <a:r>
              <a:rPr lang="en-US" sz="2400" dirty="0">
                <a:solidFill>
                  <a:schemeClr val="bg1"/>
                </a:solidFill>
                <a:effectLst/>
              </a:rPr>
              <a:t>}</a:t>
            </a:r>
          </a:p>
        </p:txBody>
      </p:sp>
      <p:sp>
        <p:nvSpPr>
          <p:cNvPr id="8" name="AutoShape 5"/>
          <p:cNvSpPr>
            <a:spLocks noChangeArrowheads="1"/>
          </p:cNvSpPr>
          <p:nvPr/>
        </p:nvSpPr>
        <p:spPr bwMode="auto">
          <a:xfrm>
            <a:off x="1760024" y="5459361"/>
            <a:ext cx="6996545" cy="1069916"/>
          </a:xfrm>
          <a:prstGeom prst="wedgeRoundRectCallout">
            <a:avLst>
              <a:gd name="adj1" fmla="val -44330"/>
              <a:gd name="adj2" fmla="val -132111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dirty="0">
                <a:solidFill>
                  <a:schemeClr val="bg1"/>
                </a:solidFill>
                <a:latin typeface="Comfortaa" pitchFamily="2" charset="0"/>
              </a:rPr>
              <a:t>и ако отговаря се </a:t>
            </a:r>
            <a:r>
              <a:rPr lang="bg-BG" b="1" dirty="0">
                <a:solidFill>
                  <a:schemeClr val="tx1"/>
                </a:solidFill>
                <a:latin typeface="Comfortaa" pitchFamily="2" charset="0"/>
              </a:rPr>
              <a:t>извежда</a:t>
            </a:r>
            <a:r>
              <a:rPr lang="bg-BG" dirty="0">
                <a:solidFill>
                  <a:schemeClr val="bg1"/>
                </a:solidFill>
                <a:latin typeface="Comfortaa" pitchFamily="2" charset="0"/>
              </a:rPr>
              <a:t> информация, подредена в реда, указан от </a:t>
            </a:r>
            <a:r>
              <a:rPr lang="bg-BG" b="1" dirty="0">
                <a:solidFill>
                  <a:schemeClr val="tx1"/>
                </a:solidFill>
                <a:latin typeface="Comfortaa" pitchFamily="2" charset="0"/>
              </a:rPr>
              <a:t>формата</a:t>
            </a:r>
            <a:endParaRPr lang="bg-BG" sz="1200" b="1" dirty="0">
              <a:solidFill>
                <a:schemeClr val="tx1"/>
              </a:solidFill>
              <a:latin typeface="Comfortaa" pitchFamily="2" charset="0"/>
            </a:endParaRPr>
          </a:p>
        </p:txBody>
      </p:sp>
      <p:sp>
        <p:nvSpPr>
          <p:cNvPr id="9" name="AutoShape 5"/>
          <p:cNvSpPr>
            <a:spLocks noChangeArrowheads="1"/>
          </p:cNvSpPr>
          <p:nvPr/>
        </p:nvSpPr>
        <p:spPr bwMode="auto">
          <a:xfrm>
            <a:off x="7548009" y="3665508"/>
            <a:ext cx="3429000" cy="1452438"/>
          </a:xfrm>
          <a:prstGeom prst="wedgeRoundRectCallout">
            <a:avLst>
              <a:gd name="adj1" fmla="val -106887"/>
              <a:gd name="adj2" fmla="val -24145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dirty="0">
                <a:solidFill>
                  <a:schemeClr val="bg1"/>
                </a:solidFill>
                <a:latin typeface="Comfortaa" pitchFamily="2" charset="0"/>
              </a:rPr>
              <a:t>се проверява от </a:t>
            </a:r>
            <a:r>
              <a:rPr lang="en-US" dirty="0">
                <a:solidFill>
                  <a:schemeClr val="bg1"/>
                </a:solidFill>
                <a:latin typeface="Comfortaa" pitchFamily="2" charset="0"/>
              </a:rPr>
              <a:t>tester </a:t>
            </a:r>
            <a:r>
              <a:rPr lang="bg-BG" dirty="0">
                <a:solidFill>
                  <a:schemeClr val="bg1"/>
                </a:solidFill>
                <a:latin typeface="Comfortaa" pitchFamily="2" charset="0"/>
              </a:rPr>
              <a:t>дали отговаря на </a:t>
            </a:r>
            <a:r>
              <a:rPr lang="en-US" b="1" dirty="0">
                <a:solidFill>
                  <a:schemeClr val="tx1"/>
                </a:solidFill>
                <a:latin typeface="Comfortaa" pitchFamily="2" charset="0"/>
              </a:rPr>
              <a:t>condition</a:t>
            </a:r>
            <a:endParaRPr lang="bg-BG" sz="1200" b="1" dirty="0">
              <a:solidFill>
                <a:schemeClr val="tx1"/>
              </a:solidFill>
              <a:latin typeface="Comfortaa" pitchFamily="2" charset="0"/>
            </a:endParaRPr>
          </a:p>
        </p:txBody>
      </p:sp>
      <p:sp>
        <p:nvSpPr>
          <p:cNvPr id="10" name="AutoShape 5"/>
          <p:cNvSpPr>
            <a:spLocks noChangeArrowheads="1"/>
          </p:cNvSpPr>
          <p:nvPr/>
        </p:nvSpPr>
        <p:spPr bwMode="auto">
          <a:xfrm>
            <a:off x="7674241" y="1419103"/>
            <a:ext cx="4314811" cy="1452438"/>
          </a:xfrm>
          <a:prstGeom prst="wedgeRoundRectCallout">
            <a:avLst>
              <a:gd name="adj1" fmla="val -86671"/>
              <a:gd name="adj2" fmla="val 110023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dirty="0">
                <a:solidFill>
                  <a:schemeClr val="bg1"/>
                </a:solidFill>
                <a:latin typeface="Comfortaa" pitchFamily="2" charset="0"/>
              </a:rPr>
              <a:t>За </a:t>
            </a:r>
            <a:r>
              <a:rPr lang="bg-BG" b="1" dirty="0">
                <a:solidFill>
                  <a:schemeClr val="tx1"/>
                </a:solidFill>
                <a:latin typeface="Comfortaa" pitchFamily="2" charset="0"/>
              </a:rPr>
              <a:t>всеки</a:t>
            </a:r>
            <a:r>
              <a:rPr lang="bg-BG" dirty="0">
                <a:solidFill>
                  <a:schemeClr val="bg1"/>
                </a:solidFill>
                <a:latin typeface="Comfortaa" pitchFamily="2" charset="0"/>
              </a:rPr>
              <a:t> човек в речника с преварително определения </a:t>
            </a:r>
            <a:r>
              <a:rPr lang="en-US" b="1" dirty="0">
                <a:solidFill>
                  <a:schemeClr val="tx1"/>
                </a:solidFill>
                <a:latin typeface="Comfortaa" pitchFamily="2" charset="0"/>
              </a:rPr>
              <a:t>tester</a:t>
            </a:r>
            <a:endParaRPr lang="bg-BG" sz="1200" b="1" dirty="0">
              <a:solidFill>
                <a:schemeClr val="tx1"/>
              </a:solidFill>
              <a:latin typeface="Comfortaa" pitchFamily="2" charset="0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41C1B828-5E48-6B35-BA4A-A1F3E8D25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999" y="347313"/>
            <a:ext cx="10942413" cy="1071790"/>
          </a:xfrm>
        </p:spPr>
        <p:txBody>
          <a:bodyPr>
            <a:normAutofit/>
          </a:bodyPr>
          <a:lstStyle/>
          <a:p>
            <a:r>
              <a:rPr lang="bg-BG" sz="3600" b="1" dirty="0">
                <a:latin typeface="Comfortaa" pitchFamily="2" charset="0"/>
              </a:rPr>
              <a:t>Решение</a:t>
            </a:r>
            <a:r>
              <a:rPr lang="en-US" sz="3600" b="1" dirty="0">
                <a:latin typeface="Comfortaa" pitchFamily="2" charset="0"/>
              </a:rPr>
              <a:t>: </a:t>
            </a:r>
            <a:r>
              <a:rPr lang="bg-BG" sz="3600" b="1" dirty="0">
                <a:latin typeface="Comfortaa" pitchFamily="2" charset="0"/>
              </a:rPr>
              <a:t>Филтриране по възраст </a:t>
            </a:r>
            <a:r>
              <a:rPr lang="en-US" sz="3600" b="1" dirty="0">
                <a:latin typeface="Comfortaa" pitchFamily="2" charset="0"/>
              </a:rPr>
              <a:t>[4/4]</a:t>
            </a:r>
          </a:p>
        </p:txBody>
      </p:sp>
    </p:spTree>
    <p:extLst>
      <p:ext uri="{BB962C8B-B14F-4D97-AF65-F5344CB8AC3E}">
        <p14:creationId xmlns:p14="http://schemas.microsoft.com/office/powerpoint/2010/main" val="122498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636817"/>
            <a:ext cx="10568049" cy="4728357"/>
          </a:xfrm>
        </p:spPr>
        <p:txBody>
          <a:bodyPr>
            <a:noAutofit/>
          </a:bodyPr>
          <a:lstStyle/>
          <a:p>
            <a:pPr>
              <a:lnSpc>
                <a:spcPct val="950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Action&lt;T&gt; </a:t>
            </a:r>
            <a:r>
              <a:rPr lang="bg-BG" dirty="0">
                <a:latin typeface="Comfortaa" pitchFamily="2" charset="0"/>
              </a:rPr>
              <a:t>е функция, която не връща резултат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950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Func&lt;T, TResult&gt; </a:t>
            </a:r>
            <a:r>
              <a:rPr lang="bg-BG" dirty="0">
                <a:latin typeface="Comfortaa" pitchFamily="2" charset="0"/>
              </a:rPr>
              <a:t>е функция, която връща резултат от тип </a:t>
            </a:r>
            <a:r>
              <a:rPr lang="en-US" dirty="0" err="1">
                <a:latin typeface="Comfortaa" pitchFamily="2" charset="0"/>
              </a:rPr>
              <a:t>Tresult</a:t>
            </a:r>
            <a:endParaRPr lang="bg-BG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Func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&lt;T,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TResult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&gt; </a:t>
            </a:r>
            <a:r>
              <a:rPr lang="bg-BG" dirty="0">
                <a:latin typeface="Comfortaa" pitchFamily="2" charset="0"/>
              </a:rPr>
              <a:t>и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Action&lt;T&gt;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може да се предават като параметри на метод</a:t>
            </a:r>
            <a:r>
              <a:rPr lang="en-US" dirty="0">
                <a:latin typeface="Comfortaa" pitchFamily="2" charset="0"/>
              </a:rPr>
              <a:t>.</a:t>
            </a:r>
            <a:endParaRPr lang="bg-BG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bg-BG" dirty="0">
                <a:latin typeface="Comfortaa" pitchFamily="2" charset="0"/>
              </a:rPr>
              <a:t>Реализират се чрез делегати.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bg-BG" dirty="0">
                <a:latin typeface="Comfortaa" pitchFamily="2" charset="0"/>
              </a:rPr>
              <a:t>С тази технология можем да направим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кода динамичен</a:t>
            </a:r>
            <a:r>
              <a:rPr lang="bg-BG" b="1" dirty="0">
                <a:latin typeface="Comfortaa" pitchFamily="2" charset="0"/>
              </a:rPr>
              <a:t>. </a:t>
            </a:r>
          </a:p>
          <a:p>
            <a:pPr marL="358775" indent="-358775">
              <a:lnSpc>
                <a:spcPct val="95000"/>
              </a:lnSpc>
            </a:pPr>
            <a:endParaRPr lang="en-US" dirty="0">
              <a:latin typeface="Comfortaa" pitchFamily="2" charset="0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Какво научихме?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1765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123</TotalTime>
  <Words>1452</Words>
  <Application>Microsoft Office PowerPoint</Application>
  <PresentationFormat>Widescreen</PresentationFormat>
  <Paragraphs>222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Calibri Light</vt:lpstr>
      <vt:lpstr>Comfortaa</vt:lpstr>
      <vt:lpstr>Consolas</vt:lpstr>
      <vt:lpstr>Wingdings</vt:lpstr>
      <vt:lpstr>Office Theme</vt:lpstr>
      <vt:lpstr>Елементи от функционалното програмиране</vt:lpstr>
      <vt:lpstr>Съдържание</vt:lpstr>
      <vt:lpstr>Променливи от тип (референция към) функция в C# Func&lt;T, TResult&gt;</vt:lpstr>
      <vt:lpstr>Действия (процедури): Action&lt;T&gt;</vt:lpstr>
      <vt:lpstr>Задача: Сбор на числа</vt:lpstr>
      <vt:lpstr>Делегати</vt:lpstr>
      <vt:lpstr>Решение: Сбор на числа</vt:lpstr>
      <vt:lpstr>Задача: Пребройте думите, започващи с главна буква</vt:lpstr>
      <vt:lpstr>Решение: Пребройте думите, започващи с главна буква</vt:lpstr>
      <vt:lpstr>Задача: начисляване на ДДС (VAT)</vt:lpstr>
      <vt:lpstr>Решение: Добавяне на ДДС (VAT)</vt:lpstr>
      <vt:lpstr>Решение: Добавяне на ДДС (VAT) вариант 2 с функции</vt:lpstr>
      <vt:lpstr>Предаване на функции към метод</vt:lpstr>
      <vt:lpstr>Задача: Филтриране по възраст</vt:lpstr>
      <vt:lpstr>Решение: Филтриране по възраст [1/4]</vt:lpstr>
      <vt:lpstr>Решение: Филтриране по възраст [2/4]</vt:lpstr>
      <vt:lpstr>Решение: Филтриране по възраст [3/4]</vt:lpstr>
      <vt:lpstr>Решение: Филтриране по възраст [4/4]</vt:lpstr>
      <vt:lpstr>Какво научихме?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Димитър Минчев</cp:lastModifiedBy>
  <cp:revision>14</cp:revision>
  <dcterms:created xsi:type="dcterms:W3CDTF">2022-08-09T09:25:46Z</dcterms:created>
  <dcterms:modified xsi:type="dcterms:W3CDTF">2022-09-15T10:09:22Z</dcterms:modified>
</cp:coreProperties>
</file>