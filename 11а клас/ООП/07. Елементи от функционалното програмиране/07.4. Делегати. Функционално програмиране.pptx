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2"/>
  </p:notesMasterIdLst>
  <p:sldIdLst>
    <p:sldId id="258" r:id="rId2"/>
    <p:sldId id="573" r:id="rId29"/>
    <p:sldId id="503" r:id="rId3"/>
    <p:sldId id="487" r:id="rId4"/>
    <p:sldId id="574" r:id="rId30"/>
    <p:sldId id="488" r:id="rId5"/>
    <p:sldId id="489" r:id="rId6"/>
    <p:sldId id="507" r:id="rId7"/>
    <p:sldId id="575" r:id="rId31"/>
    <p:sldId id="490" r:id="rId8"/>
    <p:sldId id="491" r:id="rId9"/>
    <p:sldId id="492" r:id="rId10"/>
    <p:sldId id="493" r:id="rId11"/>
    <p:sldId id="494" r:id="rId12"/>
    <p:sldId id="495" r:id="rId13"/>
    <p:sldId id="496" r:id="rId14"/>
    <p:sldId id="576" r:id="rId32"/>
    <p:sldId id="577" r:id="rId33"/>
    <p:sldId id="578" r:id="rId34"/>
    <p:sldId id="497" r:id="rId15"/>
    <p:sldId id="498" r:id="rId16"/>
    <p:sldId id="499" r:id="rId17"/>
    <p:sldId id="500" r:id="rId18"/>
    <p:sldId id="502" r:id="rId19"/>
    <p:sldId id="501" r:id="rId20"/>
    <p:sldId id="572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B53E63A6-15B2-40C3-A9DC-5006FD089CC5}">
          <p14:sldIdLst>
            <p14:sldId id="258"/>
          </p14:sldIdLst>
        </p14:section>
        <p14:section name="Съдържание" id="{0B0C01F3-1F60-4ADB-AC1E-9589654EAEF3}">
          <p14:sldIdLst>
            <p14:sldId id="503"/>
            <p14:sldId id="487"/>
            <p14:sldId id="488"/>
            <p14:sldId id="489"/>
            <p14:sldId id="507"/>
            <p14:sldId id="490"/>
            <p14:sldId id="491"/>
            <p14:sldId id="492"/>
            <p14:sldId id="493"/>
            <p14:sldId id="494"/>
            <p14:sldId id="495"/>
            <p14:sldId id="496"/>
            <p14:sldId id="497"/>
            <p14:sldId id="498"/>
            <p14:sldId id="499"/>
            <p14:sldId id="500"/>
            <p14:sldId id="502"/>
            <p14:sldId id="501"/>
          </p14:sldIdLst>
        </p14:section>
        <p14:section name="Заключение" id="{9315BEE7-605C-4839-996A-A4EEA70921D9}">
          <p14:sldIdLst>
            <p14:sldId id="5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8A51F5-6E34-4A9B-8787-8C29D4F40D1D}" v="1" dt="2022-08-10T06:34:56.1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 varScale="1">
        <p:scale>
          <a:sx n="92" d="100"/>
          <a:sy n="92" d="100"/>
        </p:scale>
        <p:origin x="5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microsoft.com/office/2016/11/relationships/changesInfo" Target="changesInfos/changesInfo1.xml"/><Relationship Id="rId28" Type="http://schemas.microsoft.com/office/2015/10/relationships/revisionInfo" Target="revisionInfo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Димитър Минчев" userId="6da192e4-d32c-454b-8615-bbadf07b6639" providerId="ADAL" clId="{508A51F5-6E34-4A9B-8787-8C29D4F40D1D}"/>
    <pc:docChg chg="addSld modSld">
      <pc:chgData name="Димитър Минчев" userId="6da192e4-d32c-454b-8615-bbadf07b6639" providerId="ADAL" clId="{508A51F5-6E34-4A9B-8787-8C29D4F40D1D}" dt="2022-08-10T06:34:56.108" v="0"/>
      <pc:docMkLst>
        <pc:docMk/>
      </pc:docMkLst>
      <pc:sldChg chg="add">
        <pc:chgData name="Димитър Минчев" userId="6da192e4-d32c-454b-8615-bbadf07b6639" providerId="ADAL" clId="{508A51F5-6E34-4A9B-8787-8C29D4F40D1D}" dt="2022-08-10T06:34:56.108" v="0"/>
        <pc:sldMkLst>
          <pc:docMk/>
          <pc:sldMk cId="2002111910" sldId="439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0D3FF-81AC-477B-919E-75762E6B2153}" type="datetimeFigureOut">
              <a:rPr lang="bg-BG" smtClean="0"/>
              <a:t>15.9.2022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142EC-5991-4235-A99B-961F17902D6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3794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Relationship Id="rId3" Type="http://schemas.openxmlformats.org/officeDocument/2006/relationships/hyperlink" Target="https://softuni.foundation/" TargetMode="External"/><Relationship Id="rId4" Type="http://schemas.openxmlformats.org/officeDocument/2006/relationships/hyperlink" Target="http://creativecommons.org/licenses/by-nc-sa/4.0/" TargetMode="Externa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Relationship Id="rId3" Type="http://schemas.openxmlformats.org/officeDocument/2006/relationships/hyperlink" Target="https://softuni.foundation/" TargetMode="External"/><Relationship Id="rId4" Type="http://schemas.openxmlformats.org/officeDocument/2006/relationships/hyperlink" Target="http://creativecommons.org/licenses/by-nc-sa/4.0/" TargetMode="Externa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t>Прегледайте темите. Кажете на учениците: след този урок ще могат да пишат методи, чието поведение се задава отвън.</a:t>
            </a:r>
          </a:p>
          <a:p>
            <a:r>
              <a:t>Аналогия: като plug-in — методът е рамката, а Func/Action е плъгинът.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9091DC6D-C2B3-4EEB-8119-BDA29C77324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31402307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Краен слайд. Насочете учениците към SoftUni Judge за упражнения.</a:t>
            </a:r>
          </a:p>
          <a:p>
            <a:r>
              <a:t>Следваща тема: Изключения (Exception Handling) или Events.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3A346AB7-1CAB-4C5A-9A5A-2427BC2F264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0449282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Тема: Делегати и функционално програмиране.</a:t>
            </a:r>
          </a:p>
          <a:p>
            <a:r>
              <a:t>Свържете с предишния урок (LINQ): 'Как Where() знае кое условие да провери? — Именно чрез Func и делегати!'</a:t>
            </a:r>
          </a:p>
          <a:p>
            <a:r>
              <a:t>Ключова идея: в C# функциите са first-class citizens — могат да се съхраняват в променливи, предават като параметри и връщат от методи.</a:t>
            </a:r>
          </a:p>
          <a:p>
            <a:r>
              <a:t>Мотивация: делегатите са основата на events в Windows Forms/WPF — всеки Button.Click е делегат.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Func&lt;TIn, TOut&gt; = референция към функция с входен тип TIn и изходен TOut.</a:t>
            </a:r>
          </a:p>
          <a:p>
            <a:r>
              <a:t>Диаграмата показва: Func&lt;int, string&gt; — приема int, връща string.</a:t>
            </a:r>
          </a:p>
          <a:p>
            <a:r>
              <a:t>Аналогия с математика: f: ℤ → ℝ е функция. Func&lt;int, double&gt; е същото в C#.</a:t>
            </a:r>
          </a:p>
          <a:p>
            <a:r>
              <a:t>Последният типов параметър ВИНАГИ е изходният тип. Func&lt;int, int, string&gt; = два int-а → string.</a:t>
            </a:r>
          </a:p>
          <a:p>
            <a:r>
              <a:t>Важно: Func може да се инициализира с: 1) ламбда, 2) анонимен метод, 3) именован метод.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Action&lt;T&gt; = функция без return стойност (void).</a:t>
            </a:r>
          </a:p>
          <a:p>
            <a:r>
              <a:t>Типична употреба: logging, print, изпращане на email, запис в база.</a:t>
            </a:r>
          </a:p>
          <a:p>
            <a:r>
              <a:t>Action без параметри: Action doSomething = () =&gt; Console.WriteLine('Hello');</a:t>
            </a:r>
          </a:p>
          <a:p>
            <a:r>
              <a:t>Разлика: Func&lt;string&gt; НЕ е същото като Action&lt;string&gt;! Func&lt;string&gt; приема нищо и ВРЪЩА string. Action&lt;string&gt; ПРИЕМА string и не връща нищо.</a:t>
            </a:r>
          </a:p>
          <a:p>
            <a:r>
              <a:t>Задайте въпрос: 'Кога бихте използвали Action вместо Func?'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Задача: учениците трябва да използват Func за парсване на числа от низ.</a:t>
            </a:r>
          </a:p>
          <a:p>
            <a:r>
              <a:t>Hint: Func&lt;string, int&gt; parser = n =&gt; int.Parse(n);</a:t>
            </a:r>
          </a:p>
          <a:p>
            <a:r>
              <a:t>Важното е, че parser може да се предаде на Select() — Select е generic и приема Func!</a:t>
            </a:r>
          </a:p>
          <a:p>
            <a:r>
              <a:t>Дайте 5 минути за самостоятелна работа преди решението.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Делегатите са типове в C# — дефинират сигнатура (параметри + return тип).</a:t>
            </a:r>
          </a:p>
          <a:p>
            <a:r>
              <a:t>Func и Action са вградени делегати — не е нужно да дефинираме собствени за стандартни случаи.</a:t>
            </a:r>
          </a:p>
          <a:p>
            <a:r>
              <a:t>Кога се налагат собствени делегати: повече от 15 параметъра (рядко) или по-описателно име.</a:t>
            </a:r>
          </a:p>
          <a:p>
            <a:r>
              <a:t>Примерен делегат: delegate int Operation(int a, int b);</a:t>
            </a:r>
          </a:p>
          <a:p>
            <a:r>
              <a:t>Историческа бележка: делегатите са от C# 1.0, Func/Action са от C# 3.0 (.NET 3.5).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Обяснете: parser е Func&lt;string, int&gt; — приема string, връща int.</a:t>
            </a:r>
          </a:p>
          <a:p>
            <a:r>
              <a:t>Select(parser) е еквивалентно на Select(n =&gt; int.Parse(n)).</a:t>
            </a:r>
          </a:p>
          <a:p>
            <a:r>
              <a:t>Предимство: когато логиката е по-сложна от едно извикване, именуването подобрява четимостта.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Checker Func&lt;string, bool&gt;: n[0] е първата буква, ToUpper()[0] е същата буква с главни.</a:t>
            </a:r>
          </a:p>
          <a:p>
            <a:r>
              <a:t>Ако са равни — думата вече започва с главна буква.</a:t>
            </a:r>
          </a:p>
          <a:p>
            <a:r>
              <a:t>ForEach е метод на List&lt;T&gt; — не е LINQ, а метод на самия List.</a:t>
            </a:r>
          </a:p>
          <a:p>
            <a:r>
              <a:t>Алтернатива: Console.WriteLine(string.Join('\n', words.Where(checker)));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Подчертайте стъпките: Split → Where(checker) → ToList → ForEach.</a:t>
            </a:r>
          </a:p>
          <a:p>
            <a:r>
              <a:t>checker е Func&lt;string, bool&gt; — предикат. Може да се замени с Where(n =&gt; char.IsUpper(n[0])) за по-четимо решение.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ДДС = данък върху добавената стойност = 20%. Цена с ДДС = цена × 1.20.</a:t>
            </a:r>
          </a:p>
          <a:p>
            <a:r>
              <a:t>Задачата показва верига: Split → Select(parse) → Select(addVAT) → ForEach(print).</a:t>
            </a:r>
          </a:p>
          <a:p>
            <a:r>
              <a:t>Дайте 5 минути за самостоятелно решение.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Версия 1: всичко с ламбди инлайн — компактна, но по-трудна за четене.</a:t>
            </a:r>
          </a:p>
          <a:p>
            <a:r>
              <a:t>.Select(double.Parse) — method group синтаксис — по-кратко от .Select(x =&gt; double.Parse(x)).</a:t>
            </a:r>
          </a:p>
          <a:p>
            <a:r>
              <a:t>ForEach + format {n:F2} — форматиране с 2 десетични знака.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Версия 2: именувани Func за по-добра четимост.</a:t>
            </a:r>
          </a:p>
          <a:p>
            <a:r>
              <a:t>Синтактична захар: компилаторът превежда n =&gt; int.Parse(n) до извикване на метод.</a:t>
            </a:r>
          </a:p>
          <a:p>
            <a:r>
              <a:t>Сравнете двете версии — кой вариант е по-четим? Кой по-подходящ за production?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Ключова концепция: Operation() не знае КАКВО ще прави с числото — знае само, че ще получи int и ще върне int.</a:t>
            </a:r>
          </a:p>
          <a:p>
            <a:r>
              <a:t>Конкретното поведение се инжектира отвън чрез параметъра operation.</a:t>
            </a:r>
          </a:p>
          <a:p>
            <a:r>
              <a:t>Това е основата на Dependency Injection и Strategy Pattern в реален код.</a:t>
            </a:r>
          </a:p>
          <a:p>
            <a:r>
              <a:t>Задайте: 'Как бихте направили метод, който сортира различно в зависимост от подадена функция?'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По-сложна задача — четири слайда с решение!</a:t>
            </a:r>
          </a:p>
          <a:p>
            <a:r>
              <a:t>Покажете структурата преди кода: три метода — CreateTester, CreatePrinter, PrintFilteredStudent.</a:t>
            </a:r>
          </a:p>
          <a:p>
            <a:r>
              <a:t>Ключова идея: методът 'фабрика' (CreateTester) НЕ извършва операцията — той СЪЗДАВА функцията, която ще я извърши по-късно.</a:t>
            </a:r>
          </a:p>
          <a:p>
            <a:r>
              <a:t>Разпределете работата: нека учениците напишат само CreateTester, вие напишете останалото.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CreateTester ВРЪЩА Func&lt;int, bool&gt; — функция, не стойност!</a:t>
            </a:r>
          </a:p>
          <a:p>
            <a:r>
              <a:t>switch израз, който конструира различна ламбда в зависимост от condition.</a:t>
            </a:r>
          </a:p>
          <a:p>
            <a:r>
              <a:t>Аналогия: като производство на инструменти — CreateTester е фабрика за тестери.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CreatePrinter ВРЪЩА Action&lt;KeyValuePair&lt;string, int&gt;&gt; — отново функция!</a:t>
            </a:r>
          </a:p>
          <a:p>
            <a:r>
              <a:t>KeyValuePair&lt;string, int&gt; е двойка (ключ, стойност) от Dictionary.</a:t>
            </a:r>
          </a:p>
          <a:p>
            <a:r>
              <a:t>Три формата: само имe, само възраст, или и двете.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PrintFilteredStudent ПРИЕМА и двете функции като параметри!</a:t>
            </a:r>
          </a:p>
          <a:p>
            <a:r>
              <a:t>Забележете: методът не знае нито условието, нито формата — всичко е инжектирано.</a:t>
            </a:r>
          </a:p>
          <a:p>
            <a:r>
              <a:t>Това е чистата форма на Strategy Pattern — изключително важен design pattern.</a:t>
            </a:r>
          </a:p>
          <a:p>
            <a:r>
              <a:t>Предимство: добавянето на нов формат не изисква промяна на PrintFilteredStudent.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Обобщение:</a:t>
            </a:r>
          </a:p>
          <a:p>
            <a:r>
              <a:t>Func&lt;T,TResult&gt; — функция с резултат</a:t>
            </a:r>
          </a:p>
          <a:p>
            <a:r>
              <a:t>Action&lt;T&gt; — процедура без резултат</a:t>
            </a:r>
          </a:p>
          <a:p>
            <a:r>
              <a:t>Предаване като параметри — Strategy Pattern</a:t>
            </a:r>
          </a:p>
          <a:p>
            <a:r>
              <a:t>Реален свят: LINQ Where, Select, OrderBy всички приемат Func.</a:t>
            </a:r>
          </a:p>
          <a:p>
            <a:r>
              <a:t>Следваща стъпка: Events и EventHandlers — разширение на делегатите.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МОТИВАЦИЯ — Ключов слайд!</a:t>
            </a:r>
          </a:p>
          <a:p>
            <a:r>
              <a:t>Покажете двата варианта един до друг. Без делегати — два почти идентични метода. С делегат — един метод, три начина на извикване.</a:t>
            </a:r>
          </a:p>
          <a:p>
            <a:r>
              <a:t>Принцип: Open/Closed Principle — отворен за разширение, затворен за промяна.</a:t>
            </a:r>
          </a:p>
          <a:p>
            <a:r>
              <a:t>Реален пример: Array.Sort() приема IComparer или Comparison&lt;T&gt; — точно това е идеята.</a:t>
            </a:r>
          </a:p>
          <a:p>
            <a:r>
              <a:t>Запитайте: 'Какво ще стане ако трябва четвърти начин на сортиране? Без делегати — трети метод. С делегат — само нов аргумент.'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Общото правило: Func&lt;T1, T2, ..., TResult&gt; — всички типове преди последния са входни параметри, последният е изходен.</a:t>
            </a:r>
          </a:p>
          <a:p>
            <a:r>
              <a:t>Func без параметри: Func&lt;TResult&gt; = () =&gt; стойност;</a:t>
            </a:r>
          </a:p>
          <a:p>
            <a:r>
              <a:t>Максимум: Func&lt;T1, T2, ..., T16, TResult&gt; — 16 типа, 15 входни + 1 изходен.</a:t>
            </a:r>
          </a:p>
          <a:p>
            <a:r>
              <a:t>Типична грешка: объркване на реда на типовете. Func&lt;string, int&gt; приема string и ВРЪЩА int, НЕ обратното.</a:t>
            </a:r>
          </a:p>
          <a:p>
            <a:r>
              <a:t>Задача: дефинирайте Func&lt;double, double, double&gt; за изчисляване на хипотенуза по Питагор.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Predicate&lt;T&gt; е по-стар тип (C# 2.0) — въведен преди Func. Запазен за обратна съвместимост.</a:t>
            </a:r>
          </a:p>
          <a:p>
            <a:r>
              <a:t>В нов код предпочитайте Func&lt;T, bool&gt; — по-гъвкаво.</a:t>
            </a:r>
          </a:p>
          <a:p>
            <a:r>
              <a:t>Find vs FirstOrDefault (LINQ): Find е метод на List&lt;T&gt;, FirstOrDefault работи с всякакъв IEnumerable.</a:t>
            </a:r>
          </a:p>
          <a:p>
            <a:r>
              <a:t>RemoveAll е много полезен: nums.RemoveAll(x =&gt; x &lt; 0) — премахване на всички отрицателни числа.</a:t>
            </a:r>
          </a:p>
          <a:p>
            <a:r>
              <a:t>Exists — още един метод: nums.Exists(x =&gt; x &gt; 100) — еквивалентно на nums.Any(x =&gt; x &gt; 100).</a:t>
            </a:r>
          </a:p>
          <a:p>
            <a:r>
              <a:t>Задача: прочетете думи, премахнете всички с дължина &gt; 6, изведете останалите.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Multicast делегатите са основата на системата от Events в C# (Button.Click += handler).</a:t>
            </a:r>
          </a:p>
          <a:p>
            <a:r>
              <a:t>Важно: Func&lt;T&gt; може да е multicast, но само последната върната стойност се ползва — не е препоръчително.</a:t>
            </a:r>
          </a:p>
          <a:p>
            <a:r>
              <a:t>Порядъкът на изпълнение = порядъкът на добавяне (+=).</a:t>
            </a:r>
          </a:p>
          <a:p>
            <a:r>
              <a:t>Ако делегат хвърли изключение — следващите в списъка НЕ се изпълняват!</a:t>
            </a:r>
          </a:p>
          <a:p>
            <a:r>
              <a:t>За да избегнете това: GetInvocationList() + try/catch за всеки делегат поотделно.</a:t>
            </a:r>
          </a:p>
          <a:p>
            <a:r>
              <a:t>Аналогия с реалния свят: спринклерна система — при пожар (събитие) се задействат множество действия едновременно.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Покажете историческата еволюция — учениците разбират защо ламбдата е 'синтактична захар'.</a:t>
            </a:r>
          </a:p>
          <a:p>
            <a:r>
              <a:t>Именован метод: полезен когато логиката се ползва на множество места — DRY принцип.</a:t>
            </a:r>
          </a:p>
          <a:p>
            <a:r>
              <a:t>Анонимен метод: вече рядко се пише — само в legacy код от .NET 2.0.</a:t>
            </a:r>
          </a:p>
          <a:p>
            <a:r>
              <a:t>Ламбда: стандарт от .NET 3.5 насам. Кратка, четима, инлайн.</a:t>
            </a:r>
          </a:p>
          <a:p>
            <a:r>
              <a:t>Ламбда с блок: когато логиката не се събира в един израз — добавя се { } с return.</a:t>
            </a:r>
          </a:p>
          <a:p>
            <a:r>
              <a:t>Компилаторът превежда ламбдата до анонимен метод — никакъв performance overhead.</a:t>
            </a:r>
          </a:p>
          <a:p>
            <a:r>
              <a:t>Задача: препишете упражнение от предишния урок по три начина и сравнете.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Strategy Pattern е един от 23-те класически Design Patterns (GoF).</a:t>
            </a:r>
          </a:p>
          <a:p>
            <a:r>
              <a:t>Идеята: алгоритъмът (отстъпката) е отделен от контекста (Checkout) и може да се сменя.</a:t>
            </a:r>
          </a:p>
          <a:p>
            <a:r>
              <a:t>Без делегати се постига чрез интерфейс IDiscountStrategy с метод Apply() — по-verbose.</a:t>
            </a:r>
          </a:p>
          <a:p>
            <a:r>
              <a:t>С делегати: по-кратко и четимо за прости случаи.</a:t>
            </a:r>
          </a:p>
          <a:p>
            <a:r>
              <a:t>Реални употреби: различни алгоритми за сортиране, различни формати за сериализация, различни правила за валидация.</a:t>
            </a:r>
          </a:p>
          <a:p>
            <a:r>
              <a:t>Разширение на задачата: добавете сезонна отстъпка, лоялностна програма — само нова Func, без промяна на Checkout.</a:t>
            </a:r>
          </a:p>
          <a:p>
            <a:r>
              <a:t>Свържете с принципа Open/Closed: Checkout е затворен за промяна, но отворен за нови стратегии.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15.9.2022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71436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15.9.2022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3443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15.9.2022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40543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15.9.2022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29758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15.9.2022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6114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15.9.2022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8602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15.9.2022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63839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15.9.2022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237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15.9.2022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97053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15.9.2022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2800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15.9.2022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6980328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69AEA-C8BE-4DD6-B9AB-21EA40DF5D87}" type="datetimeFigureOut">
              <a:rPr lang="bg-BG" smtClean="0"/>
              <a:t>15.9.2022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52542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www.mon.bg/" TargetMode="External"/><Relationship Id="rId5" Type="http://schemas.openxmlformats.org/officeDocument/2006/relationships/notesSlide" Target="../notesSlides/notesSlide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judge.softuni.bg/Contests/Practice/Index/597#1" TargetMode="External"/><Relationship Id="rId3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judge.softuni.bg/Contests/Practice/Index/597#2" TargetMode="External"/><Relationship Id="rId3" Type="http://schemas.openxmlformats.org/officeDocument/2006/relationships/notesSlide" Target="../notesSlides/notes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judge.softuni.bg/Contests/Practice/Index/597#3" TargetMode="External"/><Relationship Id="rId3" Type="http://schemas.openxmlformats.org/officeDocument/2006/relationships/notesSlide" Target="../notesSlides/notes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judge.softuni.bg/Contests/Practice/Index/597#4" TargetMode="External"/><Relationship Id="rId3" Type="http://schemas.openxmlformats.org/officeDocument/2006/relationships/notesSlide" Target="../notesSlides/notesSlide1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judge.softuni.bg/Contests/Practice/Index/597#4" TargetMode="External"/><Relationship Id="rId3" Type="http://schemas.openxmlformats.org/officeDocument/2006/relationships/notesSlide" Target="../notesSlides/notesSlide1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www.mon.bg/" TargetMode="External"/><Relationship Id="rId5" Type="http://schemas.openxmlformats.org/officeDocument/2006/relationships/hyperlink" Target="https://creativecommons.org/licenses/by-nc-sa/4.0" TargetMode="External"/><Relationship Id="rId6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A11B2B-6DC7-2642-A5E2-7E3177B71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24336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bg-BG" dirty="0">
                <a:latin typeface="Comfortaa" pitchFamily="2" charset="0"/>
              </a:rPr>
              <a:t>Елементи от функционалното програмиране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D72CEAD-2598-2D6F-7FF9-AF95330D8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04011"/>
            <a:ext cx="9144000" cy="1655762"/>
          </a:xfrm>
        </p:spPr>
        <p:txBody>
          <a:bodyPr/>
          <a:lstStyle/>
          <a:p>
            <a:r>
              <a:rPr lang="ru-RU" dirty="0" err="1">
                <a:latin typeface="Comfortaa" pitchFamily="2" charset="0"/>
              </a:rPr>
              <a:t>Делегати</a:t>
            </a:r>
            <a:r>
              <a:rPr lang="ru-RU" dirty="0">
                <a:latin typeface="Comfortaa" pitchFamily="2" charset="0"/>
              </a:rPr>
              <a:t>, функции, действия. </a:t>
            </a:r>
            <a:r>
              <a:rPr lang="ru-RU" dirty="0" err="1">
                <a:latin typeface="Comfortaa" pitchFamily="2" charset="0"/>
              </a:rPr>
              <a:t>Предаване</a:t>
            </a:r>
            <a:r>
              <a:rPr lang="ru-RU" dirty="0">
                <a:latin typeface="Comfortaa" pitchFamily="2" charset="0"/>
              </a:rPr>
              <a:t> на функции и действия </a:t>
            </a:r>
            <a:r>
              <a:rPr lang="ru-RU" dirty="0" err="1">
                <a:latin typeface="Comfortaa" pitchFamily="2" charset="0"/>
              </a:rPr>
              <a:t>като</a:t>
            </a:r>
            <a:r>
              <a:rPr lang="ru-RU" dirty="0">
                <a:latin typeface="Comfortaa" pitchFamily="2" charset="0"/>
              </a:rPr>
              <a:t> </a:t>
            </a:r>
            <a:r>
              <a:rPr lang="ru-RU" dirty="0" err="1">
                <a:latin typeface="Comfortaa" pitchFamily="2" charset="0"/>
              </a:rPr>
              <a:t>параметри</a:t>
            </a:r>
            <a:endParaRPr lang="ru-RU" dirty="0">
              <a:latin typeface="Comfortaa" pitchFamily="2" charset="0"/>
            </a:endParaRPr>
          </a:p>
        </p:txBody>
      </p:sp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959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>
          <a:xfrm>
            <a:off x="975260" y="1137022"/>
            <a:ext cx="10241478" cy="1325563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Съдържание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75261" y="2478852"/>
            <a:ext cx="10241478" cy="2982710"/>
          </a:xfrm>
        </p:spPr>
        <p:txBody>
          <a:bodyPr>
            <a:normAutofit/>
          </a:bodyPr>
          <a:lstStyle/>
          <a:p>
            <a:pPr marL="442913" indent="-442913">
              <a:lnSpc>
                <a:spcPct val="100000"/>
              </a:lnSpc>
              <a:spcBef>
                <a:spcPts val="500"/>
              </a:spcBef>
              <a:buFontTx/>
              <a:buAutoNum type="arabicPeriod"/>
            </a:pPr>
            <a:r>
              <a:rPr lang="bg-BG" dirty="0">
                <a:latin typeface="Comfortaa" pitchFamily="2" charset="0"/>
              </a:rPr>
              <a:t>Променливи от тип "функция" в </a:t>
            </a:r>
            <a:r>
              <a:rPr lang="en-US" dirty="0">
                <a:latin typeface="Comfortaa" pitchFamily="2" charset="0"/>
              </a:rPr>
              <a:t>C#</a:t>
            </a:r>
            <a:endParaRPr lang="bg-BG" dirty="0">
              <a:latin typeface="Comfortaa" pitchFamily="2" charset="0"/>
            </a:endParaRPr>
          </a:p>
          <a:p>
            <a:pPr marL="442913" indent="-442913">
              <a:lnSpc>
                <a:spcPct val="100000"/>
              </a:lnSpc>
              <a:spcBef>
                <a:spcPts val="500"/>
              </a:spcBef>
              <a:buFontTx/>
              <a:buAutoNum type="arabicPeriod"/>
            </a:pPr>
            <a:r>
              <a:rPr lang="bg-BG" dirty="0">
                <a:latin typeface="Comfortaa" pitchFamily="2" charset="0"/>
              </a:rPr>
              <a:t>Действия (процедури): </a:t>
            </a:r>
            <a:r>
              <a:rPr lang="en-US" dirty="0">
                <a:latin typeface="Comfortaa" pitchFamily="2" charset="0"/>
              </a:rPr>
              <a:t>Action&lt;T&gt;</a:t>
            </a:r>
            <a:endParaRPr lang="bg-BG" dirty="0">
              <a:latin typeface="Comfortaa" pitchFamily="2" charset="0"/>
            </a:endParaRPr>
          </a:p>
          <a:p>
            <a:pPr marL="442913" indent="-442913">
              <a:lnSpc>
                <a:spcPct val="100000"/>
              </a:lnSpc>
              <a:spcBef>
                <a:spcPts val="500"/>
              </a:spcBef>
              <a:buFontTx/>
              <a:buAutoNum type="arabicPeriod"/>
            </a:pPr>
            <a:r>
              <a:rPr lang="bg-BG" dirty="0">
                <a:latin typeface="Comfortaa" pitchFamily="2" charset="0"/>
              </a:rPr>
              <a:t>Делегати</a:t>
            </a:r>
          </a:p>
          <a:p>
            <a:pPr marL="442913" indent="-442913">
              <a:lnSpc>
                <a:spcPct val="100000"/>
              </a:lnSpc>
              <a:spcBef>
                <a:spcPts val="500"/>
              </a:spcBef>
              <a:buFontTx/>
              <a:buAutoNum type="arabicPeriod"/>
            </a:pPr>
            <a:r>
              <a:rPr lang="bg-BG" dirty="0">
                <a:latin typeface="Comfortaa" pitchFamily="2" charset="0"/>
              </a:rPr>
              <a:t>Предаване на функции към метод</a:t>
            </a:r>
          </a:p>
          <a:p>
            <a:pPr marL="442913" indent="-442913">
              <a:lnSpc>
                <a:spcPct val="100000"/>
              </a:lnSpc>
              <a:spcBef>
                <a:spcPts val="500"/>
              </a:spcBef>
              <a:buFontTx/>
              <a:buAutoNum type="arabicPeriod"/>
            </a:pP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6905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171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825624"/>
            <a:ext cx="10515600" cy="4699377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Инициализация на функция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sz="3000" dirty="0">
                <a:latin typeface="Comfortaa" pitchFamily="2" charset="0"/>
              </a:rPr>
              <a:t>входният и изходният тип могат да са </a:t>
            </a:r>
            <a:r>
              <a:rPr lang="bg-BG" sz="30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различни</a:t>
            </a:r>
            <a:endParaRPr lang="en-US" sz="3000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sz="3000" dirty="0">
                <a:latin typeface="Comfortaa" pitchFamily="2" charset="0"/>
              </a:rPr>
              <a:t>входният и изходният тип </a:t>
            </a:r>
            <a:r>
              <a:rPr lang="bg-BG" sz="30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може</a:t>
            </a:r>
            <a:r>
              <a:rPr lang="en-US" sz="3000" dirty="0">
                <a:latin typeface="Comfortaa" pitchFamily="2" charset="0"/>
              </a:rPr>
              <a:t> </a:t>
            </a:r>
            <a:r>
              <a:rPr lang="bg-BG" sz="3000" dirty="0">
                <a:latin typeface="Comfortaa" pitchFamily="2" charset="0"/>
              </a:rPr>
              <a:t>да са от </a:t>
            </a:r>
            <a:r>
              <a:rPr lang="bg-BG" sz="30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тип,</a:t>
            </a:r>
            <a:r>
              <a:rPr lang="en-US" sz="3000" dirty="0">
                <a:latin typeface="Comfortaa" pitchFamily="2" charset="0"/>
              </a:rPr>
              <a:t> </a:t>
            </a:r>
            <a:r>
              <a:rPr lang="bg-BG" sz="3000" dirty="0">
                <a:latin typeface="Comfortaa" pitchFamily="2" charset="0"/>
              </a:rPr>
              <a:t>който ние сме </a:t>
            </a:r>
            <a:r>
              <a:rPr lang="bg-BG" sz="30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декларирали</a:t>
            </a:r>
            <a:endParaRPr lang="en-US" sz="3000" dirty="0">
              <a:latin typeface="Comfortaa" pitchFamily="2" charset="0"/>
            </a:endParaRPr>
          </a:p>
        </p:txBody>
      </p:sp>
      <p:sp>
        <p:nvSpPr>
          <p:cNvPr id="519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200" b="1" dirty="0">
                <a:latin typeface="Comfortaa" pitchFamily="2" charset="0"/>
              </a:rPr>
              <a:t>Променливи от тип (референция към) функция в </a:t>
            </a:r>
            <a:r>
              <a:rPr lang="en-US" sz="3200" b="1" dirty="0">
                <a:latin typeface="Comfortaa" pitchFamily="2" charset="0"/>
              </a:rPr>
              <a:t>C# </a:t>
            </a:r>
            <a:r>
              <a:rPr lang="en-US" sz="3200" b="1" dirty="0" err="1">
                <a:latin typeface="Comfortaa" pitchFamily="2" charset="0"/>
              </a:rPr>
              <a:t>Func</a:t>
            </a:r>
            <a:r>
              <a:rPr lang="en-US" sz="3200" b="1" dirty="0">
                <a:latin typeface="Comfortaa" pitchFamily="2" charset="0"/>
              </a:rPr>
              <a:t>&lt;T, </a:t>
            </a:r>
            <a:r>
              <a:rPr lang="en-US" sz="3200" b="1" dirty="0" err="1">
                <a:latin typeface="Comfortaa" pitchFamily="2" charset="0"/>
              </a:rPr>
              <a:t>TResult</a:t>
            </a:r>
            <a:r>
              <a:rPr lang="en-US" sz="3200" b="1" dirty="0">
                <a:latin typeface="Comfortaa" pitchFamily="2" charset="0"/>
              </a:rPr>
              <a:t>&gt;</a:t>
            </a:r>
            <a:endParaRPr lang="bg-BG" sz="3200" b="1" dirty="0">
              <a:latin typeface="Comfortaa" pitchFamily="2" charset="0"/>
            </a:endParaRP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461128" y="2403031"/>
            <a:ext cx="10100934" cy="554832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sv-SE" sz="30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Func&lt;int, string&gt; func = n =&gt; n.ToString();</a:t>
            </a:r>
            <a:endParaRPr lang="en-US" sz="3000" b="1" noProof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auto">
          <a:xfrm>
            <a:off x="2604624" y="3345200"/>
            <a:ext cx="2414543" cy="666254"/>
          </a:xfrm>
          <a:prstGeom prst="wedgeRoundRectCallout">
            <a:avLst>
              <a:gd name="adj1" fmla="val 34819"/>
              <a:gd name="adj2" fmla="val -113402"/>
              <a:gd name="adj3" fmla="val 16667"/>
            </a:avLst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000" dirty="0">
                <a:solidFill>
                  <a:srgbClr val="FFFFFF"/>
                </a:solidFill>
                <a:latin typeface="Comfortaa" pitchFamily="2" charset="0"/>
              </a:rPr>
              <a:t>Изходен тип</a:t>
            </a:r>
          </a:p>
        </p:txBody>
      </p:sp>
      <p:sp>
        <p:nvSpPr>
          <p:cNvPr id="7" name="AutoShape 5"/>
          <p:cNvSpPr>
            <a:spLocks noChangeArrowheads="1"/>
          </p:cNvSpPr>
          <p:nvPr/>
        </p:nvSpPr>
        <p:spPr bwMode="auto">
          <a:xfrm>
            <a:off x="280918" y="3363964"/>
            <a:ext cx="2228850" cy="666254"/>
          </a:xfrm>
          <a:prstGeom prst="wedgeRoundRectCallout">
            <a:avLst>
              <a:gd name="adj1" fmla="val 63955"/>
              <a:gd name="adj2" fmla="val -121134"/>
              <a:gd name="adj3" fmla="val 16667"/>
            </a:avLst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000" dirty="0">
                <a:solidFill>
                  <a:srgbClr val="FFFFFF"/>
                </a:solidFill>
                <a:latin typeface="Comfortaa" pitchFamily="2" charset="0"/>
              </a:rPr>
              <a:t>Входен тип</a:t>
            </a:r>
          </a:p>
        </p:txBody>
      </p:sp>
      <p:sp>
        <p:nvSpPr>
          <p:cNvPr id="9" name="AutoShape 5"/>
          <p:cNvSpPr>
            <a:spLocks noChangeArrowheads="1"/>
          </p:cNvSpPr>
          <p:nvPr/>
        </p:nvSpPr>
        <p:spPr bwMode="auto">
          <a:xfrm>
            <a:off x="5109729" y="3362617"/>
            <a:ext cx="1485900" cy="666254"/>
          </a:xfrm>
          <a:prstGeom prst="wedgeRoundRectCallout">
            <a:avLst>
              <a:gd name="adj1" fmla="val 8485"/>
              <a:gd name="adj2" fmla="val -117268"/>
              <a:gd name="adj3" fmla="val 16667"/>
            </a:avLst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000" dirty="0">
                <a:solidFill>
                  <a:srgbClr val="FFFFFF"/>
                </a:solidFill>
                <a:latin typeface="Comfortaa" pitchFamily="2" charset="0"/>
              </a:rPr>
              <a:t>Име</a:t>
            </a:r>
          </a:p>
        </p:txBody>
      </p:sp>
      <p:sp>
        <p:nvSpPr>
          <p:cNvPr id="3" name="Right Brace 2"/>
          <p:cNvSpPr/>
          <p:nvPr/>
        </p:nvSpPr>
        <p:spPr>
          <a:xfrm rot="16200000" flipV="1">
            <a:off x="8387239" y="260562"/>
            <a:ext cx="465640" cy="3993193"/>
          </a:xfrm>
          <a:prstGeom prst="rightBrace">
            <a:avLst>
              <a:gd name="adj1" fmla="val 62577"/>
              <a:gd name="adj2" fmla="val 50000"/>
            </a:avLst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3" name="AutoShape 5"/>
          <p:cNvSpPr>
            <a:spLocks noChangeArrowheads="1"/>
          </p:cNvSpPr>
          <p:nvPr/>
        </p:nvSpPr>
        <p:spPr bwMode="auto">
          <a:xfrm>
            <a:off x="7897564" y="1335040"/>
            <a:ext cx="3811623" cy="666254"/>
          </a:xfrm>
          <a:prstGeom prst="wedgeRoundRectCallout">
            <a:avLst>
              <a:gd name="adj1" fmla="val -4516"/>
              <a:gd name="adj2" fmla="val 6446"/>
              <a:gd name="adj3" fmla="val 16667"/>
            </a:avLst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latin typeface="Comfortaa" pitchFamily="2" charset="0"/>
              </a:rPr>
              <a:t>Lambda </a:t>
            </a:r>
            <a:r>
              <a:rPr lang="bg-BG" sz="2000" dirty="0">
                <a:latin typeface="Comfortaa" pitchFamily="2" charset="0"/>
              </a:rPr>
              <a:t>израз</a:t>
            </a:r>
            <a:endParaRPr lang="bg-BG" sz="2000" dirty="0">
              <a:solidFill>
                <a:srgbClr val="FFFFFF"/>
              </a:solidFill>
              <a:latin typeface="Comfortaa" pitchFamily="2" charset="0"/>
            </a:endParaRPr>
          </a:p>
        </p:txBody>
      </p:sp>
      <p:sp>
        <p:nvSpPr>
          <p:cNvPr id="14" name="AutoShape 5"/>
          <p:cNvSpPr>
            <a:spLocks noChangeArrowheads="1"/>
          </p:cNvSpPr>
          <p:nvPr/>
        </p:nvSpPr>
        <p:spPr bwMode="auto">
          <a:xfrm>
            <a:off x="4413663" y="4175625"/>
            <a:ext cx="3924590" cy="663555"/>
          </a:xfrm>
          <a:prstGeom prst="wedgeRoundRectCallout">
            <a:avLst>
              <a:gd name="adj1" fmla="val 4061"/>
              <a:gd name="adj2" fmla="val -251849"/>
              <a:gd name="adj3" fmla="val 16667"/>
            </a:avLst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000" dirty="0">
                <a:solidFill>
                  <a:srgbClr val="FFFFFF"/>
                </a:solidFill>
                <a:latin typeface="Comfortaa" pitchFamily="2" charset="0"/>
              </a:rPr>
              <a:t>Входен параметър</a:t>
            </a:r>
          </a:p>
        </p:txBody>
      </p:sp>
      <p:sp>
        <p:nvSpPr>
          <p:cNvPr id="15" name="AutoShape 5"/>
          <p:cNvSpPr>
            <a:spLocks noChangeArrowheads="1"/>
          </p:cNvSpPr>
          <p:nvPr/>
        </p:nvSpPr>
        <p:spPr bwMode="auto">
          <a:xfrm>
            <a:off x="8490410" y="4175625"/>
            <a:ext cx="3348319" cy="663555"/>
          </a:xfrm>
          <a:prstGeom prst="wedgeRoundRectCallout">
            <a:avLst>
              <a:gd name="adj1" fmla="val -23663"/>
              <a:gd name="adj2" fmla="val -245343"/>
              <a:gd name="adj3" fmla="val 16667"/>
            </a:avLst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000" dirty="0">
                <a:latin typeface="Comfortaa" pitchFamily="2" charset="0"/>
              </a:rPr>
              <a:t>Връщан резултат</a:t>
            </a:r>
            <a:endParaRPr lang="bg-BG" sz="2000" dirty="0">
              <a:solidFill>
                <a:srgbClr val="FFFFFF"/>
              </a:solidFill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9873149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171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sz="2400" dirty="0">
                <a:latin typeface="Comfortaa" pitchFamily="2" charset="0"/>
              </a:rPr>
              <a:t>В </a:t>
            </a:r>
            <a:r>
              <a:rPr lang="en-US" sz="2400" dirty="0">
                <a:latin typeface="Comfortaa" pitchFamily="2" charset="0"/>
              </a:rPr>
              <a:t>.NET 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Action&lt;T&gt;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е метод, който не връща резултат</a:t>
            </a:r>
            <a:r>
              <a:rPr lang="en-US" sz="2400" dirty="0">
                <a:latin typeface="Comfortaa" pitchFamily="2" charset="0"/>
              </a:rPr>
              <a:t>:</a:t>
            </a:r>
          </a:p>
          <a:p>
            <a:pPr>
              <a:lnSpc>
                <a:spcPct val="100000"/>
              </a:lnSpc>
            </a:pPr>
            <a:endParaRPr lang="en-US" sz="2400" dirty="0">
              <a:latin typeface="Comfortaa" pitchFamily="2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sz="2400" dirty="0">
                <a:latin typeface="Comfortaa" pitchFamily="2" charset="0"/>
              </a:rPr>
              <a:t>Вместо да пишем метода можем да напишем</a:t>
            </a:r>
            <a:r>
              <a:rPr lang="en-US" sz="2400" dirty="0">
                <a:latin typeface="Comfortaa" pitchFamily="2" charset="0"/>
              </a:rPr>
              <a:t>:</a:t>
            </a:r>
          </a:p>
          <a:p>
            <a:pPr>
              <a:lnSpc>
                <a:spcPct val="100000"/>
              </a:lnSpc>
            </a:pP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sz="2400" dirty="0">
                <a:latin typeface="Comfortaa" pitchFamily="2" charset="0"/>
              </a:rPr>
              <a:t>Тогава ние го използваме така</a:t>
            </a:r>
            <a:r>
              <a:rPr lang="en-US" sz="2400" dirty="0">
                <a:latin typeface="Comfortaa" pitchFamily="2" charset="0"/>
              </a:rPr>
              <a:t>:</a:t>
            </a:r>
          </a:p>
        </p:txBody>
      </p:sp>
      <p:sp>
        <p:nvSpPr>
          <p:cNvPr id="519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Действия (процедури): </a:t>
            </a:r>
            <a:r>
              <a:rPr lang="en-US" dirty="0">
                <a:latin typeface="Comfortaa" pitchFamily="2" charset="0"/>
              </a:rPr>
              <a:t>Action&lt;T&gt;</a:t>
            </a:r>
            <a:endParaRPr lang="bg-BG" dirty="0">
              <a:latin typeface="Comfortaa" pitchFamily="2" charset="0"/>
            </a:endParaRP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161855" y="2166238"/>
            <a:ext cx="9712036" cy="997196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private void Print(string message)</a:t>
            </a: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  <a:r>
              <a:rPr lang="bg-BG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Console.WriteLine(message);</a:t>
            </a:r>
            <a:r>
              <a:rPr lang="bg-BG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161699" y="3681751"/>
            <a:ext cx="9712037" cy="91326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Action&lt;string&gt; print = message =&gt; Console.WriteLine(message);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161699" y="5176050"/>
            <a:ext cx="9712037" cy="997196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print("pesho");</a:t>
            </a: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print(5.ToString());</a:t>
            </a:r>
          </a:p>
        </p:txBody>
      </p:sp>
    </p:spTree>
    <p:extLst>
      <p:ext uri="{BB962C8B-B14F-4D97-AF65-F5344CB8AC3E}">
        <p14:creationId xmlns:p14="http://schemas.microsoft.com/office/powerpoint/2010/main" val="2283139566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909452" y="1938634"/>
            <a:ext cx="9694207" cy="245110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Въведете числа от клавиатурата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Използвайте собствена функция за парсване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Изведете броя на числата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Изведете сбора им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09452" y="542568"/>
            <a:ext cx="10515600" cy="1325563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Задача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bg-BG" dirty="0">
                <a:latin typeface="Comfortaa" pitchFamily="2" charset="0"/>
              </a:rPr>
              <a:t>Сбор на числа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8065580" y="4329774"/>
            <a:ext cx="2331266" cy="99719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10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41</a:t>
            </a:r>
            <a:endParaRPr lang="sv-SE" sz="2800" b="1" noProof="1">
              <a:solidFill>
                <a:schemeClr val="bg1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192816" y="4555991"/>
            <a:ext cx="5957264" cy="54476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sv-SE" sz="2800" b="1" noProof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4, 2, 1, 3, 5, 7, 1, 4, 2, 12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0C7EE742-2024-5208-0F8B-69105144406F}"/>
              </a:ext>
            </a:extLst>
          </p:cNvPr>
          <p:cNvSpPr/>
          <p:nvPr/>
        </p:nvSpPr>
        <p:spPr>
          <a:xfrm>
            <a:off x="7150079" y="4626492"/>
            <a:ext cx="915501" cy="40376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84340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85942"/>
            <a:ext cx="10515600" cy="4351338"/>
          </a:xfrm>
        </p:spPr>
        <p:txBody>
          <a:bodyPr/>
          <a:lstStyle/>
          <a:p>
            <a:r>
              <a:rPr lang="en-US" b="1" dirty="0" err="1">
                <a:latin typeface="Comfortaa" pitchFamily="2" charset="0"/>
              </a:rPr>
              <a:t>Func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и </a:t>
            </a:r>
            <a:r>
              <a:rPr lang="en-US" b="1" dirty="0">
                <a:latin typeface="Comfortaa" pitchFamily="2" charset="0"/>
              </a:rPr>
              <a:t>Action</a:t>
            </a:r>
            <a:r>
              <a:rPr lang="bg-BG" dirty="0">
                <a:latin typeface="Comfortaa" pitchFamily="2" charset="0"/>
              </a:rPr>
              <a:t> се реализират чрез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делегати</a:t>
            </a:r>
            <a:r>
              <a:rPr lang="bg-BG" dirty="0">
                <a:latin typeface="Comfortaa" pitchFamily="2" charset="0"/>
              </a:rPr>
              <a:t> и сами по себе си са вградени делегати. Допускат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до 15 параметъра</a:t>
            </a:r>
            <a:r>
              <a:rPr lang="bg-BG" dirty="0">
                <a:latin typeface="Comfortaa" pitchFamily="2" charset="0"/>
              </a:rPr>
              <a:t>, които са напълно достатъчни за практическа работа.</a:t>
            </a:r>
          </a:p>
          <a:p>
            <a:r>
              <a:rPr lang="bg-BG" dirty="0">
                <a:latin typeface="Comfortaa" pitchFamily="2" charset="0"/>
              </a:rPr>
              <a:t>Ако желаем да работим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с повече</a:t>
            </a:r>
            <a:r>
              <a:rPr lang="bg-BG" b="1" dirty="0">
                <a:solidFill>
                  <a:schemeClr val="accent1"/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параметри се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ползват</a:t>
            </a:r>
            <a:r>
              <a:rPr lang="bg-BG" dirty="0">
                <a:latin typeface="Comfortaa" pitchFamily="2" charset="0"/>
              </a:rPr>
              <a:t> делегати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525442"/>
            <a:ext cx="10515600" cy="1325563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Делегати</a:t>
            </a:r>
          </a:p>
        </p:txBody>
      </p:sp>
    </p:spTree>
    <p:extLst>
      <p:ext uri="{BB962C8B-B14F-4D97-AF65-F5344CB8AC3E}">
        <p14:creationId xmlns:p14="http://schemas.microsoft.com/office/powerpoint/2010/main" val="36495692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35783" y="365125"/>
            <a:ext cx="10884223" cy="1101477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Решение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bg-BG" dirty="0">
                <a:latin typeface="Comfortaa" pitchFamily="2" charset="0"/>
              </a:rPr>
              <a:t>Сбор на числа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735783" y="1466602"/>
            <a:ext cx="10884223" cy="4454278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144000" tIns="72000" rIns="144000" bIns="72000" rtlCol="0" anchor="t" anchorCtr="0">
            <a:sp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2800" dirty="0">
                <a:solidFill>
                  <a:schemeClr val="bg1"/>
                </a:solidFill>
              </a:rPr>
              <a:t>string input = Console.ReadLine();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rgbClr val="00B0F0"/>
                </a:solidFill>
              </a:rPr>
              <a:t>Func</a:t>
            </a:r>
            <a:r>
              <a:rPr lang="en-US" sz="2800" dirty="0">
                <a:solidFill>
                  <a:schemeClr val="bg1"/>
                </a:solidFill>
              </a:rPr>
              <a:t>&lt;string, int&gt; parser = </a:t>
            </a:r>
            <a:r>
              <a:rPr lang="en-US" sz="2800" dirty="0">
                <a:solidFill>
                  <a:srgbClr val="00B0F0"/>
                </a:solidFill>
              </a:rPr>
              <a:t>n =&gt; int.Parse(n)</a:t>
            </a:r>
            <a:r>
              <a:rPr lang="en-US" sz="2800" dirty="0">
                <a:solidFill>
                  <a:schemeClr val="bg1"/>
                </a:solidFill>
              </a:rPr>
              <a:t>;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int[] numbers = input.Split(new string[] {", "}, </a:t>
            </a:r>
          </a:p>
          <a:p>
            <a:r>
              <a:rPr lang="en-US" sz="2800" dirty="0">
                <a:solidFill>
                  <a:schemeClr val="bg1"/>
                </a:solidFill>
              </a:rPr>
              <a:t>                </a:t>
            </a:r>
            <a:r>
              <a:rPr lang="en-US" sz="2800" dirty="0" err="1">
                <a:solidFill>
                  <a:schemeClr val="bg1"/>
                </a:solidFill>
              </a:rPr>
              <a:t>StringSplitOptions.RemoveEmptyEntries</a:t>
            </a:r>
            <a:r>
              <a:rPr lang="en-US" sz="2800" dirty="0">
                <a:solidFill>
                  <a:schemeClr val="bg1"/>
                </a:solidFill>
              </a:rPr>
              <a:t>)</a:t>
            </a:r>
          </a:p>
          <a:p>
            <a:r>
              <a:rPr lang="en-US" sz="2800" dirty="0">
                <a:solidFill>
                  <a:schemeClr val="bg1"/>
                </a:solidFill>
              </a:rPr>
              <a:t>                Select(</a:t>
            </a:r>
            <a:r>
              <a:rPr lang="en-US" sz="2800" dirty="0">
                <a:solidFill>
                  <a:srgbClr val="00B0F0"/>
                </a:solidFill>
              </a:rPr>
              <a:t>parser</a:t>
            </a:r>
            <a:r>
              <a:rPr lang="en-US" sz="2800" dirty="0">
                <a:solidFill>
                  <a:schemeClr val="bg1"/>
                </a:solidFill>
              </a:rPr>
              <a:t>).ToArray();</a:t>
            </a:r>
          </a:p>
          <a:p>
            <a:endParaRPr lang="bg-BG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Console.WriteLine(numbers.Length);</a:t>
            </a:r>
          </a:p>
          <a:p>
            <a:r>
              <a:rPr lang="en-US" sz="2800" dirty="0">
                <a:solidFill>
                  <a:schemeClr val="bg1"/>
                </a:solidFill>
              </a:rPr>
              <a:t>Console.WriteLine(numbers.Sum());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5784" y="6038275"/>
            <a:ext cx="10884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mfortaa" pitchFamily="2" charset="0"/>
              </a:rPr>
              <a:t>Check your solution here: </a:t>
            </a:r>
            <a:r>
              <a:rPr lang="en-US" dirty="0">
                <a:latin typeface="Comfortaa" pitchFamily="2" charset="0"/>
                <a:hlinkClick r:id="rId2"/>
              </a:rPr>
              <a:t>https://judge.softuni.bg/Contests/Practice/Index/597#1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94315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942860" y="2144701"/>
            <a:ext cx="9937651" cy="256859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Въведете текст от конзолата (клавиатурата)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Пребройте колко думи започват с главна буква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Изведете броя на думите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Използвайте предикати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21327" y="553925"/>
            <a:ext cx="9959184" cy="1325563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Задача: Пребройте думите, започващи с главна буква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220189" y="4713298"/>
            <a:ext cx="4343400" cy="144962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The following example shows how to use Predicate</a:t>
            </a:r>
            <a:endParaRPr lang="sv-SE" sz="2800" b="1" noProof="1">
              <a:solidFill>
                <a:schemeClr val="bg1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6541997" y="4713298"/>
            <a:ext cx="3329783" cy="144962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The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Predicate</a:t>
            </a:r>
          </a:p>
          <a:p>
            <a:pPr>
              <a:lnSpc>
                <a:spcPct val="105000"/>
              </a:lnSpc>
            </a:pPr>
            <a:endParaRPr lang="sv-SE" sz="2800" b="1" noProof="1">
              <a:solidFill>
                <a:schemeClr val="bg1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6" name="Right Arrow 5"/>
          <p:cNvSpPr/>
          <p:nvPr/>
        </p:nvSpPr>
        <p:spPr>
          <a:xfrm>
            <a:off x="5563589" y="5195796"/>
            <a:ext cx="978408" cy="484632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800"/>
          </a:p>
        </p:txBody>
      </p:sp>
    </p:spTree>
    <p:extLst>
      <p:ext uri="{BB962C8B-B14F-4D97-AF65-F5344CB8AC3E}">
        <p14:creationId xmlns:p14="http://schemas.microsoft.com/office/powerpoint/2010/main" val="35738674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23849" y="365125"/>
            <a:ext cx="11544299" cy="1498418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Решение: Пребройте думите, започващи с главна буква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323850" y="2007949"/>
            <a:ext cx="11544299" cy="3592504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144000" tIns="72000" rIns="144000" bIns="72000" rtlCol="0" anchor="t" anchorCtr="0">
            <a:sp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2800" dirty="0">
                <a:solidFill>
                  <a:schemeClr val="bg1"/>
                </a:solidFill>
                <a:effectLst/>
              </a:rPr>
              <a:t>var words = Console.ReadLine().Split(new string[] {" "}, </a:t>
            </a:r>
          </a:p>
          <a:p>
            <a:r>
              <a:rPr lang="en-US" sz="2800" dirty="0">
                <a:solidFill>
                  <a:schemeClr val="bg1"/>
                </a:solidFill>
                <a:effectLst/>
              </a:rPr>
              <a:t>                 StringSplitOptions.RemoveEmptyEntries);</a:t>
            </a:r>
          </a:p>
          <a:p>
            <a:endParaRPr lang="en-US" sz="2800" dirty="0">
              <a:solidFill>
                <a:schemeClr val="bg1"/>
              </a:solidFill>
              <a:effectLst/>
            </a:endParaRPr>
          </a:p>
          <a:p>
            <a:r>
              <a:rPr lang="en-US" sz="2800" dirty="0">
                <a:solidFill>
                  <a:srgbClr val="00B0F0"/>
                </a:solidFill>
                <a:effectLst/>
              </a:rPr>
              <a:t>Func&lt;string, bool&gt; checker = n =&gt; n[0] == n.ToUpper()[0];</a:t>
            </a:r>
          </a:p>
          <a:p>
            <a:endParaRPr lang="en-US" sz="2800" dirty="0">
              <a:solidFill>
                <a:schemeClr val="bg1"/>
              </a:solidFill>
              <a:effectLst/>
            </a:endParaRPr>
          </a:p>
          <a:p>
            <a:r>
              <a:rPr lang="en-US" sz="2800" dirty="0">
                <a:solidFill>
                  <a:schemeClr val="bg1"/>
                </a:solidFill>
                <a:effectLst/>
              </a:rPr>
              <a:t>words.Where(</a:t>
            </a:r>
            <a:r>
              <a:rPr lang="en-US" sz="2800" dirty="0">
                <a:solidFill>
                  <a:srgbClr val="00B0F0"/>
                </a:solidFill>
                <a:effectLst/>
              </a:rPr>
              <a:t>checker</a:t>
            </a:r>
            <a:r>
              <a:rPr lang="en-US" sz="2800" dirty="0">
                <a:solidFill>
                  <a:schemeClr val="bg1"/>
                </a:solidFill>
                <a:effectLst/>
              </a:rPr>
              <a:t>)</a:t>
            </a:r>
          </a:p>
          <a:p>
            <a:r>
              <a:rPr lang="en-US" sz="2800" dirty="0">
                <a:solidFill>
                  <a:schemeClr val="bg1"/>
                </a:solidFill>
                <a:effectLst/>
              </a:rPr>
              <a:t>     .ToList()</a:t>
            </a:r>
          </a:p>
          <a:p>
            <a:r>
              <a:rPr lang="en-US" sz="2800" dirty="0">
                <a:solidFill>
                  <a:schemeClr val="bg1"/>
                </a:solidFill>
                <a:effectLst/>
              </a:rPr>
              <a:t>     .ForEach(n =&gt; Console.WriteLine(n));</a:t>
            </a:r>
            <a:endParaRPr lang="en-US" sz="3200" dirty="0">
              <a:solidFill>
                <a:schemeClr val="bg1"/>
              </a:solidFill>
              <a:effectLst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3849" y="5744859"/>
            <a:ext cx="11544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mfortaa" pitchFamily="2" charset="0"/>
              </a:rPr>
              <a:t>Check your solution here: </a:t>
            </a:r>
            <a:r>
              <a:rPr lang="en-US" dirty="0">
                <a:latin typeface="Comfortaa" pitchFamily="2" charset="0"/>
                <a:hlinkClick r:id="rId2"/>
              </a:rPr>
              <a:t>https://judge.softuni.bg/Contests/Practice/Index/597#2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08531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589816" y="2065965"/>
            <a:ext cx="11012368" cy="205327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Въведете от клавиатурата няколко цени на стоки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Добавете 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ДДС (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VAT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)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 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20%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 на всяка стока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Използвайте унарна (едноаргументна) операция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89816" y="758084"/>
            <a:ext cx="10798620" cy="1198338"/>
          </a:xfrm>
        </p:spPr>
        <p:txBody>
          <a:bodyPr/>
          <a:lstStyle/>
          <a:p>
            <a:r>
              <a:rPr lang="bg-BG" b="1" dirty="0">
                <a:latin typeface="Comfortaa" pitchFamily="2" charset="0"/>
              </a:rPr>
              <a:t>Задача</a:t>
            </a:r>
            <a:r>
              <a:rPr lang="en-US" b="1" dirty="0">
                <a:latin typeface="Comfortaa" pitchFamily="2" charset="0"/>
              </a:rPr>
              <a:t>: </a:t>
            </a:r>
            <a:r>
              <a:rPr lang="bg-BG" b="1" dirty="0">
                <a:latin typeface="Comfortaa" pitchFamily="2" charset="0"/>
              </a:rPr>
              <a:t>начисляване на ДДС (</a:t>
            </a:r>
            <a:r>
              <a:rPr lang="en-US" b="1" dirty="0">
                <a:latin typeface="Comfortaa" pitchFamily="2" charset="0"/>
              </a:rPr>
              <a:t>VAT</a:t>
            </a:r>
            <a:r>
              <a:rPr lang="bg-BG" b="1" dirty="0">
                <a:latin typeface="Comfortaa" pitchFamily="2" charset="0"/>
              </a:rPr>
              <a:t>)</a:t>
            </a:r>
            <a:endParaRPr lang="en-US" b="1" dirty="0">
              <a:latin typeface="Comfortaa" pitchFamily="2" charset="0"/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942605" y="4761968"/>
            <a:ext cx="3276600" cy="54476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sv-SE" sz="2800" b="1" noProof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1.38, 2.56, 4.4</a:t>
            </a: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6197613" y="4083320"/>
            <a:ext cx="3548345" cy="190205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bg-BG" sz="2800" b="1" noProof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Цени с ДДС (</a:t>
            </a: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VAT</a:t>
            </a:r>
            <a:r>
              <a:rPr lang="bg-BG" sz="2800" b="1" noProof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)</a:t>
            </a: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: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1,66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3,07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5,28</a:t>
            </a:r>
            <a:endParaRPr lang="sv-SE" sz="2800" b="1" noProof="1">
              <a:solidFill>
                <a:schemeClr val="bg1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5" name="Right Arrow 5">
            <a:extLst>
              <a:ext uri="{FF2B5EF4-FFF2-40B4-BE49-F238E27FC236}">
                <a16:creationId xmlns:a16="http://schemas.microsoft.com/office/drawing/2014/main" id="{F83532AF-45D7-7D2B-461D-227DD43A6434}"/>
              </a:ext>
            </a:extLst>
          </p:cNvPr>
          <p:cNvSpPr/>
          <p:nvPr/>
        </p:nvSpPr>
        <p:spPr>
          <a:xfrm>
            <a:off x="5219205" y="4792035"/>
            <a:ext cx="978408" cy="484632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800"/>
          </a:p>
        </p:txBody>
      </p:sp>
    </p:spTree>
    <p:extLst>
      <p:ext uri="{BB962C8B-B14F-4D97-AF65-F5344CB8AC3E}">
        <p14:creationId xmlns:p14="http://schemas.microsoft.com/office/powerpoint/2010/main" val="28650406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b="1" dirty="0">
                <a:latin typeface="Comfortaa" pitchFamily="2" charset="0"/>
              </a:rPr>
              <a:t>Решение: Добавяне на ДДС (</a:t>
            </a:r>
            <a:r>
              <a:rPr lang="en-US" b="1" dirty="0">
                <a:latin typeface="Comfortaa" pitchFamily="2" charset="0"/>
              </a:rPr>
              <a:t>VAT</a:t>
            </a:r>
            <a:r>
              <a:rPr lang="bg-BG" b="1" dirty="0">
                <a:latin typeface="Comfortaa" pitchFamily="2" charset="0"/>
              </a:rPr>
              <a:t>)</a:t>
            </a:r>
            <a:endParaRPr lang="en-US" b="1" dirty="0">
              <a:latin typeface="Comfortaa" pitchFamily="2" charset="0"/>
            </a:endParaRPr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228600" y="1920834"/>
            <a:ext cx="11734799" cy="3592504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144000" tIns="72000" rIns="144000" bIns="72000" rtlCol="0" anchor="t" anchorCtr="0">
            <a:sp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200" dirty="0">
                <a:solidFill>
                  <a:schemeClr val="bg1"/>
                </a:solidFill>
                <a:effectLst/>
              </a:rPr>
              <a:t>Console.ReadLine()</a:t>
            </a:r>
          </a:p>
          <a:p>
            <a:r>
              <a:rPr lang="en-US" sz="3200" dirty="0">
                <a:solidFill>
                  <a:schemeClr val="bg1"/>
                </a:solidFill>
                <a:effectLst/>
              </a:rPr>
              <a:t>       .Split(new string[] { ", " }, </a:t>
            </a:r>
          </a:p>
          <a:p>
            <a:r>
              <a:rPr lang="en-US" sz="3200" dirty="0">
                <a:solidFill>
                  <a:schemeClr val="bg1"/>
                </a:solidFill>
                <a:effectLst/>
              </a:rPr>
              <a:t>           StringSplitOptions.RemoveEmptyEntries)</a:t>
            </a:r>
          </a:p>
          <a:p>
            <a:r>
              <a:rPr lang="en-US" sz="3200" dirty="0">
                <a:solidFill>
                  <a:schemeClr val="bg1"/>
                </a:solidFill>
                <a:effectLst/>
              </a:rPr>
              <a:t>       .Select(</a:t>
            </a:r>
            <a:r>
              <a:rPr lang="en-US" sz="3200" dirty="0">
                <a:solidFill>
                  <a:srgbClr val="00B0F0"/>
                </a:solidFill>
                <a:effectLst/>
              </a:rPr>
              <a:t>double.Parse</a:t>
            </a:r>
            <a:r>
              <a:rPr lang="en-US" sz="3200" dirty="0">
                <a:solidFill>
                  <a:schemeClr val="bg1"/>
                </a:solidFill>
                <a:effectLst/>
              </a:rPr>
              <a:t>)</a:t>
            </a:r>
          </a:p>
          <a:p>
            <a:r>
              <a:rPr lang="en-US" sz="3200" dirty="0">
                <a:solidFill>
                  <a:schemeClr val="bg1"/>
                </a:solidFill>
                <a:effectLst/>
              </a:rPr>
              <a:t>       .Select(</a:t>
            </a:r>
            <a:r>
              <a:rPr lang="en-US" sz="3200" dirty="0">
                <a:solidFill>
                  <a:srgbClr val="00B0F0"/>
                </a:solidFill>
                <a:effectLst/>
              </a:rPr>
              <a:t>n =&gt; n * 1.2</a:t>
            </a:r>
            <a:r>
              <a:rPr lang="en-US" sz="3200" dirty="0">
                <a:solidFill>
                  <a:schemeClr val="bg1"/>
                </a:solidFill>
                <a:effectLst/>
              </a:rPr>
              <a:t>)</a:t>
            </a:r>
          </a:p>
          <a:p>
            <a:r>
              <a:rPr lang="en-US" sz="3200" dirty="0">
                <a:solidFill>
                  <a:schemeClr val="bg1"/>
                </a:solidFill>
                <a:effectLst/>
              </a:rPr>
              <a:t>       .ToList()</a:t>
            </a:r>
          </a:p>
          <a:p>
            <a:r>
              <a:rPr lang="en-US" sz="3200" dirty="0">
                <a:solidFill>
                  <a:schemeClr val="bg1"/>
                </a:solidFill>
                <a:effectLst/>
              </a:rPr>
              <a:t>       .ForEach(n =&gt; Console.WriteLine(</a:t>
            </a:r>
            <a:r>
              <a:rPr lang="en-US" sz="3200" dirty="0">
                <a:solidFill>
                  <a:srgbClr val="00B0F0"/>
                </a:solidFill>
                <a:effectLst/>
              </a:rPr>
              <a:t>$"{n:F2}")</a:t>
            </a:r>
            <a:r>
              <a:rPr lang="en-US" sz="3200" dirty="0">
                <a:solidFill>
                  <a:schemeClr val="bg1"/>
                </a:solidFill>
                <a:effectLst/>
              </a:rPr>
              <a:t>);</a:t>
            </a:r>
            <a:endParaRPr lang="en-US" sz="3600" dirty="0">
              <a:solidFill>
                <a:schemeClr val="bg1"/>
              </a:solidFill>
              <a:effectLst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88" y="5713307"/>
            <a:ext cx="12114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mfortaa" pitchFamily="2" charset="0"/>
              </a:rPr>
              <a:t>Check your solution here: </a:t>
            </a:r>
            <a:r>
              <a:rPr lang="en-US" dirty="0">
                <a:latin typeface="Comfortaa" pitchFamily="2" charset="0"/>
                <a:hlinkClick r:id="rId2"/>
              </a:rPr>
              <a:t>https://judge.softuni.bg/Contests/Practice/Index/597#3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67940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20518" y="489776"/>
            <a:ext cx="11918043" cy="918538"/>
          </a:xfrm>
        </p:spPr>
        <p:txBody>
          <a:bodyPr>
            <a:normAutofit fontScale="90000"/>
          </a:bodyPr>
          <a:lstStyle/>
          <a:p>
            <a:r>
              <a:rPr lang="bg-BG" sz="3200" b="1" dirty="0">
                <a:latin typeface="Comfortaa" pitchFamily="2" charset="0"/>
              </a:rPr>
              <a:t>Решение: Добавяне на ДДС (</a:t>
            </a:r>
            <a:r>
              <a:rPr lang="en-US" sz="3200" b="1" dirty="0">
                <a:latin typeface="Comfortaa" pitchFamily="2" charset="0"/>
              </a:rPr>
              <a:t>VAT</a:t>
            </a:r>
            <a:r>
              <a:rPr lang="bg-BG" sz="3200" b="1" dirty="0">
                <a:latin typeface="Comfortaa" pitchFamily="2" charset="0"/>
              </a:rPr>
              <a:t>)</a:t>
            </a:r>
            <a:r>
              <a:rPr lang="en-US" sz="3200" b="1" dirty="0">
                <a:latin typeface="Comfortaa" pitchFamily="2" charset="0"/>
              </a:rPr>
              <a:t> </a:t>
            </a:r>
            <a:r>
              <a:rPr lang="bg-BG" sz="3200" b="1" dirty="0">
                <a:latin typeface="Comfortaa" pitchFamily="2" charset="0"/>
              </a:rPr>
              <a:t>вариант 2 с функции</a:t>
            </a:r>
            <a:endParaRPr lang="en-US" sz="3200" b="1" dirty="0">
              <a:latin typeface="Comfortaa" pitchFamily="2" charset="0"/>
            </a:endParaRPr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273958" y="1700898"/>
            <a:ext cx="11627097" cy="4208057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144000" tIns="72000" rIns="144000" bIns="72000" rtlCol="0" anchor="t" anchorCtr="0">
            <a:sp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2400" dirty="0" err="1">
                <a:solidFill>
                  <a:srgbClr val="00B0F0"/>
                </a:solidFill>
                <a:effectLst/>
              </a:rPr>
              <a:t>Func</a:t>
            </a:r>
            <a:r>
              <a:rPr lang="en-US" sz="2400" dirty="0">
                <a:solidFill>
                  <a:srgbClr val="00B0F0"/>
                </a:solidFill>
                <a:effectLst/>
              </a:rPr>
              <a:t>&lt;string, double&gt; </a:t>
            </a:r>
            <a:r>
              <a:rPr lang="en-US" sz="2400" dirty="0" err="1">
                <a:solidFill>
                  <a:srgbClr val="00B0F0"/>
                </a:solidFill>
                <a:effectLst/>
              </a:rPr>
              <a:t>costumDoubleParser</a:t>
            </a:r>
            <a:r>
              <a:rPr lang="en-US" sz="2400" dirty="0">
                <a:solidFill>
                  <a:srgbClr val="00B0F0"/>
                </a:solidFill>
                <a:effectLst/>
              </a:rPr>
              <a:t> = str =&gt; </a:t>
            </a:r>
            <a:r>
              <a:rPr lang="en-US" sz="2400" dirty="0" err="1">
                <a:solidFill>
                  <a:srgbClr val="00B0F0"/>
                </a:solidFill>
                <a:effectLst/>
              </a:rPr>
              <a:t>double.Parse</a:t>
            </a:r>
            <a:r>
              <a:rPr lang="en-US" sz="2400" dirty="0">
                <a:solidFill>
                  <a:srgbClr val="00B0F0"/>
                </a:solidFill>
                <a:effectLst/>
              </a:rPr>
              <a:t>(str);</a:t>
            </a:r>
          </a:p>
          <a:p>
            <a:endParaRPr lang="en-US" sz="2400" dirty="0">
              <a:solidFill>
                <a:srgbClr val="00B0F0"/>
              </a:solidFill>
              <a:effectLst/>
            </a:endParaRPr>
          </a:p>
          <a:p>
            <a:r>
              <a:rPr lang="en-US" sz="2400" dirty="0" err="1">
                <a:solidFill>
                  <a:srgbClr val="00B0F0"/>
                </a:solidFill>
                <a:effectLst/>
              </a:rPr>
              <a:t>Func</a:t>
            </a:r>
            <a:r>
              <a:rPr lang="en-US" sz="2400" dirty="0">
                <a:solidFill>
                  <a:srgbClr val="00B0F0"/>
                </a:solidFill>
                <a:effectLst/>
              </a:rPr>
              <a:t>&lt;double, double&gt; </a:t>
            </a:r>
            <a:r>
              <a:rPr lang="en-US" sz="2400" dirty="0" err="1">
                <a:solidFill>
                  <a:srgbClr val="00B0F0"/>
                </a:solidFill>
                <a:effectLst/>
              </a:rPr>
              <a:t>taxVAT</a:t>
            </a:r>
            <a:r>
              <a:rPr lang="en-US" sz="2400" dirty="0">
                <a:solidFill>
                  <a:srgbClr val="00B0F0"/>
                </a:solidFill>
                <a:effectLst/>
              </a:rPr>
              <a:t> = (double price) =&gt; {return price*1.2;} </a:t>
            </a:r>
          </a:p>
          <a:p>
            <a:endParaRPr lang="bg-BG" sz="2400" dirty="0">
              <a:solidFill>
                <a:srgbClr val="00B0F0"/>
              </a:solidFill>
              <a:effectLst/>
            </a:endParaRPr>
          </a:p>
          <a:p>
            <a:r>
              <a:rPr lang="en-US" sz="2400" dirty="0" err="1">
                <a:solidFill>
                  <a:schemeClr val="bg1"/>
                </a:solidFill>
                <a:effectLst/>
              </a:rPr>
              <a:t>Console.ReadLine</a:t>
            </a:r>
            <a:r>
              <a:rPr lang="en-US" sz="2400" dirty="0">
                <a:solidFill>
                  <a:schemeClr val="bg1"/>
                </a:solidFill>
                <a:effectLst/>
              </a:rPr>
              <a:t>()</a:t>
            </a:r>
          </a:p>
          <a:p>
            <a:r>
              <a:rPr lang="en-US" sz="2400" dirty="0">
                <a:solidFill>
                  <a:schemeClr val="bg1"/>
                </a:solidFill>
                <a:effectLst/>
              </a:rPr>
              <a:t>  .Split(new string[] { ", " }, </a:t>
            </a:r>
          </a:p>
          <a:p>
            <a:r>
              <a:rPr lang="en-US" sz="2400" dirty="0">
                <a:solidFill>
                  <a:schemeClr val="bg1"/>
                </a:solidFill>
                <a:effectLst/>
              </a:rPr>
              <a:t>   </a:t>
            </a:r>
            <a:r>
              <a:rPr lang="en-US" sz="2400" dirty="0" err="1">
                <a:solidFill>
                  <a:schemeClr val="bg1"/>
                </a:solidFill>
                <a:effectLst/>
              </a:rPr>
              <a:t>StringSplitOptions.RemoveEmptyEntries</a:t>
            </a:r>
            <a:r>
              <a:rPr lang="en-US" sz="2400" dirty="0">
                <a:solidFill>
                  <a:schemeClr val="bg1"/>
                </a:solidFill>
                <a:effectLst/>
              </a:rPr>
              <a:t>)</a:t>
            </a:r>
          </a:p>
          <a:p>
            <a:r>
              <a:rPr lang="en-US" sz="2400" dirty="0">
                <a:solidFill>
                  <a:schemeClr val="bg1"/>
                </a:solidFill>
                <a:effectLst/>
              </a:rPr>
              <a:t>  .Select(</a:t>
            </a:r>
            <a:r>
              <a:rPr lang="en-US" sz="2400" dirty="0" err="1">
                <a:solidFill>
                  <a:srgbClr val="00B0F0"/>
                </a:solidFill>
                <a:effectLst/>
              </a:rPr>
              <a:t>costumDoubleParser</a:t>
            </a:r>
            <a:r>
              <a:rPr lang="en-US" sz="2400" dirty="0">
                <a:solidFill>
                  <a:schemeClr val="bg1"/>
                </a:solidFill>
                <a:effectLst/>
              </a:rPr>
              <a:t>)</a:t>
            </a:r>
          </a:p>
          <a:p>
            <a:r>
              <a:rPr lang="en-US" sz="2400" dirty="0">
                <a:solidFill>
                  <a:schemeClr val="bg1"/>
                </a:solidFill>
                <a:effectLst/>
              </a:rPr>
              <a:t>  .Select(</a:t>
            </a:r>
            <a:r>
              <a:rPr lang="en-US" sz="2400" dirty="0" err="1">
                <a:solidFill>
                  <a:srgbClr val="00B0F0"/>
                </a:solidFill>
                <a:effectLst/>
              </a:rPr>
              <a:t>taxVAT</a:t>
            </a:r>
            <a:r>
              <a:rPr lang="en-US" sz="2400" dirty="0">
                <a:solidFill>
                  <a:schemeClr val="bg1"/>
                </a:solidFill>
                <a:effectLst/>
              </a:rPr>
              <a:t>)</a:t>
            </a:r>
          </a:p>
          <a:p>
            <a:r>
              <a:rPr lang="en-US" sz="2400" dirty="0">
                <a:solidFill>
                  <a:schemeClr val="bg1"/>
                </a:solidFill>
                <a:effectLst/>
              </a:rPr>
              <a:t>  .ToList()</a:t>
            </a:r>
          </a:p>
          <a:p>
            <a:r>
              <a:rPr lang="en-US" sz="2400" dirty="0">
                <a:solidFill>
                  <a:schemeClr val="bg1"/>
                </a:solidFill>
                <a:effectLst/>
              </a:rPr>
              <a:t>  .ForEach(n =&gt; Console.WriteLine(</a:t>
            </a:r>
            <a:r>
              <a:rPr lang="en-US" sz="2400" dirty="0">
                <a:solidFill>
                  <a:srgbClr val="00B0F0"/>
                </a:solidFill>
                <a:effectLst/>
              </a:rPr>
              <a:t>$"{n:F2}")</a:t>
            </a:r>
            <a:r>
              <a:rPr lang="en-US" sz="2400" dirty="0">
                <a:solidFill>
                  <a:schemeClr val="bg1"/>
                </a:solidFill>
                <a:effectLst/>
              </a:rPr>
              <a:t>);</a:t>
            </a:r>
            <a:endParaRPr lang="en-US" sz="2800" dirty="0">
              <a:solidFill>
                <a:schemeClr val="bg1"/>
              </a:solidFill>
              <a:effectLst/>
            </a:endParaRP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8678716" y="3473532"/>
            <a:ext cx="3367811" cy="2725387"/>
          </a:xfrm>
          <a:prstGeom prst="wedgeRoundRectCallout">
            <a:avLst>
              <a:gd name="adj1" fmla="val -66050"/>
              <a:gd name="adj2" fmla="val -21504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000" dirty="0">
                <a:solidFill>
                  <a:srgbClr val="FFFFFF"/>
                </a:solidFill>
                <a:latin typeface="Comfortaa" pitchFamily="2" charset="0"/>
              </a:rPr>
              <a:t>Очевидно, вариант 1 е по-кратък и прегледен, тъй като за случая има синтактична захар</a:t>
            </a:r>
            <a:endParaRPr lang="bg-BG" dirty="0">
              <a:solidFill>
                <a:srgbClr val="FFFFFF"/>
              </a:solidFill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0842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171" name="Rectangle 3"/>
          <p:cNvSpPr>
            <a:spLocks noGrp="1" noChangeArrowheads="1"/>
          </p:cNvSpPr>
          <p:nvPr>
            <p:ph idx="1"/>
          </p:nvPr>
        </p:nvSpPr>
        <p:spPr>
          <a:xfrm>
            <a:off x="236511" y="1347850"/>
            <a:ext cx="11715800" cy="487067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Може да предаваме </a:t>
            </a:r>
            <a:r>
              <a:rPr lang="en-US" b="1" dirty="0" err="1">
                <a:solidFill>
                  <a:srgbClr val="00B0F0"/>
                </a:solidFill>
                <a:latin typeface="Comfortaa" pitchFamily="2" charset="0"/>
              </a:rPr>
              <a:t>Func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&lt;T&gt;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към методи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>
              <a:lnSpc>
                <a:spcPct val="100000"/>
              </a:lnSpc>
            </a:pP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Може да използваме метод като този</a:t>
            </a:r>
            <a:r>
              <a:rPr lang="en-US" dirty="0">
                <a:latin typeface="Comfortaa" pitchFamily="2" charset="0"/>
              </a:rPr>
              <a:t>:</a:t>
            </a:r>
          </a:p>
        </p:txBody>
      </p:sp>
      <p:sp>
        <p:nvSpPr>
          <p:cNvPr id="519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36511" y="323562"/>
            <a:ext cx="11715800" cy="1024288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Предаване на функции към метод</a:t>
            </a: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563083" y="2032963"/>
            <a:ext cx="10831292" cy="1625766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private int Operation(int number, Func&lt;int, int&gt; operation)</a:t>
            </a: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return operation(number);</a:t>
            </a: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563084" y="4787563"/>
            <a:ext cx="10831291" cy="1625766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int a = 5;</a:t>
            </a: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int b = Operation(a, number =&gt; number * 5);</a:t>
            </a: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int c = Operation(a, number =&gt; number – 3);</a:t>
            </a: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int d = Operation(b, number =&gt; number % 2);</a:t>
            </a:r>
          </a:p>
        </p:txBody>
      </p:sp>
    </p:spTree>
    <p:extLst>
      <p:ext uri="{BB962C8B-B14F-4D97-AF65-F5344CB8AC3E}">
        <p14:creationId xmlns:p14="http://schemas.microsoft.com/office/powerpoint/2010/main" val="2466619906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892646" y="1505036"/>
            <a:ext cx="7501592" cy="2396616"/>
          </a:xfrm>
        </p:spPr>
        <p:txBody>
          <a:bodyPr>
            <a:normAutofit fontScale="92500"/>
          </a:bodyPr>
          <a:lstStyle/>
          <a:p>
            <a:pPr>
              <a:lnSpc>
                <a:spcPct val="100000"/>
              </a:lnSpc>
            </a:pPr>
            <a:r>
              <a:rPr lang="bg-BG" sz="2400" dirty="0">
                <a:latin typeface="Comfortaa" pitchFamily="2" charset="0"/>
              </a:rPr>
              <a:t>Въведете 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n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души с тяхната възраст</a:t>
            </a: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sz="2400" dirty="0">
                <a:latin typeface="Comfortaa" pitchFamily="2" charset="0"/>
              </a:rPr>
              <a:t>Въведете условие и възраст за филтър</a:t>
            </a: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sz="2400" dirty="0">
                <a:latin typeface="Comfortaa" pitchFamily="2" charset="0"/>
              </a:rPr>
              <a:t>Въведете начина на форматиране на изхода</a:t>
            </a:r>
          </a:p>
          <a:p>
            <a:pPr>
              <a:lnSpc>
                <a:spcPct val="100000"/>
              </a:lnSpc>
            </a:pPr>
            <a:r>
              <a:rPr lang="bg-BG" sz="2400" dirty="0">
                <a:latin typeface="Comfortaa" pitchFamily="2" charset="0"/>
              </a:rPr>
              <a:t>Изведете всички хора, които</a:t>
            </a:r>
            <a:br>
              <a:rPr lang="bg-BG" sz="2400" dirty="0">
                <a:latin typeface="Comfortaa" pitchFamily="2" charset="0"/>
              </a:rPr>
            </a:br>
            <a:r>
              <a:rPr lang="bg-BG" sz="2400" dirty="0">
                <a:latin typeface="Comfortaa" pitchFamily="2" charset="0"/>
              </a:rPr>
              <a:t>удовлетворяват условието</a:t>
            </a:r>
            <a:endParaRPr lang="en-US" sz="2400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92646" y="426226"/>
            <a:ext cx="10603752" cy="1118316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Задача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bg-BG" dirty="0">
                <a:latin typeface="Comfortaa" pitchFamily="2" charset="0"/>
              </a:rPr>
              <a:t>Филтриране по възраст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659582" y="2755509"/>
            <a:ext cx="2683474" cy="3581400"/>
          </a:xfrm>
          <a:prstGeom prst="roundRect">
            <a:avLst>
              <a:gd name="adj" fmla="val 6659"/>
            </a:avLst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144000" tIns="108000" rIns="144000" bIns="108000" rtlCol="0">
            <a:noAutofit/>
          </a:bodyPr>
          <a:lstStyle/>
          <a:p>
            <a:pPr defTabSz="1218987">
              <a:buClr>
                <a:srgbClr val="F2B254"/>
              </a:buClr>
              <a:buSzPct val="100000"/>
            </a:pPr>
            <a:endParaRPr 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graphicFrame>
        <p:nvGraphicFramePr>
          <p:cNvPr id="14" name="Group 13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84264214"/>
              </p:ext>
            </p:extLst>
          </p:nvPr>
        </p:nvGraphicFramePr>
        <p:xfrm>
          <a:off x="8927601" y="3048259"/>
          <a:ext cx="2150110" cy="29959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462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7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9180"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bg1"/>
                          </a:solidFill>
                        </a:rPr>
                        <a:t>Pesho</a:t>
                      </a:r>
                      <a:endParaRPr lang="bg-BG" sz="32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bg1"/>
                          </a:solidFill>
                        </a:rPr>
                        <a:t>20</a:t>
                      </a:r>
                      <a:endParaRPr lang="bg-BG" sz="32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9180"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bg1"/>
                          </a:solidFill>
                        </a:rPr>
                        <a:t>Gosho</a:t>
                      </a:r>
                      <a:endParaRPr lang="bg-BG" sz="32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bg1"/>
                          </a:solidFill>
                        </a:rPr>
                        <a:t>18</a:t>
                      </a:r>
                      <a:endParaRPr lang="bg-BG" sz="32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9180"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bg1"/>
                          </a:solidFill>
                        </a:rPr>
                        <a:t>Radka</a:t>
                      </a:r>
                      <a:endParaRPr lang="bg-BG" sz="32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bg1"/>
                          </a:solidFill>
                        </a:rPr>
                        <a:t>29</a:t>
                      </a:r>
                      <a:endParaRPr lang="bg-BG" sz="32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9180"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bg1"/>
                          </a:solidFill>
                        </a:rPr>
                        <a:t>Mara</a:t>
                      </a:r>
                      <a:endParaRPr lang="bg-BG" sz="32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bg1"/>
                          </a:solidFill>
                        </a:rPr>
                        <a:t>32</a:t>
                      </a:r>
                      <a:endParaRPr lang="bg-BG" sz="32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9180"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bg1"/>
                          </a:solidFill>
                        </a:rPr>
                        <a:t>Izdislav</a:t>
                      </a:r>
                      <a:endParaRPr lang="bg-BG" sz="32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bg-BG" sz="32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Content Placeholder 2"/>
          <p:cNvSpPr txBox="1">
            <a:spLocks/>
          </p:cNvSpPr>
          <p:nvPr/>
        </p:nvSpPr>
        <p:spPr>
          <a:xfrm>
            <a:off x="4333585" y="4971225"/>
            <a:ext cx="4321793" cy="1292627"/>
          </a:xfrm>
          <a:prstGeom prst="rect">
            <a:avLst/>
          </a:prstGeom>
        </p:spPr>
        <p:txBody>
          <a:bodyPr vert="horz" lIns="108000" tIns="36000" rIns="108000" bIns="36000" rtlCol="0">
            <a:noAutofit/>
          </a:bodyPr>
          <a:lstStyle>
            <a:lvl1pPr marL="304747" indent="-304747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Char char="§"/>
              <a:defRPr sz="3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2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Font typeface="Wingdings" panose="05000000000000000000" pitchFamily="2" charset="2"/>
              <a:buChar char="ü"/>
            </a:pPr>
            <a:r>
              <a:rPr lang="bg-BG" sz="2400" b="1" dirty="0">
                <a:solidFill>
                  <a:srgbClr val="00B0F0"/>
                </a:solidFill>
                <a:latin typeface="Comfortaa" pitchFamily="2" charset="0"/>
              </a:rPr>
              <a:t>условие</a:t>
            </a:r>
            <a:r>
              <a:rPr lang="en-US" sz="2400" b="1" dirty="0">
                <a:solidFill>
                  <a:srgbClr val="00B0F0"/>
                </a:solidFill>
                <a:latin typeface="Comfortaa" pitchFamily="2" charset="0"/>
              </a:rPr>
              <a:t> - "older"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Font typeface="Wingdings" panose="05000000000000000000" pitchFamily="2" charset="2"/>
              <a:buChar char="ü"/>
            </a:pPr>
            <a:r>
              <a:rPr lang="bg-BG" sz="2400" b="1" dirty="0">
                <a:solidFill>
                  <a:srgbClr val="00B0F0"/>
                </a:solidFill>
                <a:latin typeface="Comfortaa" pitchFamily="2" charset="0"/>
              </a:rPr>
              <a:t>възраст</a:t>
            </a:r>
            <a:r>
              <a:rPr lang="en-US" sz="2400" b="1" dirty="0">
                <a:solidFill>
                  <a:srgbClr val="00B0F0"/>
                </a:solidFill>
                <a:latin typeface="Comfortaa" pitchFamily="2" charset="0"/>
              </a:rPr>
              <a:t> - 20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Font typeface="Wingdings" panose="05000000000000000000" pitchFamily="2" charset="2"/>
              <a:buChar char="ü"/>
            </a:pPr>
            <a:r>
              <a:rPr lang="bg-BG" sz="2400" b="1" dirty="0">
                <a:solidFill>
                  <a:srgbClr val="00B0F0"/>
                </a:solidFill>
                <a:latin typeface="Comfortaa" pitchFamily="2" charset="0"/>
              </a:rPr>
              <a:t>формат</a:t>
            </a:r>
            <a:r>
              <a:rPr lang="en-US" sz="2400" b="1" dirty="0">
                <a:solidFill>
                  <a:srgbClr val="00B0F0"/>
                </a:solidFill>
                <a:latin typeface="Comfortaa" pitchFamily="2" charset="0"/>
              </a:rPr>
              <a:t>- "name age"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9869" y="4054052"/>
            <a:ext cx="2920825" cy="2209800"/>
          </a:xfrm>
          <a:prstGeom prst="roundRect">
            <a:avLst>
              <a:gd name="adj" fmla="val 6659"/>
            </a:avLst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144000" tIns="108000" rIns="144000" bIns="108000" rtlCol="0">
            <a:noAutofit/>
          </a:bodyPr>
          <a:lstStyle/>
          <a:p>
            <a:pPr defTabSz="1218987">
              <a:buClr>
                <a:srgbClr val="F2B254"/>
              </a:buClr>
              <a:buSzPct val="100000"/>
            </a:pPr>
            <a:endParaRPr 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graphicFrame>
        <p:nvGraphicFramePr>
          <p:cNvPr id="24" name="Group 13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40158795"/>
              </p:ext>
            </p:extLst>
          </p:nvPr>
        </p:nvGraphicFramePr>
        <p:xfrm>
          <a:off x="1222423" y="4313912"/>
          <a:ext cx="2459670" cy="17975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338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57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9180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bg1"/>
                          </a:solidFill>
                        </a:rPr>
                        <a:t>Pesho</a:t>
                      </a:r>
                      <a:endParaRPr lang="bg-BG" sz="28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bg1"/>
                          </a:solidFill>
                        </a:rPr>
                        <a:t>20</a:t>
                      </a:r>
                      <a:endParaRPr lang="bg-BG" sz="28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9180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bg1"/>
                          </a:solidFill>
                        </a:rPr>
                        <a:t>Radka</a:t>
                      </a:r>
                      <a:endParaRPr lang="bg-BG" sz="28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bg1"/>
                          </a:solidFill>
                        </a:rPr>
                        <a:t>29</a:t>
                      </a:r>
                      <a:endParaRPr lang="bg-BG" sz="28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9180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bg1"/>
                          </a:solidFill>
                        </a:rPr>
                        <a:t>Mara</a:t>
                      </a:r>
                      <a:endParaRPr lang="bg-BG" sz="28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bg1"/>
                          </a:solidFill>
                        </a:rPr>
                        <a:t>32</a:t>
                      </a:r>
                      <a:endParaRPr lang="bg-BG" sz="28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Left Arrow 2"/>
          <p:cNvSpPr/>
          <p:nvPr/>
        </p:nvSpPr>
        <p:spPr>
          <a:xfrm>
            <a:off x="3912920" y="4468230"/>
            <a:ext cx="4742458" cy="484632"/>
          </a:xfrm>
          <a:prstGeom prst="lef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800"/>
          </a:p>
        </p:txBody>
      </p:sp>
    </p:spTree>
    <p:extLst>
      <p:ext uri="{BB962C8B-B14F-4D97-AF65-F5344CB8AC3E}">
        <p14:creationId xmlns:p14="http://schemas.microsoft.com/office/powerpoint/2010/main" val="32319424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23999" y="365125"/>
            <a:ext cx="10942413" cy="1325563"/>
          </a:xfrm>
        </p:spPr>
        <p:txBody>
          <a:bodyPr>
            <a:normAutofit/>
          </a:bodyPr>
          <a:lstStyle/>
          <a:p>
            <a:r>
              <a:rPr lang="bg-BG" sz="3600" b="1" dirty="0">
                <a:latin typeface="Comfortaa" pitchFamily="2" charset="0"/>
              </a:rPr>
              <a:t>Решение</a:t>
            </a:r>
            <a:r>
              <a:rPr lang="en-US" sz="3600" b="1" dirty="0">
                <a:latin typeface="Comfortaa" pitchFamily="2" charset="0"/>
              </a:rPr>
              <a:t>: </a:t>
            </a:r>
            <a:r>
              <a:rPr lang="bg-BG" sz="3600" b="1" dirty="0">
                <a:latin typeface="Comfortaa" pitchFamily="2" charset="0"/>
              </a:rPr>
              <a:t>Филтриране по възраст </a:t>
            </a:r>
            <a:r>
              <a:rPr lang="en-US" sz="3600" b="1" dirty="0">
                <a:latin typeface="Comfortaa" pitchFamily="2" charset="0"/>
              </a:rPr>
              <a:t>[1/4]</a:t>
            </a:r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624001" y="1676400"/>
            <a:ext cx="10944000" cy="3592504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144000" tIns="72000" rIns="144000" bIns="72000" rtlCol="0" anchor="t" anchorCtr="0">
            <a:sp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2800" dirty="0">
                <a:solidFill>
                  <a:schemeClr val="bg1">
                    <a:lumMod val="65000"/>
                  </a:schemeClr>
                </a:solidFill>
              </a:rPr>
              <a:t>//</a:t>
            </a:r>
            <a:r>
              <a:rPr lang="bg-BG" sz="28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</a:rPr>
              <a:t>TODO: </a:t>
            </a:r>
            <a:r>
              <a:rPr lang="bg-BG" sz="2800" dirty="0">
                <a:solidFill>
                  <a:schemeClr val="bg1">
                    <a:lumMod val="65000"/>
                  </a:schemeClr>
                </a:solidFill>
              </a:rPr>
              <a:t>Въвеждане на данни от клавиатурата</a:t>
            </a:r>
            <a:endParaRPr lang="en-US" sz="2800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sz="2800" dirty="0">
                <a:solidFill>
                  <a:schemeClr val="bg1">
                    <a:lumMod val="65000"/>
                  </a:schemeClr>
                </a:solidFill>
              </a:rPr>
              <a:t>//</a:t>
            </a:r>
            <a:r>
              <a:rPr lang="bg-BG" sz="2800" dirty="0">
                <a:solidFill>
                  <a:schemeClr val="bg1">
                    <a:lumMod val="65000"/>
                  </a:schemeClr>
                </a:solidFill>
              </a:rPr>
              <a:t> Реализация на методите на следващите слайдове</a:t>
            </a:r>
            <a:endParaRPr lang="en-US" sz="2800" dirty="0">
              <a:solidFill>
                <a:schemeClr val="bg1">
                  <a:lumMod val="65000"/>
                </a:schemeClr>
              </a:solidFill>
            </a:endParaRP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rgbClr val="00B0F0"/>
                </a:solidFill>
              </a:rPr>
              <a:t>Func&lt;int, bool&gt; </a:t>
            </a:r>
            <a:r>
              <a:rPr lang="en-US" sz="2800" dirty="0">
                <a:solidFill>
                  <a:schemeClr val="bg1"/>
                </a:solidFill>
              </a:rPr>
              <a:t>tester = CreateTester(condition, age);</a:t>
            </a:r>
          </a:p>
          <a:p>
            <a:r>
              <a:rPr lang="en-US" sz="2800" dirty="0">
                <a:solidFill>
                  <a:srgbClr val="00B0F0"/>
                </a:solidFill>
              </a:rPr>
              <a:t>Action&lt;KeyValuePair&lt;string, int&gt;&gt; </a:t>
            </a:r>
            <a:r>
              <a:rPr lang="en-US" sz="2800" dirty="0">
                <a:solidFill>
                  <a:schemeClr val="bg1"/>
                </a:solidFill>
              </a:rPr>
              <a:t>printer = </a:t>
            </a:r>
            <a:endParaRPr lang="bg-BG" sz="2800" dirty="0">
              <a:solidFill>
                <a:schemeClr val="bg1"/>
              </a:solidFill>
            </a:endParaRPr>
          </a:p>
          <a:p>
            <a:r>
              <a:rPr lang="bg-BG" sz="2800" dirty="0">
                <a:solidFill>
                  <a:schemeClr val="bg1"/>
                </a:solidFill>
              </a:rPr>
              <a:t>  </a:t>
            </a:r>
            <a:r>
              <a:rPr lang="en-US" sz="2800" dirty="0" err="1">
                <a:solidFill>
                  <a:schemeClr val="bg1"/>
                </a:solidFill>
              </a:rPr>
              <a:t>CreatePrinter</a:t>
            </a:r>
            <a:r>
              <a:rPr lang="en-US" sz="2800" dirty="0">
                <a:solidFill>
                  <a:schemeClr val="bg1"/>
                </a:solidFill>
              </a:rPr>
              <a:t>(format);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PrintFilteredStudent(people, </a:t>
            </a:r>
            <a:r>
              <a:rPr lang="en-US" sz="2800" dirty="0">
                <a:solidFill>
                  <a:srgbClr val="00B0F0"/>
                </a:solidFill>
              </a:rPr>
              <a:t>tester</a:t>
            </a:r>
            <a:r>
              <a:rPr lang="en-US" sz="2800" dirty="0">
                <a:solidFill>
                  <a:schemeClr val="bg1"/>
                </a:solidFill>
              </a:rPr>
              <a:t>, </a:t>
            </a:r>
            <a:r>
              <a:rPr lang="en-US" sz="2800" dirty="0">
                <a:solidFill>
                  <a:srgbClr val="00B0F0"/>
                </a:solidFill>
              </a:rPr>
              <a:t>printer</a:t>
            </a:r>
            <a:r>
              <a:rPr lang="en-US" sz="2800" dirty="0">
                <a:solidFill>
                  <a:schemeClr val="bg1"/>
                </a:solidFill>
              </a:rPr>
              <a:t>);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5400218"/>
            <a:ext cx="12114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mfortaa" pitchFamily="2" charset="0"/>
              </a:rPr>
              <a:t>Check your solution here: </a:t>
            </a:r>
            <a:r>
              <a:rPr lang="en-US" dirty="0">
                <a:latin typeface="Comfortaa" pitchFamily="2" charset="0"/>
                <a:hlinkClick r:id="rId2"/>
              </a:rPr>
              <a:t>https://judge.softuni.bg/Contests/Practice/Index/597#4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06889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 txBox="1">
            <a:spLocks/>
          </p:cNvSpPr>
          <p:nvPr/>
        </p:nvSpPr>
        <p:spPr>
          <a:xfrm>
            <a:off x="496094" y="1540781"/>
            <a:ext cx="11125200" cy="4454278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144000" tIns="72000" rIns="144000" bIns="72000" rtlCol="0" anchor="t" anchorCtr="0">
            <a:sp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2800" dirty="0">
                <a:solidFill>
                  <a:schemeClr val="bg1"/>
                </a:solidFill>
                <a:effectLst/>
              </a:rPr>
              <a:t>public static </a:t>
            </a:r>
            <a:r>
              <a:rPr lang="en-US" sz="2800" dirty="0">
                <a:solidFill>
                  <a:srgbClr val="00B0F0"/>
                </a:solidFill>
                <a:effectLst/>
              </a:rPr>
              <a:t>Func&lt;int, bool&gt; </a:t>
            </a:r>
            <a:r>
              <a:rPr lang="en-US" sz="2800" dirty="0">
                <a:solidFill>
                  <a:schemeClr val="bg1"/>
                </a:solidFill>
                <a:effectLst/>
              </a:rPr>
              <a:t>CreateTester</a:t>
            </a:r>
            <a:endParaRPr lang="bg-BG" sz="2800" dirty="0">
              <a:solidFill>
                <a:schemeClr val="bg1"/>
              </a:solidFill>
              <a:effectLst/>
            </a:endParaRPr>
          </a:p>
          <a:p>
            <a:r>
              <a:rPr lang="bg-BG" sz="2800" dirty="0">
                <a:solidFill>
                  <a:schemeClr val="bg1"/>
                </a:solidFill>
                <a:effectLst/>
              </a:rPr>
              <a:t>  </a:t>
            </a:r>
            <a:r>
              <a:rPr lang="en-US" sz="2800" dirty="0">
                <a:solidFill>
                  <a:schemeClr val="bg1"/>
                </a:solidFill>
                <a:effectLst/>
              </a:rPr>
              <a:t>(string condition, int age)</a:t>
            </a:r>
          </a:p>
          <a:p>
            <a:r>
              <a:rPr lang="en-US" sz="2800" dirty="0">
                <a:solidFill>
                  <a:schemeClr val="bg1"/>
                </a:solidFill>
                <a:effectLst/>
              </a:rPr>
              <a:t>{</a:t>
            </a:r>
          </a:p>
          <a:p>
            <a:r>
              <a:rPr lang="en-US" sz="2800" dirty="0">
                <a:solidFill>
                  <a:schemeClr val="bg1"/>
                </a:solidFill>
                <a:effectLst/>
              </a:rPr>
              <a:t> </a:t>
            </a:r>
            <a:r>
              <a:rPr lang="bg-BG" sz="2800" dirty="0">
                <a:solidFill>
                  <a:schemeClr val="bg1"/>
                </a:solidFill>
                <a:effectLst/>
              </a:rPr>
              <a:t> </a:t>
            </a:r>
            <a:r>
              <a:rPr lang="en-US" sz="2800" dirty="0">
                <a:solidFill>
                  <a:schemeClr val="bg1"/>
                </a:solidFill>
                <a:effectLst/>
              </a:rPr>
              <a:t>switch (condition)</a:t>
            </a:r>
          </a:p>
          <a:p>
            <a:r>
              <a:rPr lang="en-US" sz="2800" dirty="0">
                <a:solidFill>
                  <a:schemeClr val="bg1"/>
                </a:solidFill>
                <a:effectLst/>
              </a:rPr>
              <a:t> </a:t>
            </a:r>
            <a:r>
              <a:rPr lang="bg-BG" sz="2800" dirty="0">
                <a:solidFill>
                  <a:schemeClr val="bg1"/>
                </a:solidFill>
                <a:effectLst/>
              </a:rPr>
              <a:t> </a:t>
            </a:r>
            <a:r>
              <a:rPr lang="en-US" sz="2800" dirty="0">
                <a:solidFill>
                  <a:schemeClr val="bg1"/>
                </a:solidFill>
                <a:effectLst/>
              </a:rPr>
              <a:t>{</a:t>
            </a:r>
          </a:p>
          <a:p>
            <a:r>
              <a:rPr lang="en-US" sz="2800" dirty="0">
                <a:solidFill>
                  <a:schemeClr val="bg1"/>
                </a:solidFill>
                <a:effectLst/>
              </a:rPr>
              <a:t>   </a:t>
            </a:r>
            <a:r>
              <a:rPr lang="bg-BG" sz="2800" dirty="0">
                <a:solidFill>
                  <a:schemeClr val="bg1"/>
                </a:solidFill>
                <a:effectLst/>
              </a:rPr>
              <a:t> </a:t>
            </a:r>
            <a:r>
              <a:rPr lang="en-US" sz="2800" dirty="0">
                <a:solidFill>
                  <a:schemeClr val="bg1"/>
                </a:solidFill>
                <a:effectLst/>
              </a:rPr>
              <a:t>case "younger":</a:t>
            </a:r>
            <a:r>
              <a:rPr lang="bg-BG" sz="2800" dirty="0">
                <a:solidFill>
                  <a:schemeClr val="bg1"/>
                </a:solidFill>
                <a:effectLst/>
              </a:rPr>
              <a:t> </a:t>
            </a:r>
            <a:r>
              <a:rPr lang="en-US" sz="2800" dirty="0">
                <a:solidFill>
                  <a:schemeClr val="bg1"/>
                </a:solidFill>
                <a:effectLst/>
              </a:rPr>
              <a:t>return </a:t>
            </a:r>
            <a:r>
              <a:rPr lang="en-US" sz="2800" dirty="0">
                <a:solidFill>
                  <a:srgbClr val="00B0F0"/>
                </a:solidFill>
                <a:effectLst/>
              </a:rPr>
              <a:t>x =&gt; x &lt; age</a:t>
            </a:r>
            <a:r>
              <a:rPr lang="en-US" sz="2800" dirty="0">
                <a:solidFill>
                  <a:schemeClr val="bg1"/>
                </a:solidFill>
                <a:effectLst/>
              </a:rPr>
              <a:t>;</a:t>
            </a:r>
          </a:p>
          <a:p>
            <a:r>
              <a:rPr lang="en-US" sz="2800" dirty="0">
                <a:solidFill>
                  <a:schemeClr val="bg1"/>
                </a:solidFill>
                <a:effectLst/>
              </a:rPr>
              <a:t>   </a:t>
            </a:r>
            <a:r>
              <a:rPr lang="bg-BG" sz="2800" dirty="0">
                <a:solidFill>
                  <a:schemeClr val="bg1"/>
                </a:solidFill>
                <a:effectLst/>
              </a:rPr>
              <a:t> </a:t>
            </a:r>
            <a:r>
              <a:rPr lang="en-US" sz="2800" dirty="0">
                <a:solidFill>
                  <a:schemeClr val="bg1"/>
                </a:solidFill>
                <a:effectLst/>
              </a:rPr>
              <a:t>case "older":</a:t>
            </a:r>
            <a:r>
              <a:rPr lang="bg-BG" sz="2800" dirty="0">
                <a:solidFill>
                  <a:schemeClr val="bg1"/>
                </a:solidFill>
                <a:effectLst/>
              </a:rPr>
              <a:t> </a:t>
            </a:r>
            <a:r>
              <a:rPr lang="en-US" sz="2800" dirty="0">
                <a:solidFill>
                  <a:schemeClr val="bg1"/>
                </a:solidFill>
                <a:effectLst/>
              </a:rPr>
              <a:t>return </a:t>
            </a:r>
            <a:r>
              <a:rPr lang="en-US" sz="2800" dirty="0">
                <a:solidFill>
                  <a:srgbClr val="00B0F0"/>
                </a:solidFill>
                <a:effectLst/>
              </a:rPr>
              <a:t>x =&gt; x &gt;= age</a:t>
            </a:r>
            <a:r>
              <a:rPr lang="en-US" sz="2800" dirty="0">
                <a:solidFill>
                  <a:schemeClr val="bg1"/>
                </a:solidFill>
                <a:effectLst/>
              </a:rPr>
              <a:t>;</a:t>
            </a:r>
          </a:p>
          <a:p>
            <a:r>
              <a:rPr lang="en-US" sz="2800" dirty="0">
                <a:solidFill>
                  <a:schemeClr val="bg1"/>
                </a:solidFill>
                <a:effectLst/>
              </a:rPr>
              <a:t>   </a:t>
            </a:r>
            <a:r>
              <a:rPr lang="bg-BG" sz="2800" dirty="0">
                <a:solidFill>
                  <a:schemeClr val="bg1"/>
                </a:solidFill>
                <a:effectLst/>
              </a:rPr>
              <a:t> </a:t>
            </a:r>
            <a:r>
              <a:rPr lang="en-US" sz="2800" dirty="0">
                <a:solidFill>
                  <a:schemeClr val="bg1"/>
                </a:solidFill>
                <a:effectLst/>
              </a:rPr>
              <a:t>default:</a:t>
            </a:r>
            <a:r>
              <a:rPr lang="bg-BG" sz="2800" dirty="0">
                <a:solidFill>
                  <a:schemeClr val="bg1"/>
                </a:solidFill>
                <a:effectLst/>
              </a:rPr>
              <a:t> </a:t>
            </a:r>
            <a:r>
              <a:rPr lang="en-US" sz="2800" dirty="0">
                <a:solidFill>
                  <a:schemeClr val="bg1"/>
                </a:solidFill>
                <a:effectLst/>
              </a:rPr>
              <a:t>return null;</a:t>
            </a:r>
          </a:p>
          <a:p>
            <a:r>
              <a:rPr lang="en-US" sz="2800" dirty="0">
                <a:solidFill>
                  <a:schemeClr val="bg1"/>
                </a:solidFill>
                <a:effectLst/>
              </a:rPr>
              <a:t> </a:t>
            </a:r>
            <a:r>
              <a:rPr lang="bg-BG" sz="2800" dirty="0">
                <a:solidFill>
                  <a:schemeClr val="bg1"/>
                </a:solidFill>
                <a:effectLst/>
              </a:rPr>
              <a:t> </a:t>
            </a:r>
            <a:r>
              <a:rPr lang="en-US" sz="2800" dirty="0">
                <a:solidFill>
                  <a:schemeClr val="bg1"/>
                </a:solidFill>
                <a:effectLst/>
              </a:rPr>
              <a:t>}</a:t>
            </a:r>
          </a:p>
          <a:p>
            <a:r>
              <a:rPr lang="en-US" sz="2800" dirty="0">
                <a:solidFill>
                  <a:schemeClr val="bg1"/>
                </a:solidFill>
                <a:effectLst/>
              </a:rPr>
              <a:t>}</a:t>
            </a:r>
            <a:endParaRPr lang="en-US" sz="3200" dirty="0">
              <a:solidFill>
                <a:schemeClr val="bg1"/>
              </a:solidFill>
              <a:effectLst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8099" y="6123543"/>
            <a:ext cx="12114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mfortaa" pitchFamily="2" charset="0"/>
              </a:rPr>
              <a:t>Check your solution here: </a:t>
            </a:r>
            <a:r>
              <a:rPr lang="en-US" dirty="0">
                <a:latin typeface="Comfortaa" pitchFamily="2" charset="0"/>
                <a:hlinkClick r:id="rId2"/>
              </a:rPr>
              <a:t>https://judge.softuni.bg/Contests/Practice/Index/597#4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69522FE1-B839-F330-2C7E-7D785DCEC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999" y="365125"/>
            <a:ext cx="10942413" cy="1325563"/>
          </a:xfrm>
        </p:spPr>
        <p:txBody>
          <a:bodyPr>
            <a:normAutofit/>
          </a:bodyPr>
          <a:lstStyle/>
          <a:p>
            <a:r>
              <a:rPr lang="bg-BG" sz="3600" b="1" dirty="0">
                <a:latin typeface="Comfortaa" pitchFamily="2" charset="0"/>
              </a:rPr>
              <a:t>Решение</a:t>
            </a:r>
            <a:r>
              <a:rPr lang="en-US" sz="3600" b="1" dirty="0">
                <a:latin typeface="Comfortaa" pitchFamily="2" charset="0"/>
              </a:rPr>
              <a:t>: </a:t>
            </a:r>
            <a:r>
              <a:rPr lang="bg-BG" sz="3600" b="1" dirty="0">
                <a:latin typeface="Comfortaa" pitchFamily="2" charset="0"/>
              </a:rPr>
              <a:t>Филтриране по възраст </a:t>
            </a:r>
            <a:r>
              <a:rPr lang="en-US" sz="3600" b="1" dirty="0">
                <a:latin typeface="Comfortaa" pitchFamily="2" charset="0"/>
              </a:rPr>
              <a:t>[2/4]</a:t>
            </a:r>
          </a:p>
        </p:txBody>
      </p:sp>
    </p:spTree>
    <p:extLst>
      <p:ext uri="{BB962C8B-B14F-4D97-AF65-F5344CB8AC3E}">
        <p14:creationId xmlns:p14="http://schemas.microsoft.com/office/powerpoint/2010/main" val="1086958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 txBox="1">
            <a:spLocks/>
          </p:cNvSpPr>
          <p:nvPr/>
        </p:nvSpPr>
        <p:spPr>
          <a:xfrm>
            <a:off x="495300" y="1066801"/>
            <a:ext cx="11391900" cy="554688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144000" tIns="72000" rIns="144000" bIns="72000" rtlCol="0" anchor="t" anchorCtr="0">
            <a:sp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pPr>
              <a:lnSpc>
                <a:spcPct val="90000"/>
              </a:lnSpc>
            </a:pPr>
            <a:r>
              <a:rPr lang="en-US" sz="2600" dirty="0">
                <a:solidFill>
                  <a:schemeClr val="bg1"/>
                </a:solidFill>
                <a:effectLst/>
              </a:rPr>
              <a:t>public static </a:t>
            </a:r>
            <a:r>
              <a:rPr lang="en-US" sz="2600" dirty="0">
                <a:solidFill>
                  <a:srgbClr val="00B0F0"/>
                </a:solidFill>
                <a:effectLst/>
              </a:rPr>
              <a:t>Action&lt;KeyValuePair&lt;string, int&gt;&gt;</a:t>
            </a:r>
            <a:endParaRPr lang="bg-BG" sz="2600" dirty="0">
              <a:solidFill>
                <a:srgbClr val="00B0F0"/>
              </a:solidFill>
              <a:effectLst/>
            </a:endParaRPr>
          </a:p>
          <a:p>
            <a:pPr>
              <a:lnSpc>
                <a:spcPct val="90000"/>
              </a:lnSpc>
            </a:pPr>
            <a:r>
              <a:rPr lang="bg-BG" sz="2600" dirty="0">
                <a:solidFill>
                  <a:schemeClr val="bg1"/>
                </a:solidFill>
                <a:effectLst/>
              </a:rPr>
              <a:t>  </a:t>
            </a:r>
            <a:r>
              <a:rPr lang="en-US" sz="2600" dirty="0" err="1">
                <a:solidFill>
                  <a:schemeClr val="bg1"/>
                </a:solidFill>
                <a:effectLst/>
              </a:rPr>
              <a:t>CreatePrinter</a:t>
            </a:r>
            <a:r>
              <a:rPr lang="en-US" sz="2600" dirty="0">
                <a:solidFill>
                  <a:schemeClr val="bg1"/>
                </a:solidFill>
                <a:effectLst/>
              </a:rPr>
              <a:t>(string format)</a:t>
            </a:r>
          </a:p>
          <a:p>
            <a:pPr>
              <a:lnSpc>
                <a:spcPct val="90000"/>
              </a:lnSpc>
            </a:pPr>
            <a:r>
              <a:rPr lang="en-US" sz="2600" dirty="0">
                <a:solidFill>
                  <a:schemeClr val="bg1"/>
                </a:solidFill>
                <a:effectLst/>
              </a:rPr>
              <a:t>{</a:t>
            </a:r>
          </a:p>
          <a:p>
            <a:pPr>
              <a:lnSpc>
                <a:spcPct val="90000"/>
              </a:lnSpc>
            </a:pPr>
            <a:r>
              <a:rPr lang="en-US" sz="2600" dirty="0">
                <a:solidFill>
                  <a:schemeClr val="bg1"/>
                </a:solidFill>
                <a:effectLst/>
              </a:rPr>
              <a:t> </a:t>
            </a:r>
            <a:r>
              <a:rPr lang="bg-BG" sz="2600" dirty="0">
                <a:solidFill>
                  <a:schemeClr val="bg1"/>
                </a:solidFill>
                <a:effectLst/>
              </a:rPr>
              <a:t> </a:t>
            </a:r>
            <a:r>
              <a:rPr lang="en-US" sz="2600" dirty="0">
                <a:solidFill>
                  <a:schemeClr val="bg1"/>
                </a:solidFill>
                <a:effectLst/>
              </a:rPr>
              <a:t>switch (format)</a:t>
            </a:r>
            <a:endParaRPr lang="bg-BG" sz="2600" dirty="0">
              <a:solidFill>
                <a:schemeClr val="bg1"/>
              </a:solidFill>
              <a:effectLst/>
            </a:endParaRPr>
          </a:p>
          <a:p>
            <a:pPr>
              <a:lnSpc>
                <a:spcPct val="90000"/>
              </a:lnSpc>
            </a:pPr>
            <a:r>
              <a:rPr lang="bg-BG" sz="2600" dirty="0">
                <a:solidFill>
                  <a:schemeClr val="bg1"/>
                </a:solidFill>
                <a:effectLst/>
              </a:rPr>
              <a:t>  </a:t>
            </a:r>
            <a:r>
              <a:rPr lang="en-US" sz="2600" dirty="0">
                <a:solidFill>
                  <a:schemeClr val="bg1"/>
                </a:solidFill>
                <a:effectLst/>
              </a:rPr>
              <a:t>{</a:t>
            </a:r>
            <a:r>
              <a:rPr lang="bg-BG" sz="2600" dirty="0">
                <a:solidFill>
                  <a:schemeClr val="bg1"/>
                </a:solidFill>
                <a:effectLst/>
              </a:rPr>
              <a:t> </a:t>
            </a:r>
            <a:endParaRPr lang="en-US" sz="2600" dirty="0">
              <a:solidFill>
                <a:schemeClr val="bg1"/>
              </a:solidFill>
              <a:effectLst/>
            </a:endParaRPr>
          </a:p>
          <a:p>
            <a:pPr>
              <a:lnSpc>
                <a:spcPct val="90000"/>
              </a:lnSpc>
            </a:pPr>
            <a:r>
              <a:rPr lang="en-US" sz="2600" dirty="0">
                <a:solidFill>
                  <a:schemeClr val="bg1"/>
                </a:solidFill>
                <a:effectLst/>
              </a:rPr>
              <a:t>    case "name":</a:t>
            </a:r>
            <a:r>
              <a:rPr lang="bg-BG" sz="2600" dirty="0">
                <a:solidFill>
                  <a:schemeClr val="bg1"/>
                </a:solidFill>
                <a:effectLst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bg-BG" sz="2600" dirty="0">
                <a:solidFill>
                  <a:schemeClr val="bg1"/>
                </a:solidFill>
                <a:effectLst/>
              </a:rPr>
              <a:t>      </a:t>
            </a:r>
            <a:r>
              <a:rPr lang="en-US" sz="2600" dirty="0">
                <a:solidFill>
                  <a:schemeClr val="bg1"/>
                </a:solidFill>
                <a:effectLst/>
              </a:rPr>
              <a:t>return person =&gt; </a:t>
            </a:r>
            <a:r>
              <a:rPr lang="en-US" sz="2600" dirty="0" err="1">
                <a:solidFill>
                  <a:schemeClr val="bg1"/>
                </a:solidFill>
                <a:effectLst/>
              </a:rPr>
              <a:t>Console.WriteLine</a:t>
            </a:r>
            <a:r>
              <a:rPr lang="en-US" sz="2600" dirty="0">
                <a:solidFill>
                  <a:schemeClr val="bg1"/>
                </a:solidFill>
                <a:effectLst/>
              </a:rPr>
              <a:t>(</a:t>
            </a:r>
            <a:r>
              <a:rPr lang="en-US" sz="2600" dirty="0">
                <a:solidFill>
                  <a:srgbClr val="00B0F0"/>
                </a:solidFill>
                <a:effectLst/>
              </a:rPr>
              <a:t>$"{person.Key}"</a:t>
            </a:r>
            <a:r>
              <a:rPr lang="en-US" sz="2600" dirty="0">
                <a:solidFill>
                  <a:schemeClr val="bg1"/>
                </a:solidFill>
                <a:effectLst/>
              </a:rPr>
              <a:t>);</a:t>
            </a:r>
          </a:p>
          <a:p>
            <a:pPr>
              <a:lnSpc>
                <a:spcPct val="90000"/>
              </a:lnSpc>
            </a:pPr>
            <a:r>
              <a:rPr lang="en-US" sz="2600" dirty="0">
                <a:solidFill>
                  <a:schemeClr val="bg1"/>
                </a:solidFill>
                <a:effectLst/>
              </a:rPr>
              <a:t>   </a:t>
            </a:r>
            <a:r>
              <a:rPr lang="bg-BG" sz="2600" dirty="0">
                <a:solidFill>
                  <a:schemeClr val="bg1"/>
                </a:solidFill>
                <a:effectLst/>
              </a:rPr>
              <a:t> </a:t>
            </a:r>
            <a:r>
              <a:rPr lang="en-US" sz="2600" dirty="0">
                <a:solidFill>
                  <a:schemeClr val="bg1"/>
                </a:solidFill>
                <a:effectLst/>
              </a:rPr>
              <a:t>case "age":</a:t>
            </a:r>
          </a:p>
          <a:p>
            <a:pPr>
              <a:lnSpc>
                <a:spcPct val="90000"/>
              </a:lnSpc>
            </a:pPr>
            <a:r>
              <a:rPr lang="en-US" sz="2600" dirty="0">
                <a:solidFill>
                  <a:schemeClr val="bg1"/>
                </a:solidFill>
                <a:effectLst/>
              </a:rPr>
              <a:t>     </a:t>
            </a:r>
            <a:r>
              <a:rPr lang="bg-BG" sz="2600" dirty="0">
                <a:solidFill>
                  <a:schemeClr val="bg1"/>
                </a:solidFill>
                <a:effectLst/>
              </a:rPr>
              <a:t> </a:t>
            </a:r>
            <a:r>
              <a:rPr lang="en-US" sz="2600" dirty="0">
                <a:solidFill>
                  <a:schemeClr val="bg1"/>
                </a:solidFill>
                <a:effectLst/>
              </a:rPr>
              <a:t>return person =&gt; </a:t>
            </a:r>
            <a:r>
              <a:rPr lang="en-US" sz="2600" dirty="0" err="1">
                <a:solidFill>
                  <a:schemeClr val="bg1"/>
                </a:solidFill>
                <a:effectLst/>
              </a:rPr>
              <a:t>Console.WriteLine</a:t>
            </a:r>
            <a:r>
              <a:rPr lang="en-US" sz="2600" dirty="0">
                <a:solidFill>
                  <a:schemeClr val="bg1"/>
                </a:solidFill>
                <a:effectLst/>
              </a:rPr>
              <a:t>(</a:t>
            </a:r>
            <a:r>
              <a:rPr lang="en-US" sz="2600" dirty="0">
                <a:solidFill>
                  <a:srgbClr val="00B0F0"/>
                </a:solidFill>
                <a:effectLst/>
              </a:rPr>
              <a:t>$"{</a:t>
            </a:r>
            <a:r>
              <a:rPr lang="en-US" sz="2600" dirty="0" err="1">
                <a:solidFill>
                  <a:srgbClr val="00B0F0"/>
                </a:solidFill>
                <a:effectLst/>
              </a:rPr>
              <a:t>person.Value</a:t>
            </a:r>
            <a:r>
              <a:rPr lang="en-US" sz="2600" dirty="0">
                <a:solidFill>
                  <a:srgbClr val="00B0F0"/>
                </a:solidFill>
                <a:effectLst/>
              </a:rPr>
              <a:t>}"</a:t>
            </a:r>
            <a:r>
              <a:rPr lang="en-US" sz="2600" dirty="0">
                <a:solidFill>
                  <a:schemeClr val="bg1"/>
                </a:solidFill>
                <a:effectLst/>
              </a:rPr>
              <a:t>);</a:t>
            </a:r>
          </a:p>
          <a:p>
            <a:pPr>
              <a:lnSpc>
                <a:spcPct val="90000"/>
              </a:lnSpc>
            </a:pPr>
            <a:r>
              <a:rPr lang="bg-BG" sz="2600" dirty="0">
                <a:solidFill>
                  <a:schemeClr val="bg1"/>
                </a:solidFill>
                <a:effectLst/>
              </a:rPr>
              <a:t>    </a:t>
            </a:r>
            <a:r>
              <a:rPr lang="en-US" sz="2600" dirty="0">
                <a:solidFill>
                  <a:schemeClr val="bg1"/>
                </a:solidFill>
                <a:effectLst/>
              </a:rPr>
              <a:t>case "name age":</a:t>
            </a:r>
          </a:p>
          <a:p>
            <a:pPr>
              <a:lnSpc>
                <a:spcPct val="90000"/>
              </a:lnSpc>
            </a:pPr>
            <a:r>
              <a:rPr lang="en-US" sz="2600" dirty="0">
                <a:solidFill>
                  <a:schemeClr val="bg1"/>
                </a:solidFill>
                <a:effectLst/>
              </a:rPr>
              <a:t>     </a:t>
            </a:r>
            <a:r>
              <a:rPr lang="bg-BG" sz="2600" dirty="0">
                <a:solidFill>
                  <a:schemeClr val="bg1"/>
                </a:solidFill>
                <a:effectLst/>
              </a:rPr>
              <a:t> </a:t>
            </a:r>
            <a:r>
              <a:rPr lang="en-US" sz="2600" dirty="0">
                <a:solidFill>
                  <a:schemeClr val="bg1"/>
                </a:solidFill>
                <a:effectLst/>
              </a:rPr>
              <a:t>return person =&gt; </a:t>
            </a:r>
            <a:endParaRPr lang="bg-BG" sz="2600" dirty="0">
              <a:solidFill>
                <a:schemeClr val="bg1"/>
              </a:solidFill>
              <a:effectLst/>
            </a:endParaRPr>
          </a:p>
          <a:p>
            <a:pPr>
              <a:lnSpc>
                <a:spcPct val="90000"/>
              </a:lnSpc>
            </a:pPr>
            <a:r>
              <a:rPr lang="bg-BG" sz="2600" dirty="0">
                <a:solidFill>
                  <a:schemeClr val="bg1"/>
                </a:solidFill>
                <a:effectLst/>
              </a:rPr>
              <a:t>         </a:t>
            </a:r>
            <a:r>
              <a:rPr lang="en-US" sz="2600" dirty="0" err="1">
                <a:solidFill>
                  <a:schemeClr val="bg1"/>
                </a:solidFill>
                <a:effectLst/>
              </a:rPr>
              <a:t>Console.WriteLine</a:t>
            </a:r>
            <a:r>
              <a:rPr lang="en-US" sz="2600" dirty="0">
                <a:solidFill>
                  <a:schemeClr val="bg1"/>
                </a:solidFill>
                <a:effectLst/>
              </a:rPr>
              <a:t>(</a:t>
            </a:r>
            <a:r>
              <a:rPr lang="en-US" sz="2600" dirty="0">
                <a:solidFill>
                  <a:srgbClr val="00B0F0"/>
                </a:solidFill>
                <a:effectLst/>
              </a:rPr>
              <a:t>$"{</a:t>
            </a:r>
            <a:r>
              <a:rPr lang="en-US" sz="2600" dirty="0" err="1">
                <a:solidFill>
                  <a:srgbClr val="00B0F0"/>
                </a:solidFill>
                <a:effectLst/>
              </a:rPr>
              <a:t>person.Key</a:t>
            </a:r>
            <a:r>
              <a:rPr lang="en-US" sz="2600" dirty="0">
                <a:solidFill>
                  <a:srgbClr val="00B0F0"/>
                </a:solidFill>
                <a:effectLst/>
              </a:rPr>
              <a:t>} </a:t>
            </a:r>
            <a:r>
              <a:rPr lang="en-US" dirty="0">
                <a:solidFill>
                  <a:srgbClr val="00B0F0"/>
                </a:solidFill>
                <a:effectLst/>
              </a:rPr>
              <a:t>-</a:t>
            </a:r>
            <a:r>
              <a:rPr lang="en-US" sz="2600" dirty="0">
                <a:solidFill>
                  <a:srgbClr val="00B0F0"/>
                </a:solidFill>
                <a:effectLst/>
              </a:rPr>
              <a:t> {</a:t>
            </a:r>
            <a:r>
              <a:rPr lang="en-US" sz="2600" dirty="0" err="1">
                <a:solidFill>
                  <a:srgbClr val="00B0F0"/>
                </a:solidFill>
                <a:effectLst/>
              </a:rPr>
              <a:t>person.Value</a:t>
            </a:r>
            <a:r>
              <a:rPr lang="en-US" sz="2600" dirty="0">
                <a:solidFill>
                  <a:srgbClr val="00B0F0"/>
                </a:solidFill>
                <a:effectLst/>
              </a:rPr>
              <a:t>}</a:t>
            </a:r>
            <a:r>
              <a:rPr lang="en-US" sz="2600" dirty="0">
                <a:solidFill>
                  <a:schemeClr val="bg1"/>
                </a:solidFill>
                <a:effectLst/>
              </a:rPr>
              <a:t>");</a:t>
            </a:r>
          </a:p>
          <a:p>
            <a:pPr>
              <a:lnSpc>
                <a:spcPct val="90000"/>
              </a:lnSpc>
            </a:pPr>
            <a:r>
              <a:rPr lang="en-US" sz="2600" dirty="0">
                <a:solidFill>
                  <a:schemeClr val="bg1"/>
                </a:solidFill>
                <a:effectLst/>
              </a:rPr>
              <a:t>    default:</a:t>
            </a:r>
            <a:r>
              <a:rPr lang="bg-BG" sz="2600" dirty="0">
                <a:solidFill>
                  <a:schemeClr val="bg1"/>
                </a:solidFill>
                <a:effectLst/>
              </a:rPr>
              <a:t> </a:t>
            </a:r>
            <a:r>
              <a:rPr lang="en-US" sz="2600" dirty="0">
                <a:solidFill>
                  <a:schemeClr val="bg1"/>
                </a:solidFill>
                <a:effectLst/>
              </a:rPr>
              <a:t>return null;</a:t>
            </a:r>
          </a:p>
          <a:p>
            <a:pPr>
              <a:lnSpc>
                <a:spcPct val="90000"/>
              </a:lnSpc>
            </a:pPr>
            <a:r>
              <a:rPr lang="en-US" sz="2600" dirty="0">
                <a:solidFill>
                  <a:schemeClr val="bg1"/>
                </a:solidFill>
                <a:effectLst/>
              </a:rPr>
              <a:t>  }</a:t>
            </a:r>
          </a:p>
          <a:p>
            <a:pPr>
              <a:lnSpc>
                <a:spcPct val="90000"/>
              </a:lnSpc>
            </a:pPr>
            <a:r>
              <a:rPr lang="en-US" sz="2600" dirty="0">
                <a:solidFill>
                  <a:schemeClr val="bg1"/>
                </a:solidFill>
                <a:effectLst/>
              </a:rPr>
              <a:t>}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19035CCC-3E0B-4516-97B6-A0E57A1CD2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1218987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17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C315889A-DFB1-CDC7-C8AA-BC683D46D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999" y="62305"/>
            <a:ext cx="10942413" cy="1071790"/>
          </a:xfrm>
        </p:spPr>
        <p:txBody>
          <a:bodyPr>
            <a:normAutofit/>
          </a:bodyPr>
          <a:lstStyle/>
          <a:p>
            <a:r>
              <a:rPr lang="bg-BG" sz="3600" b="1" dirty="0">
                <a:latin typeface="Comfortaa" pitchFamily="2" charset="0"/>
              </a:rPr>
              <a:t>Решение</a:t>
            </a:r>
            <a:r>
              <a:rPr lang="en-US" sz="3600" b="1" dirty="0">
                <a:latin typeface="Comfortaa" pitchFamily="2" charset="0"/>
              </a:rPr>
              <a:t>: </a:t>
            </a:r>
            <a:r>
              <a:rPr lang="bg-BG" sz="3600" b="1" dirty="0">
                <a:latin typeface="Comfortaa" pitchFamily="2" charset="0"/>
              </a:rPr>
              <a:t>Филтриране по възраст </a:t>
            </a:r>
            <a:r>
              <a:rPr lang="en-US" sz="3600" b="1" dirty="0">
                <a:latin typeface="Comfortaa" pitchFamily="2" charset="0"/>
              </a:rPr>
              <a:t>[3/4]</a:t>
            </a:r>
          </a:p>
        </p:txBody>
      </p:sp>
    </p:spTree>
    <p:extLst>
      <p:ext uri="{BB962C8B-B14F-4D97-AF65-F5344CB8AC3E}">
        <p14:creationId xmlns:p14="http://schemas.microsoft.com/office/powerpoint/2010/main" val="10716420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 txBox="1">
            <a:spLocks/>
          </p:cNvSpPr>
          <p:nvPr/>
        </p:nvSpPr>
        <p:spPr>
          <a:xfrm>
            <a:off x="402497" y="1841525"/>
            <a:ext cx="11220478" cy="346939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144000" tIns="72000" rIns="144000" bIns="72000" rtlCol="0" anchor="t" anchorCtr="0">
            <a:sp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  <a:effectLst/>
              </a:rPr>
              <a:t>public static void </a:t>
            </a:r>
            <a:r>
              <a:rPr lang="en-US" sz="2400" dirty="0" err="1">
                <a:solidFill>
                  <a:schemeClr val="bg1"/>
                </a:solidFill>
                <a:effectLst/>
              </a:rPr>
              <a:t>PrintFilteredStudent</a:t>
            </a:r>
            <a:r>
              <a:rPr lang="en-US" sz="2400" dirty="0">
                <a:solidFill>
                  <a:schemeClr val="bg1"/>
                </a:solidFill>
                <a:effectLst/>
              </a:rPr>
              <a:t>(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  <a:effectLst/>
              </a:rPr>
              <a:t>   Dictionary&lt;string, </a:t>
            </a:r>
            <a:r>
              <a:rPr lang="en-US" sz="2400" dirty="0" err="1">
                <a:solidFill>
                  <a:schemeClr val="bg1"/>
                </a:solidFill>
                <a:effectLst/>
              </a:rPr>
              <a:t>int</a:t>
            </a:r>
            <a:r>
              <a:rPr lang="en-US" sz="2400" dirty="0">
                <a:solidFill>
                  <a:schemeClr val="bg1"/>
                </a:solidFill>
                <a:effectLst/>
              </a:rPr>
              <a:t>&gt; people, 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  <a:effectLst/>
              </a:rPr>
              <a:t>   </a:t>
            </a:r>
            <a:r>
              <a:rPr lang="en-US" sz="2400" dirty="0" err="1">
                <a:solidFill>
                  <a:schemeClr val="bg1"/>
                </a:solidFill>
                <a:effectLst/>
              </a:rPr>
              <a:t>Func</a:t>
            </a:r>
            <a:r>
              <a:rPr lang="en-US" sz="2400" dirty="0">
                <a:solidFill>
                  <a:schemeClr val="bg1"/>
                </a:solidFill>
                <a:effectLst/>
              </a:rPr>
              <a:t>&lt;</a:t>
            </a:r>
            <a:r>
              <a:rPr lang="en-US" sz="2400" dirty="0" err="1">
                <a:solidFill>
                  <a:schemeClr val="bg1"/>
                </a:solidFill>
                <a:effectLst/>
              </a:rPr>
              <a:t>int</a:t>
            </a:r>
            <a:r>
              <a:rPr lang="en-US" sz="2400" dirty="0">
                <a:solidFill>
                  <a:schemeClr val="bg1"/>
                </a:solidFill>
                <a:effectLst/>
              </a:rPr>
              <a:t>, </a:t>
            </a:r>
            <a:r>
              <a:rPr lang="en-US" sz="2400" dirty="0" err="1">
                <a:solidFill>
                  <a:schemeClr val="bg1"/>
                </a:solidFill>
                <a:effectLst/>
              </a:rPr>
              <a:t>bool</a:t>
            </a:r>
            <a:r>
              <a:rPr lang="en-US" sz="2400" dirty="0">
                <a:solidFill>
                  <a:schemeClr val="bg1"/>
                </a:solidFill>
                <a:effectLst/>
              </a:rPr>
              <a:t>&gt; tester,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  <a:effectLst/>
              </a:rPr>
              <a:t>   Action&lt;</a:t>
            </a:r>
            <a:r>
              <a:rPr lang="en-US" sz="2400" dirty="0" err="1">
                <a:solidFill>
                  <a:schemeClr val="bg1"/>
                </a:solidFill>
                <a:effectLst/>
              </a:rPr>
              <a:t>KeyValuePair</a:t>
            </a:r>
            <a:r>
              <a:rPr lang="en-US" sz="2400" dirty="0">
                <a:solidFill>
                  <a:schemeClr val="bg1"/>
                </a:solidFill>
                <a:effectLst/>
              </a:rPr>
              <a:t>&lt;string, </a:t>
            </a:r>
            <a:r>
              <a:rPr lang="en-US" sz="2400" dirty="0" err="1">
                <a:solidFill>
                  <a:schemeClr val="bg1"/>
                </a:solidFill>
                <a:effectLst/>
              </a:rPr>
              <a:t>int</a:t>
            </a:r>
            <a:r>
              <a:rPr lang="en-US" sz="2400" dirty="0">
                <a:solidFill>
                  <a:schemeClr val="bg1"/>
                </a:solidFill>
                <a:effectLst/>
              </a:rPr>
              <a:t>&gt;&gt; printer) 			</a:t>
            </a:r>
            <a:r>
              <a:rPr lang="bg-BG" sz="2400" dirty="0">
                <a:solidFill>
                  <a:schemeClr val="bg1"/>
                </a:solidFill>
                <a:effectLst/>
              </a:rPr>
              <a:t> </a:t>
            </a:r>
            <a:endParaRPr lang="en-US" sz="2400" dirty="0">
              <a:solidFill>
                <a:schemeClr val="bg1"/>
              </a:solidFill>
              <a:effectLst/>
            </a:endParaRPr>
          </a:p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  <a:effectLst/>
              </a:rPr>
              <a:t>{</a:t>
            </a:r>
            <a:endParaRPr lang="bg-BG" sz="2400" dirty="0">
              <a:solidFill>
                <a:schemeClr val="bg1"/>
              </a:solidFill>
              <a:effectLst/>
            </a:endParaRPr>
          </a:p>
          <a:p>
            <a:pPr>
              <a:lnSpc>
                <a:spcPct val="90000"/>
              </a:lnSpc>
            </a:pPr>
            <a:r>
              <a:rPr lang="bg-BG" sz="2400" dirty="0">
                <a:solidFill>
                  <a:schemeClr val="bg1"/>
                </a:solidFill>
                <a:effectLst/>
              </a:rPr>
              <a:t>  </a:t>
            </a:r>
            <a:r>
              <a:rPr lang="en-US" sz="2400" dirty="0">
                <a:solidFill>
                  <a:schemeClr val="bg1"/>
                </a:solidFill>
                <a:effectLst/>
              </a:rPr>
              <a:t>foreach (var person in people)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  <a:effectLst/>
              </a:rPr>
              <a:t>  </a:t>
            </a:r>
            <a:r>
              <a:rPr lang="bg-BG" sz="2400" dirty="0">
                <a:solidFill>
                  <a:schemeClr val="bg1"/>
                </a:solidFill>
                <a:effectLst/>
              </a:rPr>
              <a:t>  </a:t>
            </a:r>
            <a:r>
              <a:rPr lang="en-US" sz="2400" dirty="0">
                <a:solidFill>
                  <a:schemeClr val="bg1"/>
                </a:solidFill>
                <a:effectLst/>
              </a:rPr>
              <a:t>if (tester(</a:t>
            </a:r>
            <a:r>
              <a:rPr lang="en-US" sz="2400" dirty="0" err="1">
                <a:solidFill>
                  <a:schemeClr val="bg1"/>
                </a:solidFill>
                <a:effectLst/>
              </a:rPr>
              <a:t>person.Value</a:t>
            </a:r>
            <a:r>
              <a:rPr lang="en-US" sz="2400" dirty="0">
                <a:solidFill>
                  <a:schemeClr val="bg1"/>
                </a:solidFill>
                <a:effectLst/>
              </a:rPr>
              <a:t>))</a:t>
            </a:r>
          </a:p>
          <a:p>
            <a:pPr>
              <a:lnSpc>
                <a:spcPct val="90000"/>
              </a:lnSpc>
            </a:pPr>
            <a:r>
              <a:rPr lang="bg-BG" sz="2400" dirty="0">
                <a:solidFill>
                  <a:schemeClr val="bg1"/>
                </a:solidFill>
                <a:effectLst/>
              </a:rPr>
              <a:t>      </a:t>
            </a:r>
            <a:r>
              <a:rPr lang="en-US" sz="2400" dirty="0">
                <a:solidFill>
                  <a:schemeClr val="bg1"/>
                </a:solidFill>
                <a:effectLst/>
              </a:rPr>
              <a:t>printer(person);</a:t>
            </a:r>
          </a:p>
          <a:p>
            <a:pPr>
              <a:lnSpc>
                <a:spcPct val="90000"/>
              </a:lnSpc>
            </a:pPr>
            <a:endParaRPr lang="bg-BG" sz="2400" dirty="0">
              <a:solidFill>
                <a:schemeClr val="bg1"/>
              </a:solidFill>
              <a:effectLst/>
            </a:endParaRPr>
          </a:p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  <a:effectLst/>
              </a:rPr>
              <a:t>}</a:t>
            </a: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1760024" y="5459361"/>
            <a:ext cx="6996545" cy="1069916"/>
          </a:xfrm>
          <a:prstGeom prst="wedgeRoundRectCallout">
            <a:avLst>
              <a:gd name="adj1" fmla="val -44330"/>
              <a:gd name="adj2" fmla="val -132111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dirty="0">
                <a:solidFill>
                  <a:schemeClr val="bg1"/>
                </a:solidFill>
                <a:latin typeface="Comfortaa" pitchFamily="2" charset="0"/>
              </a:rPr>
              <a:t>и ако отговаря се </a:t>
            </a:r>
            <a:r>
              <a:rPr lang="bg-BG" b="1" dirty="0">
                <a:solidFill>
                  <a:schemeClr val="tx1"/>
                </a:solidFill>
                <a:latin typeface="Comfortaa" pitchFamily="2" charset="0"/>
              </a:rPr>
              <a:t>извежда</a:t>
            </a:r>
            <a:r>
              <a:rPr lang="bg-BG" dirty="0">
                <a:solidFill>
                  <a:schemeClr val="bg1"/>
                </a:solidFill>
                <a:latin typeface="Comfortaa" pitchFamily="2" charset="0"/>
              </a:rPr>
              <a:t> информация, подредена в реда, указан от </a:t>
            </a:r>
            <a:r>
              <a:rPr lang="bg-BG" b="1" dirty="0">
                <a:solidFill>
                  <a:schemeClr val="tx1"/>
                </a:solidFill>
                <a:latin typeface="Comfortaa" pitchFamily="2" charset="0"/>
              </a:rPr>
              <a:t>формата</a:t>
            </a:r>
            <a:endParaRPr lang="bg-BG" sz="1200" b="1" dirty="0">
              <a:solidFill>
                <a:schemeClr val="tx1"/>
              </a:solidFill>
              <a:latin typeface="Comfortaa" pitchFamily="2" charset="0"/>
            </a:endParaRPr>
          </a:p>
        </p:txBody>
      </p:sp>
      <p:sp>
        <p:nvSpPr>
          <p:cNvPr id="9" name="AutoShape 5"/>
          <p:cNvSpPr>
            <a:spLocks noChangeArrowheads="1"/>
          </p:cNvSpPr>
          <p:nvPr/>
        </p:nvSpPr>
        <p:spPr bwMode="auto">
          <a:xfrm>
            <a:off x="7548009" y="3665508"/>
            <a:ext cx="3429000" cy="1452438"/>
          </a:xfrm>
          <a:prstGeom prst="wedgeRoundRectCallout">
            <a:avLst>
              <a:gd name="adj1" fmla="val -106887"/>
              <a:gd name="adj2" fmla="val -24145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dirty="0">
                <a:solidFill>
                  <a:schemeClr val="bg1"/>
                </a:solidFill>
                <a:latin typeface="Comfortaa" pitchFamily="2" charset="0"/>
              </a:rPr>
              <a:t>се проверява от </a:t>
            </a:r>
            <a:r>
              <a:rPr lang="en-US" dirty="0">
                <a:solidFill>
                  <a:schemeClr val="bg1"/>
                </a:solidFill>
                <a:latin typeface="Comfortaa" pitchFamily="2" charset="0"/>
              </a:rPr>
              <a:t>tester </a:t>
            </a:r>
            <a:r>
              <a:rPr lang="bg-BG" dirty="0">
                <a:solidFill>
                  <a:schemeClr val="bg1"/>
                </a:solidFill>
                <a:latin typeface="Comfortaa" pitchFamily="2" charset="0"/>
              </a:rPr>
              <a:t>дали отговаря на </a:t>
            </a:r>
            <a:r>
              <a:rPr lang="en-US" b="1" dirty="0">
                <a:solidFill>
                  <a:schemeClr val="tx1"/>
                </a:solidFill>
                <a:latin typeface="Comfortaa" pitchFamily="2" charset="0"/>
              </a:rPr>
              <a:t>condition</a:t>
            </a:r>
            <a:endParaRPr lang="bg-BG" sz="1200" b="1" dirty="0">
              <a:solidFill>
                <a:schemeClr val="tx1"/>
              </a:solidFill>
              <a:latin typeface="Comfortaa" pitchFamily="2" charset="0"/>
            </a:endParaRPr>
          </a:p>
        </p:txBody>
      </p:sp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7674241" y="1419103"/>
            <a:ext cx="4314811" cy="1452438"/>
          </a:xfrm>
          <a:prstGeom prst="wedgeRoundRectCallout">
            <a:avLst>
              <a:gd name="adj1" fmla="val -86671"/>
              <a:gd name="adj2" fmla="val 110023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dirty="0">
                <a:solidFill>
                  <a:schemeClr val="bg1"/>
                </a:solidFill>
                <a:latin typeface="Comfortaa" pitchFamily="2" charset="0"/>
              </a:rPr>
              <a:t>За </a:t>
            </a:r>
            <a:r>
              <a:rPr lang="bg-BG" b="1" dirty="0">
                <a:solidFill>
                  <a:schemeClr val="tx1"/>
                </a:solidFill>
                <a:latin typeface="Comfortaa" pitchFamily="2" charset="0"/>
              </a:rPr>
              <a:t>всеки</a:t>
            </a:r>
            <a:r>
              <a:rPr lang="bg-BG" dirty="0">
                <a:solidFill>
                  <a:schemeClr val="bg1"/>
                </a:solidFill>
                <a:latin typeface="Comfortaa" pitchFamily="2" charset="0"/>
              </a:rPr>
              <a:t> човек в речника с преварително определения </a:t>
            </a:r>
            <a:r>
              <a:rPr lang="en-US" b="1" dirty="0">
                <a:solidFill>
                  <a:schemeClr val="tx1"/>
                </a:solidFill>
                <a:latin typeface="Comfortaa" pitchFamily="2" charset="0"/>
              </a:rPr>
              <a:t>tester</a:t>
            </a:r>
            <a:endParaRPr lang="bg-BG" sz="1200" b="1" dirty="0">
              <a:solidFill>
                <a:schemeClr val="tx1"/>
              </a:solidFill>
              <a:latin typeface="Comfortaa" pitchFamily="2" charset="0"/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41C1B828-5E48-6B35-BA4A-A1F3E8D25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999" y="347313"/>
            <a:ext cx="10942413" cy="1071790"/>
          </a:xfrm>
        </p:spPr>
        <p:txBody>
          <a:bodyPr>
            <a:normAutofit/>
          </a:bodyPr>
          <a:lstStyle/>
          <a:p>
            <a:r>
              <a:rPr lang="bg-BG" sz="3600" b="1" dirty="0">
                <a:latin typeface="Comfortaa" pitchFamily="2" charset="0"/>
              </a:rPr>
              <a:t>Решение</a:t>
            </a:r>
            <a:r>
              <a:rPr lang="en-US" sz="3600" b="1" dirty="0">
                <a:latin typeface="Comfortaa" pitchFamily="2" charset="0"/>
              </a:rPr>
              <a:t>: </a:t>
            </a:r>
            <a:r>
              <a:rPr lang="bg-BG" sz="3600" b="1" dirty="0">
                <a:latin typeface="Comfortaa" pitchFamily="2" charset="0"/>
              </a:rPr>
              <a:t>Филтриране по възраст </a:t>
            </a:r>
            <a:r>
              <a:rPr lang="en-US" sz="3600" b="1" dirty="0">
                <a:latin typeface="Comfortaa" pitchFamily="2" charset="0"/>
              </a:rPr>
              <a:t>[4/4]</a:t>
            </a:r>
          </a:p>
        </p:txBody>
      </p:sp>
    </p:spTree>
    <p:extLst>
      <p:ext uri="{BB962C8B-B14F-4D97-AF65-F5344CB8AC3E}">
        <p14:creationId xmlns:p14="http://schemas.microsoft.com/office/powerpoint/2010/main" val="1224988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636817"/>
            <a:ext cx="10568049" cy="4728357"/>
          </a:xfrm>
        </p:spPr>
        <p:txBody>
          <a:bodyPr>
            <a:noAutofit/>
          </a:bodyPr>
          <a:lstStyle/>
          <a:p>
            <a:pPr>
              <a:lnSpc>
                <a:spcPct val="95000"/>
              </a:lnSpc>
            </a:pP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Action&lt;T&gt; </a:t>
            </a:r>
            <a:r>
              <a:rPr lang="bg-BG" dirty="0">
                <a:latin typeface="Comfortaa" pitchFamily="2" charset="0"/>
              </a:rPr>
              <a:t>е функция, която не връща резултат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95000"/>
              </a:lnSpc>
            </a:pP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Func&lt;T, TResult&gt; </a:t>
            </a:r>
            <a:r>
              <a:rPr lang="bg-BG" dirty="0">
                <a:latin typeface="Comfortaa" pitchFamily="2" charset="0"/>
              </a:rPr>
              <a:t>е функция, която връща резултат от тип </a:t>
            </a:r>
            <a:r>
              <a:rPr lang="en-US" dirty="0" err="1">
                <a:latin typeface="Comfortaa" pitchFamily="2" charset="0"/>
              </a:rPr>
              <a:t>Tresult</a:t>
            </a:r>
            <a:endParaRPr lang="bg-BG" dirty="0">
              <a:latin typeface="Comfortaa" pitchFamily="2" charset="0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en-US" b="1" dirty="0" err="1">
                <a:solidFill>
                  <a:srgbClr val="00B0F0"/>
                </a:solidFill>
                <a:latin typeface="Comfortaa" pitchFamily="2" charset="0"/>
              </a:rPr>
              <a:t>Func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&lt;T, </a:t>
            </a:r>
            <a:r>
              <a:rPr lang="en-US" b="1" dirty="0" err="1">
                <a:solidFill>
                  <a:srgbClr val="00B0F0"/>
                </a:solidFill>
                <a:latin typeface="Comfortaa" pitchFamily="2" charset="0"/>
              </a:rPr>
              <a:t>TResult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&gt; </a:t>
            </a:r>
            <a:r>
              <a:rPr lang="bg-BG" dirty="0">
                <a:latin typeface="Comfortaa" pitchFamily="2" charset="0"/>
              </a:rPr>
              <a:t>и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Action&lt;T&gt;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може да се предават като параметри на метод</a:t>
            </a:r>
            <a:r>
              <a:rPr lang="en-US" dirty="0">
                <a:latin typeface="Comfortaa" pitchFamily="2" charset="0"/>
              </a:rPr>
              <a:t>.</a:t>
            </a:r>
            <a:endParaRPr lang="bg-BG" dirty="0">
              <a:latin typeface="Comfortaa" pitchFamily="2" charset="0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bg-BG" dirty="0">
                <a:latin typeface="Comfortaa" pitchFamily="2" charset="0"/>
              </a:rPr>
              <a:t>Реализират се чрез делегати.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bg-BG" dirty="0">
                <a:latin typeface="Comfortaa" pitchFamily="2" charset="0"/>
              </a:rPr>
              <a:t>С тази технология можем да направим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кода динамичен</a:t>
            </a:r>
            <a:r>
              <a:rPr lang="bg-BG" b="1" dirty="0">
                <a:latin typeface="Comfortaa" pitchFamily="2" charset="0"/>
              </a:rPr>
              <a:t>. </a:t>
            </a:r>
          </a:p>
          <a:p>
            <a:pPr marL="358775" indent="-358775">
              <a:lnSpc>
                <a:spcPct val="95000"/>
              </a:lnSpc>
            </a:pPr>
            <a:endParaRPr lang="en-US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Какво научихме?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17655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2" name="Logo CC-BY-NC-SA">
            <a:hlinkClick r:id="rId5"/>
            <a:extLst>
              <a:ext uri="{FF2B5EF4-FFF2-40B4-BE49-F238E27FC236}">
                <a16:creationId xmlns:a16="http://schemas.microsoft.com/office/drawing/2014/main" id="{39F87C09-7AAD-A59F-33F5-8BECE165CB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7447" y="2650021"/>
            <a:ext cx="4017104" cy="14408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DBEA407-2EEF-D82D-ADB6-D20902F79FA2}"/>
              </a:ext>
            </a:extLst>
          </p:cNvPr>
          <p:cNvSpPr txBox="1"/>
          <p:nvPr/>
        </p:nvSpPr>
        <p:spPr>
          <a:xfrm>
            <a:off x="262246" y="5452243"/>
            <a:ext cx="116675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bg-BG" sz="1800" dirty="0">
                <a:latin typeface="Comfortaa" pitchFamily="2" charset="0"/>
              </a:rPr>
              <a:t>Документът е разработен за нуждите на Национална програма "Обучение за ИТ умения и кариера" на Министерството на образованието и науката (МОН)</a:t>
            </a:r>
            <a:r>
              <a:rPr lang="en-US" sz="1800" dirty="0">
                <a:latin typeface="Comfortaa" pitchFamily="2" charset="0"/>
              </a:rPr>
              <a:t> </a:t>
            </a:r>
            <a:r>
              <a:rPr lang="bg-BG" sz="1800" dirty="0">
                <a:latin typeface="Comfortaa" pitchFamily="2" charset="0"/>
              </a:rPr>
              <a:t>и се разпространява под свободен лиценз CC-BY-NC-SA (</a:t>
            </a:r>
            <a:r>
              <a:rPr lang="bg-BG" sz="1800" dirty="0" err="1">
                <a:latin typeface="Comfortaa" pitchFamily="2" charset="0"/>
              </a:rPr>
              <a:t>Creative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Commons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Attribution-Non-Commercial-Share-Alike</a:t>
            </a:r>
            <a:r>
              <a:rPr lang="bg-BG" sz="1800" dirty="0">
                <a:latin typeface="Comfortaa" pitchFamily="2" charset="0"/>
              </a:rPr>
              <a:t> 4.0 International).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241344677"/>
      </p:ext>
    </p:extLst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77240"/>
          </a:xfrm>
          <a:prstGeom prst="rect">
            <a:avLst/>
          </a:prstGeom>
          <a:solidFill>
            <a:srgbClr val="1F497D"/>
          </a:solidFill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Защо делегати? — Мотивация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70432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F1F1F"/>
                </a:solidFill>
              </a:rPr>
              <a:t>Проблем: метод, чието поведение трябва да е различно при различни извиквания.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74519"/>
            <a:ext cx="5394960" cy="411480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r>
              <a:rPr sz="1600">
                <a:solidFill>
                  <a:srgbClr val="008000"/>
                </a:solidFill>
                <a:latin typeface="Courier New"/>
              </a:rPr>
              <a:t>// БЕЗ делегати — дублиран код</a:t>
            </a:r>
          </a:p>
          <a:p>
            <a:r>
              <a:rPr sz="1600">
                <a:latin typeface="Courier New"/>
              </a:rPr>
              <a:t>void PrintAsc(int[] arr)</a:t>
            </a:r>
          </a:p>
          <a:p>
            <a:r>
              <a:rPr sz="1600">
                <a:latin typeface="Courier New"/>
              </a:rPr>
              <a:t>{</a:t>
            </a:r>
          </a:p>
          <a:p>
            <a:r>
              <a:rPr sz="1600">
                <a:latin typeface="Courier New"/>
              </a:rPr>
              <a:t>    foreach (var x in arr.OrderBy(x =&gt; x))</a:t>
            </a:r>
          </a:p>
          <a:p>
            <a:r>
              <a:rPr sz="1600">
                <a:latin typeface="Courier New"/>
              </a:rPr>
              <a:t>        Console.WriteLine(x);</a:t>
            </a:r>
          </a:p>
          <a:p>
            <a:r>
              <a:rPr sz="1600">
                <a:latin typeface="Courier New"/>
              </a:rPr>
              <a:t>}</a:t>
            </a:r>
          </a:p>
          <a:p>
            <a:r>
              <a:rPr sz="1600">
                <a:latin typeface="Courier New"/>
              </a:rPr>
              <a:t>void PrintDesc(int[] arr)</a:t>
            </a:r>
          </a:p>
          <a:p>
            <a:r>
              <a:rPr sz="1600">
                <a:latin typeface="Courier New"/>
              </a:rPr>
              <a:t>{</a:t>
            </a:r>
          </a:p>
          <a:p>
            <a:r>
              <a:rPr sz="1600">
                <a:latin typeface="Courier New"/>
              </a:rPr>
              <a:t>    foreach (var x in arr.OrderByDescending(x =&gt; x))</a:t>
            </a:r>
          </a:p>
          <a:p>
            <a:r>
              <a:rPr sz="1600">
                <a:latin typeface="Courier New"/>
              </a:rPr>
              <a:t>        Console.WriteLine(x);</a:t>
            </a:r>
          </a:p>
          <a:p>
            <a:r>
              <a:rPr sz="1600">
                <a:latin typeface="Courier New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1874519"/>
            <a:ext cx="5394960" cy="411480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r>
              <a:rPr sz="1600">
                <a:solidFill>
                  <a:srgbClr val="008000"/>
                </a:solidFill>
                <a:latin typeface="Courier New"/>
              </a:rPr>
              <a:t>// С делегат — един гъвкав метод</a:t>
            </a:r>
          </a:p>
          <a:p>
            <a:r>
              <a:rPr sz="1600">
                <a:latin typeface="Courier New"/>
              </a:rPr>
              <a:t>void Print(int[] arr, </a:t>
            </a:r>
            <a:r>
              <a:rPr sz="1600">
                <a:solidFill>
                  <a:srgbClr val="00B0F0"/>
                </a:solidFill>
                <a:latin typeface="Courier New"/>
              </a:rPr>
              <a:t>Func&lt;int,int&gt;</a:t>
            </a:r>
            <a:r>
              <a:rPr sz="1600">
                <a:latin typeface="Courier New"/>
              </a:rPr>
              <a:t> key)</a:t>
            </a:r>
          </a:p>
          <a:p>
            <a:r>
              <a:rPr sz="1600">
                <a:latin typeface="Courier New"/>
              </a:rPr>
              <a:t>{</a:t>
            </a:r>
          </a:p>
          <a:p>
            <a:r>
              <a:rPr sz="1600">
                <a:latin typeface="Courier New"/>
              </a:rPr>
              <a:t>    foreach (var x in arr.</a:t>
            </a:r>
            <a:r>
              <a:rPr sz="1600">
                <a:solidFill>
                  <a:srgbClr val="00B0F0"/>
                </a:solidFill>
                <a:latin typeface="Courier New"/>
              </a:rPr>
              <a:t>OrderBy</a:t>
            </a:r>
            <a:r>
              <a:rPr sz="1600">
                <a:latin typeface="Courier New"/>
              </a:rPr>
              <a:t>(key))</a:t>
            </a:r>
          </a:p>
          <a:p>
            <a:r>
              <a:rPr sz="1600">
                <a:latin typeface="Courier New"/>
              </a:rPr>
              <a:t>        Console.WriteLine(x);</a:t>
            </a:r>
          </a:p>
          <a:p>
            <a:r>
              <a:rPr sz="1600">
                <a:latin typeface="Courier New"/>
              </a:rPr>
              <a:t>}</a:t>
            </a:r>
          </a:p>
          <a:p>
            <a:r>
              <a:rPr sz="1600">
                <a:latin typeface="Courier New"/>
              </a:rPr>
              <a:t/>
            </a:r>
          </a:p>
          <a:p>
            <a:r>
              <a:rPr sz="1600">
                <a:solidFill>
                  <a:srgbClr val="008000"/>
                </a:solidFill>
                <a:latin typeface="Courier New"/>
              </a:rPr>
              <a:t>// Извикваме с различна логика:</a:t>
            </a:r>
          </a:p>
          <a:p>
            <a:r>
              <a:rPr sz="1600">
                <a:latin typeface="Courier New"/>
              </a:rPr>
              <a:t>Print(arr, x =&gt; x);        // нарастващо</a:t>
            </a:r>
          </a:p>
          <a:p>
            <a:r>
              <a:rPr sz="1600">
                <a:latin typeface="Courier New"/>
              </a:rPr>
              <a:t>Print(arr, x =&gt; -x);       // намаляващо</a:t>
            </a:r>
          </a:p>
          <a:p>
            <a:r>
              <a:rPr sz="1600">
                <a:latin typeface="Courier New"/>
              </a:rPr>
              <a:t>Print(arr, x =&gt; x % 10);   // по последна цифра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77240"/>
          </a:xfrm>
          <a:prstGeom prst="rect">
            <a:avLst/>
          </a:prstGeom>
          <a:solidFill>
            <a:srgbClr val="1F497D"/>
          </a:solidFill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Func с множество параметри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70432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F1F1F"/>
                </a:solidFill>
              </a:rPr>
              <a:t>Func може да приема до 15 входни параметъра. Последният тип ВИНАГИ е изходният.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74552" cy="420624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r>
              <a:rPr sz="1700">
                <a:solidFill>
                  <a:srgbClr val="008000"/>
                </a:solidFill>
                <a:latin typeface="Courier New"/>
              </a:rPr>
              <a:t>// Func&lt;TIn, TOut&gt;  — 1 вход, 1 изход</a:t>
            </a:r>
          </a:p>
          <a:p>
            <a:r>
              <a:rPr sz="1700">
                <a:latin typeface="Courier New"/>
              </a:rPr>
              <a:t>Func&lt;int, string&gt; toString = n =&gt; n.</a:t>
            </a:r>
            <a:r>
              <a:rPr sz="1700">
                <a:solidFill>
                  <a:srgbClr val="00B0F0"/>
                </a:solidFill>
                <a:latin typeface="Courier New"/>
              </a:rPr>
              <a:t>ToString</a:t>
            </a:r>
            <a:r>
              <a:rPr sz="1700">
                <a:latin typeface="Courier New"/>
              </a:rPr>
              <a:t>();</a:t>
            </a:r>
          </a:p>
          <a:p>
            <a:r>
              <a:rPr sz="1700">
                <a:latin typeface="Courier New"/>
              </a:rPr>
              <a:t/>
            </a:r>
          </a:p>
          <a:p>
            <a:r>
              <a:rPr sz="1700">
                <a:solidFill>
                  <a:srgbClr val="008000"/>
                </a:solidFill>
                <a:latin typeface="Courier New"/>
              </a:rPr>
              <a:t>// Func&lt;T1, T2, TOut&gt;  — 2 входа, 1 изход</a:t>
            </a:r>
          </a:p>
          <a:p>
            <a:r>
              <a:rPr sz="1700">
                <a:latin typeface="Courier New"/>
              </a:rPr>
              <a:t>Func&lt;int, int, int&gt; add      = (a, b) =&gt; a + b;</a:t>
            </a:r>
          </a:p>
          <a:p>
            <a:r>
              <a:rPr sz="1700">
                <a:latin typeface="Courier New"/>
              </a:rPr>
              <a:t>Func&lt;int, int, int&gt; multiply = (a, b) =&gt; a * b;</a:t>
            </a:r>
          </a:p>
          <a:p>
            <a:r>
              <a:rPr sz="1700">
                <a:latin typeface="Courier New"/>
              </a:rPr>
              <a:t>Func&lt;int, int, int&gt; power    = (base_, exp) =&gt; (int)Math.</a:t>
            </a:r>
            <a:r>
              <a:rPr sz="1700">
                <a:solidFill>
                  <a:srgbClr val="00B0F0"/>
                </a:solidFill>
                <a:latin typeface="Courier New"/>
              </a:rPr>
              <a:t>Pow</a:t>
            </a:r>
            <a:r>
              <a:rPr sz="1700">
                <a:latin typeface="Courier New"/>
              </a:rPr>
              <a:t>(base_, exp);</a:t>
            </a:r>
          </a:p>
          <a:p>
            <a:r>
              <a:rPr sz="1700">
                <a:latin typeface="Courier New"/>
              </a:rPr>
              <a:t/>
            </a:r>
          </a:p>
          <a:p>
            <a:r>
              <a:rPr sz="1700">
                <a:latin typeface="Courier New"/>
              </a:rPr>
              <a:t>Console.</a:t>
            </a:r>
            <a:r>
              <a:rPr sz="1700">
                <a:solidFill>
                  <a:srgbClr val="00B0F0"/>
                </a:solidFill>
                <a:latin typeface="Courier New"/>
              </a:rPr>
              <a:t>WriteLine</a:t>
            </a:r>
            <a:r>
              <a:rPr sz="1700">
                <a:latin typeface="Courier New"/>
              </a:rPr>
              <a:t>(add(3, 4));      </a:t>
            </a:r>
            <a:r>
              <a:rPr sz="1700">
                <a:solidFill>
                  <a:srgbClr val="008000"/>
                </a:solidFill>
                <a:latin typeface="Courier New"/>
              </a:rPr>
              <a:t>// 7</a:t>
            </a:r>
          </a:p>
          <a:p>
            <a:r>
              <a:rPr sz="1700">
                <a:latin typeface="Courier New"/>
              </a:rPr>
              <a:t>Console.</a:t>
            </a:r>
            <a:r>
              <a:rPr sz="1700">
                <a:solidFill>
                  <a:srgbClr val="00B0F0"/>
                </a:solidFill>
                <a:latin typeface="Courier New"/>
              </a:rPr>
              <a:t>WriteLine</a:t>
            </a:r>
            <a:r>
              <a:rPr sz="1700">
                <a:latin typeface="Courier New"/>
              </a:rPr>
              <a:t>(multiply(3, 4)); </a:t>
            </a:r>
            <a:r>
              <a:rPr sz="1700">
                <a:solidFill>
                  <a:srgbClr val="008000"/>
                </a:solidFill>
                <a:latin typeface="Courier New"/>
              </a:rPr>
              <a:t>// 12</a:t>
            </a:r>
          </a:p>
          <a:p>
            <a:r>
              <a:rPr sz="1700">
                <a:latin typeface="Courier New"/>
              </a:rPr>
              <a:t>Console.</a:t>
            </a:r>
            <a:r>
              <a:rPr sz="1700">
                <a:solidFill>
                  <a:srgbClr val="00B0F0"/>
                </a:solidFill>
                <a:latin typeface="Courier New"/>
              </a:rPr>
              <a:t>WriteLine</a:t>
            </a:r>
            <a:r>
              <a:rPr sz="1700">
                <a:latin typeface="Courier New"/>
              </a:rPr>
              <a:t>(power(2, 8));    </a:t>
            </a:r>
            <a:r>
              <a:rPr sz="1700">
                <a:solidFill>
                  <a:srgbClr val="008000"/>
                </a:solidFill>
                <a:latin typeface="Courier New"/>
              </a:rPr>
              <a:t>// 256</a:t>
            </a:r>
          </a:p>
          <a:p>
            <a:r>
              <a:rPr sz="1700">
                <a:latin typeface="Courier New"/>
              </a:rPr>
              <a:t/>
            </a:r>
          </a:p>
          <a:p>
            <a:r>
              <a:rPr sz="1700">
                <a:solidFill>
                  <a:srgbClr val="008000"/>
                </a:solidFill>
                <a:latin typeface="Courier New"/>
              </a:rPr>
              <a:t>// Func&lt;string, string, bool&gt;  — сравняване на низове</a:t>
            </a:r>
          </a:p>
          <a:p>
            <a:r>
              <a:rPr sz="1700">
                <a:latin typeface="Courier New"/>
              </a:rPr>
              <a:t>Func&lt;string, string, bool&gt; contains = (text, word) =&gt; text.</a:t>
            </a:r>
            <a:r>
              <a:rPr sz="1700">
                <a:solidFill>
                  <a:srgbClr val="00B0F0"/>
                </a:solidFill>
                <a:latin typeface="Courier New"/>
              </a:rPr>
              <a:t>Contains</a:t>
            </a:r>
            <a:r>
              <a:rPr sz="1700">
                <a:latin typeface="Courier New"/>
              </a:rPr>
              <a:t>(word);</a:t>
            </a:r>
          </a:p>
          <a:p>
            <a:r>
              <a:rPr sz="1700">
                <a:latin typeface="Courier New"/>
              </a:rPr>
              <a:t>Console.</a:t>
            </a:r>
            <a:r>
              <a:rPr sz="1700">
                <a:solidFill>
                  <a:srgbClr val="00B0F0"/>
                </a:solidFill>
                <a:latin typeface="Courier New"/>
              </a:rPr>
              <a:t>WriteLine</a:t>
            </a:r>
            <a:r>
              <a:rPr sz="1700">
                <a:latin typeface="Courier New"/>
              </a:rPr>
              <a:t>(contains("hello world", "world")); </a:t>
            </a:r>
            <a:r>
              <a:rPr sz="1700">
                <a:solidFill>
                  <a:srgbClr val="008000"/>
                </a:solidFill>
                <a:latin typeface="Courier New"/>
              </a:rPr>
              <a:t>// True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77240"/>
          </a:xfrm>
          <a:prstGeom prst="rect">
            <a:avLst/>
          </a:prstGeom>
          <a:solidFill>
            <a:srgbClr val="1F497D"/>
          </a:solidFill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Predicate&lt;T&gt; — Булеви функции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70432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F1F1F"/>
                </a:solidFill>
              </a:rPr>
              <a:t>Predicate&lt;T&gt; е съкратен запис на Func&lt;T, bool&gt;. Специализиран делегат за проверки — използва се с List&lt;T&gt; методи.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74552" cy="429768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r>
              <a:rPr sz="1700">
                <a:solidFill>
                  <a:srgbClr val="008000"/>
                </a:solidFill>
                <a:latin typeface="Courier New"/>
              </a:rPr>
              <a:t>// Predicate&lt;T&gt; е идентично на Func&lt;T, bool&gt;</a:t>
            </a:r>
          </a:p>
          <a:p>
            <a:r>
              <a:rPr sz="1700">
                <a:latin typeface="Courier New"/>
              </a:rPr>
              <a:t>Predicate&lt;int&gt;    isEven  = x =&gt; x % 2 == 0;</a:t>
            </a:r>
          </a:p>
          <a:p>
            <a:r>
              <a:rPr sz="1700">
                <a:latin typeface="Courier New"/>
              </a:rPr>
              <a:t>Predicate&lt;string&gt; isShort = s =&gt; s.</a:t>
            </a:r>
            <a:r>
              <a:rPr sz="1700">
                <a:solidFill>
                  <a:srgbClr val="00B0F0"/>
                </a:solidFill>
                <a:latin typeface="Courier New"/>
              </a:rPr>
              <a:t>Length</a:t>
            </a:r>
            <a:r>
              <a:rPr sz="1700">
                <a:latin typeface="Courier New"/>
              </a:rPr>
              <a:t> &lt; 5;</a:t>
            </a:r>
          </a:p>
          <a:p>
            <a:r>
              <a:rPr sz="1700">
                <a:latin typeface="Courier New"/>
              </a:rPr>
              <a:t/>
            </a:r>
          </a:p>
          <a:p>
            <a:r>
              <a:rPr sz="1700">
                <a:latin typeface="Courier New"/>
              </a:rPr>
              <a:t>List&lt;int&gt; nums = new List&lt;int&gt; { 1, 2, 3, 4, 5, 6, 7, 8 };</a:t>
            </a:r>
          </a:p>
          <a:p>
            <a:r>
              <a:rPr sz="1700">
                <a:latin typeface="Courier New"/>
              </a:rPr>
              <a:t/>
            </a:r>
          </a:p>
          <a:p>
            <a:r>
              <a:rPr sz="1700">
                <a:solidFill>
                  <a:srgbClr val="008000"/>
                </a:solidFill>
                <a:latin typeface="Courier New"/>
              </a:rPr>
              <a:t>// Find — първият съвпадащ елемент</a:t>
            </a:r>
          </a:p>
          <a:p>
            <a:r>
              <a:rPr sz="1700">
                <a:latin typeface="Courier New"/>
              </a:rPr>
              <a:t>int first = nums.</a:t>
            </a:r>
            <a:r>
              <a:rPr sz="1700">
                <a:solidFill>
                  <a:srgbClr val="00B0F0"/>
                </a:solidFill>
                <a:latin typeface="Courier New"/>
              </a:rPr>
              <a:t>Find</a:t>
            </a:r>
            <a:r>
              <a:rPr sz="1700">
                <a:latin typeface="Courier New"/>
              </a:rPr>
              <a:t>(isEven);</a:t>
            </a:r>
            <a:r>
              <a:rPr sz="1700">
                <a:solidFill>
                  <a:srgbClr val="008000"/>
                </a:solidFill>
                <a:latin typeface="Courier New"/>
              </a:rPr>
              <a:t>                     // 2</a:t>
            </a:r>
          </a:p>
          <a:p>
            <a:r>
              <a:rPr sz="1700">
                <a:latin typeface="Courier New"/>
              </a:rPr>
              <a:t/>
            </a:r>
          </a:p>
          <a:p>
            <a:r>
              <a:rPr sz="1700">
                <a:solidFill>
                  <a:srgbClr val="008000"/>
                </a:solidFill>
                <a:latin typeface="Courier New"/>
              </a:rPr>
              <a:t>// FindAll — всички съвпадащи</a:t>
            </a:r>
          </a:p>
          <a:p>
            <a:r>
              <a:rPr sz="1700">
                <a:latin typeface="Courier New"/>
              </a:rPr>
              <a:t>List&lt;int&gt; evens = nums.</a:t>
            </a:r>
            <a:r>
              <a:rPr sz="1700">
                <a:solidFill>
                  <a:srgbClr val="00B0F0"/>
                </a:solidFill>
                <a:latin typeface="Courier New"/>
              </a:rPr>
              <a:t>FindAll</a:t>
            </a:r>
            <a:r>
              <a:rPr sz="1700">
                <a:latin typeface="Courier New"/>
              </a:rPr>
              <a:t>(isEven);</a:t>
            </a:r>
            <a:r>
              <a:rPr sz="1700">
                <a:solidFill>
                  <a:srgbClr val="008000"/>
                </a:solidFill>
                <a:latin typeface="Courier New"/>
              </a:rPr>
              <a:t>              // [2,4,6,8]</a:t>
            </a:r>
          </a:p>
          <a:p>
            <a:r>
              <a:rPr sz="1700">
                <a:latin typeface="Courier New"/>
              </a:rPr>
              <a:t/>
            </a:r>
          </a:p>
          <a:p>
            <a:r>
              <a:rPr sz="1700">
                <a:solidFill>
                  <a:srgbClr val="008000"/>
                </a:solidFill>
                <a:latin typeface="Courier New"/>
              </a:rPr>
              <a:t>// RemoveAll — премахни съвпадащите, върни брой</a:t>
            </a:r>
          </a:p>
          <a:p>
            <a:r>
              <a:rPr sz="1700">
                <a:latin typeface="Courier New"/>
              </a:rPr>
              <a:t>int removed = nums.</a:t>
            </a:r>
            <a:r>
              <a:rPr sz="1700">
                <a:solidFill>
                  <a:srgbClr val="00B0F0"/>
                </a:solidFill>
                <a:latin typeface="Courier New"/>
              </a:rPr>
              <a:t>RemoveAll</a:t>
            </a:r>
            <a:r>
              <a:rPr sz="1700">
                <a:latin typeface="Courier New"/>
              </a:rPr>
              <a:t>(x =&gt; x &gt; 5);</a:t>
            </a:r>
            <a:r>
              <a:rPr sz="1700">
                <a:solidFill>
                  <a:srgbClr val="008000"/>
                </a:solidFill>
                <a:latin typeface="Courier New"/>
              </a:rPr>
              <a:t>      // 3 (6,7,8)</a:t>
            </a:r>
          </a:p>
          <a:p>
            <a:r>
              <a:rPr sz="1700">
                <a:latin typeface="Courier New"/>
              </a:rPr>
              <a:t/>
            </a:r>
          </a:p>
          <a:p>
            <a:r>
              <a:rPr sz="1700">
                <a:solidFill>
                  <a:srgbClr val="008000"/>
                </a:solidFill>
                <a:latin typeface="Courier New"/>
              </a:rPr>
              <a:t>// Predicate и Func&lt;T,bool&gt; са взаимозаменяеми:</a:t>
            </a:r>
          </a:p>
          <a:p>
            <a:r>
              <a:rPr sz="1700">
                <a:latin typeface="Courier New"/>
              </a:rPr>
              <a:t>Func&lt;int, bool&gt; f = isEven;</a:t>
            </a:r>
            <a:r>
              <a:rPr sz="1700">
                <a:solidFill>
                  <a:srgbClr val="008000"/>
                </a:solidFill>
                <a:latin typeface="Courier New"/>
              </a:rPr>
              <a:t>   // OK — конвертиране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77240"/>
          </a:xfrm>
          <a:prstGeom prst="rect">
            <a:avLst/>
          </a:prstGeom>
          <a:solidFill>
            <a:srgbClr val="1F497D"/>
          </a:solidFill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Комбиниране на делегати (Multicast)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70432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F1F1F"/>
                </a:solidFill>
              </a:rPr>
              <a:t>Делегатите могат да се комбинират с + и +=. При извикване се изпълняват ВСИЧКИ в реда на добавяне — основата на Events.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74552" cy="429768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r>
              <a:rPr sz="1700">
                <a:latin typeface="Courier New"/>
              </a:rPr>
              <a:t>Action&lt;string&gt; log    = msg =&gt; Console.</a:t>
            </a:r>
            <a:r>
              <a:rPr sz="1700">
                <a:solidFill>
                  <a:srgbClr val="00B0F0"/>
                </a:solidFill>
                <a:latin typeface="Courier New"/>
              </a:rPr>
              <a:t>WriteLine</a:t>
            </a:r>
            <a:r>
              <a:rPr sz="1700">
                <a:latin typeface="Courier New"/>
              </a:rPr>
              <a:t>($"[LOG]  {msg}");</a:t>
            </a:r>
          </a:p>
          <a:p>
            <a:r>
              <a:rPr sz="1700">
                <a:latin typeface="Courier New"/>
              </a:rPr>
              <a:t>Action&lt;string&gt; notify = msg =&gt; Console.</a:t>
            </a:r>
            <a:r>
              <a:rPr sz="1700">
                <a:solidFill>
                  <a:srgbClr val="00B0F0"/>
                </a:solidFill>
                <a:latin typeface="Courier New"/>
              </a:rPr>
              <a:t>WriteLine</a:t>
            </a:r>
            <a:r>
              <a:rPr sz="1700">
                <a:latin typeface="Courier New"/>
              </a:rPr>
              <a:t>($"[MAIL] {msg}");</a:t>
            </a:r>
          </a:p>
          <a:p>
            <a:r>
              <a:rPr sz="1700">
                <a:latin typeface="Courier New"/>
              </a:rPr>
              <a:t>Action&lt;string&gt; audit  = msg =&gt; Console.</a:t>
            </a:r>
            <a:r>
              <a:rPr sz="1700">
                <a:solidFill>
                  <a:srgbClr val="00B0F0"/>
                </a:solidFill>
                <a:latin typeface="Courier New"/>
              </a:rPr>
              <a:t>WriteLine</a:t>
            </a:r>
            <a:r>
              <a:rPr sz="1700">
                <a:latin typeface="Courier New"/>
              </a:rPr>
              <a:t>($"[AUDIT]{msg}");</a:t>
            </a:r>
          </a:p>
          <a:p>
            <a:r>
              <a:rPr sz="1700">
                <a:latin typeface="Courier New"/>
              </a:rPr>
              <a:t/>
            </a:r>
          </a:p>
          <a:p>
            <a:r>
              <a:rPr sz="1700">
                <a:solidFill>
                  <a:srgbClr val="008000"/>
                </a:solidFill>
                <a:latin typeface="Courier New"/>
              </a:rPr>
              <a:t>// Комбинираме трите в един делегат:</a:t>
            </a:r>
          </a:p>
          <a:p>
            <a:r>
              <a:rPr sz="1700">
                <a:latin typeface="Courier New"/>
              </a:rPr>
              <a:t>Action&lt;string&gt; pipeline = log + notify;</a:t>
            </a:r>
          </a:p>
          <a:p>
            <a:r>
              <a:rPr sz="1700">
                <a:latin typeface="Courier New"/>
              </a:rPr>
              <a:t>pipeline += audit;</a:t>
            </a:r>
            <a:r>
              <a:rPr sz="1700">
                <a:solidFill>
                  <a:srgbClr val="008000"/>
                </a:solidFill>
                <a:latin typeface="Courier New"/>
              </a:rPr>
              <a:t>                   // добавяме трети</a:t>
            </a:r>
          </a:p>
          <a:p>
            <a:r>
              <a:rPr sz="1700">
                <a:latin typeface="Courier New"/>
              </a:rPr>
              <a:t/>
            </a:r>
          </a:p>
          <a:p>
            <a:r>
              <a:rPr sz="1700">
                <a:latin typeface="Courier New"/>
              </a:rPr>
              <a:t>pipeline("Грешка в базата данни!");</a:t>
            </a:r>
          </a:p>
          <a:p>
            <a:r>
              <a:rPr sz="1700">
                <a:solidFill>
                  <a:srgbClr val="008000"/>
                </a:solidFill>
                <a:latin typeface="Courier New"/>
              </a:rPr>
              <a:t>// Изход:</a:t>
            </a:r>
          </a:p>
          <a:p>
            <a:r>
              <a:rPr sz="1700">
                <a:solidFill>
                  <a:srgbClr val="008000"/>
                </a:solidFill>
                <a:latin typeface="Courier New"/>
              </a:rPr>
              <a:t>// [LOG]   Грешка в базата данни!</a:t>
            </a:r>
          </a:p>
          <a:p>
            <a:r>
              <a:rPr sz="1700">
                <a:solidFill>
                  <a:srgbClr val="008000"/>
                </a:solidFill>
                <a:latin typeface="Courier New"/>
              </a:rPr>
              <a:t>// [MAIL]  Грешка в базата данни!</a:t>
            </a:r>
          </a:p>
          <a:p>
            <a:r>
              <a:rPr sz="1700">
                <a:solidFill>
                  <a:srgbClr val="008000"/>
                </a:solidFill>
                <a:latin typeface="Courier New"/>
              </a:rPr>
              <a:t>// [AUDIT] Грешка в базата данни!</a:t>
            </a:r>
          </a:p>
          <a:p>
            <a:r>
              <a:rPr sz="1700">
                <a:latin typeface="Courier New"/>
              </a:rPr>
              <a:t/>
            </a:r>
          </a:p>
          <a:p>
            <a:r>
              <a:rPr sz="1700">
                <a:solidFill>
                  <a:srgbClr val="008000"/>
                </a:solidFill>
                <a:latin typeface="Courier New"/>
              </a:rPr>
              <a:t>// Премахване с -=:</a:t>
            </a:r>
          </a:p>
          <a:p>
            <a:r>
              <a:rPr sz="1700">
                <a:latin typeface="Courier New"/>
              </a:rPr>
              <a:t>pipeline -= notify;</a:t>
            </a:r>
            <a:r>
              <a:rPr sz="1700">
                <a:solidFill>
                  <a:srgbClr val="008000"/>
                </a:solidFill>
                <a:latin typeface="Courier New"/>
              </a:rPr>
              <a:t>               // само log и audit</a:t>
            </a:r>
          </a:p>
          <a:p>
            <a:r>
              <a:rPr sz="1700">
                <a:latin typeface="Courier New"/>
              </a:rPr>
              <a:t>pipeline("Системата стартира.");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77240"/>
          </a:xfrm>
          <a:prstGeom prst="rect">
            <a:avLst/>
          </a:prstGeom>
          <a:solidFill>
            <a:srgbClr val="1F497D"/>
          </a:solidFill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Еволюция: именован метод → анонимен → ламбда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70432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F1F1F"/>
                </a:solidFill>
              </a:rPr>
              <a:t>Три начина за предаване на код в C# — всеки по-кратък и изразителен от предишния.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83080"/>
            <a:ext cx="11274552" cy="457200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r>
              <a:rPr sz="1600">
                <a:latin typeface="Courier New"/>
              </a:rPr>
              <a:t>int[] nums = { 5, 2, 8, 1, 9, 3 };</a:t>
            </a:r>
          </a:p>
          <a:p>
            <a:r>
              <a:rPr sz="1600">
                <a:latin typeface="Courier New"/>
              </a:rPr>
              <a:t/>
            </a:r>
          </a:p>
          <a:p>
            <a:r>
              <a:rPr sz="1600">
                <a:solidFill>
                  <a:srgbClr val="008000"/>
                </a:solidFill>
                <a:latin typeface="Courier New"/>
              </a:rPr>
              <a:t>// 1. Именован метод (C# 1.0) — отделна дефиниция</a:t>
            </a:r>
          </a:p>
          <a:p>
            <a:r>
              <a:rPr sz="1600">
                <a:latin typeface="Courier New"/>
              </a:rPr>
              <a:t>static bool IsEven(int x) { return x % 2 == 0; }</a:t>
            </a:r>
          </a:p>
          <a:p>
            <a:r>
              <a:rPr sz="1600">
                <a:latin typeface="Courier New"/>
              </a:rPr>
              <a:t>var v1 = nums.</a:t>
            </a:r>
            <a:r>
              <a:rPr sz="1600">
                <a:solidFill>
                  <a:srgbClr val="00B0F0"/>
                </a:solidFill>
                <a:latin typeface="Courier New"/>
              </a:rPr>
              <a:t>Where</a:t>
            </a:r>
            <a:r>
              <a:rPr sz="1600">
                <a:latin typeface="Courier New"/>
              </a:rPr>
              <a:t>(IsEven);</a:t>
            </a:r>
            <a:r>
              <a:rPr sz="1600">
                <a:solidFill>
                  <a:srgbClr val="008000"/>
                </a:solidFill>
                <a:latin typeface="Courier New"/>
              </a:rPr>
              <a:t>                  // метод-група</a:t>
            </a:r>
          </a:p>
          <a:p>
            <a:r>
              <a:rPr sz="1600">
                <a:latin typeface="Courier New"/>
              </a:rPr>
              <a:t/>
            </a:r>
          </a:p>
          <a:p>
            <a:r>
              <a:rPr sz="1600">
                <a:solidFill>
                  <a:srgbClr val="008000"/>
                </a:solidFill>
                <a:latin typeface="Courier New"/>
              </a:rPr>
              <a:t>// 2. Анонимен метод (C# 2.0) — без отделна дефиниция</a:t>
            </a:r>
          </a:p>
          <a:p>
            <a:r>
              <a:rPr sz="1600">
                <a:latin typeface="Courier New"/>
              </a:rPr>
              <a:t>var v2 = nums.</a:t>
            </a:r>
            <a:r>
              <a:rPr sz="1600">
                <a:solidFill>
                  <a:srgbClr val="00B0F0"/>
                </a:solidFill>
                <a:latin typeface="Courier New"/>
              </a:rPr>
              <a:t>Where</a:t>
            </a:r>
            <a:r>
              <a:rPr sz="1600">
                <a:latin typeface="Courier New"/>
              </a:rPr>
              <a:t>(delegate(int x) { return x % 2 == 0; });</a:t>
            </a:r>
          </a:p>
          <a:p>
            <a:r>
              <a:rPr sz="1600">
                <a:latin typeface="Courier New"/>
              </a:rPr>
              <a:t/>
            </a:r>
          </a:p>
          <a:p>
            <a:r>
              <a:rPr sz="1600">
                <a:solidFill>
                  <a:srgbClr val="008000"/>
                </a:solidFill>
                <a:latin typeface="Courier New"/>
              </a:rPr>
              <a:t>// 3. Ламбда израз (C# 3.0) — препоръчан стил днес</a:t>
            </a:r>
          </a:p>
          <a:p>
            <a:r>
              <a:rPr sz="1600">
                <a:latin typeface="Courier New"/>
              </a:rPr>
              <a:t>var v3 = nums.</a:t>
            </a:r>
            <a:r>
              <a:rPr sz="1600">
                <a:solidFill>
                  <a:srgbClr val="00B0F0"/>
                </a:solidFill>
                <a:latin typeface="Courier New"/>
              </a:rPr>
              <a:t>Where</a:t>
            </a:r>
            <a:r>
              <a:rPr sz="1600">
                <a:latin typeface="Courier New"/>
              </a:rPr>
              <a:t>(x =&gt; x % 2 == 0);</a:t>
            </a:r>
          </a:p>
          <a:p>
            <a:r>
              <a:rPr sz="1600">
                <a:latin typeface="Courier New"/>
              </a:rPr>
              <a:t/>
            </a:r>
          </a:p>
          <a:p>
            <a:r>
              <a:rPr sz="1600">
                <a:solidFill>
                  <a:srgbClr val="008000"/>
                </a:solidFill>
                <a:latin typeface="Courier New"/>
              </a:rPr>
              <a:t>// Всички дават един и същ резултат:</a:t>
            </a:r>
          </a:p>
          <a:p>
            <a:r>
              <a:rPr sz="1600">
                <a:solidFill>
                  <a:srgbClr val="008000"/>
                </a:solidFill>
                <a:latin typeface="Courier New"/>
              </a:rPr>
              <a:t>// v1 == v2 == v3 == { 2, 8 }</a:t>
            </a:r>
          </a:p>
          <a:p>
            <a:r>
              <a:rPr sz="1600">
                <a:latin typeface="Courier New"/>
              </a:rPr>
              <a:t/>
            </a:r>
          </a:p>
          <a:p>
            <a:r>
              <a:rPr sz="1600">
                <a:solidFill>
                  <a:srgbClr val="008000"/>
                </a:solidFill>
                <a:latin typeface="Courier New"/>
              </a:rPr>
              <a:t>// Ламбда с блок (когато логиката е по-сложна):</a:t>
            </a:r>
          </a:p>
          <a:p>
            <a:r>
              <a:rPr sz="1600">
                <a:latin typeface="Courier New"/>
              </a:rPr>
              <a:t>var v4 = nums.</a:t>
            </a:r>
            <a:r>
              <a:rPr sz="1600">
                <a:solidFill>
                  <a:srgbClr val="00B0F0"/>
                </a:solidFill>
                <a:latin typeface="Courier New"/>
              </a:rPr>
              <a:t>Where</a:t>
            </a:r>
            <a:r>
              <a:rPr sz="1600">
                <a:latin typeface="Courier New"/>
              </a:rPr>
              <a:t>(x =&gt; {</a:t>
            </a:r>
          </a:p>
          <a:p>
            <a:r>
              <a:rPr sz="1600">
                <a:latin typeface="Courier New"/>
              </a:rPr>
              <a:t>    bool isEven = x % 2 == 0;</a:t>
            </a:r>
          </a:p>
          <a:p>
            <a:r>
              <a:rPr sz="1600">
                <a:latin typeface="Courier New"/>
              </a:rPr>
              <a:t>    return isEven &amp;&amp; x &gt; 3;</a:t>
            </a:r>
          </a:p>
          <a:p>
            <a:r>
              <a:rPr sz="1600">
                <a:latin typeface="Courier New"/>
              </a:rPr>
              <a:t>}).</a:t>
            </a:r>
            <a:r>
              <a:rPr sz="1600">
                <a:solidFill>
                  <a:srgbClr val="00B0F0"/>
                </a:solidFill>
                <a:latin typeface="Courier New"/>
              </a:rPr>
              <a:t>ToArray</a:t>
            </a:r>
            <a:r>
              <a:rPr sz="1600">
                <a:latin typeface="Courier New"/>
              </a:rPr>
              <a:t>();</a:t>
            </a:r>
            <a:r>
              <a:rPr sz="1600">
                <a:solidFill>
                  <a:srgbClr val="008000"/>
                </a:solidFill>
                <a:latin typeface="Courier New"/>
              </a:rPr>
              <a:t>   // { 8 }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77240"/>
          </a:xfrm>
          <a:prstGeom prst="rect">
            <a:avLst/>
          </a:prstGeom>
          <a:solidFill>
            <a:srgbClr val="1F497D"/>
          </a:solidFill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Практически пример: Strategy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70432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F1F1F"/>
                </a:solidFill>
              </a:rPr>
              <a:t>Делегатите позволяват различно поведение на един метод без наследяване — Strategy Pattern.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r>
              <a:rPr sz="1600">
                <a:solidFill>
                  <a:srgbClr val="008000"/>
                </a:solidFill>
                <a:latin typeface="Courier New"/>
              </a:rPr>
              <a:t>// Стратегии за отстъпка — всяка е Func&lt;double, double&gt;</a:t>
            </a:r>
          </a:p>
          <a:p>
            <a:r>
              <a:rPr sz="1600">
                <a:latin typeface="Courier New"/>
              </a:rPr>
              <a:t>Func&lt;double, double&gt; noDiscount  = price =&gt; price;</a:t>
            </a:r>
          </a:p>
          <a:p>
            <a:r>
              <a:rPr sz="1600">
                <a:latin typeface="Courier New"/>
              </a:rPr>
              <a:t>Func&lt;double, double&gt; tenPercent  = price =&gt; price * 0.90;</a:t>
            </a:r>
          </a:p>
          <a:p>
            <a:r>
              <a:rPr sz="1600">
                <a:latin typeface="Courier New"/>
              </a:rPr>
              <a:t>Func&lt;double, double&gt; vipDiscount = price =&gt; price * 0.70;</a:t>
            </a:r>
          </a:p>
          <a:p>
            <a:r>
              <a:rPr sz="1600">
                <a:latin typeface="Courier New"/>
              </a:rPr>
              <a:t/>
            </a:r>
          </a:p>
          <a:p>
            <a:r>
              <a:rPr sz="1600">
                <a:solidFill>
                  <a:srgbClr val="008000"/>
                </a:solidFill>
                <a:latin typeface="Courier New"/>
              </a:rPr>
              <a:t>// Един метод работи с ВСЯКА стратегия:</a:t>
            </a:r>
          </a:p>
          <a:p>
            <a:r>
              <a:rPr sz="1600">
                <a:latin typeface="Courier New"/>
              </a:rPr>
              <a:t>void Checkout(List&lt;double&gt; cart, </a:t>
            </a:r>
            <a:r>
              <a:rPr sz="1600">
                <a:solidFill>
                  <a:srgbClr val="00B0F0"/>
                </a:solidFill>
                <a:latin typeface="Courier New"/>
              </a:rPr>
              <a:t>Func&lt;double, double&gt;</a:t>
            </a:r>
            <a:r>
              <a:rPr sz="1600">
                <a:latin typeface="Courier New"/>
              </a:rPr>
              <a:t> discount)</a:t>
            </a:r>
          </a:p>
          <a:p>
            <a:r>
              <a:rPr sz="1600">
                <a:latin typeface="Courier New"/>
              </a:rPr>
              <a:t>{</a:t>
            </a:r>
          </a:p>
          <a:p>
            <a:r>
              <a:rPr sz="1600">
                <a:latin typeface="Courier New"/>
              </a:rPr>
              <a:t>    double total = cart.</a:t>
            </a:r>
            <a:r>
              <a:rPr sz="1600">
                <a:solidFill>
                  <a:srgbClr val="00B0F0"/>
                </a:solidFill>
                <a:latin typeface="Courier New"/>
              </a:rPr>
              <a:t>Sum</a:t>
            </a:r>
            <a:r>
              <a:rPr sz="1600">
                <a:latin typeface="Courier New"/>
              </a:rPr>
              <a:t>(discount);</a:t>
            </a:r>
          </a:p>
          <a:p>
            <a:r>
              <a:rPr sz="1600">
                <a:latin typeface="Courier New"/>
              </a:rPr>
              <a:t>    Console.</a:t>
            </a:r>
            <a:r>
              <a:rPr sz="1600">
                <a:solidFill>
                  <a:srgbClr val="00B0F0"/>
                </a:solidFill>
                <a:latin typeface="Courier New"/>
              </a:rPr>
              <a:t>WriteLine</a:t>
            </a:r>
            <a:r>
              <a:rPr sz="1600">
                <a:latin typeface="Courier New"/>
              </a:rPr>
              <a:t>($"Обща сума: {total:F2} лв.");</a:t>
            </a:r>
          </a:p>
          <a:p>
            <a:r>
              <a:rPr sz="1600">
                <a:latin typeface="Courier New"/>
              </a:rPr>
              <a:t>}</a:t>
            </a:r>
          </a:p>
          <a:p>
            <a:r>
              <a:rPr sz="1600">
                <a:latin typeface="Courier New"/>
              </a:rPr>
              <a:t/>
            </a:r>
          </a:p>
          <a:p>
            <a:r>
              <a:rPr sz="1600">
                <a:latin typeface="Courier New"/>
              </a:rPr>
              <a:t>List&lt;double&gt; cart = new List&lt;double&gt; { 50.0, 30.0, 20.0 };</a:t>
            </a:r>
          </a:p>
          <a:p>
            <a:r>
              <a:rPr sz="1600">
                <a:latin typeface="Courier New"/>
              </a:rPr>
              <a:t/>
            </a:r>
          </a:p>
          <a:p>
            <a:r>
              <a:rPr sz="1600">
                <a:latin typeface="Courier New"/>
              </a:rPr>
              <a:t>Checkout(cart, noDiscount);   </a:t>
            </a:r>
            <a:r>
              <a:rPr sz="1600">
                <a:solidFill>
                  <a:srgbClr val="008000"/>
                </a:solidFill>
                <a:latin typeface="Courier New"/>
              </a:rPr>
              <a:t>// 100.00 лв.</a:t>
            </a:r>
          </a:p>
          <a:p>
            <a:r>
              <a:rPr sz="1600">
                <a:latin typeface="Courier New"/>
              </a:rPr>
              <a:t>Checkout(cart, tenPercent);   </a:t>
            </a:r>
            <a:r>
              <a:rPr sz="1600">
                <a:solidFill>
                  <a:srgbClr val="008000"/>
                </a:solidFill>
                <a:latin typeface="Courier New"/>
              </a:rPr>
              <a:t>// 90.00 лв.</a:t>
            </a:r>
          </a:p>
          <a:p>
            <a:r>
              <a:rPr sz="1600">
                <a:latin typeface="Courier New"/>
              </a:rPr>
              <a:t>Checkout(cart, vipDiscount);  </a:t>
            </a:r>
            <a:r>
              <a:rPr sz="1600">
                <a:solidFill>
                  <a:srgbClr val="008000"/>
                </a:solidFill>
                <a:latin typeface="Courier New"/>
              </a:rPr>
              <a:t>// 70.00 лв.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123</TotalTime>
  <Words>1452</Words>
  <Application>Microsoft Office PowerPoint</Application>
  <PresentationFormat>Widescreen</PresentationFormat>
  <Paragraphs>222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Calibri Light</vt:lpstr>
      <vt:lpstr>Comfortaa</vt:lpstr>
      <vt:lpstr>Consolas</vt:lpstr>
      <vt:lpstr>Wingdings</vt:lpstr>
      <vt:lpstr>Office Theme</vt:lpstr>
      <vt:lpstr>Елементи от функционалното програмиране</vt:lpstr>
      <vt:lpstr>Съдържание</vt:lpstr>
      <vt:lpstr>Променливи от тип (референция към) функция в C# Func&lt;T, TResult&gt;</vt:lpstr>
      <vt:lpstr>Действия (процедури): Action&lt;T&gt;</vt:lpstr>
      <vt:lpstr>Задача: Сбор на числа</vt:lpstr>
      <vt:lpstr>Делегати</vt:lpstr>
      <vt:lpstr>Решение: Сбор на числа</vt:lpstr>
      <vt:lpstr>Задача: Пребройте думите, започващи с главна буква</vt:lpstr>
      <vt:lpstr>Решение: Пребройте думите, започващи с главна буква</vt:lpstr>
      <vt:lpstr>Задача: начисляване на ДДС (VAT)</vt:lpstr>
      <vt:lpstr>Решение: Добавяне на ДДС (VAT)</vt:lpstr>
      <vt:lpstr>Решение: Добавяне на ДДС (VAT) вариант 2 с функции</vt:lpstr>
      <vt:lpstr>Предаване на функции към метод</vt:lpstr>
      <vt:lpstr>Задача: Филтриране по възраст</vt:lpstr>
      <vt:lpstr>Решение: Филтриране по възраст [1/4]</vt:lpstr>
      <vt:lpstr>Решение: Филтриране по възраст [2/4]</vt:lpstr>
      <vt:lpstr>Решение: Филтриране по възраст [3/4]</vt:lpstr>
      <vt:lpstr>Решение: Филтриране по възраст [4/4]</vt:lpstr>
      <vt:lpstr>Какво научихме?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Димитър Минчев</dc:creator>
  <cp:lastModifiedBy>Димитър Минчев</cp:lastModifiedBy>
  <cp:revision>14</cp:revision>
  <dcterms:created xsi:type="dcterms:W3CDTF">2022-08-09T09:25:46Z</dcterms:created>
  <dcterms:modified xsi:type="dcterms:W3CDTF">2022-09-15T10:09:22Z</dcterms:modified>
</cp:coreProperties>
</file>