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6"/>
  </p:notesMasterIdLst>
  <p:sldIdLst>
    <p:sldId id="258" r:id="rId2"/>
    <p:sldId id="571" r:id="rId3"/>
    <p:sldId id="595" r:id="rId4"/>
    <p:sldId id="596" r:id="rId5"/>
    <p:sldId id="597" r:id="rId6"/>
    <p:sldId id="598" r:id="rId7"/>
    <p:sldId id="599" r:id="rId8"/>
    <p:sldId id="600" r:id="rId9"/>
    <p:sldId id="601" r:id="rId10"/>
    <p:sldId id="602" r:id="rId11"/>
    <p:sldId id="603" r:id="rId12"/>
    <p:sldId id="604" r:id="rId13"/>
    <p:sldId id="605" r:id="rId14"/>
    <p:sldId id="5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</p14:sldIdLst>
        </p14:section>
        <p14:section name="Съдържание" id="{0B0C01F3-1F60-4ADB-AC1E-9589654EAEF3}">
          <p14:sldIdLst>
            <p14:sldId id="571"/>
            <p14:sldId id="595"/>
            <p14:sldId id="596"/>
            <p14:sldId id="597"/>
            <p14:sldId id="598"/>
            <p14:sldId id="599"/>
            <p14:sldId id="600"/>
            <p14:sldId id="601"/>
            <p14:sldId id="602"/>
            <p14:sldId id="603"/>
            <p14:sldId id="604"/>
            <p14:sldId id="605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>
        <p:scale>
          <a:sx n="75" d="100"/>
          <a:sy n="75" d="100"/>
        </p:scale>
        <p:origin x="699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19259BB-E6DD-4789-8051-D4C7091D0D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908021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F590CA7-CFF2-4FCA-9AAD-59D4054ED8A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11776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e.softuni.bg/Contests/Practice/Index/174#2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e.softuni.bg/Contests/Practice/Index/174#2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e.softuni.bg/Contests/Practice/Index/174#3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e.softuni.bg/Contests/Practice/Index/174#3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/>
          </a:bodyPr>
          <a:lstStyle/>
          <a:p>
            <a:r>
              <a:rPr lang="bg-BG" dirty="0" err="1">
                <a:latin typeface="Comfortaa" pitchFamily="2" charset="0"/>
              </a:rPr>
              <a:t>Ламбда</a:t>
            </a:r>
            <a:r>
              <a:rPr lang="bg-BG" dirty="0">
                <a:latin typeface="Comfortaa" pitchFamily="2" charset="0"/>
              </a:rPr>
              <a:t> функции и </a:t>
            </a:r>
            <a:r>
              <a:rPr lang="en-US" dirty="0">
                <a:latin typeface="Comfortaa" pitchFamily="2" charset="0"/>
              </a:rPr>
              <a:t>LINQ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>
                <a:latin typeface="Comfortaa" pitchFamily="2" charset="0"/>
              </a:rPr>
              <a:t>LINQ в </a:t>
            </a:r>
            <a:r>
              <a:rPr lang="ru-RU" dirty="0" err="1">
                <a:latin typeface="Comfortaa" pitchFamily="2" charset="0"/>
              </a:rPr>
              <a:t>действие:филтиране</a:t>
            </a:r>
            <a:r>
              <a:rPr lang="ru-RU" dirty="0">
                <a:latin typeface="Comfortaa" pitchFamily="2" charset="0"/>
              </a:rPr>
              <a:t>,</a:t>
            </a:r>
            <a:br>
              <a:rPr lang="ru-RU" dirty="0">
                <a:latin typeface="Comfortaa" pitchFamily="2" charset="0"/>
              </a:rPr>
            </a:br>
            <a:r>
              <a:rPr lang="ru-RU" dirty="0" err="1">
                <a:latin typeface="Comfortaa" pitchFamily="2" charset="0"/>
              </a:rPr>
              <a:t>мапинг</a:t>
            </a:r>
            <a:r>
              <a:rPr lang="ru-RU" dirty="0">
                <a:latin typeface="Comfortaa" pitchFamily="2" charset="0"/>
              </a:rPr>
              <a:t>, </a:t>
            </a:r>
            <a:r>
              <a:rPr lang="ru-RU" dirty="0" err="1">
                <a:latin typeface="Comfortaa" pitchFamily="2" charset="0"/>
              </a:rPr>
              <a:t>подреждане</a:t>
            </a:r>
            <a:endParaRPr lang="ru-RU" dirty="0">
              <a:latin typeface="Comfortaa" pitchFamily="2" charset="0"/>
            </a:endParaRPr>
          </a:p>
          <a:p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886708" y="1137022"/>
            <a:ext cx="10515600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86708" y="2515567"/>
            <a:ext cx="10515600" cy="2691764"/>
          </a:xfrm>
        </p:spPr>
        <p:txBody>
          <a:bodyPr>
            <a:normAutofit/>
          </a:bodyPr>
          <a:lstStyle/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Работа с множества с помощта на </a:t>
            </a:r>
            <a:r>
              <a:rPr lang="en-US" dirty="0">
                <a:latin typeface="Comfortaa" pitchFamily="2" charset="0"/>
              </a:rPr>
              <a:t>LINQ</a:t>
            </a:r>
            <a:endParaRPr lang="bg-BG" dirty="0">
              <a:latin typeface="Comfortaa" pitchFamily="2" charset="0"/>
            </a:endParaRP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Въвеждане на колекция на един ред</a:t>
            </a: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Преобразуване на колекция</a:t>
            </a: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Подреждане (сортиране) на колекция</a:t>
            </a: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Вземане / пропускане на елементи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от колекция</a:t>
            </a:r>
          </a:p>
        </p:txBody>
      </p:sp>
    </p:spTree>
    <p:extLst>
      <p:ext uri="{BB962C8B-B14F-4D97-AF65-F5344CB8AC3E}">
        <p14:creationId xmlns:p14="http://schemas.microsoft.com/office/powerpoint/2010/main" val="2509609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67" y="1057108"/>
            <a:ext cx="11804822" cy="5646558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Min() </a:t>
            </a:r>
            <a:r>
              <a:rPr lang="en-US" sz="2400" dirty="0">
                <a:latin typeface="Comfortaa" pitchFamily="2" charset="0"/>
              </a:rPr>
              <a:t>– </a:t>
            </a:r>
            <a:r>
              <a:rPr lang="bg-BG" sz="2400" dirty="0">
                <a:latin typeface="Comfortaa" pitchFamily="2" charset="0"/>
              </a:rPr>
              <a:t>намира най-малкия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елемент  в колекция</a:t>
            </a:r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endParaRPr lang="en-US" sz="2400" b="1" dirty="0">
              <a:latin typeface="Comfortaa" pitchFamily="2" charset="0"/>
            </a:endParaRPr>
          </a:p>
          <a:p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Max() </a:t>
            </a:r>
            <a:r>
              <a:rPr lang="en-US" sz="2400" dirty="0">
                <a:latin typeface="Comfortaa" pitchFamily="2" charset="0"/>
              </a:rPr>
              <a:t>– </a:t>
            </a:r>
            <a:r>
              <a:rPr lang="bg-BG" sz="2400" dirty="0">
                <a:latin typeface="Comfortaa" pitchFamily="2" charset="0"/>
              </a:rPr>
              <a:t>намира най-големия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елемент  в колекция</a:t>
            </a:r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endParaRPr lang="en-US" sz="2400" b="1" dirty="0">
              <a:latin typeface="Comfortaa" pitchFamily="2" charset="0"/>
            </a:endParaRPr>
          </a:p>
          <a:p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Sum() </a:t>
            </a:r>
            <a:r>
              <a:rPr lang="en-US" sz="2400" dirty="0">
                <a:latin typeface="Comfortaa" pitchFamily="2" charset="0"/>
              </a:rPr>
              <a:t>– </a:t>
            </a:r>
            <a:r>
              <a:rPr lang="bg-BG" sz="2400" dirty="0">
                <a:latin typeface="Comfortaa" pitchFamily="2" charset="0"/>
              </a:rPr>
              <a:t>намира сбора на всички елементи в колекцията</a:t>
            </a:r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endParaRPr lang="en-US" sz="2400" b="1" dirty="0">
              <a:latin typeface="Comfortaa" pitchFamily="2" charset="0"/>
            </a:endParaRPr>
          </a:p>
          <a:p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Average() </a:t>
            </a:r>
            <a:r>
              <a:rPr lang="en-US" sz="2400" dirty="0">
                <a:latin typeface="Comfortaa" pitchFamily="2" charset="0"/>
              </a:rPr>
              <a:t>– </a:t>
            </a:r>
            <a:r>
              <a:rPr lang="bg-BG" sz="2400" dirty="0">
                <a:latin typeface="Comfortaa" pitchFamily="2" charset="0"/>
              </a:rPr>
              <a:t>намира средната стойност на всички елементи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70016" y="274908"/>
            <a:ext cx="10982150" cy="709796"/>
          </a:xfrm>
        </p:spPr>
        <p:txBody>
          <a:bodyPr>
            <a:normAutofit fontScale="90000"/>
          </a:bodyPr>
          <a:lstStyle/>
          <a:p>
            <a:r>
              <a:rPr lang="bg-BG" sz="4000" dirty="0">
                <a:latin typeface="Comfortaa" pitchFamily="2" charset="0"/>
              </a:rPr>
              <a:t>Работа с множества с помощта на </a:t>
            </a:r>
            <a:r>
              <a:rPr lang="en-US" sz="4000" dirty="0">
                <a:latin typeface="Comfortaa" pitchFamily="2" charset="0"/>
              </a:rPr>
              <a:t>LINQ</a:t>
            </a:r>
            <a:endParaRPr lang="bg-BG" sz="4000" dirty="0">
              <a:latin typeface="Comfortaa" pitchFamily="2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69966" y="1622095"/>
            <a:ext cx="10882200" cy="57629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4000" tIns="72000" rIns="144000" bIns="72000">
            <a:spAutoFit/>
          </a:bodyPr>
          <a:lstStyle>
            <a:defPPr>
              <a:defRPr lang="en-US"/>
            </a:defPPr>
            <a:lvl1pPr>
              <a:buClr>
                <a:srgbClr val="F2B254"/>
              </a:buClr>
              <a:buSzPct val="100000"/>
              <a:defRPr sz="2800" b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r>
              <a:rPr lang="en-US" noProof="1">
                <a:solidFill>
                  <a:schemeClr val="bg1"/>
                </a:solidFill>
                <a:effectLst/>
              </a:rPr>
              <a:t>new List&lt;int&gt;()</a:t>
            </a:r>
            <a:r>
              <a:rPr lang="en-US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{</a:t>
            </a:r>
            <a:r>
              <a:rPr lang="en-US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1,</a:t>
            </a:r>
            <a:r>
              <a:rPr lang="en-US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2,</a:t>
            </a:r>
            <a:r>
              <a:rPr lang="en-US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3,</a:t>
            </a:r>
            <a:r>
              <a:rPr lang="en-US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4,</a:t>
            </a:r>
            <a:r>
              <a:rPr lang="en-US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-1,</a:t>
            </a:r>
            <a:r>
              <a:rPr lang="en-US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-5,</a:t>
            </a:r>
            <a:r>
              <a:rPr lang="en-US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0,</a:t>
            </a:r>
            <a:r>
              <a:rPr lang="en-US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50</a:t>
            </a:r>
            <a:r>
              <a:rPr lang="en-US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}.</a:t>
            </a:r>
            <a:r>
              <a:rPr lang="en-US" noProof="1">
                <a:solidFill>
                  <a:srgbClr val="00B0F0"/>
                </a:solidFill>
                <a:effectLst/>
              </a:rPr>
              <a:t>Min</a:t>
            </a:r>
            <a:r>
              <a:rPr lang="en-US" noProof="1">
                <a:solidFill>
                  <a:schemeClr val="bg1"/>
                </a:solidFill>
                <a:effectLst/>
              </a:rPr>
              <a:t>() </a:t>
            </a:r>
            <a:r>
              <a:rPr lang="en-US" noProof="1">
                <a:solidFill>
                  <a:schemeClr val="bg1"/>
                </a:solidFill>
                <a:effectLst/>
                <a:sym typeface="Wingdings" panose="05000000000000000000" pitchFamily="2" charset="2"/>
              </a:rPr>
              <a:t> </a:t>
            </a:r>
            <a:r>
              <a:rPr lang="en-US" noProof="1">
                <a:solidFill>
                  <a:schemeClr val="bg1"/>
                </a:solidFill>
                <a:effectLst/>
              </a:rPr>
              <a:t>-5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69966" y="2982396"/>
            <a:ext cx="10882200" cy="63784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4000" tIns="72000" rIns="144000" bIns="72000">
            <a:spAutoFit/>
          </a:bodyPr>
          <a:lstStyle>
            <a:defPPr>
              <a:defRPr lang="en-US"/>
            </a:defPPr>
            <a:lvl1pPr>
              <a:buClr>
                <a:srgbClr val="F2B254"/>
              </a:buClr>
              <a:buSzPct val="100000"/>
              <a:defRPr sz="2800" b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r>
              <a:rPr lang="en-US" noProof="1">
                <a:solidFill>
                  <a:schemeClr val="bg1"/>
                </a:solidFill>
                <a:effectLst/>
              </a:rPr>
              <a:t>new int[]</a:t>
            </a:r>
            <a:r>
              <a:rPr lang="en-US" sz="3200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{</a:t>
            </a:r>
            <a:r>
              <a:rPr lang="en-US" sz="3200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1,</a:t>
            </a:r>
            <a:r>
              <a:rPr lang="en-US" sz="3200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2,</a:t>
            </a:r>
            <a:r>
              <a:rPr lang="en-US" sz="3200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3,</a:t>
            </a:r>
            <a:r>
              <a:rPr lang="en-US" sz="3200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40,</a:t>
            </a:r>
            <a:r>
              <a:rPr lang="en-US" sz="3200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-1,</a:t>
            </a:r>
            <a:r>
              <a:rPr lang="en-US" sz="3200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-5,</a:t>
            </a:r>
            <a:r>
              <a:rPr lang="en-US" sz="3200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0,</a:t>
            </a:r>
            <a:r>
              <a:rPr lang="en-US" sz="3200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5</a:t>
            </a:r>
            <a:r>
              <a:rPr lang="en-US" sz="3200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}.</a:t>
            </a:r>
            <a:r>
              <a:rPr lang="en-US" noProof="1">
                <a:solidFill>
                  <a:srgbClr val="00B0F0"/>
                </a:solidFill>
                <a:effectLst/>
              </a:rPr>
              <a:t>Max</a:t>
            </a:r>
            <a:r>
              <a:rPr lang="en-US" noProof="1">
                <a:solidFill>
                  <a:schemeClr val="bg1"/>
                </a:solidFill>
                <a:effectLst/>
              </a:rPr>
              <a:t>() </a:t>
            </a:r>
            <a:r>
              <a:rPr lang="en-US" noProof="1">
                <a:solidFill>
                  <a:schemeClr val="bg1"/>
                </a:solidFill>
                <a:effectLst/>
                <a:sym typeface="Wingdings" panose="05000000000000000000" pitchFamily="2" charset="2"/>
              </a:rPr>
              <a:t> </a:t>
            </a:r>
            <a:r>
              <a:rPr lang="en-US" noProof="1">
                <a:solidFill>
                  <a:schemeClr val="bg1"/>
                </a:solidFill>
                <a:effectLst/>
              </a:rPr>
              <a:t>40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69966" y="4286994"/>
            <a:ext cx="10882200" cy="57629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4000" tIns="72000" rIns="144000" bIns="72000">
            <a:spAutoFit/>
          </a:bodyPr>
          <a:lstStyle>
            <a:defPPr>
              <a:defRPr lang="en-US"/>
            </a:defPPr>
            <a:lvl1pPr>
              <a:buClr>
                <a:srgbClr val="F2B254"/>
              </a:buClr>
              <a:buSzPct val="100000"/>
              <a:defRPr sz="2800" b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r>
              <a:rPr lang="en-US" noProof="1">
                <a:solidFill>
                  <a:schemeClr val="bg1"/>
                </a:solidFill>
                <a:effectLst/>
              </a:rPr>
              <a:t>new long[]</a:t>
            </a:r>
            <a:r>
              <a:rPr lang="en-US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{1,</a:t>
            </a:r>
            <a:r>
              <a:rPr lang="en-US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2,</a:t>
            </a:r>
            <a:r>
              <a:rPr lang="en-US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3,</a:t>
            </a:r>
            <a:r>
              <a:rPr lang="en-US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4,</a:t>
            </a:r>
            <a:r>
              <a:rPr lang="en-US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-1,</a:t>
            </a:r>
            <a:r>
              <a:rPr lang="en-US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-5,</a:t>
            </a:r>
            <a:r>
              <a:rPr lang="en-US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0,</a:t>
            </a:r>
            <a:r>
              <a:rPr lang="en-US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50}.</a:t>
            </a:r>
            <a:r>
              <a:rPr lang="en-US" noProof="1">
                <a:solidFill>
                  <a:srgbClr val="00B0F0"/>
                </a:solidFill>
                <a:effectLst/>
              </a:rPr>
              <a:t>Sum</a:t>
            </a:r>
            <a:r>
              <a:rPr lang="en-US" noProof="1">
                <a:solidFill>
                  <a:schemeClr val="bg1"/>
                </a:solidFill>
                <a:effectLst/>
              </a:rPr>
              <a:t>() </a:t>
            </a:r>
            <a:r>
              <a:rPr lang="en-US" noProof="1">
                <a:solidFill>
                  <a:schemeClr val="bg1"/>
                </a:solidFill>
                <a:effectLst/>
                <a:sym typeface="Wingdings" panose="05000000000000000000" pitchFamily="2" charset="2"/>
              </a:rPr>
              <a:t></a:t>
            </a:r>
            <a:r>
              <a:rPr lang="en-US" noProof="1">
                <a:solidFill>
                  <a:schemeClr val="bg1"/>
                </a:solidFill>
                <a:effectLst/>
              </a:rPr>
              <a:t> 54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69966" y="5765266"/>
            <a:ext cx="10882200" cy="57629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4000" tIns="72000" rIns="144000" bIns="72000">
            <a:spAutoFit/>
          </a:bodyPr>
          <a:lstStyle>
            <a:defPPr>
              <a:defRPr lang="en-US"/>
            </a:defPPr>
            <a:lvl1pPr>
              <a:buClr>
                <a:srgbClr val="F2B254"/>
              </a:buClr>
              <a:buSzPct val="100000"/>
              <a:defRPr sz="2800" b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r>
              <a:rPr lang="en-US" noProof="1">
                <a:solidFill>
                  <a:schemeClr val="bg1"/>
                </a:solidFill>
                <a:effectLst/>
              </a:rPr>
              <a:t>new int[]</a:t>
            </a:r>
            <a:r>
              <a:rPr lang="en-US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{1,</a:t>
            </a:r>
            <a:r>
              <a:rPr lang="en-US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2,</a:t>
            </a:r>
            <a:r>
              <a:rPr lang="en-US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3,</a:t>
            </a:r>
            <a:r>
              <a:rPr lang="en-US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4,</a:t>
            </a:r>
            <a:r>
              <a:rPr lang="en-US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-1,</a:t>
            </a:r>
            <a:r>
              <a:rPr lang="en-US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-5,</a:t>
            </a:r>
            <a:r>
              <a:rPr lang="en-US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0,</a:t>
            </a:r>
            <a:r>
              <a:rPr lang="en-US" noProof="1">
                <a:solidFill>
                  <a:schemeClr val="bg1"/>
                </a:solidFill>
                <a:effectLst/>
                <a:latin typeface="+mn-lt"/>
              </a:rPr>
              <a:t> </a:t>
            </a:r>
            <a:r>
              <a:rPr lang="en-US" noProof="1">
                <a:solidFill>
                  <a:schemeClr val="bg1"/>
                </a:solidFill>
                <a:effectLst/>
              </a:rPr>
              <a:t>50}.</a:t>
            </a:r>
            <a:r>
              <a:rPr lang="en-US" noProof="1">
                <a:solidFill>
                  <a:srgbClr val="00B0F0"/>
                </a:solidFill>
                <a:effectLst/>
              </a:rPr>
              <a:t>Average</a:t>
            </a:r>
            <a:r>
              <a:rPr lang="en-US" noProof="1">
                <a:solidFill>
                  <a:schemeClr val="bg1"/>
                </a:solidFill>
                <a:effectLst/>
              </a:rPr>
              <a:t>() </a:t>
            </a:r>
            <a:r>
              <a:rPr lang="en-US" noProof="1">
                <a:solidFill>
                  <a:schemeClr val="bg1"/>
                </a:solidFill>
                <a:effectLst/>
                <a:sym typeface="Wingdings" panose="05000000000000000000" pitchFamily="2" charset="2"/>
              </a:rPr>
              <a:t> </a:t>
            </a:r>
            <a:r>
              <a:rPr lang="en-US" noProof="1">
                <a:solidFill>
                  <a:schemeClr val="bg1"/>
                </a:solidFill>
                <a:effectLst/>
              </a:rPr>
              <a:t>6.75</a:t>
            </a:r>
          </a:p>
        </p:txBody>
      </p:sp>
    </p:spTree>
    <p:extLst>
      <p:ext uri="{BB962C8B-B14F-4D97-AF65-F5344CB8AC3E}">
        <p14:creationId xmlns:p14="http://schemas.microsoft.com/office/powerpoint/2010/main" val="1203632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5395" y="1597231"/>
            <a:ext cx="10287000" cy="8179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g-BG" sz="2200" dirty="0">
                <a:latin typeface="Comfortaa" pitchFamily="2" charset="0"/>
              </a:rPr>
              <a:t>Напишете програма, която въвежда </a:t>
            </a:r>
            <a:r>
              <a:rPr lang="en-US" sz="2200" b="1" dirty="0">
                <a:solidFill>
                  <a:srgbClr val="00B0F0"/>
                </a:solidFill>
                <a:latin typeface="Comfortaa" pitchFamily="2" charset="0"/>
              </a:rPr>
              <a:t>n</a:t>
            </a:r>
            <a:r>
              <a:rPr lang="en-US" sz="2200" dirty="0">
                <a:latin typeface="Comfortaa" pitchFamily="2" charset="0"/>
              </a:rPr>
              <a:t> </a:t>
            </a:r>
            <a:r>
              <a:rPr lang="bg-BG" sz="2200" dirty="0">
                <a:latin typeface="Comfortaa" pitchFamily="2" charset="0"/>
              </a:rPr>
              <a:t>цели числа и извежда </a:t>
            </a:r>
            <a:r>
              <a:rPr lang="bg-BG" sz="2200" b="1" dirty="0">
                <a:solidFill>
                  <a:srgbClr val="00B0F0"/>
                </a:solidFill>
                <a:latin typeface="Comfortaa" pitchFamily="2" charset="0"/>
              </a:rPr>
              <a:t>сбора</a:t>
            </a:r>
            <a:r>
              <a:rPr lang="en-US" sz="2200" dirty="0">
                <a:latin typeface="Comfortaa" pitchFamily="2" charset="0"/>
              </a:rPr>
              <a:t>, </a:t>
            </a:r>
            <a:r>
              <a:rPr lang="bg-BG" sz="2200" b="1" dirty="0">
                <a:solidFill>
                  <a:srgbClr val="00B0F0"/>
                </a:solidFill>
                <a:latin typeface="Comfortaa" pitchFamily="2" charset="0"/>
              </a:rPr>
              <a:t>минимума</a:t>
            </a:r>
            <a:r>
              <a:rPr lang="en-US" sz="2200" dirty="0">
                <a:latin typeface="Comfortaa" pitchFamily="2" charset="0"/>
              </a:rPr>
              <a:t>, </a:t>
            </a:r>
            <a:r>
              <a:rPr lang="bg-BG" sz="2200" b="1" dirty="0">
                <a:solidFill>
                  <a:srgbClr val="00B0F0"/>
                </a:solidFill>
                <a:latin typeface="Comfortaa" pitchFamily="2" charset="0"/>
              </a:rPr>
              <a:t>максимума</a:t>
            </a:r>
            <a:r>
              <a:rPr lang="en-US" sz="2200" dirty="0">
                <a:latin typeface="Comfortaa" pitchFamily="2" charset="0"/>
              </a:rPr>
              <a:t> </a:t>
            </a:r>
            <a:r>
              <a:rPr lang="bg-BG" sz="2200" dirty="0">
                <a:latin typeface="Comfortaa" pitchFamily="2" charset="0"/>
              </a:rPr>
              <a:t>и</a:t>
            </a:r>
            <a:r>
              <a:rPr lang="en-US" sz="2200" dirty="0">
                <a:latin typeface="Comfortaa" pitchFamily="2" charset="0"/>
              </a:rPr>
              <a:t> </a:t>
            </a:r>
            <a:r>
              <a:rPr lang="bg-BG" sz="2200" b="1" dirty="0">
                <a:solidFill>
                  <a:srgbClr val="00B0F0"/>
                </a:solidFill>
                <a:latin typeface="Comfortaa" pitchFamily="2" charset="0"/>
              </a:rPr>
              <a:t>средното им</a:t>
            </a:r>
            <a:r>
              <a:rPr lang="bg-BG" sz="22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2200" b="1" dirty="0">
                <a:solidFill>
                  <a:srgbClr val="00B0F0"/>
                </a:solidFill>
                <a:latin typeface="Comfortaa" pitchFamily="2" charset="0"/>
              </a:rPr>
              <a:t>аритметично</a:t>
            </a:r>
            <a:r>
              <a:rPr lang="bg-BG" sz="2200" dirty="0">
                <a:latin typeface="Comfortaa" pitchFamily="2" charset="0"/>
              </a:rPr>
              <a:t>:</a:t>
            </a:r>
            <a:endParaRPr lang="en-US" sz="22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45394" y="512116"/>
            <a:ext cx="10048879" cy="1085115"/>
          </a:xfrm>
        </p:spPr>
        <p:txBody>
          <a:bodyPr>
            <a:noAutofit/>
          </a:bodyPr>
          <a:lstStyle/>
          <a:p>
            <a:r>
              <a:rPr lang="bg-BG" sz="3200" b="1" dirty="0">
                <a:latin typeface="Comfortaa" pitchFamily="2" charset="0"/>
              </a:rPr>
              <a:t>Задача</a:t>
            </a:r>
            <a:r>
              <a:rPr lang="en-US" sz="3200" b="1" dirty="0">
                <a:latin typeface="Comfortaa" pitchFamily="2" charset="0"/>
              </a:rPr>
              <a:t>: </a:t>
            </a:r>
            <a:r>
              <a:rPr lang="bg-BG" sz="3200" b="1" dirty="0">
                <a:latin typeface="Comfortaa" pitchFamily="2" charset="0"/>
              </a:rPr>
              <a:t>Сбор, Минимум, Максимум и Средно аритмтично</a:t>
            </a:r>
            <a:endParaRPr lang="en-US" sz="3200" b="1" dirty="0">
              <a:latin typeface="Comfortaa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7908" y="5805054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mfortaa" pitchFamily="2" charset="0"/>
              </a:rPr>
              <a:t>Check your solution here: </a:t>
            </a:r>
            <a:r>
              <a:rPr lang="en-US" dirty="0">
                <a:latin typeface="Comfortaa" pitchFamily="2" charset="0"/>
                <a:hlinkClick r:id="rId2"/>
              </a:rPr>
              <a:t>https://judge.softuni.bg/Contests/Practice/Index/174#2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745394" y="2606145"/>
            <a:ext cx="838200" cy="306036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</a:pPr>
            <a:r>
              <a:rPr lang="en-US" sz="2800" b="1" dirty="0">
                <a:solidFill>
                  <a:srgbClr val="00B0F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5</a:t>
            </a:r>
          </a:p>
          <a:p>
            <a:pPr>
              <a:lnSpc>
                <a:spcPct val="11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12</a:t>
            </a:r>
          </a:p>
          <a:p>
            <a:pPr>
              <a:lnSpc>
                <a:spcPct val="11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20</a:t>
            </a:r>
          </a:p>
          <a:p>
            <a:pPr>
              <a:lnSpc>
                <a:spcPct val="11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-5</a:t>
            </a:r>
          </a:p>
          <a:p>
            <a:pPr>
              <a:lnSpc>
                <a:spcPct val="11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37</a:t>
            </a:r>
          </a:p>
          <a:p>
            <a:pPr>
              <a:lnSpc>
                <a:spcPct val="11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8</a:t>
            </a:r>
            <a:endParaRPr lang="it-IT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1583594" y="3879896"/>
            <a:ext cx="695575" cy="562953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279170" y="2606145"/>
            <a:ext cx="3080417" cy="306036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>
              <a:lnSpc>
                <a:spcPct val="11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Sum = 72</a:t>
            </a:r>
          </a:p>
          <a:p>
            <a:pPr>
              <a:lnSpc>
                <a:spcPct val="11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Min = -5</a:t>
            </a:r>
          </a:p>
          <a:p>
            <a:pPr>
              <a:lnSpc>
                <a:spcPct val="11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Max = 37</a:t>
            </a:r>
          </a:p>
          <a:p>
            <a:pPr>
              <a:lnSpc>
                <a:spcPct val="11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Average = 14.4</a:t>
            </a:r>
            <a:endParaRPr lang="it-IT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231794" y="2606145"/>
            <a:ext cx="838200" cy="306036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</a:pPr>
            <a:r>
              <a:rPr lang="en-US" sz="2800" b="1" dirty="0">
                <a:solidFill>
                  <a:srgbClr val="00B0F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4</a:t>
            </a:r>
          </a:p>
          <a:p>
            <a:pPr>
              <a:lnSpc>
                <a:spcPct val="11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50</a:t>
            </a:r>
          </a:p>
          <a:p>
            <a:pPr>
              <a:lnSpc>
                <a:spcPct val="11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20</a:t>
            </a:r>
          </a:p>
          <a:p>
            <a:pPr>
              <a:lnSpc>
                <a:spcPct val="11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25</a:t>
            </a:r>
          </a:p>
          <a:p>
            <a:pPr>
              <a:lnSpc>
                <a:spcPct val="11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40</a:t>
            </a:r>
            <a:endParaRPr lang="it-IT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7069995" y="3879896"/>
            <a:ext cx="695575" cy="562953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7765570" y="2606145"/>
            <a:ext cx="3266824" cy="306036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>
              <a:lnSpc>
                <a:spcPct val="11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Sum = 135</a:t>
            </a:r>
          </a:p>
          <a:p>
            <a:pPr>
              <a:lnSpc>
                <a:spcPct val="11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Min = 20</a:t>
            </a:r>
          </a:p>
          <a:p>
            <a:pPr>
              <a:lnSpc>
                <a:spcPct val="11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Max = 50</a:t>
            </a:r>
          </a:p>
          <a:p>
            <a:pPr>
              <a:lnSpc>
                <a:spcPct val="11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Average = 33.75</a:t>
            </a:r>
            <a:endParaRPr lang="it-IT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322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81052" y="392668"/>
            <a:ext cx="10512383" cy="1052945"/>
          </a:xfrm>
        </p:spPr>
        <p:txBody>
          <a:bodyPr>
            <a:noAutofit/>
          </a:bodyPr>
          <a:lstStyle/>
          <a:p>
            <a:r>
              <a:rPr lang="bg-BG" sz="3200" b="1" dirty="0">
                <a:latin typeface="Comfortaa" pitchFamily="2" charset="0"/>
              </a:rPr>
              <a:t>Решение</a:t>
            </a:r>
            <a:r>
              <a:rPr lang="en-US" sz="3200" b="1" dirty="0">
                <a:latin typeface="Comfortaa" pitchFamily="2" charset="0"/>
              </a:rPr>
              <a:t>: </a:t>
            </a:r>
            <a:r>
              <a:rPr lang="bg-BG" sz="3200" b="1" dirty="0">
                <a:latin typeface="Comfortaa" pitchFamily="2" charset="0"/>
              </a:rPr>
              <a:t>Сбор, Минимум, Максимум и Средно аритмтично</a:t>
            </a:r>
            <a:endParaRPr lang="en-US" sz="3200" b="1" dirty="0">
              <a:latin typeface="Comfortaa" pitchFamily="2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781052" y="1691207"/>
            <a:ext cx="10572748" cy="438695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4000" tIns="72000" rIns="144000" bIns="72000">
            <a:spAutoFit/>
          </a:bodyPr>
          <a:lstStyle/>
          <a:p>
            <a:pPr>
              <a:lnSpc>
                <a:spcPct val="110000"/>
              </a:lnSpc>
              <a:buClr>
                <a:srgbClr val="F2B254"/>
              </a:buClr>
              <a:buSzPct val="100000"/>
            </a:pPr>
            <a:r>
              <a:rPr lang="en-US" sz="28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using System.Linq;</a:t>
            </a:r>
          </a:p>
          <a:p>
            <a:pPr>
              <a:lnSpc>
                <a:spcPct val="110000"/>
              </a:lnSpc>
              <a:buClr>
                <a:srgbClr val="F2B254"/>
              </a:buClr>
              <a:buSzPct val="10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…</a:t>
            </a:r>
            <a:endParaRPr lang="en-US" sz="28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110000"/>
              </a:lnSpc>
              <a:buClr>
                <a:srgbClr val="F2B254"/>
              </a:buClr>
              <a:buSzPct val="100000"/>
            </a:pP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int </a:t>
            </a:r>
            <a:r>
              <a:rPr lang="en-US" sz="28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</a:t>
            </a: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= int.Parse(Console.ReadLine());</a:t>
            </a:r>
          </a:p>
          <a:p>
            <a:pPr>
              <a:lnSpc>
                <a:spcPct val="110000"/>
              </a:lnSpc>
              <a:buClr>
                <a:srgbClr val="F2B254"/>
              </a:buClr>
              <a:buSzPct val="100000"/>
            </a:pP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int[] </a:t>
            </a:r>
            <a:r>
              <a:rPr lang="en-US" sz="28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nums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new int[n]</a:t>
            </a: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</a:t>
            </a:r>
          </a:p>
          <a:p>
            <a:pPr>
              <a:lnSpc>
                <a:spcPct val="110000"/>
              </a:lnSpc>
              <a:buClr>
                <a:srgbClr val="F2B254"/>
              </a:buClr>
              <a:buSzPct val="100000"/>
            </a:pP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for (int i = 0; i &lt; n; i++)</a:t>
            </a:r>
          </a:p>
          <a:p>
            <a:pPr>
              <a:lnSpc>
                <a:spcPct val="110000"/>
              </a:lnSpc>
              <a:buClr>
                <a:srgbClr val="F2B254"/>
              </a:buClr>
              <a:buSzPct val="100000"/>
            </a:pP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8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nums</a:t>
            </a: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[i] = int.Parse(Console.ReadLine());</a:t>
            </a:r>
          </a:p>
          <a:p>
            <a:pPr>
              <a:lnSpc>
                <a:spcPct val="110000"/>
              </a:lnSpc>
              <a:buClr>
                <a:srgbClr val="F2B254"/>
              </a:buClr>
              <a:buSzPct val="100000"/>
            </a:pP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Console.WriteLine("Sum = {0}", nums.</a:t>
            </a:r>
            <a:r>
              <a:rPr lang="en-US" sz="28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Sum()</a:t>
            </a: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</a:t>
            </a:r>
          </a:p>
          <a:p>
            <a:pPr>
              <a:lnSpc>
                <a:spcPct val="110000"/>
              </a:lnSpc>
              <a:buClr>
                <a:srgbClr val="F2B254"/>
              </a:buClr>
              <a:buSzPct val="100000"/>
            </a:pP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Console.WriteLine("Min = {0}", nums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.</a:t>
            </a:r>
            <a:r>
              <a:rPr lang="en-US" sz="28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Min()</a:t>
            </a: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</a:t>
            </a:r>
          </a:p>
          <a:p>
            <a:pPr>
              <a:lnSpc>
                <a:spcPct val="110000"/>
              </a:lnSpc>
              <a:buClr>
                <a:srgbClr val="F2B254"/>
              </a:buClr>
              <a:buSzPct val="100000"/>
            </a:pP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 TODO: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onsolas" pitchFamily="49" charset="0"/>
              </a:rPr>
              <a:t> print also </a:t>
            </a:r>
            <a:r>
              <a:rPr lang="en-US" sz="2800" b="1" i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onsolas" pitchFamily="49" charset="0"/>
              </a:rPr>
              <a:t>max</a:t>
            </a:r>
            <a:r>
              <a:rPr lang="bg-BG" sz="2800" b="1" i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onsolas" pitchFamily="49" charset="0"/>
              </a:rPr>
              <a:t> 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onsolas" pitchFamily="49" charset="0"/>
              </a:rPr>
              <a:t>and </a:t>
            </a:r>
            <a:r>
              <a:rPr lang="en-US" sz="2800" b="1" i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onsolas" pitchFamily="49" charset="0"/>
              </a:rPr>
              <a:t>average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onsolas" pitchFamily="49" charset="0"/>
              </a:rPr>
              <a:t> values</a:t>
            </a:r>
          </a:p>
        </p:txBody>
      </p:sp>
      <p:sp>
        <p:nvSpPr>
          <p:cNvPr id="6" name="AutoShape 24"/>
          <p:cNvSpPr>
            <a:spLocks noChangeArrowheads="1"/>
          </p:cNvSpPr>
          <p:nvPr/>
        </p:nvSpPr>
        <p:spPr bwMode="auto">
          <a:xfrm>
            <a:off x="5255460" y="1445613"/>
            <a:ext cx="6310952" cy="1009153"/>
          </a:xfrm>
          <a:prstGeom prst="wedgeRoundRectCallout">
            <a:avLst>
              <a:gd name="adj1" fmla="val -61195"/>
              <a:gd name="adj2" fmla="val 8184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000" noProof="1">
                <a:solidFill>
                  <a:schemeClr val="bg1"/>
                </a:solidFill>
                <a:latin typeface="Comfortaa" pitchFamily="2" charset="0"/>
              </a:rPr>
              <a:t>използвайте</a:t>
            </a:r>
            <a:r>
              <a:rPr lang="en-US" sz="2000" noProof="1">
                <a:solidFill>
                  <a:schemeClr val="bg1"/>
                </a:solidFill>
                <a:latin typeface="Comfortaa" pitchFamily="2" charset="0"/>
              </a:rPr>
              <a:t> </a:t>
            </a:r>
            <a:r>
              <a:rPr lang="en-US" sz="2000" b="1" noProof="1">
                <a:solidFill>
                  <a:schemeClr val="bg2"/>
                </a:solidFill>
                <a:latin typeface="Comfortaa" pitchFamily="2" charset="0"/>
                <a:cs typeface="Consolas" panose="020B0609020204030204" pitchFamily="49" charset="0"/>
              </a:rPr>
              <a:t>System.Linq</a:t>
            </a:r>
            <a:r>
              <a:rPr lang="en-US" sz="2000" noProof="1">
                <a:solidFill>
                  <a:schemeClr val="bg2"/>
                </a:solidFill>
                <a:latin typeface="Comfortaa" pitchFamily="2" charset="0"/>
              </a:rPr>
              <a:t> </a:t>
            </a:r>
            <a:r>
              <a:rPr lang="bg-BG" sz="2000" noProof="1">
                <a:solidFill>
                  <a:schemeClr val="bg1"/>
                </a:solidFill>
                <a:latin typeface="Comfortaa" pitchFamily="2" charset="0"/>
              </a:rPr>
              <a:t>за да ползвате </a:t>
            </a:r>
            <a:r>
              <a:rPr lang="en-US" sz="2000" noProof="1">
                <a:solidFill>
                  <a:schemeClr val="bg1"/>
                </a:solidFill>
                <a:latin typeface="Comfortaa" pitchFamily="2" charset="0"/>
              </a:rPr>
              <a:t>LINQ </a:t>
            </a:r>
            <a:r>
              <a:rPr lang="bg-BG" sz="2000" noProof="1">
                <a:solidFill>
                  <a:schemeClr val="bg1"/>
                </a:solidFill>
                <a:latin typeface="Comfortaa" pitchFamily="2" charset="0"/>
              </a:rPr>
              <a:t>функции</a:t>
            </a:r>
            <a:r>
              <a:rPr lang="en-US" sz="2000" noProof="1">
                <a:solidFill>
                  <a:schemeClr val="bg1"/>
                </a:solidFill>
                <a:latin typeface="Comfortaa" pitchFamily="2" charset="0"/>
              </a:rPr>
              <a:t> 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</a:rPr>
              <a:t>.</a:t>
            </a:r>
            <a:r>
              <a:rPr lang="en-US" sz="2000" b="1" noProof="1">
                <a:solidFill>
                  <a:schemeClr val="bg2"/>
                </a:solidFill>
                <a:latin typeface="Comfortaa" pitchFamily="2" charset="0"/>
              </a:rPr>
              <a:t>Max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</a:rPr>
              <a:t>()</a:t>
            </a:r>
            <a:r>
              <a:rPr lang="en-US" sz="2000" noProof="1">
                <a:solidFill>
                  <a:schemeClr val="bg1"/>
                </a:solidFill>
                <a:latin typeface="Comfortaa" pitchFamily="2" charset="0"/>
              </a:rPr>
              <a:t> </a:t>
            </a:r>
            <a:r>
              <a:rPr lang="bg-BG" sz="2000" noProof="1">
                <a:solidFill>
                  <a:schemeClr val="bg1"/>
                </a:solidFill>
                <a:latin typeface="Comfortaa" pitchFamily="2" charset="0"/>
              </a:rPr>
              <a:t>и</a:t>
            </a:r>
            <a:r>
              <a:rPr lang="en-US" sz="2000" noProof="1">
                <a:solidFill>
                  <a:schemeClr val="bg1"/>
                </a:solidFill>
                <a:latin typeface="Comfortaa" pitchFamily="2" charset="0"/>
              </a:rPr>
              <a:t> 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</a:rPr>
              <a:t>.</a:t>
            </a:r>
            <a:r>
              <a:rPr lang="en-US" sz="2000" b="1" noProof="1">
                <a:solidFill>
                  <a:schemeClr val="bg2"/>
                </a:solidFill>
                <a:latin typeface="Comfortaa" pitchFamily="2" charset="0"/>
              </a:rPr>
              <a:t>Sum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</a:rPr>
              <a:t>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6" y="6155670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mfortaa" pitchFamily="2" charset="0"/>
              </a:rPr>
              <a:t>Check your solution here: </a:t>
            </a:r>
            <a:r>
              <a:rPr lang="en-US" dirty="0">
                <a:latin typeface="Comfortaa" pitchFamily="2" charset="0"/>
                <a:hlinkClick r:id="rId2"/>
              </a:rPr>
              <a:t>https://judge.softuni.bg/Contests/Practice/Index/174#2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2034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44258" y="600653"/>
            <a:ext cx="10283862" cy="828345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Въвеждане на колекция на един ред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44258" y="1428998"/>
            <a:ext cx="10099794" cy="441365"/>
          </a:xfrm>
        </p:spPr>
        <p:txBody>
          <a:bodyPr/>
          <a:lstStyle/>
          <a:p>
            <a:pPr marL="0" indent="0">
              <a:buNone/>
            </a:pPr>
            <a:r>
              <a:rPr lang="bg-BG" sz="2400" dirty="0">
                <a:latin typeface="Comfortaa" pitchFamily="2" charset="0"/>
              </a:rPr>
              <a:t>Изпозвайте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Select()</a:t>
            </a:r>
            <a:r>
              <a:rPr lang="en-US" sz="2400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за въвеждане на колекция</a:t>
            </a:r>
            <a:r>
              <a:rPr lang="en-US" sz="2400" dirty="0">
                <a:latin typeface="Comfortaa" pitchFamily="2" charset="0"/>
              </a:rPr>
              <a:t>:</a:t>
            </a:r>
          </a:p>
          <a:p>
            <a:endParaRPr lang="en-US" sz="2400" dirty="0">
              <a:latin typeface="Comfortaa" pitchFamily="2" charset="0"/>
            </a:endParaRPr>
          </a:p>
          <a:p>
            <a:pPr marL="0" indent="0">
              <a:buNone/>
            </a:pPr>
            <a:endParaRPr lang="en-US" sz="2400" dirty="0">
              <a:latin typeface="Comfortaa" pitchFamily="2" charset="0"/>
            </a:endParaRPr>
          </a:p>
          <a:p>
            <a:pPr marL="0" indent="0">
              <a:buNone/>
            </a:pPr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endParaRPr lang="bg-BG" sz="2400" dirty="0">
              <a:latin typeface="Comfortaa" pitchFamily="2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27385" y="2047924"/>
            <a:ext cx="10016667" cy="1868955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4000" tIns="72000" rIns="144000" bIns="72000">
            <a:spAutoFit/>
          </a:bodyPr>
          <a:lstStyle>
            <a:defPPr>
              <a:defRPr lang="en-US"/>
            </a:defPPr>
            <a:lvl1pPr>
              <a:buClr>
                <a:srgbClr val="F2B254"/>
              </a:buClr>
              <a:buSzPct val="100000"/>
              <a:defRPr sz="2800" b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r>
              <a:rPr lang="en-US" noProof="1">
                <a:solidFill>
                  <a:schemeClr val="bg1"/>
                </a:solidFill>
              </a:rPr>
              <a:t>var nums = Console.ReadLine()</a:t>
            </a:r>
          </a:p>
          <a:p>
            <a:r>
              <a:rPr lang="en-US" noProof="1">
                <a:solidFill>
                  <a:schemeClr val="bg1"/>
                </a:solidFill>
              </a:rPr>
              <a:t>    .Split()</a:t>
            </a:r>
          </a:p>
          <a:p>
            <a:r>
              <a:rPr lang="en-US" noProof="1">
                <a:solidFill>
                  <a:schemeClr val="bg1"/>
                </a:solidFill>
              </a:rPr>
              <a:t>    .</a:t>
            </a:r>
            <a:r>
              <a:rPr lang="en-US" noProof="1">
                <a:solidFill>
                  <a:srgbClr val="00B0F0"/>
                </a:solidFill>
              </a:rPr>
              <a:t>Select</a:t>
            </a:r>
            <a:r>
              <a:rPr lang="en-US" noProof="1">
                <a:solidFill>
                  <a:schemeClr val="bg1"/>
                </a:solidFill>
              </a:rPr>
              <a:t>(number =&gt; double.Parse(number));</a:t>
            </a:r>
          </a:p>
          <a:p>
            <a:r>
              <a:rPr lang="en-US" sz="2400" noProof="1">
                <a:solidFill>
                  <a:schemeClr val="bg1">
                    <a:lumMod val="65000"/>
                  </a:schemeClr>
                </a:solidFill>
              </a:rPr>
              <a:t>//  </a:t>
            </a:r>
            <a:r>
              <a:rPr lang="bg-BG" sz="2400" noProof="1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2400" noProof="1">
                <a:solidFill>
                  <a:schemeClr val="bg1">
                    <a:lumMod val="65000"/>
                  </a:schemeClr>
                </a:solidFill>
              </a:rPr>
              <a:t>.Select(double.Parse); </a:t>
            </a:r>
            <a:r>
              <a:rPr lang="en-US" sz="2400" noProof="1">
                <a:solidFill>
                  <a:schemeClr val="bg1">
                    <a:lumMod val="65000"/>
                  </a:schemeClr>
                </a:solidFill>
                <a:latin typeface="+mn-lt"/>
              </a:rPr>
              <a:t>// </a:t>
            </a:r>
            <a:r>
              <a:rPr lang="bg-BG" sz="2400" noProof="1">
                <a:solidFill>
                  <a:schemeClr val="bg1">
                    <a:lumMod val="65000"/>
                  </a:schemeClr>
                </a:solidFill>
                <a:latin typeface="+mn-lt"/>
              </a:rPr>
              <a:t>къса версия</a:t>
            </a:r>
            <a:endParaRPr lang="en-US" sz="2400" noProof="1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027385" y="4135635"/>
            <a:ext cx="10016667" cy="18074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4000" tIns="72000" rIns="144000" bIns="72000">
            <a:spAutoFit/>
          </a:bodyPr>
          <a:lstStyle>
            <a:defPPr>
              <a:defRPr lang="en-US"/>
            </a:defPPr>
            <a:lvl1pPr>
              <a:buClr>
                <a:srgbClr val="F2B254"/>
              </a:buClr>
              <a:buSzPct val="100000"/>
              <a:defRPr sz="2800" b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r>
              <a:rPr lang="en-US" noProof="1">
                <a:solidFill>
                  <a:schemeClr val="bg1"/>
                </a:solidFill>
              </a:rPr>
              <a:t>var nums = Console.ReadLine()</a:t>
            </a:r>
          </a:p>
          <a:p>
            <a:r>
              <a:rPr lang="en-US" noProof="1">
                <a:solidFill>
                  <a:schemeClr val="bg1"/>
                </a:solidFill>
              </a:rPr>
              <a:t>    .Split()</a:t>
            </a:r>
          </a:p>
          <a:p>
            <a:r>
              <a:rPr lang="en-US" noProof="1">
                <a:solidFill>
                  <a:schemeClr val="bg1"/>
                </a:solidFill>
              </a:rPr>
              <a:t>    .</a:t>
            </a:r>
            <a:r>
              <a:rPr lang="en-US" noProof="1">
                <a:solidFill>
                  <a:srgbClr val="00B0F0"/>
                </a:solidFill>
              </a:rPr>
              <a:t>Select</a:t>
            </a:r>
            <a:r>
              <a:rPr lang="en-US" noProof="1">
                <a:solidFill>
                  <a:schemeClr val="bg1"/>
                </a:solidFill>
              </a:rPr>
              <a:t>(int.Parse);</a:t>
            </a:r>
          </a:p>
          <a:p>
            <a:r>
              <a:rPr lang="en-US" sz="2400" noProof="1">
                <a:solidFill>
                  <a:schemeClr val="bg1">
                    <a:lumMod val="65000"/>
                  </a:schemeClr>
                </a:solidFill>
              </a:rPr>
              <a:t>//  </a:t>
            </a:r>
            <a:r>
              <a:rPr lang="bg-BG" sz="2400" noProof="1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2400" noProof="1">
                <a:solidFill>
                  <a:schemeClr val="bg1">
                    <a:lumMod val="65000"/>
                  </a:schemeClr>
                </a:solidFill>
              </a:rPr>
              <a:t>.Select(number =&gt; int.Parse(number)); </a:t>
            </a:r>
            <a:r>
              <a:rPr lang="en-US" sz="2400" noProof="1">
                <a:solidFill>
                  <a:schemeClr val="bg1">
                    <a:lumMod val="65000"/>
                  </a:schemeClr>
                </a:solidFill>
                <a:latin typeface="+mn-lt"/>
              </a:rPr>
              <a:t>// </a:t>
            </a:r>
            <a:r>
              <a:rPr lang="bg-BG" sz="2400" noProof="1">
                <a:solidFill>
                  <a:schemeClr val="bg1">
                    <a:lumMod val="65000"/>
                  </a:schemeClr>
                </a:solidFill>
                <a:latin typeface="+mn-lt"/>
              </a:rPr>
              <a:t>дълга версия</a:t>
            </a:r>
            <a:endParaRPr lang="en-US" sz="2400" noProof="1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78585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97919" y="445243"/>
            <a:ext cx="9879879" cy="818491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Преобразуване на колекция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96331" y="1263734"/>
            <a:ext cx="9879879" cy="52944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bg-BG" sz="2400" dirty="0">
                <a:latin typeface="Comfortaa" pitchFamily="2" charset="0"/>
              </a:rPr>
              <a:t>Използвайте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</a:rPr>
              <a:t>ToArray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()</a:t>
            </a:r>
            <a:r>
              <a:rPr lang="bg-BG" sz="2400" dirty="0">
                <a:latin typeface="Comfortaa" pitchFamily="2" charset="0"/>
              </a:rPr>
              <a:t> и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ToList() </a:t>
            </a:r>
            <a:r>
              <a:rPr lang="bg-BG" sz="2400" dirty="0">
                <a:latin typeface="Comfortaa" pitchFamily="2" charset="0"/>
              </a:rPr>
              <a:t>за преобразуване на колекция</a:t>
            </a:r>
            <a:r>
              <a:rPr lang="en-US" sz="2400" dirty="0">
                <a:latin typeface="Comfortaa" pitchFamily="2" charset="0"/>
              </a:rPr>
              <a:t>:</a:t>
            </a:r>
            <a:endParaRPr lang="bg-BG" sz="2400" dirty="0">
              <a:latin typeface="Comfortaa" pitchFamily="2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079458" y="1864425"/>
            <a:ext cx="9798340" cy="211517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4000" tIns="72000" rIns="144000" bIns="72000">
            <a:spAutoFit/>
          </a:bodyPr>
          <a:lstStyle>
            <a:defPPr>
              <a:defRPr lang="en-US"/>
            </a:defPPr>
            <a:lvl1pPr>
              <a:buClr>
                <a:srgbClr val="F2B254"/>
              </a:buClr>
              <a:buSzPct val="100000"/>
              <a:defRPr sz="2800" b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r>
              <a:rPr lang="en-US" sz="3200" noProof="1">
                <a:solidFill>
                  <a:schemeClr val="bg1"/>
                </a:solidFill>
                <a:effectLst/>
              </a:rPr>
              <a:t>int[] nums = Console.ReadLine()</a:t>
            </a:r>
          </a:p>
          <a:p>
            <a:r>
              <a:rPr lang="en-US" sz="3200" noProof="1">
                <a:solidFill>
                  <a:schemeClr val="bg1"/>
                </a:solidFill>
                <a:effectLst/>
              </a:rPr>
              <a:t>  .Split()</a:t>
            </a:r>
          </a:p>
          <a:p>
            <a:r>
              <a:rPr lang="en-US" sz="3200" noProof="1">
                <a:solidFill>
                  <a:schemeClr val="bg1"/>
                </a:solidFill>
                <a:effectLst/>
              </a:rPr>
              <a:t>  .Select(number =&gt; int.Parse(number))</a:t>
            </a:r>
          </a:p>
          <a:p>
            <a:r>
              <a:rPr lang="en-US" sz="3200" noProof="1">
                <a:solidFill>
                  <a:schemeClr val="bg1"/>
                </a:solidFill>
                <a:effectLst/>
              </a:rPr>
              <a:t>  .</a:t>
            </a:r>
            <a:r>
              <a:rPr lang="en-US" sz="3200" noProof="1">
                <a:solidFill>
                  <a:srgbClr val="00B0F0"/>
                </a:solidFill>
                <a:effectLst/>
              </a:rPr>
              <a:t>ToArray</a:t>
            </a:r>
            <a:r>
              <a:rPr lang="en-US" sz="3200" noProof="1">
                <a:solidFill>
                  <a:schemeClr val="bg1"/>
                </a:solidFill>
                <a:effectLst/>
              </a:rPr>
              <a:t>();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079458" y="4238203"/>
            <a:ext cx="9798340" cy="211517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4000" tIns="72000" rIns="144000" bIns="72000">
            <a:spAutoFit/>
          </a:bodyPr>
          <a:lstStyle>
            <a:defPPr>
              <a:defRPr lang="en-US"/>
            </a:defPPr>
            <a:lvl1pPr>
              <a:buClr>
                <a:srgbClr val="F2B254"/>
              </a:buClr>
              <a:buSzPct val="100000"/>
              <a:defRPr sz="2800" b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r>
              <a:rPr lang="en-US" sz="3200" noProof="1">
                <a:solidFill>
                  <a:schemeClr val="bg1"/>
                </a:solidFill>
                <a:effectLst/>
              </a:rPr>
              <a:t>List&lt;double&gt; nums = Console.ReadLine()</a:t>
            </a:r>
          </a:p>
          <a:p>
            <a:r>
              <a:rPr lang="en-US" sz="3200" noProof="1">
                <a:solidFill>
                  <a:schemeClr val="bg1"/>
                </a:solidFill>
                <a:effectLst/>
              </a:rPr>
              <a:t>  .Split()</a:t>
            </a:r>
          </a:p>
          <a:p>
            <a:r>
              <a:rPr lang="en-US" sz="3200" noProof="1">
                <a:solidFill>
                  <a:schemeClr val="bg1"/>
                </a:solidFill>
                <a:effectLst/>
              </a:rPr>
              <a:t>  .Select(double.Parse)</a:t>
            </a:r>
          </a:p>
          <a:p>
            <a:r>
              <a:rPr lang="en-US" sz="3200" noProof="1">
                <a:solidFill>
                  <a:schemeClr val="bg1"/>
                </a:solidFill>
                <a:effectLst/>
              </a:rPr>
              <a:t>  .</a:t>
            </a:r>
            <a:r>
              <a:rPr lang="en-US" sz="3200" noProof="1">
                <a:solidFill>
                  <a:srgbClr val="00B0F0"/>
                </a:solidFill>
                <a:effectLst/>
              </a:rPr>
              <a:t>ToList</a:t>
            </a:r>
            <a:r>
              <a:rPr lang="en-US" sz="3200" noProof="1">
                <a:solidFill>
                  <a:schemeClr val="bg1"/>
                </a:solidFill>
                <a:effectLst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851455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6385" y="354445"/>
            <a:ext cx="10519229" cy="967172"/>
          </a:xfrm>
        </p:spPr>
        <p:txBody>
          <a:bodyPr>
            <a:normAutofit/>
          </a:bodyPr>
          <a:lstStyle/>
          <a:p>
            <a:r>
              <a:rPr lang="bg-BG" sz="3600" b="1" dirty="0">
                <a:latin typeface="Comfortaa" pitchFamily="2" charset="0"/>
              </a:rPr>
              <a:t>Подреждане (сортиране) на колекция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51498" y="1321617"/>
            <a:ext cx="10913100" cy="3482612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Използвайте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OrderBy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()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за сортиране на колекция</a:t>
            </a:r>
            <a:r>
              <a:rPr lang="en-US" dirty="0">
                <a:latin typeface="Comfortaa" pitchFamily="2" charset="0"/>
              </a:rPr>
              <a:t>:</a:t>
            </a:r>
            <a:endParaRPr lang="bg-BG" dirty="0">
              <a:latin typeface="Comfortaa" pitchFamily="2" charset="0"/>
            </a:endParaRPr>
          </a:p>
          <a:p>
            <a:endParaRPr lang="bg-BG" dirty="0">
              <a:latin typeface="Comfortaa" pitchFamily="2" charset="0"/>
            </a:endParaRPr>
          </a:p>
          <a:p>
            <a:endParaRPr lang="bg-BG" dirty="0">
              <a:latin typeface="Comfortaa" pitchFamily="2" charset="0"/>
            </a:endParaRPr>
          </a:p>
          <a:p>
            <a:endParaRPr lang="bg-BG" dirty="0">
              <a:latin typeface="Comfortaa" pitchFamily="2" charset="0"/>
            </a:endParaRPr>
          </a:p>
          <a:p>
            <a:pPr marL="0" indent="0">
              <a:buNone/>
            </a:pPr>
            <a:endParaRPr lang="bg-BG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Използвайте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OrderByDescending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()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за сортиране на колекция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endParaRPr lang="en-US" dirty="0">
              <a:latin typeface="Comfortaa" pitchFamily="2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978069" y="1904760"/>
            <a:ext cx="10268688" cy="186895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4000" tIns="72000" rIns="144000" bIns="72000">
            <a:spAutoFit/>
          </a:bodyPr>
          <a:lstStyle>
            <a:defPPr>
              <a:defRPr lang="en-US"/>
            </a:defPPr>
            <a:lvl1pPr>
              <a:buClr>
                <a:srgbClr val="F2B254"/>
              </a:buClr>
              <a:buSzPct val="100000"/>
              <a:defRPr sz="2800" b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r>
              <a:rPr lang="en-US" noProof="1">
                <a:solidFill>
                  <a:schemeClr val="bg1"/>
                </a:solidFill>
              </a:rPr>
              <a:t>List&lt;int&gt; nums = { 1, 5, 2, 4, 3 };</a:t>
            </a:r>
          </a:p>
          <a:p>
            <a:r>
              <a:rPr lang="en-US" noProof="1">
                <a:solidFill>
                  <a:schemeClr val="bg1"/>
                </a:solidFill>
              </a:rPr>
              <a:t>nums = nums</a:t>
            </a:r>
          </a:p>
          <a:p>
            <a:r>
              <a:rPr lang="en-US" noProof="1">
                <a:solidFill>
                  <a:schemeClr val="bg1"/>
                </a:solidFill>
              </a:rPr>
              <a:t>  .</a:t>
            </a:r>
            <a:r>
              <a:rPr lang="en-US" noProof="1">
                <a:solidFill>
                  <a:srgbClr val="00B0F0"/>
                </a:solidFill>
              </a:rPr>
              <a:t>OrderBy</a:t>
            </a:r>
            <a:r>
              <a:rPr lang="en-US" noProof="1">
                <a:solidFill>
                  <a:schemeClr val="bg1"/>
                </a:solidFill>
              </a:rPr>
              <a:t>(num =&gt; num)</a:t>
            </a:r>
          </a:p>
          <a:p>
            <a:r>
              <a:rPr lang="en-US" noProof="1">
                <a:solidFill>
                  <a:schemeClr val="bg1"/>
                </a:solidFill>
              </a:rPr>
              <a:t>  .ToList();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978069" y="4804229"/>
            <a:ext cx="10268688" cy="143806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4000" tIns="72000" rIns="144000" bIns="72000">
            <a:spAutoFit/>
          </a:bodyPr>
          <a:lstStyle>
            <a:defPPr>
              <a:defRPr lang="en-US"/>
            </a:defPPr>
            <a:lvl1pPr>
              <a:buClr>
                <a:srgbClr val="F2B254"/>
              </a:buClr>
              <a:buSzPct val="100000"/>
              <a:defRPr sz="2800" b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r>
              <a:rPr lang="en-US" noProof="1">
                <a:solidFill>
                  <a:schemeClr val="bg1"/>
                </a:solidFill>
              </a:rPr>
              <a:t>List&lt;int&gt; nums = { 1, 5, 2, 4, 3 };</a:t>
            </a:r>
          </a:p>
          <a:p>
            <a:r>
              <a:rPr lang="en-US" noProof="1">
                <a:solidFill>
                  <a:schemeClr val="bg1"/>
                </a:solidFill>
              </a:rPr>
              <a:t>nums = nums.</a:t>
            </a:r>
            <a:r>
              <a:rPr lang="en-US" noProof="1">
                <a:solidFill>
                  <a:srgbClr val="00B0F0"/>
                </a:solidFill>
              </a:rPr>
              <a:t>OrderByDescending</a:t>
            </a:r>
            <a:r>
              <a:rPr lang="en-US" noProof="1">
                <a:solidFill>
                  <a:schemeClr val="bg1"/>
                </a:solidFill>
              </a:rPr>
              <a:t>(num =&gt; num).ToList();</a:t>
            </a:r>
          </a:p>
          <a:p>
            <a:r>
              <a:rPr lang="en-US" noProof="1">
                <a:solidFill>
                  <a:schemeClr val="bg1"/>
                </a:solidFill>
              </a:rPr>
              <a:t>Console.WriteLine(String.Join(", ", nums));</a:t>
            </a:r>
          </a:p>
        </p:txBody>
      </p:sp>
    </p:spTree>
    <p:extLst>
      <p:ext uri="{BB962C8B-B14F-4D97-AF65-F5344CB8AC3E}">
        <p14:creationId xmlns:p14="http://schemas.microsoft.com/office/powerpoint/2010/main" val="1314893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4900" y="771525"/>
            <a:ext cx="108822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Сортиране на колекция по повече критерии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54900" y="2232025"/>
            <a:ext cx="10911511" cy="6418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dirty="0">
                <a:latin typeface="Comfortaa" pitchFamily="2" charset="0"/>
              </a:rPr>
              <a:t>Използвайте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</a:rPr>
              <a:t>ThenBy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() </a:t>
            </a:r>
            <a:r>
              <a:rPr lang="bg-BG" sz="2400" dirty="0">
                <a:latin typeface="Comfortaa" pitchFamily="2" charset="0"/>
              </a:rPr>
              <a:t>за сортиране по повече критерии</a:t>
            </a:r>
            <a:r>
              <a:rPr lang="en-US" sz="2400" dirty="0">
                <a:latin typeface="Comfortaa" pitchFamily="2" charset="0"/>
              </a:rPr>
              <a:t>:</a:t>
            </a:r>
            <a:endParaRPr lang="bg-BG" sz="2400" dirty="0">
              <a:latin typeface="Comfortaa" pitchFamily="2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54900" y="2873830"/>
            <a:ext cx="10882200" cy="311698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4000" tIns="72000" rIns="144000" bIns="72000">
            <a:spAutoFit/>
          </a:bodyPr>
          <a:lstStyle>
            <a:defPPr>
              <a:defRPr lang="en-US"/>
            </a:defPPr>
            <a:lvl1pPr>
              <a:buClr>
                <a:srgbClr val="F2B254"/>
              </a:buClr>
              <a:buSzPct val="100000"/>
              <a:defRPr sz="2800" b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en-US" noProof="1">
                <a:solidFill>
                  <a:schemeClr val="bg1"/>
                </a:solidFill>
              </a:rPr>
              <a:t>Dictionary&lt;int, string&gt; products = </a:t>
            </a:r>
          </a:p>
          <a:p>
            <a:pPr>
              <a:lnSpc>
                <a:spcPct val="110000"/>
              </a:lnSpc>
            </a:pPr>
            <a:r>
              <a:rPr lang="en-US" noProof="1">
                <a:solidFill>
                  <a:schemeClr val="bg1"/>
                </a:solidFill>
              </a:rPr>
              <a:t>  new Dictionary&lt;int, string&gt;();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noProof="1">
                <a:solidFill>
                  <a:schemeClr val="bg1"/>
                </a:solidFill>
              </a:rPr>
              <a:t>Dictionary&lt;int, string&gt; sortedDict = products</a:t>
            </a:r>
          </a:p>
          <a:p>
            <a:pPr>
              <a:lnSpc>
                <a:spcPct val="110000"/>
              </a:lnSpc>
            </a:pPr>
            <a:r>
              <a:rPr lang="en-US" noProof="1">
                <a:solidFill>
                  <a:schemeClr val="bg1"/>
                </a:solidFill>
              </a:rPr>
              <a:t>  .OrderBy(pair =&gt; pair.Value)</a:t>
            </a:r>
          </a:p>
          <a:p>
            <a:pPr>
              <a:lnSpc>
                <a:spcPct val="110000"/>
              </a:lnSpc>
            </a:pPr>
            <a:r>
              <a:rPr lang="en-US" noProof="1">
                <a:solidFill>
                  <a:schemeClr val="bg1"/>
                </a:solidFill>
              </a:rPr>
              <a:t>  .</a:t>
            </a:r>
            <a:r>
              <a:rPr lang="en-US" noProof="1">
                <a:solidFill>
                  <a:srgbClr val="00B0F0"/>
                </a:solidFill>
              </a:rPr>
              <a:t>ThenBy</a:t>
            </a:r>
            <a:r>
              <a:rPr lang="en-US" noProof="1">
                <a:solidFill>
                  <a:schemeClr val="bg1"/>
                </a:solidFill>
              </a:rPr>
              <a:t>(pair =&gt; pair.Key)</a:t>
            </a:r>
          </a:p>
          <a:p>
            <a:pPr>
              <a:lnSpc>
                <a:spcPct val="110000"/>
              </a:lnSpc>
            </a:pPr>
            <a:r>
              <a:rPr lang="en-US" noProof="1">
                <a:solidFill>
                  <a:schemeClr val="bg1"/>
                </a:solidFill>
              </a:rPr>
              <a:t>  .ToDictionary(pair =&gt; pair.Key, pair =&gt; pair.Value);</a:t>
            </a:r>
          </a:p>
        </p:txBody>
      </p:sp>
    </p:spTree>
    <p:extLst>
      <p:ext uri="{BB962C8B-B14F-4D97-AF65-F5344CB8AC3E}">
        <p14:creationId xmlns:p14="http://schemas.microsoft.com/office/powerpoint/2010/main" val="1069452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3313" y="430440"/>
            <a:ext cx="9991608" cy="1213758"/>
          </a:xfrm>
        </p:spPr>
        <p:txBody>
          <a:bodyPr>
            <a:normAutofit fontScale="90000"/>
          </a:bodyPr>
          <a:lstStyle/>
          <a:p>
            <a:r>
              <a:rPr lang="bg-BG" dirty="0">
                <a:latin typeface="Comfortaa" pitchFamily="2" charset="0"/>
              </a:rPr>
              <a:t>Вземане и пропускане на елементи от колекция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53312" y="1644197"/>
            <a:ext cx="10849259" cy="533053"/>
          </a:xfrm>
        </p:spPr>
        <p:txBody>
          <a:bodyPr/>
          <a:lstStyle/>
          <a:p>
            <a:pPr marL="0" indent="0">
              <a:buNone/>
            </a:pPr>
            <a:r>
              <a:rPr lang="bg-BG" dirty="0">
                <a:latin typeface="Comfortaa" pitchFamily="2" charset="0"/>
              </a:rPr>
              <a:t>Използвайте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Take()</a:t>
            </a:r>
            <a:r>
              <a:rPr lang="bg-BG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Skip()</a:t>
            </a:r>
            <a:endParaRPr lang="en-US" dirty="0">
              <a:solidFill>
                <a:srgbClr val="00B0F0"/>
              </a:solidFill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bg-BG" dirty="0">
              <a:latin typeface="Comfortaa" pitchFamily="2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772970" y="2257079"/>
            <a:ext cx="10613833" cy="186895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4000" tIns="72000" rIns="144000" bIns="72000">
            <a:spAutoFit/>
          </a:bodyPr>
          <a:lstStyle>
            <a:defPPr>
              <a:defRPr lang="en-US"/>
            </a:defPPr>
            <a:lvl1pPr>
              <a:buClr>
                <a:srgbClr val="F2B254"/>
              </a:buClr>
              <a:buSzPct val="100000"/>
              <a:defRPr sz="2800" b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r>
              <a:rPr lang="en-US" noProof="1">
                <a:solidFill>
                  <a:schemeClr val="bg1"/>
                </a:solidFill>
                <a:effectLst/>
              </a:rPr>
              <a:t>var nums = new List&lt;int&gt;() { 10, 20, 30, 40, 50, 60}</a:t>
            </a:r>
          </a:p>
          <a:p>
            <a:r>
              <a:rPr lang="en-US" noProof="1">
                <a:solidFill>
                  <a:schemeClr val="bg1"/>
                </a:solidFill>
                <a:effectLst/>
              </a:rPr>
              <a:t>  .</a:t>
            </a:r>
            <a:r>
              <a:rPr lang="en-US" noProof="1">
                <a:solidFill>
                  <a:srgbClr val="00B0F0"/>
                </a:solidFill>
                <a:effectLst/>
              </a:rPr>
              <a:t>Take</a:t>
            </a:r>
            <a:r>
              <a:rPr lang="en-US" noProof="1">
                <a:solidFill>
                  <a:schemeClr val="bg1"/>
                </a:solidFill>
                <a:effectLst/>
              </a:rPr>
              <a:t>(3)</a:t>
            </a:r>
          </a:p>
          <a:p>
            <a:r>
              <a:rPr lang="en-US" noProof="1">
                <a:solidFill>
                  <a:schemeClr val="bg1"/>
                </a:solidFill>
                <a:effectLst/>
              </a:rPr>
              <a:t>  .ToArray(); </a:t>
            </a:r>
          </a:p>
          <a:p>
            <a:r>
              <a:rPr lang="en-US" noProof="1">
                <a:solidFill>
                  <a:schemeClr val="bg1">
                    <a:lumMod val="65000"/>
                  </a:schemeClr>
                </a:solidFill>
                <a:effectLst/>
              </a:rPr>
              <a:t>// nums = [10, 20, 30]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772970" y="4412344"/>
            <a:ext cx="10613833" cy="186895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4000" tIns="72000" rIns="144000" bIns="72000">
            <a:spAutoFit/>
          </a:bodyPr>
          <a:lstStyle>
            <a:defPPr>
              <a:defRPr lang="en-US"/>
            </a:defPPr>
            <a:lvl1pPr>
              <a:buClr>
                <a:srgbClr val="F2B254"/>
              </a:buClr>
              <a:buSzPct val="100000"/>
              <a:defRPr sz="2800" b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r>
              <a:rPr lang="en-US" noProof="1">
                <a:solidFill>
                  <a:schemeClr val="bg1"/>
                </a:solidFill>
                <a:effectLst/>
              </a:rPr>
              <a:t>var nums = new List&lt;int&gt;() { 10, 20, 30, 40, 50, 60}</a:t>
            </a:r>
          </a:p>
          <a:p>
            <a:r>
              <a:rPr lang="en-US" noProof="1">
                <a:solidFill>
                  <a:schemeClr val="bg1"/>
                </a:solidFill>
                <a:effectLst/>
              </a:rPr>
              <a:t>  .</a:t>
            </a:r>
            <a:r>
              <a:rPr lang="en-US" noProof="1">
                <a:solidFill>
                  <a:srgbClr val="00B0F0"/>
                </a:solidFill>
                <a:effectLst/>
              </a:rPr>
              <a:t>Skip</a:t>
            </a:r>
            <a:r>
              <a:rPr lang="en-US" noProof="1">
                <a:solidFill>
                  <a:schemeClr val="bg1"/>
                </a:solidFill>
                <a:effectLst/>
              </a:rPr>
              <a:t>(3).Take(2)</a:t>
            </a:r>
          </a:p>
          <a:p>
            <a:r>
              <a:rPr lang="en-US" noProof="1">
                <a:solidFill>
                  <a:schemeClr val="bg1"/>
                </a:solidFill>
                <a:effectLst/>
              </a:rPr>
              <a:t>  .ToArray(); </a:t>
            </a:r>
          </a:p>
          <a:p>
            <a:r>
              <a:rPr lang="en-US" noProof="1">
                <a:solidFill>
                  <a:schemeClr val="bg1">
                    <a:lumMod val="65000"/>
                  </a:schemeClr>
                </a:solidFill>
                <a:effectLst/>
              </a:rPr>
              <a:t>// nums = [40, 30]</a:t>
            </a:r>
          </a:p>
        </p:txBody>
      </p:sp>
    </p:spTree>
    <p:extLst>
      <p:ext uri="{BB962C8B-B14F-4D97-AF65-F5344CB8AC3E}">
        <p14:creationId xmlns:p14="http://schemas.microsoft.com/office/powerpoint/2010/main" val="1476334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3733" y="590097"/>
            <a:ext cx="10515600" cy="1026542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Задача: Трите най-големи числа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02099" y="1616639"/>
            <a:ext cx="9372913" cy="1164956"/>
          </a:xfrm>
        </p:spPr>
        <p:txBody>
          <a:bodyPr/>
          <a:lstStyle/>
          <a:p>
            <a:pPr marL="0" indent="0">
              <a:buNone/>
            </a:pPr>
            <a:r>
              <a:rPr lang="bg-BG" dirty="0">
                <a:latin typeface="Comfortaa" pitchFamily="2" charset="0"/>
              </a:rPr>
              <a:t>Въведете списък от реални числа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извдете </a:t>
            </a:r>
            <a:r>
              <a:rPr lang="en-US" dirty="0">
                <a:latin typeface="Comfortaa" pitchFamily="2" charset="0"/>
              </a:rPr>
              <a:t>3</a:t>
            </a:r>
            <a:r>
              <a:rPr lang="bg-BG" dirty="0">
                <a:latin typeface="Comfortaa" pitchFamily="2" charset="0"/>
              </a:rPr>
              <a:t>-те най-големи от тях</a:t>
            </a:r>
            <a:endParaRPr lang="en-US" dirty="0">
              <a:latin typeface="Comfortaa" pitchFamily="2" charset="0"/>
            </a:endParaRPr>
          </a:p>
          <a:p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667000" y="2747020"/>
            <a:ext cx="3554104" cy="55630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10 </a:t>
            </a:r>
            <a:r>
              <a:rPr lang="en-US" sz="2800" b="1" noProof="1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30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15 </a:t>
            </a:r>
            <a:r>
              <a:rPr lang="en-US" sz="2800" b="1" noProof="1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20 50 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5</a:t>
            </a:r>
            <a:endParaRPr lang="it-IT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778171" y="2747020"/>
            <a:ext cx="1981200" cy="55630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50 30 20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5633" y="5925039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mfortaa" pitchFamily="2" charset="0"/>
              </a:rPr>
              <a:t>Check your solution here: </a:t>
            </a:r>
            <a:r>
              <a:rPr lang="en-US" dirty="0">
                <a:latin typeface="Comfortaa" pitchFamily="2" charset="0"/>
                <a:hlinkClick r:id="rId2"/>
              </a:rPr>
              <a:t>https://judge.softuni.bg/Contests/Practice/Index/174#3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6221104" y="2834673"/>
            <a:ext cx="557067" cy="381000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4764656" y="3928716"/>
            <a:ext cx="1447800" cy="55630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20 30</a:t>
            </a:r>
            <a:endParaRPr lang="it-IT" sz="28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6805027" y="3928716"/>
            <a:ext cx="1322696" cy="55630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30 20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221104" y="4000596"/>
            <a:ext cx="557067" cy="381000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667000" y="5078866"/>
            <a:ext cx="3554104" cy="55630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it-IT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0 -5 -1 -3 -2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6778171" y="5078866"/>
            <a:ext cx="1981200" cy="55630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0 -1 -2</a:t>
            </a:r>
          </a:p>
        </p:txBody>
      </p:sp>
      <p:sp>
        <p:nvSpPr>
          <p:cNvPr id="14" name="Right Arrow 15"/>
          <p:cNvSpPr/>
          <p:nvPr/>
        </p:nvSpPr>
        <p:spPr>
          <a:xfrm>
            <a:off x="6221104" y="5166519"/>
            <a:ext cx="557067" cy="381000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488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94443" y="501647"/>
            <a:ext cx="10403114" cy="955462"/>
          </a:xfrm>
        </p:spPr>
        <p:txBody>
          <a:bodyPr>
            <a:normAutofit/>
          </a:bodyPr>
          <a:lstStyle/>
          <a:p>
            <a:r>
              <a:rPr lang="bg-BG" sz="4000" b="1" dirty="0">
                <a:latin typeface="Comfortaa" pitchFamily="2" charset="0"/>
              </a:rPr>
              <a:t>Решение</a:t>
            </a:r>
            <a:r>
              <a:rPr lang="en-US" sz="4000" b="1" dirty="0">
                <a:latin typeface="Comfortaa" pitchFamily="2" charset="0"/>
              </a:rPr>
              <a:t>: </a:t>
            </a:r>
            <a:r>
              <a:rPr lang="bg-BG" sz="4000" b="1" dirty="0">
                <a:latin typeface="Comfortaa" pitchFamily="2" charset="0"/>
              </a:rPr>
              <a:t>Трите най-големи числа</a:t>
            </a:r>
            <a:endParaRPr lang="en-US" sz="4000" b="1" dirty="0">
              <a:latin typeface="Comfortaa" pitchFamily="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94444" y="6040207"/>
            <a:ext cx="10403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mfortaa" pitchFamily="2" charset="0"/>
              </a:rPr>
              <a:t>Check your solution here: </a:t>
            </a:r>
            <a:r>
              <a:rPr lang="en-US" dirty="0">
                <a:latin typeface="Comfortaa" pitchFamily="2" charset="0"/>
                <a:hlinkClick r:id="rId2"/>
              </a:rPr>
              <a:t>https://judge.softuni.bg/Contests/Practice/Index/174#3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23124" y="1457108"/>
            <a:ext cx="10374433" cy="441118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4000" tIns="72000" rIns="144000" bIns="72000">
            <a:spAutoFit/>
          </a:bodyPr>
          <a:lstStyle>
            <a:defPPr>
              <a:defRPr lang="en-US"/>
            </a:defPPr>
            <a:lvl1pPr>
              <a:buClr>
                <a:srgbClr val="F2B254"/>
              </a:buClr>
              <a:buSzPct val="100000"/>
              <a:defRPr b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en-US" sz="2800" noProof="1">
                <a:solidFill>
                  <a:schemeClr val="bg1"/>
                </a:solidFill>
                <a:effectLst/>
              </a:rPr>
              <a:t>List&lt;int&gt; nums = Console.ReadLine().Split()</a:t>
            </a:r>
          </a:p>
          <a:p>
            <a:pPr>
              <a:lnSpc>
                <a:spcPct val="110000"/>
              </a:lnSpc>
            </a:pPr>
            <a:r>
              <a:rPr lang="en-US" sz="2800" noProof="1">
                <a:solidFill>
                  <a:schemeClr val="bg1"/>
                </a:solidFill>
                <a:effectLst/>
              </a:rPr>
              <a:t>  </a:t>
            </a:r>
            <a:r>
              <a:rPr lang="en-US" sz="2800" noProof="1">
                <a:solidFill>
                  <a:srgbClr val="00B0F0"/>
                </a:solidFill>
                <a:effectLst/>
              </a:rPr>
              <a:t>.Select(int.Parse)</a:t>
            </a:r>
          </a:p>
          <a:p>
            <a:pPr>
              <a:lnSpc>
                <a:spcPct val="110000"/>
              </a:lnSpc>
            </a:pPr>
            <a:r>
              <a:rPr lang="en-US" sz="2800" noProof="1">
                <a:solidFill>
                  <a:srgbClr val="00B0F0"/>
                </a:solidFill>
                <a:effectLst/>
              </a:rPr>
              <a:t>  .ToList();</a:t>
            </a:r>
          </a:p>
          <a:p>
            <a:pPr>
              <a:lnSpc>
                <a:spcPct val="110000"/>
              </a:lnSpc>
            </a:pPr>
            <a:endParaRPr lang="en-US" sz="2800" noProof="1">
              <a:solidFill>
                <a:schemeClr val="bg1"/>
              </a:solidFill>
              <a:effectLst/>
            </a:endParaRPr>
          </a:p>
          <a:p>
            <a:pPr>
              <a:lnSpc>
                <a:spcPct val="110000"/>
              </a:lnSpc>
            </a:pPr>
            <a:r>
              <a:rPr lang="en-US" sz="2800" noProof="1">
                <a:solidFill>
                  <a:schemeClr val="bg1"/>
                </a:solidFill>
                <a:effectLst/>
              </a:rPr>
              <a:t>var sortedNums = nums.</a:t>
            </a:r>
            <a:r>
              <a:rPr lang="en-US" sz="2800" noProof="1">
                <a:solidFill>
                  <a:srgbClr val="00B0F0"/>
                </a:solidFill>
                <a:effectLst/>
              </a:rPr>
              <a:t>OrderByDescending</a:t>
            </a:r>
            <a:r>
              <a:rPr lang="en-US" sz="2800" noProof="1">
                <a:solidFill>
                  <a:schemeClr val="bg1"/>
                </a:solidFill>
                <a:effectLst/>
              </a:rPr>
              <a:t>(</a:t>
            </a:r>
            <a:r>
              <a:rPr lang="en-US" sz="2800" noProof="1">
                <a:solidFill>
                  <a:srgbClr val="00B0F0"/>
                </a:solidFill>
                <a:effectLst/>
              </a:rPr>
              <a:t>x =&gt; x</a:t>
            </a:r>
            <a:r>
              <a:rPr lang="en-US" sz="2800" noProof="1">
                <a:solidFill>
                  <a:schemeClr val="bg1"/>
                </a:solidFill>
                <a:effectLst/>
              </a:rPr>
              <a:t>);</a:t>
            </a:r>
          </a:p>
          <a:p>
            <a:pPr>
              <a:lnSpc>
                <a:spcPct val="110000"/>
              </a:lnSpc>
            </a:pPr>
            <a:endParaRPr lang="en-US" sz="2800" noProof="1">
              <a:solidFill>
                <a:schemeClr val="bg1"/>
              </a:solidFill>
              <a:effectLst/>
            </a:endParaRPr>
          </a:p>
          <a:p>
            <a:pPr>
              <a:lnSpc>
                <a:spcPct val="110000"/>
              </a:lnSpc>
            </a:pPr>
            <a:r>
              <a:rPr lang="en-US" sz="2800" noProof="1">
                <a:solidFill>
                  <a:schemeClr val="bg1"/>
                </a:solidFill>
                <a:effectLst/>
              </a:rPr>
              <a:t>var largest3Nums = sortedNums.</a:t>
            </a:r>
            <a:r>
              <a:rPr lang="en-US" sz="2800" noProof="1">
                <a:solidFill>
                  <a:srgbClr val="00B0F0"/>
                </a:solidFill>
                <a:effectLst/>
              </a:rPr>
              <a:t>Take</a:t>
            </a:r>
            <a:r>
              <a:rPr lang="en-US" sz="2800" noProof="1">
                <a:solidFill>
                  <a:schemeClr val="bg1"/>
                </a:solidFill>
                <a:effectLst/>
              </a:rPr>
              <a:t>(</a:t>
            </a:r>
            <a:r>
              <a:rPr lang="en-US" sz="2800" noProof="1">
                <a:solidFill>
                  <a:srgbClr val="00B0F0"/>
                </a:solidFill>
                <a:effectLst/>
              </a:rPr>
              <a:t>3</a:t>
            </a:r>
            <a:r>
              <a:rPr lang="en-US" sz="2800" noProof="1">
                <a:solidFill>
                  <a:schemeClr val="bg1"/>
                </a:solidFill>
                <a:effectLst/>
              </a:rPr>
              <a:t>);</a:t>
            </a:r>
          </a:p>
          <a:p>
            <a:pPr>
              <a:lnSpc>
                <a:spcPct val="110000"/>
              </a:lnSpc>
            </a:pPr>
            <a:endParaRPr lang="en-US" sz="2800" noProof="1">
              <a:solidFill>
                <a:schemeClr val="bg1"/>
              </a:solidFill>
              <a:effectLst/>
            </a:endParaRPr>
          </a:p>
          <a:p>
            <a:pPr>
              <a:lnSpc>
                <a:spcPct val="110000"/>
              </a:lnSpc>
            </a:pPr>
            <a:r>
              <a:rPr lang="en-US" sz="2800" noProof="1">
                <a:solidFill>
                  <a:schemeClr val="bg1"/>
                </a:solidFill>
                <a:effectLst/>
              </a:rPr>
              <a:t>Console.WriteLine(string.Join(" ", largest3Nums));</a:t>
            </a:r>
          </a:p>
        </p:txBody>
      </p:sp>
    </p:spTree>
    <p:extLst>
      <p:ext uri="{BB962C8B-B14F-4D97-AF65-F5344CB8AC3E}">
        <p14:creationId xmlns:p14="http://schemas.microsoft.com/office/powerpoint/2010/main" val="3670282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433286" y="561068"/>
            <a:ext cx="9147628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Какво научихме?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433286" y="1886631"/>
            <a:ext cx="8443999" cy="4527162"/>
          </a:xfrm>
        </p:spPr>
        <p:txBody>
          <a:bodyPr>
            <a:normAutofit/>
          </a:bodyPr>
          <a:lstStyle/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en-US" dirty="0">
                <a:latin typeface="Comfortaa" pitchFamily="2" charset="0"/>
              </a:rPr>
              <a:t>LINQ</a:t>
            </a:r>
            <a:r>
              <a:rPr lang="bg-BG" dirty="0">
                <a:latin typeface="Comfortaa" pitchFamily="2" charset="0"/>
              </a:rPr>
              <a:t> е библиотека, която ни помага при обработката на колекции</a:t>
            </a: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Можем да:</a:t>
            </a:r>
          </a:p>
          <a:p>
            <a:pPr marL="761946" lvl="1" indent="-457200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Въвеждаме на колекция на един ред</a:t>
            </a:r>
          </a:p>
          <a:p>
            <a:pPr marL="761946" lvl="1" indent="-457200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Преобразуване на колекция</a:t>
            </a:r>
          </a:p>
          <a:p>
            <a:pPr marL="761946" lvl="1" indent="-457200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Подреждаме (сортираме) на колекция</a:t>
            </a:r>
          </a:p>
          <a:p>
            <a:pPr marL="761946" lvl="1" indent="-457200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Вземаме / пропускаме на елементи</a:t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от колекция</a:t>
            </a:r>
          </a:p>
        </p:txBody>
      </p:sp>
    </p:spTree>
    <p:extLst>
      <p:ext uri="{BB962C8B-B14F-4D97-AF65-F5344CB8AC3E}">
        <p14:creationId xmlns:p14="http://schemas.microsoft.com/office/powerpoint/2010/main" val="144010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</TotalTime>
  <Words>1158</Words>
  <Application>Microsoft Office PowerPoint</Application>
  <PresentationFormat>Widescreen</PresentationFormat>
  <Paragraphs>156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Comfortaa</vt:lpstr>
      <vt:lpstr>Consolas</vt:lpstr>
      <vt:lpstr>Office Theme</vt:lpstr>
      <vt:lpstr>Ламбда функции и LINQ</vt:lpstr>
      <vt:lpstr>Съдържание</vt:lpstr>
      <vt:lpstr>Работа с множества с помощта на LINQ</vt:lpstr>
      <vt:lpstr>Задача: Сбор, Минимум, Максимум и Средно аритмтично</vt:lpstr>
      <vt:lpstr>Решение: Сбор, Минимум, Максимум и Средно аритмтично</vt:lpstr>
      <vt:lpstr>Въвеждане на колекция на един ред</vt:lpstr>
      <vt:lpstr>Преобразуване на колекция</vt:lpstr>
      <vt:lpstr>Подреждане (сортиране) на колекция</vt:lpstr>
      <vt:lpstr>Сортиране на колекция по повече критерии</vt:lpstr>
      <vt:lpstr>Вземане и пропускане на елементи от колекция</vt:lpstr>
      <vt:lpstr>Задача: Трите най-големи числа</vt:lpstr>
      <vt:lpstr>Решение: Трите най-големи числа</vt:lpstr>
      <vt:lpstr>Какво научихме?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14</cp:revision>
  <dcterms:created xsi:type="dcterms:W3CDTF">2022-08-09T09:25:46Z</dcterms:created>
  <dcterms:modified xsi:type="dcterms:W3CDTF">2022-09-15T07:56:11Z</dcterms:modified>
</cp:coreProperties>
</file>