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5"/>
  </p:notesMasterIdLst>
  <p:sldIdLst>
    <p:sldId id="258" r:id="rId2"/>
    <p:sldId id="571" r:id="rId3"/>
    <p:sldId id="606" r:id="rId4"/>
    <p:sldId id="607" r:id="rId5"/>
    <p:sldId id="608" r:id="rId6"/>
    <p:sldId id="609" r:id="rId7"/>
    <p:sldId id="610" r:id="rId8"/>
    <p:sldId id="611" r:id="rId9"/>
    <p:sldId id="612" r:id="rId10"/>
    <p:sldId id="613" r:id="rId11"/>
    <p:sldId id="614" r:id="rId12"/>
    <p:sldId id="605" r:id="rId13"/>
    <p:sldId id="57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B53E63A6-15B2-40C3-A9DC-5006FD089CC5}">
          <p14:sldIdLst>
            <p14:sldId id="258"/>
          </p14:sldIdLst>
        </p14:section>
        <p14:section name="Съдържание" id="{0B0C01F3-1F60-4ADB-AC1E-9589654EAEF3}">
          <p14:sldIdLst>
            <p14:sldId id="571"/>
            <p14:sldId id="606"/>
            <p14:sldId id="607"/>
            <p14:sldId id="608"/>
            <p14:sldId id="609"/>
            <p14:sldId id="610"/>
            <p14:sldId id="611"/>
            <p14:sldId id="612"/>
            <p14:sldId id="613"/>
            <p14:sldId id="614"/>
            <p14:sldId id="605"/>
          </p14:sldIdLst>
        </p14:section>
        <p14:section name="Заключение" id="{9315BEE7-605C-4839-996A-A4EEA70921D9}">
          <p14:sldIdLst>
            <p14:sldId id="5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8A51F5-6E34-4A9B-8787-8C29D4F40D1D}" v="1" dt="2022-08-10T06:34:56.12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 varScale="1">
        <p:scale>
          <a:sx n="92" d="100"/>
          <a:sy n="92" d="100"/>
        </p:scale>
        <p:origin x="5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Димитър Минчев" userId="6da192e4-d32c-454b-8615-bbadf07b6639" providerId="ADAL" clId="{508A51F5-6E34-4A9B-8787-8C29D4F40D1D}"/>
    <pc:docChg chg="addSld modSld">
      <pc:chgData name="Димитър Минчев" userId="6da192e4-d32c-454b-8615-bbadf07b6639" providerId="ADAL" clId="{508A51F5-6E34-4A9B-8787-8C29D4F40D1D}" dt="2022-08-10T06:34:56.108" v="0"/>
      <pc:docMkLst>
        <pc:docMk/>
      </pc:docMkLst>
      <pc:sldChg chg="add">
        <pc:chgData name="Димитър Минчев" userId="6da192e4-d32c-454b-8615-bbadf07b6639" providerId="ADAL" clId="{508A51F5-6E34-4A9B-8787-8C29D4F40D1D}" dt="2022-08-10T06:34:56.108" v="0"/>
        <pc:sldMkLst>
          <pc:docMk/>
          <pc:sldMk cId="2002111910" sldId="43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A0D3FF-81AC-477B-919E-75762E6B2153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142EC-5991-4235-A99B-961F17902D6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794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foundation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creativecommons.org/licenses/by-nc-sa/4.0/" TargetMode="Externa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foundation/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creativecommons.org/licenses/by-nc-sa/4.0/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5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C37FFFEF-99C4-4B17-972C-91038975A6E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26820174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5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D0AF7F65-4A5B-47A1-8D9A-479325A52FF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3059439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71436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3443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40543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29758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61148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6021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63839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3708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97053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280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69803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069AEA-C8BE-4DD6-B9AB-21EA40DF5D87}" type="datetimeFigureOut">
              <a:rPr lang="bg-BG" smtClean="0"/>
              <a:t>15.9.2022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52542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mon.bg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judge.softuni.bg/Contests/Practice/Index/174#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udge.softuni.bg/Contests/Practice/Index/174#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judge.softuni.bg/Contests/Practice/Index/174#5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judge.softuni.bg/Contests/Practice/Index/174#5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https://creativecommons.org/licenses/by-nc-sa/4.0" TargetMode="External"/><Relationship Id="rId4" Type="http://schemas.openxmlformats.org/officeDocument/2006/relationships/hyperlink" Target="https://www.mon.b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A11B2B-6DC7-2642-A5E2-7E3177B71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24336"/>
            <a:ext cx="9144000" cy="2387600"/>
          </a:xfrm>
        </p:spPr>
        <p:txBody>
          <a:bodyPr>
            <a:normAutofit/>
          </a:bodyPr>
          <a:lstStyle/>
          <a:p>
            <a:r>
              <a:rPr lang="ru-RU" dirty="0">
                <a:latin typeface="Comfortaa" pitchFamily="2" charset="0"/>
              </a:rPr>
              <a:t>LINQ функции за</a:t>
            </a:r>
            <a:br>
              <a:rPr lang="ru-RU" dirty="0">
                <a:latin typeface="Comfortaa" pitchFamily="2" charset="0"/>
              </a:rPr>
            </a:br>
            <a:r>
              <a:rPr lang="ru-RU" dirty="0">
                <a:latin typeface="Comfortaa" pitchFamily="2" charset="0"/>
              </a:rPr>
              <a:t>работа с </a:t>
            </a:r>
            <a:r>
              <a:rPr lang="ru-RU" dirty="0" err="1">
                <a:latin typeface="Comfortaa" pitchFamily="2" charset="0"/>
              </a:rPr>
              <a:t>колекции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D72CEAD-2598-2D6F-7FF9-AF95330D8A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04011"/>
            <a:ext cx="9144000" cy="1655762"/>
          </a:xfrm>
        </p:spPr>
        <p:txBody>
          <a:bodyPr/>
          <a:lstStyle/>
          <a:p>
            <a:r>
              <a:rPr lang="ru-RU" dirty="0">
                <a:latin typeface="Comfortaa" pitchFamily="2" charset="0"/>
              </a:rPr>
              <a:t>LINQ и </a:t>
            </a:r>
            <a:r>
              <a:rPr lang="ru-RU" dirty="0" err="1">
                <a:latin typeface="Comfortaa" pitchFamily="2" charset="0"/>
              </a:rPr>
              <a:t>ламбда</a:t>
            </a:r>
            <a:r>
              <a:rPr lang="ru-RU" dirty="0">
                <a:latin typeface="Comfortaa" pitchFamily="2" charset="0"/>
              </a:rPr>
              <a:t> функции в действие: </a:t>
            </a:r>
          </a:p>
          <a:p>
            <a:r>
              <a:rPr lang="ru-RU" dirty="0" err="1">
                <a:latin typeface="Comfortaa" pitchFamily="2" charset="0"/>
              </a:rPr>
              <a:t>Филтриране</a:t>
            </a:r>
            <a:r>
              <a:rPr lang="ru-RU" dirty="0">
                <a:latin typeface="Comfortaa" pitchFamily="2" charset="0"/>
              </a:rPr>
              <a:t>, </a:t>
            </a:r>
            <a:r>
              <a:rPr lang="ru-RU" dirty="0" err="1">
                <a:latin typeface="Comfortaa" pitchFamily="2" charset="0"/>
              </a:rPr>
              <a:t>сортиране</a:t>
            </a:r>
            <a:r>
              <a:rPr lang="ru-RU" dirty="0">
                <a:latin typeface="Comfortaa" pitchFamily="2" charset="0"/>
              </a:rPr>
              <a:t> на </a:t>
            </a:r>
            <a:r>
              <a:rPr lang="ru-RU" dirty="0" err="1">
                <a:latin typeface="Comfortaa" pitchFamily="2" charset="0"/>
              </a:rPr>
              <a:t>колекции</a:t>
            </a:r>
            <a:r>
              <a:rPr lang="ru-RU" dirty="0">
                <a:latin typeface="Comfortaa" pitchFamily="2" charset="0"/>
              </a:rPr>
              <a:t>, </a:t>
            </a:r>
            <a:r>
              <a:rPr lang="ru-RU" dirty="0" err="1">
                <a:latin typeface="Comfortaa" pitchFamily="2" charset="0"/>
              </a:rPr>
              <a:t>други</a:t>
            </a:r>
            <a:r>
              <a:rPr lang="ru-RU" dirty="0">
                <a:latin typeface="Comfortaa" pitchFamily="2" charset="0"/>
              </a:rPr>
              <a:t> функции</a:t>
            </a:r>
          </a:p>
          <a:p>
            <a:endParaRPr lang="bg-BG" dirty="0">
              <a:latin typeface="Comfortaa" pitchFamily="2" charset="0"/>
            </a:endParaRPr>
          </a:p>
        </p:txBody>
      </p:sp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9597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418" name="Rectangle 2"/>
          <p:cNvSpPr>
            <a:spLocks noGrp="1" noChangeArrowheads="1"/>
          </p:cNvSpPr>
          <p:nvPr>
            <p:ph type="title"/>
          </p:nvPr>
        </p:nvSpPr>
        <p:spPr>
          <a:xfrm>
            <a:off x="885702" y="1315151"/>
            <a:ext cx="10515600" cy="1325563"/>
          </a:xfrm>
        </p:spPr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Съдържание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idx="4294967295"/>
          </p:nvPr>
        </p:nvSpPr>
        <p:spPr>
          <a:xfrm>
            <a:off x="885702" y="2645106"/>
            <a:ext cx="10515600" cy="2305816"/>
          </a:xfrm>
        </p:spPr>
        <p:txBody>
          <a:bodyPr>
            <a:normAutofit/>
          </a:bodyPr>
          <a:lstStyle/>
          <a:p>
            <a:pPr marL="442913" indent="-442913">
              <a:lnSpc>
                <a:spcPct val="100000"/>
              </a:lnSpc>
              <a:spcBef>
                <a:spcPts val="500"/>
              </a:spcBef>
              <a:buFontTx/>
              <a:buAutoNum type="arabicPeriod"/>
            </a:pPr>
            <a:r>
              <a:rPr lang="bg-BG" dirty="0">
                <a:latin typeface="Comfortaa" pitchFamily="2" charset="0"/>
              </a:rPr>
              <a:t>Филтриране на колекции с помощта на </a:t>
            </a:r>
            <a:r>
              <a:rPr lang="en-US" dirty="0">
                <a:latin typeface="Comfortaa" pitchFamily="2" charset="0"/>
              </a:rPr>
              <a:t>LINQ</a:t>
            </a:r>
            <a:endParaRPr lang="bg-BG" dirty="0">
              <a:latin typeface="Comfortaa" pitchFamily="2" charset="0"/>
            </a:endParaRPr>
          </a:p>
          <a:p>
            <a:pPr marL="442913" indent="-442913">
              <a:lnSpc>
                <a:spcPct val="100000"/>
              </a:lnSpc>
              <a:spcBef>
                <a:spcPts val="500"/>
              </a:spcBef>
              <a:buFontTx/>
              <a:buAutoNum type="arabicPeriod"/>
            </a:pPr>
            <a:r>
              <a:rPr lang="bg-BG" dirty="0">
                <a:latin typeface="Comfortaa" pitchFamily="2" charset="0"/>
              </a:rPr>
              <a:t>Филтриране и сортиране с </a:t>
            </a:r>
            <a:r>
              <a:rPr lang="en-US" dirty="0">
                <a:latin typeface="Comfortaa" pitchFamily="2" charset="0"/>
              </a:rPr>
              <a:t>Lambda </a:t>
            </a:r>
            <a:r>
              <a:rPr lang="bg-BG" dirty="0">
                <a:latin typeface="Comfortaa" pitchFamily="2" charset="0"/>
              </a:rPr>
              <a:t>функции</a:t>
            </a:r>
          </a:p>
          <a:p>
            <a:pPr marL="442913" indent="-442913">
              <a:lnSpc>
                <a:spcPct val="100000"/>
              </a:lnSpc>
              <a:spcBef>
                <a:spcPts val="500"/>
              </a:spcBef>
              <a:buFontTx/>
              <a:buAutoNum type="arabicPeriod"/>
            </a:pPr>
            <a:r>
              <a:rPr lang="bg-BG" dirty="0">
                <a:latin typeface="Comfortaa" pitchFamily="2" charset="0"/>
              </a:rPr>
              <a:t>Вземане на уникални елементи от колекция</a:t>
            </a:r>
          </a:p>
          <a:p>
            <a:pPr marL="442913" indent="-442913">
              <a:lnSpc>
                <a:spcPct val="100000"/>
              </a:lnSpc>
              <a:spcBef>
                <a:spcPts val="500"/>
              </a:spcBef>
              <a:buFontTx/>
              <a:buAutoNum type="arabicPeriod"/>
            </a:pPr>
            <a:r>
              <a:rPr lang="bg-BG" dirty="0">
                <a:latin typeface="Comfortaa" pitchFamily="2" charset="0"/>
              </a:rPr>
              <a:t>Други операции с колекции</a:t>
            </a:r>
          </a:p>
        </p:txBody>
      </p:sp>
    </p:spTree>
    <p:extLst>
      <p:ext uri="{BB962C8B-B14F-4D97-AF65-F5344CB8AC3E}">
        <p14:creationId xmlns:p14="http://schemas.microsoft.com/office/powerpoint/2010/main" val="152034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3054" y="558638"/>
            <a:ext cx="10620891" cy="863225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Филтриране на колекции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3056" y="1433532"/>
            <a:ext cx="10620892" cy="569627"/>
          </a:xfrm>
        </p:spPr>
        <p:txBody>
          <a:bodyPr/>
          <a:lstStyle/>
          <a:p>
            <a:pPr marL="0" indent="0">
              <a:buNone/>
            </a:pPr>
            <a:r>
              <a:rPr lang="bg-BG" dirty="0">
                <a:latin typeface="Comfortaa" pitchFamily="2" charset="0"/>
              </a:rPr>
              <a:t>Използвайте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Where() </a:t>
            </a:r>
            <a:r>
              <a:rPr lang="bg-BG" dirty="0">
                <a:latin typeface="Comfortaa" pitchFamily="2" charset="0"/>
              </a:rPr>
              <a:t>и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Count()</a:t>
            </a:r>
            <a:endParaRPr lang="en-US" dirty="0">
              <a:solidFill>
                <a:srgbClr val="00B0F0"/>
              </a:solidFill>
              <a:latin typeface="Comfortaa" pitchFamily="2" charset="0"/>
            </a:endParaRPr>
          </a:p>
          <a:p>
            <a:pPr marL="0" indent="0">
              <a:buNone/>
            </a:pPr>
            <a:endParaRPr lang="en-US" dirty="0">
              <a:latin typeface="Comfortaa" pitchFamily="2" charset="0"/>
            </a:endParaRPr>
          </a:p>
          <a:p>
            <a:pPr marL="0" indent="0">
              <a:buNone/>
            </a:pPr>
            <a:endParaRPr lang="en-US" dirty="0">
              <a:latin typeface="Comfortaa" pitchFamily="2" charset="0"/>
            </a:endParaRPr>
          </a:p>
          <a:p>
            <a:pPr marL="0" indent="0">
              <a:buNone/>
            </a:pPr>
            <a:endParaRPr lang="bg-BG" dirty="0">
              <a:latin typeface="Comfortaa" pitchFamily="2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833054" y="2014828"/>
            <a:ext cx="10620892" cy="2453091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lIns="143963" tIns="71981" rIns="143963" bIns="71981">
            <a:spAutoFit/>
          </a:bodyPr>
          <a:lstStyle>
            <a:defPPr>
              <a:defRPr lang="en-US"/>
            </a:defPPr>
            <a:lvl1pPr>
              <a:buClr>
                <a:srgbClr val="F2B254"/>
              </a:buClr>
              <a:buSzPct val="100000"/>
              <a:defRPr sz="2800" b="1">
                <a:solidFill>
                  <a:srgbClr val="FBEED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</a:lstStyle>
          <a:p>
            <a:pPr defTabSz="1218621"/>
            <a:r>
              <a:rPr lang="en-US" sz="2999" noProof="1">
                <a:solidFill>
                  <a:schemeClr val="bg1"/>
                </a:solidFill>
                <a:effectLst/>
              </a:rPr>
              <a:t>int[] nums = { 1, 2, 3, 4, 5, 6};</a:t>
            </a:r>
          </a:p>
          <a:p>
            <a:pPr defTabSz="1218621"/>
            <a:r>
              <a:rPr lang="en-US" sz="2999" noProof="1">
                <a:solidFill>
                  <a:schemeClr val="bg1"/>
                </a:solidFill>
                <a:effectLst/>
              </a:rPr>
              <a:t>nums = nums</a:t>
            </a:r>
          </a:p>
          <a:p>
            <a:pPr defTabSz="1218621"/>
            <a:r>
              <a:rPr lang="en-US" sz="2999" noProof="1">
                <a:solidFill>
                  <a:schemeClr val="bg1"/>
                </a:solidFill>
                <a:effectLst/>
              </a:rPr>
              <a:t>  .</a:t>
            </a:r>
            <a:r>
              <a:rPr lang="en-US" sz="2999" noProof="1">
                <a:solidFill>
                  <a:srgbClr val="00B0F0"/>
                </a:solidFill>
                <a:effectLst/>
              </a:rPr>
              <a:t>Where</a:t>
            </a:r>
            <a:r>
              <a:rPr lang="en-US" sz="2999" noProof="1">
                <a:solidFill>
                  <a:schemeClr val="bg1"/>
                </a:solidFill>
                <a:effectLst/>
              </a:rPr>
              <a:t>(num =&gt; num % 2 == 0)</a:t>
            </a:r>
          </a:p>
          <a:p>
            <a:pPr defTabSz="1218621"/>
            <a:r>
              <a:rPr lang="en-US" sz="2999" noProof="1">
                <a:solidFill>
                  <a:schemeClr val="bg1"/>
                </a:solidFill>
                <a:effectLst/>
              </a:rPr>
              <a:t>  .ToArray(); </a:t>
            </a:r>
          </a:p>
          <a:p>
            <a:pPr defTabSz="1218621"/>
            <a:r>
              <a:rPr lang="en-US" sz="2999" noProof="1">
                <a:solidFill>
                  <a:schemeClr val="bg1">
                    <a:lumMod val="65000"/>
                  </a:schemeClr>
                </a:solidFill>
                <a:effectLst/>
              </a:rPr>
              <a:t>// nums = [2, 4, 6]</a:t>
            </a:r>
          </a:p>
        </p:txBody>
      </p:sp>
      <p:sp>
        <p:nvSpPr>
          <p:cNvPr id="8" name="Content Placeholder 2"/>
          <p:cNvSpPr txBox="1">
            <a:spLocks/>
          </p:cNvSpPr>
          <p:nvPr/>
        </p:nvSpPr>
        <p:spPr>
          <a:xfrm>
            <a:off x="833054" y="4659467"/>
            <a:ext cx="10620892" cy="1530002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lIns="143963" tIns="71981" rIns="143963" bIns="71981">
            <a:spAutoFit/>
          </a:bodyPr>
          <a:lstStyle>
            <a:defPPr>
              <a:defRPr lang="en-US"/>
            </a:defPPr>
            <a:lvl1pPr>
              <a:buClr>
                <a:srgbClr val="F2B254"/>
              </a:buClr>
              <a:buSzPct val="100000"/>
              <a:defRPr sz="2800" b="1">
                <a:solidFill>
                  <a:srgbClr val="FBEED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</a:lstStyle>
          <a:p>
            <a:pPr defTabSz="1218621"/>
            <a:r>
              <a:rPr lang="en-US" sz="2999" noProof="1">
                <a:solidFill>
                  <a:schemeClr val="bg1"/>
                </a:solidFill>
                <a:effectLst/>
              </a:rPr>
              <a:t>int[] nums = { 1, 2, 3, 4, 5, 6};</a:t>
            </a:r>
          </a:p>
          <a:p>
            <a:pPr defTabSz="1218621"/>
            <a:r>
              <a:rPr lang="en-US" sz="2999" noProof="1">
                <a:solidFill>
                  <a:schemeClr val="bg1"/>
                </a:solidFill>
                <a:effectLst/>
              </a:rPr>
              <a:t>int count = nums.</a:t>
            </a:r>
            <a:r>
              <a:rPr lang="en-US" sz="2999" noProof="1">
                <a:solidFill>
                  <a:srgbClr val="00B0F0"/>
                </a:solidFill>
                <a:effectLst/>
              </a:rPr>
              <a:t>Count</a:t>
            </a:r>
            <a:r>
              <a:rPr lang="en-US" sz="2999" noProof="1">
                <a:solidFill>
                  <a:schemeClr val="bg1"/>
                </a:solidFill>
                <a:effectLst/>
              </a:rPr>
              <a:t>(num =&gt; num % 2 == 0); </a:t>
            </a:r>
          </a:p>
          <a:p>
            <a:pPr defTabSz="1218621"/>
            <a:r>
              <a:rPr lang="en-US" sz="2999" noProof="1">
                <a:solidFill>
                  <a:schemeClr val="bg1">
                    <a:lumMod val="65000"/>
                  </a:schemeClr>
                </a:solidFill>
                <a:effectLst/>
              </a:rPr>
              <a:t>// count = 3</a:t>
            </a:r>
          </a:p>
        </p:txBody>
      </p:sp>
    </p:spTree>
    <p:extLst>
      <p:ext uri="{BB962C8B-B14F-4D97-AF65-F5344CB8AC3E}">
        <p14:creationId xmlns:p14="http://schemas.microsoft.com/office/powerpoint/2010/main" val="1892027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67877" y="365125"/>
            <a:ext cx="10803185" cy="778473"/>
          </a:xfrm>
        </p:spPr>
        <p:txBody>
          <a:bodyPr>
            <a:noAutofit/>
          </a:bodyPr>
          <a:lstStyle/>
          <a:p>
            <a:r>
              <a:rPr lang="bg-BG" sz="2800" dirty="0">
                <a:latin typeface="Comfortaa" pitchFamily="2" charset="0"/>
              </a:rPr>
              <a:t>Филтриране и сортиране с </a:t>
            </a:r>
            <a:r>
              <a:rPr lang="en-US" sz="2800" dirty="0">
                <a:latin typeface="Comfortaa" pitchFamily="2" charset="0"/>
              </a:rPr>
              <a:t>Lambda </a:t>
            </a:r>
            <a:r>
              <a:rPr lang="bg-BG" sz="2800" dirty="0">
                <a:latin typeface="Comfortaa" pitchFamily="2" charset="0"/>
              </a:rPr>
              <a:t>функции</a:t>
            </a:r>
            <a:endParaRPr lang="en-US" sz="2800" dirty="0">
              <a:latin typeface="Comfortaa" pitchFamily="2" charset="0"/>
            </a:endParaRP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667878" y="1143598"/>
            <a:ext cx="10803184" cy="5145435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lIns="143963" tIns="71981" rIns="143963" bIns="71981">
            <a:spAutoFit/>
          </a:bodyPr>
          <a:lstStyle>
            <a:defPPr>
              <a:defRPr lang="en-US"/>
            </a:defPPr>
            <a:lvl1pPr>
              <a:buClr>
                <a:srgbClr val="F2B254"/>
              </a:buClr>
              <a:buSzPct val="100000"/>
              <a:defRPr b="1">
                <a:solidFill>
                  <a:srgbClr val="FBEED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</a:lstStyle>
          <a:p>
            <a:pPr defTabSz="1218621"/>
            <a:r>
              <a:rPr lang="en-US" sz="2599" noProof="1">
                <a:solidFill>
                  <a:schemeClr val="bg1"/>
                </a:solidFill>
                <a:effectLst/>
              </a:rPr>
              <a:t>int[] nums = { 11, 99, 33, 55, 77, 44, 66, 22, 88 };</a:t>
            </a:r>
          </a:p>
          <a:p>
            <a:pPr defTabSz="1218621"/>
            <a:endParaRPr lang="en-US" sz="2599" noProof="1">
              <a:solidFill>
                <a:schemeClr val="bg1"/>
              </a:solidFill>
              <a:effectLst/>
            </a:endParaRPr>
          </a:p>
          <a:p>
            <a:pPr defTabSz="1218621">
              <a:spcBef>
                <a:spcPts val="600"/>
              </a:spcBef>
            </a:pPr>
            <a:r>
              <a:rPr lang="en-US" sz="2599" noProof="1">
                <a:solidFill>
                  <a:schemeClr val="bg1"/>
                </a:solidFill>
                <a:effectLst/>
              </a:rPr>
              <a:t>nums.</a:t>
            </a:r>
            <a:r>
              <a:rPr lang="en-US" sz="2599" noProof="1">
                <a:solidFill>
                  <a:srgbClr val="00B0F0"/>
                </a:solidFill>
                <a:effectLst/>
              </a:rPr>
              <a:t>OrderBy</a:t>
            </a:r>
            <a:r>
              <a:rPr lang="en-US" sz="2599" noProof="1">
                <a:solidFill>
                  <a:schemeClr val="bg1"/>
                </a:solidFill>
                <a:effectLst/>
              </a:rPr>
              <a:t>(x =&gt; x).</a:t>
            </a:r>
            <a:r>
              <a:rPr lang="en-US" sz="2599" noProof="1">
                <a:solidFill>
                  <a:srgbClr val="00B0F0"/>
                </a:solidFill>
                <a:effectLst/>
              </a:rPr>
              <a:t>Take</a:t>
            </a:r>
            <a:r>
              <a:rPr lang="en-US" sz="2599" noProof="1">
                <a:solidFill>
                  <a:schemeClr val="bg1"/>
                </a:solidFill>
                <a:effectLst/>
              </a:rPr>
              <a:t>(3); </a:t>
            </a:r>
          </a:p>
          <a:p>
            <a:pPr defTabSz="1218621">
              <a:spcBef>
                <a:spcPts val="600"/>
              </a:spcBef>
            </a:pPr>
            <a:r>
              <a:rPr lang="en-US" sz="2599" noProof="1">
                <a:solidFill>
                  <a:schemeClr val="bg1">
                    <a:lumMod val="65000"/>
                  </a:schemeClr>
                </a:solidFill>
                <a:effectLst/>
              </a:rPr>
              <a:t>// 11 22 33</a:t>
            </a:r>
          </a:p>
          <a:p>
            <a:pPr defTabSz="1218621">
              <a:spcBef>
                <a:spcPts val="1799"/>
              </a:spcBef>
            </a:pPr>
            <a:r>
              <a:rPr lang="en-US" sz="2599" noProof="1">
                <a:solidFill>
                  <a:schemeClr val="bg1"/>
                </a:solidFill>
                <a:effectLst/>
              </a:rPr>
              <a:t>nums.</a:t>
            </a:r>
            <a:r>
              <a:rPr lang="en-US" sz="2599" noProof="1">
                <a:solidFill>
                  <a:srgbClr val="00B0F0"/>
                </a:solidFill>
                <a:effectLst/>
              </a:rPr>
              <a:t>Where</a:t>
            </a:r>
            <a:r>
              <a:rPr lang="en-US" sz="2599" noProof="1">
                <a:solidFill>
                  <a:schemeClr val="bg1"/>
                </a:solidFill>
                <a:effectLst/>
              </a:rPr>
              <a:t>(x =&gt; x &lt; 50);</a:t>
            </a:r>
          </a:p>
          <a:p>
            <a:pPr defTabSz="1218621"/>
            <a:r>
              <a:rPr lang="en-US" sz="2599" noProof="1">
                <a:solidFill>
                  <a:schemeClr val="bg1">
                    <a:lumMod val="65000"/>
                  </a:schemeClr>
                </a:solidFill>
                <a:effectLst/>
              </a:rPr>
              <a:t>// 11 33 44 22</a:t>
            </a:r>
          </a:p>
          <a:p>
            <a:pPr defTabSz="1218621">
              <a:spcBef>
                <a:spcPts val="1799"/>
              </a:spcBef>
            </a:pPr>
            <a:r>
              <a:rPr lang="en-US" sz="2599" noProof="1">
                <a:solidFill>
                  <a:schemeClr val="bg1"/>
                </a:solidFill>
                <a:effectLst/>
              </a:rPr>
              <a:t>nums.</a:t>
            </a:r>
            <a:r>
              <a:rPr lang="en-US" sz="2599" noProof="1">
                <a:solidFill>
                  <a:srgbClr val="00B0F0"/>
                </a:solidFill>
                <a:effectLst/>
              </a:rPr>
              <a:t>Count</a:t>
            </a:r>
            <a:r>
              <a:rPr lang="en-US" sz="2599" noProof="1">
                <a:solidFill>
                  <a:schemeClr val="bg1"/>
                </a:solidFill>
                <a:effectLst/>
              </a:rPr>
              <a:t>(x =&gt; x % 2 == 1); </a:t>
            </a:r>
          </a:p>
          <a:p>
            <a:pPr defTabSz="1218621">
              <a:spcBef>
                <a:spcPts val="600"/>
              </a:spcBef>
            </a:pPr>
            <a:r>
              <a:rPr lang="en-US" sz="2599" noProof="1">
                <a:solidFill>
                  <a:schemeClr val="bg1">
                    <a:lumMod val="65000"/>
                  </a:schemeClr>
                </a:solidFill>
                <a:effectLst/>
              </a:rPr>
              <a:t>// 5</a:t>
            </a:r>
          </a:p>
          <a:p>
            <a:pPr defTabSz="1218621">
              <a:spcBef>
                <a:spcPts val="1799"/>
              </a:spcBef>
            </a:pPr>
            <a:r>
              <a:rPr lang="en-US" sz="2599" noProof="1">
                <a:solidFill>
                  <a:schemeClr val="bg1"/>
                </a:solidFill>
                <a:effectLst/>
              </a:rPr>
              <a:t>nums.</a:t>
            </a:r>
            <a:r>
              <a:rPr lang="en-US" sz="2599" noProof="1">
                <a:solidFill>
                  <a:srgbClr val="00B0F0"/>
                </a:solidFill>
                <a:effectLst/>
              </a:rPr>
              <a:t>Select</a:t>
            </a:r>
            <a:r>
              <a:rPr lang="en-US" sz="2599" noProof="1">
                <a:solidFill>
                  <a:schemeClr val="bg1"/>
                </a:solidFill>
                <a:effectLst/>
              </a:rPr>
              <a:t>(x =&gt; x * 2).</a:t>
            </a:r>
            <a:r>
              <a:rPr lang="en-US" sz="2599" noProof="1">
                <a:solidFill>
                  <a:srgbClr val="00B0F0"/>
                </a:solidFill>
                <a:effectLst/>
              </a:rPr>
              <a:t>Take</a:t>
            </a:r>
            <a:r>
              <a:rPr lang="en-US" sz="2599" noProof="1">
                <a:solidFill>
                  <a:schemeClr val="bg1"/>
                </a:solidFill>
                <a:effectLst/>
              </a:rPr>
              <a:t>(5); </a:t>
            </a:r>
          </a:p>
          <a:p>
            <a:pPr defTabSz="1218621">
              <a:spcBef>
                <a:spcPts val="600"/>
              </a:spcBef>
            </a:pPr>
            <a:r>
              <a:rPr lang="en-US" sz="2599" noProof="1">
                <a:solidFill>
                  <a:schemeClr val="bg1">
                    <a:lumMod val="65000"/>
                  </a:schemeClr>
                </a:solidFill>
                <a:effectLst/>
              </a:rPr>
              <a:t>// 22 198 66 110 154</a:t>
            </a:r>
          </a:p>
        </p:txBody>
      </p:sp>
    </p:spTree>
    <p:extLst>
      <p:ext uri="{BB962C8B-B14F-4D97-AF65-F5344CB8AC3E}">
        <p14:creationId xmlns:p14="http://schemas.microsoft.com/office/powerpoint/2010/main" val="3802538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50868" y="1065770"/>
            <a:ext cx="10665220" cy="780843"/>
          </a:xfrm>
        </p:spPr>
        <p:txBody>
          <a:bodyPr>
            <a:noAutofit/>
          </a:bodyPr>
          <a:lstStyle/>
          <a:p>
            <a:r>
              <a:rPr lang="bg-BG" sz="3200" b="1" dirty="0">
                <a:latin typeface="Comfortaa" pitchFamily="2" charset="0"/>
              </a:rPr>
              <a:t>Вземане на уникални елементи от колекция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50867" y="1846613"/>
            <a:ext cx="10665221" cy="587383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Distinct()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взема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unique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елементи от колекция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marL="0" indent="0">
              <a:buNone/>
            </a:pPr>
            <a:endParaRPr lang="en-US" dirty="0">
              <a:latin typeface="Comfortaa" pitchFamily="2" charset="0"/>
            </a:endParaRPr>
          </a:p>
          <a:p>
            <a:pPr marL="0" indent="0">
              <a:buNone/>
            </a:pPr>
            <a:endParaRPr lang="en-US" dirty="0">
              <a:latin typeface="Comfortaa" pitchFamily="2" charset="0"/>
            </a:endParaRPr>
          </a:p>
          <a:p>
            <a:pPr marL="0" indent="0">
              <a:buNone/>
            </a:pPr>
            <a:endParaRPr lang="bg-BG" dirty="0">
              <a:latin typeface="Comfortaa" pitchFamily="2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950868" y="2496136"/>
            <a:ext cx="10290264" cy="3099253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lIns="143963" tIns="71981" rIns="143963" bIns="71981">
            <a:spAutoFit/>
          </a:bodyPr>
          <a:lstStyle>
            <a:defPPr>
              <a:defRPr lang="en-US"/>
            </a:defPPr>
            <a:lvl1pPr>
              <a:buClr>
                <a:srgbClr val="F2B254"/>
              </a:buClr>
              <a:buSzPct val="100000"/>
              <a:defRPr sz="2800" b="1">
                <a:solidFill>
                  <a:srgbClr val="FBEED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</a:lstStyle>
          <a:p>
            <a:pPr defTabSz="1218621"/>
            <a:r>
              <a:rPr lang="en-US" sz="3199" noProof="1">
                <a:solidFill>
                  <a:schemeClr val="bg1"/>
                </a:solidFill>
                <a:effectLst/>
              </a:rPr>
              <a:t>int[] nums = </a:t>
            </a:r>
            <a:r>
              <a:rPr lang="en-US" sz="2000" noProof="1">
                <a:solidFill>
                  <a:schemeClr val="bg1"/>
                </a:solidFill>
                <a:effectLst/>
              </a:rPr>
              <a:t>{ 1, 2, 2, 3, 4, 5, 6, -2, 2, 0, 15, 3, 1, 0, 6 };</a:t>
            </a:r>
          </a:p>
          <a:p>
            <a:pPr defTabSz="1218621"/>
            <a:endParaRPr lang="en-US" sz="3199" noProof="1">
              <a:solidFill>
                <a:schemeClr val="bg1"/>
              </a:solidFill>
              <a:effectLst/>
            </a:endParaRPr>
          </a:p>
          <a:p>
            <a:pPr defTabSz="1218621"/>
            <a:r>
              <a:rPr lang="en-US" sz="3199" noProof="1">
                <a:solidFill>
                  <a:schemeClr val="bg1"/>
                </a:solidFill>
                <a:effectLst/>
              </a:rPr>
              <a:t>nums = nums</a:t>
            </a:r>
          </a:p>
          <a:p>
            <a:pPr defTabSz="1218621"/>
            <a:r>
              <a:rPr lang="en-US" sz="3199" noProof="1">
                <a:solidFill>
                  <a:schemeClr val="bg1"/>
                </a:solidFill>
                <a:effectLst/>
              </a:rPr>
              <a:t>  .</a:t>
            </a:r>
            <a:r>
              <a:rPr lang="en-US" sz="3199" noProof="1">
                <a:solidFill>
                  <a:srgbClr val="00B0F0"/>
                </a:solidFill>
                <a:effectLst/>
              </a:rPr>
              <a:t>Distinct</a:t>
            </a:r>
            <a:r>
              <a:rPr lang="en-US" sz="3199" noProof="1">
                <a:solidFill>
                  <a:schemeClr val="bg1"/>
                </a:solidFill>
                <a:effectLst/>
              </a:rPr>
              <a:t>()</a:t>
            </a:r>
          </a:p>
          <a:p>
            <a:pPr defTabSz="1218621"/>
            <a:r>
              <a:rPr lang="en-US" sz="3199" noProof="1">
                <a:solidFill>
                  <a:schemeClr val="bg1"/>
                </a:solidFill>
                <a:effectLst/>
              </a:rPr>
              <a:t>  .ToArray(); </a:t>
            </a:r>
          </a:p>
          <a:p>
            <a:pPr defTabSz="1218621"/>
            <a:r>
              <a:rPr lang="en-US" sz="3199" noProof="1">
                <a:solidFill>
                  <a:schemeClr val="bg1">
                    <a:lumMod val="65000"/>
                  </a:schemeClr>
                </a:solidFill>
                <a:effectLst/>
              </a:rPr>
              <a:t>// nums = [1, 2, 3, 4, 5, 6, -2, 0, 15]</a:t>
            </a:r>
          </a:p>
        </p:txBody>
      </p:sp>
    </p:spTree>
    <p:extLst>
      <p:ext uri="{BB962C8B-B14F-4D97-AF65-F5344CB8AC3E}">
        <p14:creationId xmlns:p14="http://schemas.microsoft.com/office/powerpoint/2010/main" val="2386533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7612" y="1458914"/>
            <a:ext cx="10614258" cy="2697055"/>
          </a:xfrm>
        </p:spPr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Въведете текст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</a:rPr>
              <a:t>извлечете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думите му,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намерете всички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къси думи </a:t>
            </a:r>
            <a:r>
              <a:rPr lang="en-US" dirty="0">
                <a:latin typeface="Comfortaa" pitchFamily="2" charset="0"/>
              </a:rPr>
              <a:t>(</a:t>
            </a:r>
            <a:r>
              <a:rPr lang="bg-BG" dirty="0">
                <a:latin typeface="Comfortaa" pitchFamily="2" charset="0"/>
              </a:rPr>
              <a:t>с по-малко от </a:t>
            </a:r>
            <a:r>
              <a:rPr lang="en-US" dirty="0">
                <a:latin typeface="Comfortaa" pitchFamily="2" charset="0"/>
              </a:rPr>
              <a:t>5 </a:t>
            </a:r>
            <a:r>
              <a:rPr lang="bg-BG" dirty="0">
                <a:latin typeface="Comfortaa" pitchFamily="2" charset="0"/>
              </a:rPr>
              <a:t>символа</a:t>
            </a:r>
            <a:r>
              <a:rPr lang="en-US" dirty="0">
                <a:latin typeface="Comfortaa" pitchFamily="2" charset="0"/>
              </a:rPr>
              <a:t>) </a:t>
            </a:r>
            <a:r>
              <a:rPr lang="bg-BG" dirty="0">
                <a:latin typeface="Comfortaa" pitchFamily="2" charset="0"/>
              </a:rPr>
              <a:t>и ги изведете в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азбучен ред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</a:rPr>
              <a:t>с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малки букви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Използвайте следните разделители</a:t>
            </a:r>
            <a:r>
              <a:rPr lang="en-US" dirty="0">
                <a:latin typeface="Comfortaa" pitchFamily="2" charset="0"/>
              </a:rPr>
              <a:t>: </a:t>
            </a:r>
            <a:r>
              <a:rPr lang="en-US" b="1" dirty="0">
                <a:latin typeface="Comfortaa" pitchFamily="2" charset="0"/>
              </a:rPr>
              <a:t>.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latin typeface="Comfortaa" pitchFamily="2" charset="0"/>
              </a:rPr>
              <a:t>,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latin typeface="Comfortaa" pitchFamily="2" charset="0"/>
              </a:rPr>
              <a:t>: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latin typeface="Comfortaa" pitchFamily="2" charset="0"/>
              </a:rPr>
              <a:t>;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latin typeface="Comfortaa" pitchFamily="2" charset="0"/>
              </a:rPr>
              <a:t>(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latin typeface="Comfortaa" pitchFamily="2" charset="0"/>
              </a:rPr>
              <a:t>)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latin typeface="Comfortaa" pitchFamily="2" charset="0"/>
              </a:rPr>
              <a:t>[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latin typeface="Comfortaa" pitchFamily="2" charset="0"/>
              </a:rPr>
              <a:t>]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latin typeface="Comfortaa" pitchFamily="2" charset="0"/>
              </a:rPr>
              <a:t>"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latin typeface="Comfortaa" pitchFamily="2" charset="0"/>
              </a:rPr>
              <a:t>'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latin typeface="Comfortaa" pitchFamily="2" charset="0"/>
              </a:rPr>
              <a:t>/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latin typeface="Comfortaa" pitchFamily="2" charset="0"/>
              </a:rPr>
              <a:t>\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latin typeface="Comfortaa" pitchFamily="2" charset="0"/>
              </a:rPr>
              <a:t>!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latin typeface="Comfortaa" pitchFamily="2" charset="0"/>
              </a:rPr>
              <a:t>?</a:t>
            </a:r>
            <a:r>
              <a:rPr lang="en-US" dirty="0">
                <a:latin typeface="Comfortaa" pitchFamily="2" charset="0"/>
              </a:rPr>
              <a:t> (space)</a:t>
            </a:r>
          </a:p>
          <a:p>
            <a:pPr lvl="1"/>
            <a:r>
              <a:rPr lang="bg-BG" dirty="0">
                <a:latin typeface="Comfortaa" pitchFamily="2" charset="0"/>
              </a:rPr>
              <a:t>Използвайте</a:t>
            </a:r>
            <a:r>
              <a:rPr lang="en-US" dirty="0">
                <a:latin typeface="Comfortaa" pitchFamily="2" charset="0"/>
              </a:rPr>
              <a:t> case-insensitive </a:t>
            </a:r>
            <a:r>
              <a:rPr lang="bg-BG" dirty="0">
                <a:latin typeface="Comfortaa" pitchFamily="2" charset="0"/>
              </a:rPr>
              <a:t>съвпдение</a:t>
            </a:r>
            <a:r>
              <a:rPr lang="en-US" dirty="0">
                <a:latin typeface="Comfortaa" pitchFamily="2" charset="0"/>
              </a:rPr>
              <a:t>; </a:t>
            </a:r>
            <a:r>
              <a:rPr lang="bg-BG" dirty="0">
                <a:latin typeface="Comfortaa" pitchFamily="2" charset="0"/>
              </a:rPr>
              <a:t>премахнете повторящите се думи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45277" y="438692"/>
            <a:ext cx="10193278" cy="1090038"/>
          </a:xfrm>
        </p:spPr>
        <p:txBody>
          <a:bodyPr>
            <a:normAutofit/>
          </a:bodyPr>
          <a:lstStyle/>
          <a:p>
            <a:r>
              <a:rPr lang="bg-BG" sz="4000" dirty="0">
                <a:latin typeface="Comfortaa" pitchFamily="2" charset="0"/>
              </a:rPr>
              <a:t>Задача: Сортиране на къси думи</a:t>
            </a:r>
            <a:endParaRPr lang="en-US" sz="4000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999809" y="4310782"/>
            <a:ext cx="10014554" cy="914802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defTabSz="1218621">
              <a:lnSpc>
                <a:spcPct val="115000"/>
              </a:lnSpc>
            </a:pPr>
            <a:r>
              <a:rPr lang="en-US" sz="2400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In SoftUni you can study Java, C#, PHP and JavaScript. JAVA and c# developers graduate in 2-3 years. Go in!</a:t>
            </a:r>
            <a:endParaRPr lang="it-IT" sz="2400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1016924" y="5473117"/>
            <a:ext cx="10014554" cy="490071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defTabSz="1218621">
              <a:lnSpc>
                <a:spcPct val="115000"/>
              </a:lnSpc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2-3, and, c#, can, go, in, java, php, you</a:t>
            </a:r>
            <a:endParaRPr lang="it-IT" sz="2400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7612" y="6096389"/>
            <a:ext cx="10896481" cy="461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1218621"/>
            <a:r>
              <a:rPr lang="en-US" sz="2399" dirty="0">
                <a:solidFill>
                  <a:prstClr val="white"/>
                </a:solidFill>
                <a:latin typeface="Comfortaa" pitchFamily="2" charset="0"/>
                <a:hlinkClick r:id="rId2"/>
              </a:rPr>
              <a:t>https://judge.softuni.bg/Contests/Practice/Index/174#4</a:t>
            </a:r>
            <a:endParaRPr lang="en-US" sz="2399" dirty="0">
              <a:solidFill>
                <a:prstClr val="white"/>
              </a:solidFill>
              <a:latin typeface="Comfortaa" pitchFamily="2" charset="0"/>
            </a:endParaRPr>
          </a:p>
        </p:txBody>
      </p:sp>
      <p:sp>
        <p:nvSpPr>
          <p:cNvPr id="11" name="Curved Right Arrow 10"/>
          <p:cNvSpPr/>
          <p:nvPr/>
        </p:nvSpPr>
        <p:spPr>
          <a:xfrm>
            <a:off x="512006" y="4591372"/>
            <a:ext cx="390154" cy="1268423"/>
          </a:xfrm>
          <a:prstGeom prst="curvedRightArrow">
            <a:avLst>
              <a:gd name="adj1" fmla="val 62371"/>
              <a:gd name="adj2" fmla="val 142044"/>
              <a:gd name="adj3" fmla="val 25000"/>
            </a:avLst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endParaRPr lang="en-US" sz="2799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76235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03966" y="495754"/>
            <a:ext cx="11184068" cy="869221"/>
          </a:xfrm>
        </p:spPr>
        <p:txBody>
          <a:bodyPr>
            <a:normAutofit/>
          </a:bodyPr>
          <a:lstStyle/>
          <a:p>
            <a:r>
              <a:rPr lang="bg-BG" sz="4000" b="1" dirty="0">
                <a:latin typeface="Comfortaa" pitchFamily="2" charset="0"/>
              </a:rPr>
              <a:t>Решение: Сортиране на къси думи </a:t>
            </a:r>
            <a:endParaRPr lang="en-US" sz="4000" b="1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503966" y="1364975"/>
            <a:ext cx="11191277" cy="4480060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defTabSz="1218621">
              <a:lnSpc>
                <a:spcPct val="115000"/>
              </a:lnSpc>
            </a:pPr>
            <a:r>
              <a:rPr lang="en-US" sz="2799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char[] </a:t>
            </a:r>
            <a:r>
              <a:rPr lang="en-US" sz="2799" b="1" noProof="1">
                <a:solidFill>
                  <a:srgbClr val="00B0F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separators</a:t>
            </a:r>
            <a:r>
              <a:rPr lang="en-US" sz="2799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 = new char[] </a:t>
            </a:r>
          </a:p>
          <a:p>
            <a:pPr defTabSz="1218621">
              <a:lnSpc>
                <a:spcPct val="115000"/>
              </a:lnSpc>
            </a:pPr>
            <a:r>
              <a:rPr lang="en-US" sz="2399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{'.',',',':',';','(',')','[',']','\\','\"','\'','/','!','?',' '};</a:t>
            </a:r>
          </a:p>
          <a:p>
            <a:pPr defTabSz="1218621">
              <a:lnSpc>
                <a:spcPct val="115000"/>
              </a:lnSpc>
            </a:pPr>
            <a:r>
              <a:rPr lang="en-US" sz="2799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string sentence = Console.ReadLine().ToLower();</a:t>
            </a:r>
          </a:p>
          <a:p>
            <a:pPr defTabSz="1218621">
              <a:lnSpc>
                <a:spcPct val="115000"/>
              </a:lnSpc>
            </a:pPr>
            <a:r>
              <a:rPr lang="en-US" sz="2799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string[] words = sentence.Split(</a:t>
            </a:r>
            <a:r>
              <a:rPr lang="en-US" sz="2799" b="1" noProof="1">
                <a:solidFill>
                  <a:srgbClr val="00B0F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separators</a:t>
            </a:r>
            <a:r>
              <a:rPr lang="en-US" sz="2799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);</a:t>
            </a:r>
          </a:p>
          <a:p>
            <a:pPr defTabSz="1218621">
              <a:lnSpc>
                <a:spcPct val="115000"/>
              </a:lnSpc>
            </a:pPr>
            <a:r>
              <a:rPr lang="en-US" sz="2799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var result = words</a:t>
            </a:r>
          </a:p>
          <a:p>
            <a:pPr defTabSz="1218621">
              <a:lnSpc>
                <a:spcPct val="115000"/>
              </a:lnSpc>
            </a:pPr>
            <a:r>
              <a:rPr lang="en-US" sz="2799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  .</a:t>
            </a:r>
            <a:r>
              <a:rPr lang="en-US" sz="2799" b="1" noProof="1">
                <a:solidFill>
                  <a:srgbClr val="00B0F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Where</a:t>
            </a:r>
            <a:r>
              <a:rPr lang="en-US" sz="2799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(w =&gt; w != "")</a:t>
            </a:r>
          </a:p>
          <a:p>
            <a:pPr defTabSz="1218621">
              <a:lnSpc>
                <a:spcPct val="115000"/>
              </a:lnSpc>
            </a:pPr>
            <a:r>
              <a:rPr lang="en-US" sz="2799" b="1" noProof="1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  // TODO: </a:t>
            </a:r>
            <a:r>
              <a:rPr lang="bg-BG" sz="2799" b="1" i="1" noProof="1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филтрирайте думите с дължина</a:t>
            </a:r>
            <a:r>
              <a:rPr lang="en-US" sz="2799" b="1" i="1" noProof="1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 &lt; 5</a:t>
            </a:r>
          </a:p>
          <a:p>
            <a:pPr defTabSz="1218621">
              <a:lnSpc>
                <a:spcPct val="115000"/>
              </a:lnSpc>
            </a:pPr>
            <a:r>
              <a:rPr lang="en-US" sz="2799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  .</a:t>
            </a:r>
            <a:r>
              <a:rPr lang="en-US" sz="2799" b="1" noProof="1">
                <a:solidFill>
                  <a:srgbClr val="00B0F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OrderBy</a:t>
            </a:r>
            <a:r>
              <a:rPr lang="en-US" sz="2799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(w =&gt; w).</a:t>
            </a:r>
            <a:r>
              <a:rPr lang="en-US" sz="2799" b="1" noProof="1">
                <a:solidFill>
                  <a:srgbClr val="00B0F0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Distinct</a:t>
            </a:r>
            <a:r>
              <a:rPr lang="en-US" sz="2799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();</a:t>
            </a:r>
          </a:p>
          <a:p>
            <a:pPr defTabSz="1218621">
              <a:lnSpc>
                <a:spcPct val="115000"/>
              </a:lnSpc>
            </a:pPr>
            <a:r>
              <a:rPr lang="en-US" sz="2799" b="1" noProof="1">
                <a:solidFill>
                  <a:schemeClr val="bg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Console.WriteLine(string.Join(", ", result));</a:t>
            </a:r>
            <a:endParaRPr lang="it-IT" sz="2799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3966" y="5970740"/>
            <a:ext cx="11191276" cy="461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1218621"/>
            <a:r>
              <a:rPr lang="en-US" sz="2399" dirty="0">
                <a:solidFill>
                  <a:prstClr val="white"/>
                </a:solidFill>
                <a:latin typeface="Comfortaa" pitchFamily="2" charset="0"/>
              </a:rPr>
              <a:t>: </a:t>
            </a:r>
            <a:r>
              <a:rPr lang="en-US" sz="2399" dirty="0">
                <a:solidFill>
                  <a:prstClr val="white"/>
                </a:solidFill>
                <a:latin typeface="Comfortaa" pitchFamily="2" charset="0"/>
                <a:hlinkClick r:id="rId2"/>
              </a:rPr>
              <a:t>https://judge.softuni.bg/Contests/Practice/Index/174#4</a:t>
            </a:r>
            <a:endParaRPr lang="en-US" sz="2399" dirty="0">
              <a:solidFill>
                <a:prstClr val="white"/>
              </a:solidFill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0212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081" y="788157"/>
            <a:ext cx="11277838" cy="1010821"/>
          </a:xfrm>
        </p:spPr>
        <p:txBody>
          <a:bodyPr>
            <a:normAutofit/>
          </a:bodyPr>
          <a:lstStyle/>
          <a:p>
            <a:r>
              <a:rPr lang="bg-BG" sz="4000" b="1" dirty="0">
                <a:latin typeface="Comfortaa" pitchFamily="2" charset="0"/>
              </a:rPr>
              <a:t>Вземане на един елемент от колекция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081" y="1798978"/>
            <a:ext cx="11277838" cy="682965"/>
          </a:xfrm>
        </p:spPr>
        <p:txBody>
          <a:bodyPr/>
          <a:lstStyle/>
          <a:p>
            <a:pPr marL="0" indent="0">
              <a:buNone/>
            </a:pPr>
            <a:r>
              <a:rPr lang="bg-BG" dirty="0">
                <a:latin typeface="Comfortaa" pitchFamily="2" charset="0"/>
              </a:rPr>
              <a:t>Използвайте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First()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Last()</a:t>
            </a:r>
            <a:r>
              <a:rPr lang="en-US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и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Single()</a:t>
            </a:r>
            <a:endParaRPr lang="bg-BG" dirty="0">
              <a:solidFill>
                <a:srgbClr val="00B0F0"/>
              </a:solidFill>
              <a:latin typeface="Comfortaa" pitchFamily="2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540540" y="2546873"/>
            <a:ext cx="11110919" cy="3591568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lIns="143963" tIns="71981" rIns="143963" bIns="71981">
            <a:spAutoFit/>
          </a:bodyPr>
          <a:lstStyle>
            <a:defPPr>
              <a:defRPr lang="en-US"/>
            </a:defPPr>
            <a:lvl1pPr>
              <a:buClr>
                <a:srgbClr val="F2B254"/>
              </a:buClr>
              <a:buSzPct val="100000"/>
              <a:defRPr sz="2800" b="1">
                <a:solidFill>
                  <a:srgbClr val="FBEED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</a:lstStyle>
          <a:p>
            <a:pPr defTabSz="1218621"/>
            <a:r>
              <a:rPr lang="en-US" sz="3199" noProof="1">
                <a:solidFill>
                  <a:schemeClr val="bg1"/>
                </a:solidFill>
                <a:effectLst/>
              </a:rPr>
              <a:t>int[] nums = { 1, 2, 3, 4, 5, 6 };</a:t>
            </a:r>
          </a:p>
          <a:p>
            <a:pPr defTabSz="1218621"/>
            <a:endParaRPr lang="en-US" sz="3199" noProof="1">
              <a:solidFill>
                <a:schemeClr val="bg1"/>
              </a:solidFill>
              <a:effectLst/>
            </a:endParaRPr>
          </a:p>
          <a:p>
            <a:pPr defTabSz="1218621"/>
            <a:r>
              <a:rPr lang="en-US" sz="3199" noProof="1">
                <a:solidFill>
                  <a:schemeClr val="bg1"/>
                </a:solidFill>
                <a:effectLst/>
              </a:rPr>
              <a:t>int firstNum = nums.</a:t>
            </a:r>
            <a:r>
              <a:rPr lang="en-US" sz="3199" noProof="1">
                <a:solidFill>
                  <a:srgbClr val="00B0F0"/>
                </a:solidFill>
                <a:effectLst/>
              </a:rPr>
              <a:t>First</a:t>
            </a:r>
            <a:r>
              <a:rPr lang="en-US" sz="3199" noProof="1">
                <a:solidFill>
                  <a:schemeClr val="bg1"/>
                </a:solidFill>
                <a:effectLst/>
              </a:rPr>
              <a:t>(x =&gt; x % 2 == 0); </a:t>
            </a:r>
            <a:r>
              <a:rPr lang="en-US" sz="3199" noProof="1">
                <a:solidFill>
                  <a:schemeClr val="bg1">
                    <a:lumMod val="65000"/>
                  </a:schemeClr>
                </a:solidFill>
                <a:effectLst/>
              </a:rPr>
              <a:t>// 2</a:t>
            </a:r>
          </a:p>
          <a:p>
            <a:pPr defTabSz="1218621"/>
            <a:endParaRPr lang="en-US" sz="3199" noProof="1">
              <a:solidFill>
                <a:schemeClr val="bg1"/>
              </a:solidFill>
              <a:effectLst/>
            </a:endParaRPr>
          </a:p>
          <a:p>
            <a:pPr defTabSz="1218621"/>
            <a:r>
              <a:rPr lang="en-US" sz="3199" noProof="1">
                <a:solidFill>
                  <a:schemeClr val="bg1"/>
                </a:solidFill>
                <a:effectLst/>
              </a:rPr>
              <a:t>int lastNum = nums.</a:t>
            </a:r>
            <a:r>
              <a:rPr lang="en-US" sz="3199" noProof="1">
                <a:solidFill>
                  <a:srgbClr val="00B0F0"/>
                </a:solidFill>
                <a:effectLst/>
              </a:rPr>
              <a:t>Last</a:t>
            </a:r>
            <a:r>
              <a:rPr lang="en-US" sz="3199" noProof="1">
                <a:solidFill>
                  <a:schemeClr val="bg1"/>
                </a:solidFill>
                <a:effectLst/>
              </a:rPr>
              <a:t>(x =&gt; x % 2 == 1); </a:t>
            </a:r>
            <a:r>
              <a:rPr lang="en-US" sz="3199" noProof="1">
                <a:solidFill>
                  <a:schemeClr val="bg1">
                    <a:lumMod val="65000"/>
                  </a:schemeClr>
                </a:solidFill>
                <a:effectLst/>
              </a:rPr>
              <a:t>// 5</a:t>
            </a:r>
          </a:p>
          <a:p>
            <a:pPr defTabSz="1218621"/>
            <a:endParaRPr lang="en-US" sz="3199" noProof="1">
              <a:solidFill>
                <a:schemeClr val="bg1"/>
              </a:solidFill>
              <a:effectLst/>
            </a:endParaRPr>
          </a:p>
          <a:p>
            <a:pPr defTabSz="1218621"/>
            <a:r>
              <a:rPr lang="en-US" sz="3199" noProof="1">
                <a:solidFill>
                  <a:schemeClr val="bg1"/>
                </a:solidFill>
                <a:effectLst/>
              </a:rPr>
              <a:t>int singleNum = nums.</a:t>
            </a:r>
            <a:r>
              <a:rPr lang="en-US" sz="3199" noProof="1">
                <a:solidFill>
                  <a:srgbClr val="00B0F0"/>
                </a:solidFill>
                <a:effectLst/>
              </a:rPr>
              <a:t>Single</a:t>
            </a:r>
            <a:r>
              <a:rPr lang="en-US" sz="3199" noProof="1">
                <a:solidFill>
                  <a:schemeClr val="bg1"/>
                </a:solidFill>
                <a:effectLst/>
              </a:rPr>
              <a:t>(x =&gt; x == 4); </a:t>
            </a:r>
            <a:r>
              <a:rPr lang="en-US" sz="3199" noProof="1">
                <a:solidFill>
                  <a:schemeClr val="bg1">
                    <a:lumMod val="65000"/>
                  </a:schemeClr>
                </a:solidFill>
                <a:effectLst/>
              </a:rPr>
              <a:t>// 4</a:t>
            </a:r>
          </a:p>
        </p:txBody>
      </p:sp>
    </p:spTree>
    <p:extLst>
      <p:ext uri="{BB962C8B-B14F-4D97-AF65-F5344CB8AC3E}">
        <p14:creationId xmlns:p14="http://schemas.microsoft.com/office/powerpoint/2010/main" val="11416745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56316" y="237033"/>
            <a:ext cx="10697484" cy="1024288"/>
          </a:xfrm>
        </p:spPr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Други операции с колекции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56317" y="1308822"/>
            <a:ext cx="10879365" cy="2935132"/>
          </a:xfrm>
        </p:spPr>
        <p:txBody>
          <a:bodyPr>
            <a:normAutofit lnSpcReduction="10000"/>
          </a:bodyPr>
          <a:lstStyle/>
          <a:p>
            <a:r>
              <a:rPr lang="bg-BG" dirty="0">
                <a:latin typeface="Comfortaa" pitchFamily="2" charset="0"/>
              </a:rPr>
              <a:t>Ползвайте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Reverse()</a:t>
            </a:r>
            <a:endParaRPr lang="bg-BG" b="1" dirty="0">
              <a:solidFill>
                <a:srgbClr val="00B0F0"/>
              </a:solidFill>
              <a:latin typeface="Comfortaa" pitchFamily="2" charset="0"/>
            </a:endParaRPr>
          </a:p>
          <a:p>
            <a:endParaRPr lang="en-US" b="1" dirty="0">
              <a:solidFill>
                <a:schemeClr val="tx2">
                  <a:lumMod val="75000"/>
                </a:schemeClr>
              </a:solidFill>
              <a:latin typeface="Comfortaa" pitchFamily="2" charset="0"/>
            </a:endParaRPr>
          </a:p>
          <a:p>
            <a:endParaRPr lang="en-US" dirty="0">
              <a:latin typeface="Comfortaa" pitchFamily="2" charset="0"/>
            </a:endParaRPr>
          </a:p>
          <a:p>
            <a:pPr>
              <a:lnSpc>
                <a:spcPct val="170000"/>
              </a:lnSpc>
            </a:pPr>
            <a:endParaRPr lang="en-US" dirty="0">
              <a:latin typeface="Comfortaa" pitchFamily="2" charset="0"/>
            </a:endParaRPr>
          </a:p>
          <a:p>
            <a:pPr>
              <a:lnSpc>
                <a:spcPct val="120000"/>
              </a:lnSpc>
            </a:pPr>
            <a:r>
              <a:rPr lang="bg-BG" dirty="0">
                <a:latin typeface="Comfortaa" pitchFamily="2" charset="0"/>
              </a:rPr>
              <a:t>Ползвайте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</a:rPr>
              <a:t>Concat()</a:t>
            </a:r>
            <a:endParaRPr lang="en-US" noProof="1">
              <a:solidFill>
                <a:srgbClr val="00B0F0"/>
              </a:solidFill>
              <a:latin typeface="Comfortaa" pitchFamily="2" charset="0"/>
            </a:endParaRPr>
          </a:p>
        </p:txBody>
      </p:sp>
      <p:sp>
        <p:nvSpPr>
          <p:cNvPr id="10" name="Content Placeholder 2"/>
          <p:cNvSpPr txBox="1">
            <a:spLocks/>
          </p:cNvSpPr>
          <p:nvPr/>
        </p:nvSpPr>
        <p:spPr>
          <a:xfrm>
            <a:off x="656317" y="1806689"/>
            <a:ext cx="10879366" cy="1622311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lIns="143963" tIns="71981" rIns="143963" bIns="71981">
            <a:spAutoFit/>
          </a:bodyPr>
          <a:lstStyle>
            <a:defPPr>
              <a:defRPr lang="en-US"/>
            </a:defPPr>
            <a:lvl1pPr>
              <a:buClr>
                <a:srgbClr val="F2B254"/>
              </a:buClr>
              <a:buSzPct val="100000"/>
              <a:defRPr sz="2800" b="1">
                <a:solidFill>
                  <a:srgbClr val="FBEED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</a:lstStyle>
          <a:p>
            <a:pPr defTabSz="1218621"/>
            <a:r>
              <a:rPr lang="en-US" sz="3199" noProof="1">
                <a:solidFill>
                  <a:schemeClr val="bg1"/>
                </a:solidFill>
                <a:effectLst/>
              </a:rPr>
              <a:t>int[] nums = { 1, 2, 3, 4, 5, 6};</a:t>
            </a:r>
          </a:p>
          <a:p>
            <a:pPr defTabSz="1218621"/>
            <a:r>
              <a:rPr lang="en-US" sz="3199" noProof="1">
                <a:solidFill>
                  <a:schemeClr val="bg1"/>
                </a:solidFill>
                <a:effectLst/>
              </a:rPr>
              <a:t>nums = nums.</a:t>
            </a:r>
            <a:r>
              <a:rPr lang="en-US" sz="3199" noProof="1">
                <a:solidFill>
                  <a:srgbClr val="00B0F0"/>
                </a:solidFill>
                <a:effectLst/>
              </a:rPr>
              <a:t>Reverse</a:t>
            </a:r>
            <a:r>
              <a:rPr lang="en-US" sz="3199" noProof="1">
                <a:solidFill>
                  <a:schemeClr val="bg1"/>
                </a:solidFill>
                <a:effectLst/>
              </a:rPr>
              <a:t>(); </a:t>
            </a:r>
          </a:p>
          <a:p>
            <a:pPr defTabSz="1218621"/>
            <a:r>
              <a:rPr lang="en-US" sz="3199" noProof="1">
                <a:solidFill>
                  <a:schemeClr val="bg1">
                    <a:lumMod val="65000"/>
                  </a:schemeClr>
                </a:solidFill>
                <a:effectLst/>
              </a:rPr>
              <a:t>// nums = 6, 5, 4, 3, 2, 1</a:t>
            </a:r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656317" y="4184576"/>
            <a:ext cx="10879366" cy="2114625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lIns="143963" tIns="71981" rIns="143963" bIns="71981">
            <a:spAutoFit/>
          </a:bodyPr>
          <a:lstStyle>
            <a:defPPr>
              <a:defRPr lang="en-US"/>
            </a:defPPr>
            <a:lvl1pPr>
              <a:buClr>
                <a:srgbClr val="F2B254"/>
              </a:buClr>
              <a:buSzPct val="100000"/>
              <a:defRPr sz="2800" b="1">
                <a:solidFill>
                  <a:srgbClr val="FBEED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</a:lstStyle>
          <a:p>
            <a:pPr defTabSz="1218621"/>
            <a:r>
              <a:rPr lang="en-US" sz="3199" noProof="1">
                <a:solidFill>
                  <a:schemeClr val="bg1"/>
                </a:solidFill>
                <a:effectLst/>
              </a:rPr>
              <a:t>int[] nums = { 1, 2, 3, 4, 5, 6 };</a:t>
            </a:r>
          </a:p>
          <a:p>
            <a:pPr defTabSz="1218621"/>
            <a:r>
              <a:rPr lang="en-US" sz="3199" noProof="1">
                <a:solidFill>
                  <a:schemeClr val="bg1"/>
                </a:solidFill>
                <a:effectLst/>
              </a:rPr>
              <a:t>int[] otherNums = { 7, 8, 9, 0 };</a:t>
            </a:r>
          </a:p>
          <a:p>
            <a:pPr defTabSz="1218621"/>
            <a:r>
              <a:rPr lang="en-US" sz="3199" noProof="1">
                <a:solidFill>
                  <a:schemeClr val="bg1"/>
                </a:solidFill>
                <a:effectLst/>
              </a:rPr>
              <a:t>nums = nums.</a:t>
            </a:r>
            <a:r>
              <a:rPr lang="en-US" sz="3199" noProof="1">
                <a:solidFill>
                  <a:srgbClr val="00B0F0"/>
                </a:solidFill>
                <a:effectLst/>
              </a:rPr>
              <a:t>Concat</a:t>
            </a:r>
            <a:r>
              <a:rPr lang="en-US" sz="3199" noProof="1">
                <a:solidFill>
                  <a:schemeClr val="bg1"/>
                </a:solidFill>
                <a:effectLst/>
              </a:rPr>
              <a:t>(otherNums); </a:t>
            </a:r>
          </a:p>
          <a:p>
            <a:pPr defTabSz="1218621"/>
            <a:r>
              <a:rPr lang="en-US" sz="3199" noProof="1">
                <a:solidFill>
                  <a:schemeClr val="bg1">
                    <a:lumMod val="65000"/>
                  </a:schemeClr>
                </a:solidFill>
                <a:effectLst/>
              </a:rPr>
              <a:t>// nums = 1, 2, 3, 4, 5, 6, 7, 8, 9, 0</a:t>
            </a:r>
          </a:p>
        </p:txBody>
      </p:sp>
    </p:spTree>
    <p:extLst>
      <p:ext uri="{BB962C8B-B14F-4D97-AF65-F5344CB8AC3E}">
        <p14:creationId xmlns:p14="http://schemas.microsoft.com/office/powerpoint/2010/main" val="3239245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1479" y="1312224"/>
            <a:ext cx="10609645" cy="94019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bg-BG" sz="2400" dirty="0">
                <a:latin typeface="Comfortaa" pitchFamily="2" charset="0"/>
              </a:rPr>
              <a:t>Въведтете масив от </a:t>
            </a:r>
            <a:r>
              <a:rPr lang="bg-BG" sz="2400" b="1" dirty="0">
                <a:latin typeface="Comfortaa" pitchFamily="2" charset="0"/>
              </a:rPr>
              <a:t>4*</a:t>
            </a:r>
            <a:r>
              <a:rPr lang="en-US" sz="2400" b="1" dirty="0">
                <a:latin typeface="Comfortaa" pitchFamily="2" charset="0"/>
              </a:rPr>
              <a:t>k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цели числа</a:t>
            </a:r>
            <a:r>
              <a:rPr lang="en-US" sz="2400" dirty="0">
                <a:latin typeface="Comfortaa" pitchFamily="2" charset="0"/>
              </a:rPr>
              <a:t>, </a:t>
            </a:r>
            <a:r>
              <a:rPr lang="bg-BG" sz="2400" dirty="0">
                <a:latin typeface="Comfortaa" pitchFamily="2" charset="0"/>
              </a:rPr>
              <a:t>сгънете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го както е показано по-долу и изведете сбора от горната и долната редици</a:t>
            </a:r>
            <a:r>
              <a:rPr lang="en-US" sz="2400" dirty="0">
                <a:latin typeface="Comfortaa" pitchFamily="2" charset="0"/>
              </a:rPr>
              <a:t> (</a:t>
            </a:r>
            <a:r>
              <a:rPr lang="en-US" sz="2400" b="1" dirty="0">
                <a:latin typeface="Comfortaa" pitchFamily="2" charset="0"/>
              </a:rPr>
              <a:t>2*k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цели числа</a:t>
            </a:r>
            <a:r>
              <a:rPr lang="en-US" sz="2400" dirty="0">
                <a:latin typeface="Comfortaa" pitchFamily="2" charset="0"/>
              </a:rPr>
              <a:t>):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01479" y="281999"/>
            <a:ext cx="10589041" cy="1024296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Задача</a:t>
            </a:r>
            <a:r>
              <a:rPr lang="en-US" dirty="0">
                <a:latin typeface="Comfortaa" pitchFamily="2" charset="0"/>
              </a:rPr>
              <a:t>: </a:t>
            </a:r>
            <a:r>
              <a:rPr lang="bg-BG" dirty="0">
                <a:latin typeface="Comfortaa" pitchFamily="2" charset="0"/>
              </a:rPr>
              <a:t>Сгъни и събери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4080299" y="3732153"/>
            <a:ext cx="2742486" cy="886942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anchor="ctr" anchorCtr="0">
            <a:noAutofit/>
          </a:bodyPr>
          <a:lstStyle/>
          <a:p>
            <a:pPr algn="ctr" defTabSz="1218621"/>
            <a:r>
              <a:rPr lang="en-US" sz="2599" b="1" spc="-150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1 2 </a:t>
            </a:r>
            <a:r>
              <a:rPr lang="en-US" sz="2599" b="1" spc="-150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3 4 5 6 </a:t>
            </a:r>
            <a:r>
              <a:rPr lang="en-US" sz="2599" b="1" spc="-150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7 8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958628" y="4001778"/>
            <a:ext cx="380901" cy="346090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endParaRPr lang="en-US" sz="2799" dirty="0">
              <a:solidFill>
                <a:prstClr val="white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57057" y="6131057"/>
            <a:ext cx="10554067" cy="461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1218621"/>
            <a:r>
              <a:rPr lang="en-US" sz="2399" dirty="0">
                <a:solidFill>
                  <a:prstClr val="white"/>
                </a:solidFill>
                <a:latin typeface="Comfortaa" pitchFamily="2" charset="0"/>
                <a:hlinkClick r:id="rId2"/>
              </a:rPr>
              <a:t>https://judge.softuni.bg/Contests/Practice/Index/174#5</a:t>
            </a:r>
            <a:endParaRPr lang="en-US" sz="2399" dirty="0">
              <a:solidFill>
                <a:prstClr val="white"/>
              </a:solidFill>
              <a:latin typeface="Comfortaa" pitchFamily="2" charset="0"/>
            </a:endParaRPr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auto">
          <a:xfrm>
            <a:off x="7472308" y="3732151"/>
            <a:ext cx="1511750" cy="892320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1218621"/>
            <a:r>
              <a:rPr lang="en-US" sz="2599" b="1" spc="-150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2 1 8 7</a:t>
            </a:r>
          </a:p>
          <a:p>
            <a:pPr algn="ctr" defTabSz="1218621"/>
            <a:r>
              <a:rPr lang="en-US" sz="2599" b="1" spc="-150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3 4 5 6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118559" y="4001778"/>
            <a:ext cx="380901" cy="346090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endParaRPr lang="en-US" sz="2799" dirty="0">
              <a:solidFill>
                <a:prstClr val="white"/>
              </a:solidFill>
            </a:endParaRPr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auto">
          <a:xfrm>
            <a:off x="9638376" y="3732153"/>
            <a:ext cx="1752144" cy="886942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anchor="ctr" anchorCtr="0">
            <a:noAutofit/>
          </a:bodyPr>
          <a:lstStyle/>
          <a:p>
            <a:pPr algn="ctr" defTabSz="1218621"/>
            <a:r>
              <a:rPr lang="en-US" sz="2599" b="1" spc="-150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5 5 13 13</a:t>
            </a:r>
          </a:p>
        </p:txBody>
      </p:sp>
      <p:sp>
        <p:nvSpPr>
          <p:cNvPr id="20" name="Rectangle 19"/>
          <p:cNvSpPr>
            <a:spLocks noChangeArrowheads="1"/>
          </p:cNvSpPr>
          <p:nvPr/>
        </p:nvSpPr>
        <p:spPr bwMode="auto">
          <a:xfrm>
            <a:off x="801479" y="5049058"/>
            <a:ext cx="4358591" cy="886942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anchor="ctr" anchorCtr="0">
            <a:noAutofit/>
          </a:bodyPr>
          <a:lstStyle/>
          <a:p>
            <a:pPr algn="ctr" defTabSz="1218621"/>
            <a:r>
              <a:rPr lang="en-US" sz="2599" b="1" spc="-150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4 3 -1 </a:t>
            </a:r>
            <a:r>
              <a:rPr lang="en-US" sz="2599" b="1" spc="-150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2 5 0 1 9 8 </a:t>
            </a:r>
            <a:r>
              <a:rPr lang="en-US" sz="2599" b="1" spc="-150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6 7 -2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305071" y="5318683"/>
            <a:ext cx="380901" cy="346090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endParaRPr lang="en-US" sz="2799" dirty="0">
              <a:solidFill>
                <a:prstClr val="white"/>
              </a:solidFill>
            </a:endParaRPr>
          </a:p>
        </p:txBody>
      </p:sp>
      <p:sp>
        <p:nvSpPr>
          <p:cNvPr id="22" name="Rectangle 21"/>
          <p:cNvSpPr>
            <a:spLocks noChangeArrowheads="1"/>
          </p:cNvSpPr>
          <p:nvPr/>
        </p:nvSpPr>
        <p:spPr bwMode="auto">
          <a:xfrm>
            <a:off x="5834627" y="5049058"/>
            <a:ext cx="2356329" cy="886942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anchor="ctr" anchorCtr="0">
            <a:noAutofit/>
          </a:bodyPr>
          <a:lstStyle/>
          <a:p>
            <a:pPr algn="ctr" defTabSz="1218621"/>
            <a:r>
              <a:rPr lang="en-US" sz="2599" b="1" spc="-150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-1 3 4 -2 7 6</a:t>
            </a:r>
          </a:p>
          <a:p>
            <a:pPr algn="ctr" defTabSz="1218621"/>
            <a:r>
              <a:rPr lang="en-US" sz="2599" b="1" spc="-150" noProof="1">
                <a:solidFill>
                  <a:srgbClr val="FBEED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 </a:t>
            </a:r>
            <a:r>
              <a:rPr lang="en-US" sz="2599" b="1" spc="-150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2 5 0  1 9 8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343314" y="5318683"/>
            <a:ext cx="380901" cy="346090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endParaRPr lang="en-US" sz="2799" dirty="0">
              <a:solidFill>
                <a:prstClr val="white"/>
              </a:solidFill>
            </a:endParaRPr>
          </a:p>
        </p:txBody>
      </p:sp>
      <p:sp>
        <p:nvSpPr>
          <p:cNvPr id="24" name="Rectangle 23"/>
          <p:cNvSpPr>
            <a:spLocks noChangeArrowheads="1"/>
          </p:cNvSpPr>
          <p:nvPr/>
        </p:nvSpPr>
        <p:spPr bwMode="auto">
          <a:xfrm>
            <a:off x="8871321" y="5049058"/>
            <a:ext cx="2519201" cy="886942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anchor="ctr" anchorCtr="0">
            <a:noAutofit/>
          </a:bodyPr>
          <a:lstStyle/>
          <a:p>
            <a:pPr algn="ctr" defTabSz="1218621"/>
            <a:r>
              <a:rPr lang="en-US" sz="2599" b="1" spc="-150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1 8 4 -1 16 14</a:t>
            </a:r>
          </a:p>
        </p:txBody>
      </p:sp>
      <p:sp>
        <p:nvSpPr>
          <p:cNvPr id="25" name="Rectangle 24"/>
          <p:cNvSpPr>
            <a:spLocks noChangeArrowheads="1"/>
          </p:cNvSpPr>
          <p:nvPr/>
        </p:nvSpPr>
        <p:spPr bwMode="auto">
          <a:xfrm>
            <a:off x="6822786" y="2427318"/>
            <a:ext cx="1520529" cy="886942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anchor="ctr" anchorCtr="0">
            <a:noAutofit/>
          </a:bodyPr>
          <a:lstStyle/>
          <a:p>
            <a:pPr algn="ctr" defTabSz="1218621"/>
            <a:r>
              <a:rPr lang="en-US" sz="2599" b="1" spc="-150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5</a:t>
            </a:r>
            <a:r>
              <a:rPr lang="en-US" sz="2599" b="1" spc="-150" noProof="1">
                <a:solidFill>
                  <a:srgbClr val="FBEEC9">
                    <a:lumMod val="7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 </a:t>
            </a:r>
            <a:r>
              <a:rPr lang="en-US" sz="2599" b="1" spc="-150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2 3</a:t>
            </a:r>
            <a:r>
              <a:rPr lang="en-US" sz="2599" b="1" spc="-150" noProof="1">
                <a:solidFill>
                  <a:srgbClr val="FBEEC9">
                    <a:lumMod val="75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 </a:t>
            </a:r>
            <a:r>
              <a:rPr lang="en-US" sz="2599" b="1" spc="-150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479157" y="2696943"/>
            <a:ext cx="380901" cy="346090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endParaRPr lang="en-US" sz="2799" dirty="0">
              <a:solidFill>
                <a:prstClr val="white"/>
              </a:solidFill>
            </a:endParaRPr>
          </a:p>
        </p:txBody>
      </p:sp>
      <p:sp>
        <p:nvSpPr>
          <p:cNvPr id="27" name="Rectangle 26"/>
          <p:cNvSpPr>
            <a:spLocks noChangeArrowheads="1"/>
          </p:cNvSpPr>
          <p:nvPr/>
        </p:nvSpPr>
        <p:spPr bwMode="auto">
          <a:xfrm>
            <a:off x="8980916" y="2427316"/>
            <a:ext cx="886003" cy="892320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defTabSz="1218621"/>
            <a:r>
              <a:rPr lang="en-US" sz="2599" b="1" spc="-150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5 6</a:t>
            </a:r>
          </a:p>
          <a:p>
            <a:pPr algn="ctr" defTabSz="1218621"/>
            <a:r>
              <a:rPr lang="en-US" sz="2599" b="1" spc="-150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2 3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992640" y="2696943"/>
            <a:ext cx="380901" cy="346090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endParaRPr lang="en-US" sz="2799" dirty="0">
              <a:solidFill>
                <a:prstClr val="white"/>
              </a:solidFill>
            </a:endParaRPr>
          </a:p>
        </p:txBody>
      </p:sp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10499263" y="2427318"/>
            <a:ext cx="891259" cy="886942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anchor="ctr" anchorCtr="0">
            <a:noAutofit/>
          </a:bodyPr>
          <a:lstStyle/>
          <a:p>
            <a:pPr algn="ctr" defTabSz="1218621"/>
            <a:r>
              <a:rPr lang="en-US" sz="2599" b="1" spc="-150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cs typeface="Arial" panose="020B0604020202020204" pitchFamily="34" charset="0"/>
              </a:rPr>
              <a:t>7 9</a:t>
            </a:r>
          </a:p>
        </p:txBody>
      </p:sp>
      <p:grpSp>
        <p:nvGrpSpPr>
          <p:cNvPr id="41" name="Group 40"/>
          <p:cNvGrpSpPr/>
          <p:nvPr/>
        </p:nvGrpSpPr>
        <p:grpSpPr>
          <a:xfrm>
            <a:off x="910537" y="2454117"/>
            <a:ext cx="3014329" cy="2166974"/>
            <a:chOff x="216658" y="2563502"/>
            <a:chExt cx="3015114" cy="2167538"/>
          </a:xfrm>
        </p:grpSpPr>
        <p:sp>
          <p:nvSpPr>
            <p:cNvPr id="30" name="Rectangle 29"/>
            <p:cNvSpPr/>
            <p:nvPr/>
          </p:nvSpPr>
          <p:spPr>
            <a:xfrm>
              <a:off x="988438" y="2617571"/>
              <a:ext cx="1447800" cy="381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8621"/>
              <a:r>
                <a:rPr lang="en-US" sz="2799" b="1" dirty="0">
                  <a:solidFill>
                    <a:prstClr val="white"/>
                  </a:solidFill>
                </a:rPr>
                <a:t>3 4 5 6</a:t>
              </a:r>
            </a:p>
          </p:txBody>
        </p:sp>
        <p:sp>
          <p:nvSpPr>
            <p:cNvPr id="31" name="Rectangle 30"/>
            <p:cNvSpPr/>
            <p:nvPr/>
          </p:nvSpPr>
          <p:spPr>
            <a:xfrm rot="543358">
              <a:off x="216658" y="2563502"/>
              <a:ext cx="718763" cy="381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8621"/>
              <a:r>
                <a:rPr lang="en-US" sz="2799" b="1" dirty="0">
                  <a:solidFill>
                    <a:schemeClr val="tx1"/>
                  </a:solidFill>
                </a:rPr>
                <a:t>1 2</a:t>
              </a:r>
            </a:p>
          </p:txBody>
        </p:sp>
        <p:sp>
          <p:nvSpPr>
            <p:cNvPr id="32" name="Rectangle 31"/>
            <p:cNvSpPr/>
            <p:nvPr/>
          </p:nvSpPr>
          <p:spPr>
            <a:xfrm rot="21172160">
              <a:off x="2502736" y="2573917"/>
              <a:ext cx="729036" cy="381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8621"/>
              <a:r>
                <a:rPr lang="en-US" sz="2799" b="1" dirty="0">
                  <a:solidFill>
                    <a:schemeClr val="tx1"/>
                  </a:solidFill>
                </a:rPr>
                <a:t>7 8</a:t>
              </a:r>
              <a:r>
                <a:rPr lang="en-US" sz="2799" b="1" dirty="0">
                  <a:solidFill>
                    <a:srgbClr val="9BE5FF"/>
                  </a:solidFill>
                </a:rPr>
                <a:t> 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009584" y="4350040"/>
              <a:ext cx="1447800" cy="381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8621"/>
              <a:r>
                <a:rPr lang="en-US" sz="2799" b="1" dirty="0">
                  <a:solidFill>
                    <a:prstClr val="white"/>
                  </a:solidFill>
                </a:rPr>
                <a:t>3 4 5 6</a:t>
              </a:r>
            </a:p>
          </p:txBody>
        </p:sp>
        <p:sp>
          <p:nvSpPr>
            <p:cNvPr id="37" name="Rectangle 36"/>
            <p:cNvSpPr/>
            <p:nvPr/>
          </p:nvSpPr>
          <p:spPr>
            <a:xfrm rot="9767020">
              <a:off x="936768" y="3865274"/>
              <a:ext cx="718763" cy="381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8621"/>
              <a:r>
                <a:rPr lang="en-US" sz="2799" b="1" dirty="0">
                  <a:solidFill>
                    <a:schemeClr val="tx1"/>
                  </a:solidFill>
                </a:rPr>
                <a:t>1 2</a:t>
              </a:r>
            </a:p>
          </p:txBody>
        </p:sp>
        <p:sp>
          <p:nvSpPr>
            <p:cNvPr id="38" name="Rectangle 37"/>
            <p:cNvSpPr/>
            <p:nvPr/>
          </p:nvSpPr>
          <p:spPr>
            <a:xfrm rot="11713478">
              <a:off x="1804211" y="3848545"/>
              <a:ext cx="729036" cy="381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8621"/>
              <a:r>
                <a:rPr lang="en-US" sz="2799" b="1" dirty="0">
                  <a:solidFill>
                    <a:schemeClr val="tx1"/>
                  </a:solidFill>
                </a:rPr>
                <a:t>7 8 </a:t>
              </a:r>
            </a:p>
          </p:txBody>
        </p:sp>
        <p:sp>
          <p:nvSpPr>
            <p:cNvPr id="40" name="Down Arrow 39"/>
            <p:cNvSpPr/>
            <p:nvPr/>
          </p:nvSpPr>
          <p:spPr>
            <a:xfrm>
              <a:off x="1528440" y="3202281"/>
              <a:ext cx="381000" cy="418002"/>
            </a:xfrm>
            <a:prstGeom prst="down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218621"/>
              <a:endParaRPr lang="en-US" sz="2799" b="1" dirty="0">
                <a:solidFill>
                  <a:prstClr val="white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2755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63389" y="249382"/>
            <a:ext cx="10665221" cy="855084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Решение</a:t>
            </a:r>
            <a:r>
              <a:rPr lang="en-US" dirty="0">
                <a:latin typeface="Comfortaa" pitchFamily="2" charset="0"/>
              </a:rPr>
              <a:t>: </a:t>
            </a:r>
            <a:r>
              <a:rPr lang="bg-BG" dirty="0">
                <a:latin typeface="Comfortaa" pitchFamily="2" charset="0"/>
              </a:rPr>
              <a:t>Сгъни и събери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763389" y="1104465"/>
            <a:ext cx="10665222" cy="4991587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lIns="143963" tIns="71981" rIns="143963" bIns="71981">
            <a:spAutoFit/>
          </a:bodyPr>
          <a:lstStyle>
            <a:defPPr>
              <a:defRPr lang="en-US"/>
            </a:defPPr>
            <a:lvl1pPr>
              <a:buClr>
                <a:srgbClr val="F2B254"/>
              </a:buClr>
              <a:buSzPct val="100000"/>
              <a:defRPr b="1">
                <a:solidFill>
                  <a:srgbClr val="FBEED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</a:lstStyle>
          <a:p>
            <a:pPr defTabSz="1218621"/>
            <a:r>
              <a:rPr lang="en-US" sz="2899" noProof="1">
                <a:solidFill>
                  <a:schemeClr val="bg1"/>
                </a:solidFill>
                <a:effectLst/>
              </a:rPr>
              <a:t>int[] arr = Console.ReadLine()</a:t>
            </a:r>
          </a:p>
          <a:p>
            <a:pPr defTabSz="1218621"/>
            <a:r>
              <a:rPr lang="en-US" sz="2899" noProof="1">
                <a:solidFill>
                  <a:schemeClr val="bg1"/>
                </a:solidFill>
                <a:effectLst/>
              </a:rPr>
              <a:t>  .Split(' ').</a:t>
            </a:r>
            <a:r>
              <a:rPr lang="en-US" sz="2899" noProof="1">
                <a:solidFill>
                  <a:srgbClr val="00B0F0"/>
                </a:solidFill>
                <a:effectLst/>
              </a:rPr>
              <a:t>Select</a:t>
            </a:r>
            <a:r>
              <a:rPr lang="en-US" sz="2899" noProof="1">
                <a:solidFill>
                  <a:schemeClr val="bg1"/>
                </a:solidFill>
                <a:effectLst/>
              </a:rPr>
              <a:t>(int.Parse).ToArray();</a:t>
            </a:r>
          </a:p>
          <a:p>
            <a:pPr defTabSz="1218621">
              <a:spcBef>
                <a:spcPts val="600"/>
              </a:spcBef>
            </a:pPr>
            <a:r>
              <a:rPr lang="en-US" sz="2899" noProof="1">
                <a:solidFill>
                  <a:schemeClr val="bg1"/>
                </a:solidFill>
                <a:effectLst/>
              </a:rPr>
              <a:t>int k = arr.Length / 4;</a:t>
            </a:r>
          </a:p>
          <a:p>
            <a:pPr defTabSz="1218621">
              <a:spcBef>
                <a:spcPts val="1200"/>
              </a:spcBef>
            </a:pPr>
            <a:r>
              <a:rPr lang="en-US" sz="2899" noProof="1">
                <a:solidFill>
                  <a:schemeClr val="bg1"/>
                </a:solidFill>
                <a:effectLst/>
              </a:rPr>
              <a:t>int[] row1left = arr.</a:t>
            </a:r>
            <a:r>
              <a:rPr lang="en-US" sz="2899" noProof="1">
                <a:solidFill>
                  <a:srgbClr val="00B0F0"/>
                </a:solidFill>
                <a:effectLst/>
              </a:rPr>
              <a:t>Take</a:t>
            </a:r>
            <a:r>
              <a:rPr lang="en-US" sz="2899" noProof="1">
                <a:solidFill>
                  <a:schemeClr val="bg1"/>
                </a:solidFill>
                <a:effectLst/>
              </a:rPr>
              <a:t>(k).</a:t>
            </a:r>
            <a:r>
              <a:rPr lang="en-US" sz="2899" noProof="1">
                <a:solidFill>
                  <a:srgbClr val="00B0F0"/>
                </a:solidFill>
                <a:effectLst/>
              </a:rPr>
              <a:t>Reverse</a:t>
            </a:r>
            <a:r>
              <a:rPr lang="en-US" sz="2899" noProof="1">
                <a:solidFill>
                  <a:schemeClr val="bg1"/>
                </a:solidFill>
                <a:effectLst/>
              </a:rPr>
              <a:t>().ToArray();</a:t>
            </a:r>
          </a:p>
          <a:p>
            <a:pPr defTabSz="1218621"/>
            <a:r>
              <a:rPr lang="en-US" sz="2899" noProof="1">
                <a:solidFill>
                  <a:schemeClr val="bg1"/>
                </a:solidFill>
                <a:effectLst/>
              </a:rPr>
              <a:t>int[] row1right = arr.</a:t>
            </a:r>
            <a:r>
              <a:rPr lang="en-US" sz="2899" noProof="1">
                <a:solidFill>
                  <a:srgbClr val="00B0F0"/>
                </a:solidFill>
                <a:effectLst/>
              </a:rPr>
              <a:t>Reverse</a:t>
            </a:r>
            <a:r>
              <a:rPr lang="en-US" sz="2899" noProof="1">
                <a:solidFill>
                  <a:schemeClr val="bg1"/>
                </a:solidFill>
                <a:effectLst/>
              </a:rPr>
              <a:t>().</a:t>
            </a:r>
            <a:r>
              <a:rPr lang="en-US" sz="2899" noProof="1">
                <a:solidFill>
                  <a:srgbClr val="00B0F0"/>
                </a:solidFill>
                <a:effectLst/>
              </a:rPr>
              <a:t>Take</a:t>
            </a:r>
            <a:r>
              <a:rPr lang="en-US" sz="2899" noProof="1">
                <a:solidFill>
                  <a:schemeClr val="bg1"/>
                </a:solidFill>
                <a:effectLst/>
              </a:rPr>
              <a:t>(k).ToArray();</a:t>
            </a:r>
          </a:p>
          <a:p>
            <a:pPr defTabSz="1218621"/>
            <a:r>
              <a:rPr lang="en-US" sz="2899" noProof="1">
                <a:solidFill>
                  <a:schemeClr val="bg1"/>
                </a:solidFill>
                <a:effectLst/>
              </a:rPr>
              <a:t>int[] row1 = row1left.</a:t>
            </a:r>
            <a:r>
              <a:rPr lang="en-US" sz="2899" noProof="1">
                <a:solidFill>
                  <a:srgbClr val="00B0F0"/>
                </a:solidFill>
                <a:effectLst/>
              </a:rPr>
              <a:t>Concat</a:t>
            </a:r>
            <a:r>
              <a:rPr lang="en-US" sz="2899" noProof="1">
                <a:solidFill>
                  <a:schemeClr val="bg1"/>
                </a:solidFill>
                <a:effectLst/>
              </a:rPr>
              <a:t>(row1right).ToArray();</a:t>
            </a:r>
          </a:p>
          <a:p>
            <a:pPr defTabSz="1218621"/>
            <a:r>
              <a:rPr lang="en-US" sz="2899" noProof="1">
                <a:solidFill>
                  <a:schemeClr val="bg1"/>
                </a:solidFill>
                <a:effectLst/>
              </a:rPr>
              <a:t>int[] row2 = arr.</a:t>
            </a:r>
            <a:r>
              <a:rPr lang="en-US" sz="2899" noProof="1">
                <a:solidFill>
                  <a:srgbClr val="00B0F0"/>
                </a:solidFill>
                <a:effectLst/>
              </a:rPr>
              <a:t>Skip</a:t>
            </a:r>
            <a:r>
              <a:rPr lang="en-US" sz="2899" noProof="1">
                <a:solidFill>
                  <a:schemeClr val="bg1"/>
                </a:solidFill>
                <a:effectLst/>
              </a:rPr>
              <a:t>(k).</a:t>
            </a:r>
            <a:r>
              <a:rPr lang="en-US" sz="2899" noProof="1">
                <a:solidFill>
                  <a:srgbClr val="00B0F0"/>
                </a:solidFill>
                <a:effectLst/>
              </a:rPr>
              <a:t>Take</a:t>
            </a:r>
            <a:r>
              <a:rPr lang="en-US" sz="2899" noProof="1">
                <a:solidFill>
                  <a:schemeClr val="bg1"/>
                </a:solidFill>
                <a:effectLst/>
              </a:rPr>
              <a:t>(2 * k).ToArray();</a:t>
            </a:r>
          </a:p>
          <a:p>
            <a:pPr defTabSz="1218621">
              <a:spcBef>
                <a:spcPts val="1200"/>
              </a:spcBef>
            </a:pPr>
            <a:r>
              <a:rPr lang="en-US" sz="2899" noProof="1">
                <a:solidFill>
                  <a:schemeClr val="bg1"/>
                </a:solidFill>
                <a:effectLst/>
              </a:rPr>
              <a:t>var sumArr =</a:t>
            </a:r>
          </a:p>
          <a:p>
            <a:pPr defTabSz="1218621"/>
            <a:r>
              <a:rPr lang="en-US" sz="2899" noProof="1">
                <a:solidFill>
                  <a:schemeClr val="bg1"/>
                </a:solidFill>
                <a:effectLst/>
              </a:rPr>
              <a:t>  row1.</a:t>
            </a:r>
            <a:r>
              <a:rPr lang="en-US" sz="2899" noProof="1">
                <a:solidFill>
                  <a:srgbClr val="00B0F0"/>
                </a:solidFill>
                <a:effectLst/>
              </a:rPr>
              <a:t>Select</a:t>
            </a:r>
            <a:r>
              <a:rPr lang="en-US" sz="2899" noProof="1">
                <a:solidFill>
                  <a:schemeClr val="bg1"/>
                </a:solidFill>
                <a:effectLst/>
              </a:rPr>
              <a:t>((x, index) =&gt; x + row2[index]);</a:t>
            </a:r>
          </a:p>
          <a:p>
            <a:pPr defTabSz="1218621"/>
            <a:r>
              <a:rPr lang="en-US" sz="2899" noProof="1">
                <a:solidFill>
                  <a:schemeClr val="bg1"/>
                </a:solidFill>
                <a:effectLst/>
              </a:rPr>
              <a:t>Console.WriteLine(string.Join(" ", sumArr));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968" y="6214184"/>
            <a:ext cx="10554067" cy="461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1218621"/>
            <a:r>
              <a:rPr lang="en-US" sz="2399" dirty="0">
                <a:solidFill>
                  <a:prstClr val="white"/>
                </a:solidFill>
                <a:latin typeface="Comfortaa" pitchFamily="2" charset="0"/>
                <a:hlinkClick r:id="rId2"/>
              </a:rPr>
              <a:t>https://judge.softuni.bg/Contests/Practice/Index/174#5</a:t>
            </a:r>
            <a:endParaRPr lang="en-US" sz="2399" dirty="0">
              <a:solidFill>
                <a:prstClr val="white"/>
              </a:solidFill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91609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418" name="Rectangle 2"/>
          <p:cNvSpPr>
            <a:spLocks noGrp="1" noChangeArrowheads="1"/>
          </p:cNvSpPr>
          <p:nvPr>
            <p:ph type="title"/>
          </p:nvPr>
        </p:nvSpPr>
        <p:spPr>
          <a:xfrm>
            <a:off x="980704" y="1018267"/>
            <a:ext cx="10515600" cy="1325563"/>
          </a:xfrm>
        </p:spPr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Какво научихме?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idx="4294967295"/>
          </p:nvPr>
        </p:nvSpPr>
        <p:spPr>
          <a:xfrm>
            <a:off x="922335" y="2343830"/>
            <a:ext cx="10151406" cy="3184590"/>
          </a:xfrm>
        </p:spPr>
        <p:txBody>
          <a:bodyPr>
            <a:normAutofit/>
          </a:bodyPr>
          <a:lstStyle/>
          <a:p>
            <a:pPr marL="442913" indent="-442913">
              <a:lnSpc>
                <a:spcPct val="100000"/>
              </a:lnSpc>
              <a:spcBef>
                <a:spcPts val="500"/>
              </a:spcBef>
              <a:buFontTx/>
              <a:buAutoNum type="arabicPeriod"/>
            </a:pPr>
            <a:r>
              <a:rPr lang="bg-BG" dirty="0">
                <a:latin typeface="Comfortaa" pitchFamily="2" charset="0"/>
              </a:rPr>
              <a:t>Как се филтрират колекци</a:t>
            </a:r>
          </a:p>
          <a:p>
            <a:pPr marL="761946" lvl="1" indent="-457200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с помощта на </a:t>
            </a:r>
            <a:r>
              <a:rPr lang="en-US" dirty="0">
                <a:latin typeface="Comfortaa" pitchFamily="2" charset="0"/>
              </a:rPr>
              <a:t>LINQ</a:t>
            </a:r>
            <a:endParaRPr lang="bg-BG" dirty="0">
              <a:latin typeface="Comfortaa" pitchFamily="2" charset="0"/>
            </a:endParaRPr>
          </a:p>
          <a:p>
            <a:pPr marL="761946" lvl="1" indent="-457200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с </a:t>
            </a:r>
            <a:r>
              <a:rPr lang="en-US" dirty="0">
                <a:latin typeface="Comfortaa" pitchFamily="2" charset="0"/>
              </a:rPr>
              <a:t>Lambda </a:t>
            </a:r>
            <a:r>
              <a:rPr lang="bg-BG" dirty="0">
                <a:latin typeface="Comfortaa" pitchFamily="2" charset="0"/>
              </a:rPr>
              <a:t>функции</a:t>
            </a:r>
          </a:p>
          <a:p>
            <a:pPr marL="442913" indent="-442913">
              <a:lnSpc>
                <a:spcPct val="100000"/>
              </a:lnSpc>
              <a:spcBef>
                <a:spcPts val="500"/>
              </a:spcBef>
              <a:buFontTx/>
              <a:buAutoNum type="arabicPeriod"/>
            </a:pPr>
            <a:r>
              <a:rPr lang="bg-BG" dirty="0">
                <a:latin typeface="Comfortaa" pitchFamily="2" charset="0"/>
              </a:rPr>
              <a:t>Как се вземат уникални елементи от колекция</a:t>
            </a:r>
          </a:p>
          <a:p>
            <a:pPr marL="442913" indent="-442913">
              <a:lnSpc>
                <a:spcPct val="100000"/>
              </a:lnSpc>
              <a:spcBef>
                <a:spcPts val="500"/>
              </a:spcBef>
              <a:buFontTx/>
              <a:buAutoNum type="arabicPeriod"/>
            </a:pPr>
            <a:r>
              <a:rPr lang="bg-BG" dirty="0">
                <a:latin typeface="Comfortaa" pitchFamily="2" charset="0"/>
              </a:rPr>
              <a:t>Други операции с колекции</a:t>
            </a:r>
          </a:p>
        </p:txBody>
      </p:sp>
    </p:spTree>
    <p:extLst>
      <p:ext uri="{BB962C8B-B14F-4D97-AF65-F5344CB8AC3E}">
        <p14:creationId xmlns:p14="http://schemas.microsoft.com/office/powerpoint/2010/main" val="20707130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2" name="Logo CC-BY-NC-SA">
            <a:hlinkClick r:id="rId5"/>
            <a:extLst>
              <a:ext uri="{FF2B5EF4-FFF2-40B4-BE49-F238E27FC236}">
                <a16:creationId xmlns:a16="http://schemas.microsoft.com/office/drawing/2014/main" id="{39F87C09-7AAD-A59F-33F5-8BECE165CB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7447" y="2650021"/>
            <a:ext cx="4017104" cy="14408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BEA407-2EEF-D82D-ADB6-D20902F79FA2}"/>
              </a:ext>
            </a:extLst>
          </p:cNvPr>
          <p:cNvSpPr txBox="1"/>
          <p:nvPr/>
        </p:nvSpPr>
        <p:spPr>
          <a:xfrm>
            <a:off x="262246" y="5452243"/>
            <a:ext cx="1166750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bg-BG" sz="1800" dirty="0">
                <a:latin typeface="Comfortaa" pitchFamily="2" charset="0"/>
              </a:rPr>
              <a:t>Документът е разработен за нуждите на Национална програма "Обучение за ИТ умения и кариера" на Министерството на образованието и науката (МОН)</a:t>
            </a:r>
            <a:r>
              <a:rPr lang="en-US" sz="1800" dirty="0">
                <a:latin typeface="Comfortaa" pitchFamily="2" charset="0"/>
              </a:rPr>
              <a:t> </a:t>
            </a:r>
            <a:r>
              <a:rPr lang="bg-BG" sz="1800" dirty="0">
                <a:latin typeface="Comfortaa" pitchFamily="2" charset="0"/>
              </a:rPr>
              <a:t>и се разпространява под свободен лиценз CC-BY-NC-SA (</a:t>
            </a:r>
            <a:r>
              <a:rPr lang="bg-BG" sz="1800" dirty="0" err="1">
                <a:latin typeface="Comfortaa" pitchFamily="2" charset="0"/>
              </a:rPr>
              <a:t>Creative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Commons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Attribution-Non-Commercial-Share-Alike</a:t>
            </a:r>
            <a:r>
              <a:rPr lang="bg-BG" sz="1800" dirty="0">
                <a:latin typeface="Comfortaa" pitchFamily="2" charset="0"/>
              </a:rPr>
              <a:t> 4.0 International).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241344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103</TotalTime>
  <Words>1155</Words>
  <Application>Microsoft Office PowerPoint</Application>
  <PresentationFormat>Widescreen</PresentationFormat>
  <Paragraphs>133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Comfortaa</vt:lpstr>
      <vt:lpstr>Consolas</vt:lpstr>
      <vt:lpstr>Office Theme</vt:lpstr>
      <vt:lpstr>LINQ функции за работа с колекции</vt:lpstr>
      <vt:lpstr>Съдържание</vt:lpstr>
      <vt:lpstr>Филтриране на колекции</vt:lpstr>
      <vt:lpstr>Филтриране и сортиране с Lambda функции</vt:lpstr>
      <vt:lpstr>Вземане на уникални елементи от колекция</vt:lpstr>
      <vt:lpstr>Задача: Сортиране на къси думи</vt:lpstr>
      <vt:lpstr>Решение: Сортиране на къси думи </vt:lpstr>
      <vt:lpstr>Вземане на един елемент от колекция</vt:lpstr>
      <vt:lpstr>Други операции с колекции</vt:lpstr>
      <vt:lpstr>Задача: Сгъни и събери</vt:lpstr>
      <vt:lpstr>Решение: Сгъни и събери</vt:lpstr>
      <vt:lpstr>Какво научихме?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Димитър Минчев</dc:creator>
  <cp:lastModifiedBy>Димитър Минчев</cp:lastModifiedBy>
  <cp:revision>11</cp:revision>
  <dcterms:created xsi:type="dcterms:W3CDTF">2022-08-09T09:25:46Z</dcterms:created>
  <dcterms:modified xsi:type="dcterms:W3CDTF">2022-09-15T08:16:47Z</dcterms:modified>
</cp:coreProperties>
</file>