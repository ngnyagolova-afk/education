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5"/>
  </p:notesMasterIdLst>
  <p:sldIdLst>
    <p:sldId id="258" r:id="rId2"/>
    <p:sldId id="615" r:id="rId22"/>
    <p:sldId id="571" r:id="rId3"/>
    <p:sldId id="606" r:id="rId4"/>
    <p:sldId id="607" r:id="rId5"/>
    <p:sldId id="608" r:id="rId6"/>
    <p:sldId id="609" r:id="rId7"/>
    <p:sldId id="610" r:id="rId8"/>
    <p:sldId id="611" r:id="rId9"/>
    <p:sldId id="612" r:id="rId10"/>
    <p:sldId id="613" r:id="rId11"/>
    <p:sldId id="614" r:id="rId12"/>
    <p:sldId id="616" r:id="rId23"/>
    <p:sldId id="617" r:id="rId24"/>
    <p:sldId id="618" r:id="rId25"/>
    <p:sldId id="619" r:id="rId26"/>
    <p:sldId id="620" r:id="rId27"/>
    <p:sldId id="621" r:id="rId28"/>
    <p:sldId id="605" r:id="rId13"/>
    <p:sldId id="5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71"/>
            <p14:sldId id="606"/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  <p14:sldId id="605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hyperlink" Target="https://softuni.foundation/" TargetMode="Externa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Relationship Id="rId3" Type="http://schemas.openxmlformats.org/officeDocument/2006/relationships/hyperlink" Target="https://softuni.foundation/" TargetMode="Externa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t>Прегледайте темите набързо. Уточнете, че днес учениците ще могат да решават реални задачи с колекции с минимален код. Запитайте: 'Кой е писал for-цикъл само за да намери минималния елемент?'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C37FFFEF-99C4-4B17-972C-91038975A6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68201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t>Обобщете с въпроси: 'Кой метод използваме за филтриране? За сортиране? За уникалност?' Насочете учениците към официалната документация на Microsoft и SoftUni Judge за практика.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0AF7F65-4A5B-47A1-8D9A-479325A52F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059439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Добре дошли! LINQ (Language Integrated Query) е едно от най-мощните нововъведения в C#. Ключово послание: вместо да пишете for-цикли за всяка операция с колекция, LINQ ви дава готови, четими методи. Покажете мотивация — пример без LINQ (10 реда) vs. с LINQ (1 ред).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Демо: напишете примера на дъската БЕЗ LINQ (for-цикъл с if), след това покажете WHERE версията. Подчертайте: Where = 'вземи само тези, за които условието е вярно'. Count с ламбда = брои без да извличаш. ToArray() е необходим за преобразуване обратно в масив.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OrderBy сортира нарастващо, OrderByDescending — намаляващо. Take(n) взима първите n елемента. Select трансформира — показва се в следващ слайд подробно. Важно: тези методи НЕ променят оригиналния масив — връщат нов IEnumerable.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Distinct е изключително полезен при обработка на потребителски данни (дублирани записи). Покажете аналогията с множества от математиката. Внимание: редът на елементите след Distinct не е гарантиран.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Дайте 5 минути на учениците сами да прочетат условието. Ключови стъпки: Split по масив от разделители, ToLower, Where за дължина, OrderBy, Distinct. Напомнете: string.Split може да приема char[].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Обяснете ред по ред. Специално внимание на: ToLower преди Split (за case-insensitive). TODO-то в кода е умишлено — учениците трябва да добавят Where(w =&gt; w.Length &lt; 5). Пуснете учениците да довършат решението сами.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First() хвърля изключение ако няма елемент — за разлика от FirstOrDefault() което връща default. Single() хвърля изключение ако има повече от един съвпадащ елемент. Препоръка: в production code почти винаги ползвайте FirstOrDefault вместо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Reverse() в LINQ не е същото като Array.Reverse() — LINQ връща нов IEnumerable. Concat обединява две колекции без дублиране (за разлика от Union). Покажете разликата: Concat запазва дубликати, Union ги премахва.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По-сложна задача — разберете визуализацията на 'сгъване'. Обяснете: масивът се разделя на 4 части, двете крайни се обръщат и се поставят отгоре. Нека учениците нарисуват схемата на хартия преди да започнат да пишат код.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Обяснете Select((x, index) =&gt; ...) — тази версия на Select подава и индекса на елемента. Skip(k) прескача първите k елемента. Take(2*k) взима следващите 2*k. Reverse().Take(k) обръща и взима първите k (т.е. последните k от оригинала).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Краен слайд. Споменете, че материалите са под свободен лиценз CC-BY-NC-SA. Насочете учениците към https://it-kariera.mon.bg за допълнителни ресурси.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МОТИВАЦИЯ — Ключов слайд!</a:t>
            </a:r>
          </a:p>
          <a:p>
            <a:r>
              <a:t>Покажете двата варианта на код един до друг. Подчертайте: LINQ кодът е по-четим, по-кратък и по-малко подложен на грешки.</a:t>
            </a:r>
          </a:p>
          <a:p>
            <a:r>
              <a:t>Аналогия: LINQ е като SQL за колекции в паметта.</a:t>
            </a:r>
          </a:p>
          <a:p>
            <a:r>
              <a:t>Запитайте учениците: 'Кой от двата варианта бихте предпочели да поддържате след 6 месеца?'</a:t>
            </a:r>
          </a:p>
          <a:p>
            <a:r>
              <a:t>LINQ се използва навсякъде: Entity Framework (бази данни), обработка на JSON, филтриране на UI списъци, game dev (Unity), анализ на данни.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Select() = 'проектирай всеки елемент към нещо друго'.</a:t>
            </a:r>
          </a:p>
          <a:p>
            <a:r>
              <a:t>Аналогия с Excel: представете си колона с числа — Select е като да добавите нова колона с формула.</a:t>
            </a:r>
          </a:p>
          <a:p>
            <a:r>
              <a:t>Select НЕ филтрира — само трансформира. Ако искате и двете: Where() + Select().</a:t>
            </a:r>
          </a:p>
          <a:p>
            <a:r>
              <a:t>Версията с два параметъра Select((x, i) =&gt; ...) е много полезна когато трябва и индексът на елемента.</a:t>
            </a:r>
          </a:p>
          <a:p>
            <a:r>
              <a:t>Задача за учениците: прочетете имена, изведете ги с главна първа буква (ToUpper на първия символ + Substring(1)).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Тези методи са еквивалентни на SUM/MIN/MAX/AVG в SQL.</a:t>
            </a:r>
          </a:p>
          <a:p>
            <a:r>
              <a:t>Важно: Sum(), Max(), Min(), Average() хвърлят InvalidOperationException ако колекцията е празна!</a:t>
            </a:r>
          </a:p>
          <a:p>
            <a:r>
              <a:t>Безопасна алтернатива: DefaultIfEmpty() преди агрегатния метод, или проверка Any() преди извикването.</a:t>
            </a:r>
          </a:p>
          <a:p>
            <a:r>
              <a:t>Пример от реалния свят: изчисляване на тотал в пазарска кошница, средна оценка, макс. температура за деня.</a:t>
            </a:r>
          </a:p>
          <a:p>
            <a:r>
              <a:t>Задача за учениците: прочетете оценки, намерете средната, броя под средното и броя над средното — само с LINQ.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Any() и All() са квантори (от логиката: съществуващ и универсален квантор — ∃ и ∀).</a:t>
            </a:r>
          </a:p>
          <a:p>
            <a:r>
              <a:t>Any() без параметър е по-ефективно от .Count() &gt; 0 — спира при първия елемент.</a:t>
            </a:r>
          </a:p>
          <a:p>
            <a:r>
              <a:t>Типичен случай на грешка: извикване на Average() на празна колекция → изключение. Използвайте Any() преди това.</a:t>
            </a:r>
          </a:p>
          <a:p>
            <a:r>
              <a:t>All() на празна колекция връща TRUE (vacuous truth) — внимавайте!</a:t>
            </a:r>
          </a:p>
          <a:p>
            <a:r>
              <a:t>Реален пример: Any(u =&gt; u.IsAdmin) — проверка дали има поне един администратор в системата.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и Take са основата на пагинацията (страниране) — използват се навсякъде: уеб сайтове, мобилни приложения, бази данни.</a:t>
            </a:r>
          </a:p>
          <a:p>
            <a:r>
              <a:t>Формулата за пагинация: Skip(page * pageSize).Take(pageSize) — запомнете я!</a:t>
            </a:r>
          </a:p>
          <a:p>
            <a:r>
              <a:t>SkipWhile и TakeWhile — вариации, които спират при определено условие.</a:t>
            </a:r>
          </a:p>
          <a:p>
            <a:r>
              <a:t>Реален пример: инстаграм feed — зарежда се по 20 поста. При scroll надолу се прилага Skip(20 * n).Take(20).</a:t>
            </a:r>
          </a:p>
          <a:p>
            <a:r>
              <a:t>Задача: масив от 100 числа, изведете елементите от позиция 10 до 20 само с LINQ.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GroupBy е едно от по-сложните LINQ операции — аналогично на GROUP BY в SQL.</a:t>
            </a:r>
          </a:p>
          <a:p>
            <a:r>
              <a:t>Резултатът е IEnumerable&lt;IGrouping&lt;TKey, TElement&gt;&gt;. Всяка група има Key (ключа) и е сама по себе си IEnumerable.</a:t>
            </a:r>
          </a:p>
          <a:p>
            <a:r>
              <a:t>Реален пример: групиране на студенти по клас, поръчки по дата, продукти по категория.</a:t>
            </a:r>
          </a:p>
          <a:p>
            <a:r>
              <a:t>Комбинация: GroupBy + Select + Count() → { key, count } речник — много честа операция.</a:t>
            </a:r>
          </a:p>
          <a:p>
            <a:r>
              <a:t>Пример: words.GroupBy(w =&gt; w[0]).Select(g =&gt; new { Letter = g.Key, Count = g.Count() })</a:t>
            </a:r>
          </a:p>
          <a:p>
            <a:r>
              <a:t>Задача: прочетете списък от оценки, изведете колко ученика имат всяка оценка.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Веригата от методи е сърцето на LINQ стила.</a:t>
            </a:r>
          </a:p>
          <a:p>
            <a:r>
              <a:t>Важно: редът има значение! Where преди OrderBy е по-ефективно (сортираме по-малко елементи).</a:t>
            </a:r>
          </a:p>
          <a:p>
            <a:r>
              <a:t>Lazy evaluation (отложено изпълнение): LINQ не изпълнява заявката докато не обходите резултата (foreach, ToArray, ToList).</a:t>
            </a:r>
          </a:p>
          <a:p>
            <a:r>
              <a:t>Добра практика: ToArray() или ToList() в края ако ще ползвате резултата многократно — иначе заявката се изпълнява при всяко обхождане.</a:t>
            </a:r>
          </a:p>
          <a:p>
            <a:r>
              <a:t>Четимост: наредете методите на отделни редове (всеки .Метод() на нов ред) — много по-четимо от вложени методи.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15.9.2022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mon.bg/" TargetMode="External"/><Relationship Id="rId5" Type="http://schemas.openxmlformats.org/officeDocument/2006/relationships/notesSlide" Target="../notesSlides/notes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judge.softuni.bg/Contests/Practice/Index/174#4" TargetMode="External"/><Relationship Id="rId3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judge.softuni.bg/Contests/Practice/Index/174#4" TargetMode="External"/><Relationship Id="rId3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judge.softuni.bg/Contests/Practice/Index/174#5" TargetMode="External"/><Relationship Id="rId3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judge.softuni.bg/Contests/Practice/Index/174#5" TargetMode="External"/><Relationship Id="rId3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mon.bg/" TargetMode="External"/><Relationship Id="rId5" Type="http://schemas.openxmlformats.org/officeDocument/2006/relationships/hyperlink" Target="https://creativecommons.org/licenses/by-nc-sa/4.0" TargetMode="External"/><Relationship Id="rId6" Type="http://schemas.openxmlformats.org/officeDocument/2006/relationships/image" Target="../media/image3.png"/><Relationship Id="rId7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LINQ функции за</a:t>
            </a:r>
            <a:br>
              <a:rPr lang="ru-RU" dirty="0">
                <a:latin typeface="Comfortaa" pitchFamily="2" charset="0"/>
              </a:rPr>
            </a:br>
            <a:r>
              <a:rPr lang="ru-RU" dirty="0">
                <a:latin typeface="Comfortaa" pitchFamily="2" charset="0"/>
              </a:rPr>
              <a:t>работа с </a:t>
            </a:r>
            <a:r>
              <a:rPr lang="ru-RU" dirty="0" err="1">
                <a:latin typeface="Comfortaa" pitchFamily="2" charset="0"/>
              </a:rPr>
              <a:t>колекции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>
                <a:latin typeface="Comfortaa" pitchFamily="2" charset="0"/>
              </a:rPr>
              <a:t>LINQ и </a:t>
            </a:r>
            <a:r>
              <a:rPr lang="ru-RU" dirty="0" err="1">
                <a:latin typeface="Comfortaa" pitchFamily="2" charset="0"/>
              </a:rPr>
              <a:t>ламбда</a:t>
            </a:r>
            <a:r>
              <a:rPr lang="ru-RU" dirty="0">
                <a:latin typeface="Comfortaa" pitchFamily="2" charset="0"/>
              </a:rPr>
              <a:t> функции в действие: </a:t>
            </a:r>
          </a:p>
          <a:p>
            <a:r>
              <a:rPr lang="ru-RU" dirty="0" err="1">
                <a:latin typeface="Comfortaa" pitchFamily="2" charset="0"/>
              </a:rPr>
              <a:t>Филтриране</a:t>
            </a:r>
            <a:r>
              <a:rPr lang="ru-RU" dirty="0">
                <a:latin typeface="Comfortaa" pitchFamily="2" charset="0"/>
              </a:rPr>
              <a:t>, </a:t>
            </a:r>
            <a:r>
              <a:rPr lang="ru-RU" dirty="0" err="1">
                <a:latin typeface="Comfortaa" pitchFamily="2" charset="0"/>
              </a:rPr>
              <a:t>сортиране</a:t>
            </a:r>
            <a:r>
              <a:rPr lang="ru-RU" dirty="0">
                <a:latin typeface="Comfortaa" pitchFamily="2" charset="0"/>
              </a:rPr>
              <a:t> на </a:t>
            </a:r>
            <a:r>
              <a:rPr lang="ru-RU" dirty="0" err="1">
                <a:latin typeface="Comfortaa" pitchFamily="2" charset="0"/>
              </a:rPr>
              <a:t>колекции</a:t>
            </a:r>
            <a:r>
              <a:rPr lang="ru-RU" dirty="0">
                <a:latin typeface="Comfortaa" pitchFamily="2" charset="0"/>
              </a:rPr>
              <a:t>, </a:t>
            </a:r>
            <a:r>
              <a:rPr lang="ru-RU" dirty="0" err="1">
                <a:latin typeface="Comfortaa" pitchFamily="2" charset="0"/>
              </a:rPr>
              <a:t>други</a:t>
            </a:r>
            <a:r>
              <a:rPr lang="ru-RU" dirty="0">
                <a:latin typeface="Comfortaa" pitchFamily="2" charset="0"/>
              </a:rPr>
              <a:t> функции</a:t>
            </a: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85702" y="1315151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85702" y="2645106"/>
            <a:ext cx="10515600" cy="2305816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Филтриране на колекции с помощта на </a:t>
            </a:r>
            <a:r>
              <a:rPr lang="en-US" dirty="0">
                <a:latin typeface="Comfortaa" pitchFamily="2" charset="0"/>
              </a:rPr>
              <a:t>LINQ</a:t>
            </a:r>
            <a:endParaRPr lang="bg-BG" dirty="0">
              <a:latin typeface="Comfortaa" pitchFamily="2" charset="0"/>
            </a:endParaRP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Филтриране и сортиране с </a:t>
            </a:r>
            <a:r>
              <a:rPr lang="en-US" dirty="0">
                <a:latin typeface="Comfortaa" pitchFamily="2" charset="0"/>
              </a:rPr>
              <a:t>Lambda </a:t>
            </a:r>
            <a:r>
              <a:rPr lang="bg-BG" dirty="0">
                <a:latin typeface="Comfortaa" pitchFamily="2" charset="0"/>
              </a:rPr>
              <a:t>функции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Вземане на уникални елементи от колекция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Други операции с колекции</a:t>
            </a:r>
          </a:p>
        </p:txBody>
      </p:sp>
    </p:spTree>
    <p:extLst>
      <p:ext uri="{BB962C8B-B14F-4D97-AF65-F5344CB8AC3E}">
        <p14:creationId xmlns:p14="http://schemas.microsoft.com/office/powerpoint/2010/main" val="152034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3054" y="558638"/>
            <a:ext cx="10620891" cy="863225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Филтриране на колекции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3056" y="1433532"/>
            <a:ext cx="10620892" cy="569627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Използвайте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Where()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Count()</a:t>
            </a:r>
            <a:endParaRPr lang="en-US" dirty="0">
              <a:solidFill>
                <a:srgbClr val="00B0F0"/>
              </a:solidFill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bg-BG" dirty="0">
              <a:latin typeface="Comfortaa" pitchFamily="2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3054" y="2014828"/>
            <a:ext cx="10620892" cy="245309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2999" noProof="1">
                <a:solidFill>
                  <a:schemeClr val="bg1"/>
                </a:solidFill>
                <a:effectLst/>
              </a:rPr>
              <a:t>int[] nums = { 1, 2, 3, 4, 5, 6};</a:t>
            </a:r>
          </a:p>
          <a:p>
            <a:pPr defTabSz="1218621"/>
            <a:r>
              <a:rPr lang="en-US" sz="2999" noProof="1">
                <a:solidFill>
                  <a:schemeClr val="bg1"/>
                </a:solidFill>
                <a:effectLst/>
              </a:rPr>
              <a:t>nums = nums</a:t>
            </a:r>
          </a:p>
          <a:p>
            <a:pPr defTabSz="1218621"/>
            <a:r>
              <a:rPr lang="en-US" sz="2999" noProof="1">
                <a:solidFill>
                  <a:schemeClr val="bg1"/>
                </a:solidFill>
                <a:effectLst/>
              </a:rPr>
              <a:t>  .</a:t>
            </a:r>
            <a:r>
              <a:rPr lang="en-US" sz="2999" noProof="1">
                <a:solidFill>
                  <a:srgbClr val="00B0F0"/>
                </a:solidFill>
                <a:effectLst/>
              </a:rPr>
              <a:t>Where</a:t>
            </a:r>
            <a:r>
              <a:rPr lang="en-US" sz="2999" noProof="1">
                <a:solidFill>
                  <a:schemeClr val="bg1"/>
                </a:solidFill>
                <a:effectLst/>
              </a:rPr>
              <a:t>(num =&gt; num % 2 == 0)</a:t>
            </a:r>
          </a:p>
          <a:p>
            <a:pPr defTabSz="1218621"/>
            <a:r>
              <a:rPr lang="en-US" sz="2999" noProof="1">
                <a:solidFill>
                  <a:schemeClr val="bg1"/>
                </a:solidFill>
                <a:effectLst/>
              </a:rPr>
              <a:t>  .ToArray(); </a:t>
            </a:r>
          </a:p>
          <a:p>
            <a:pPr defTabSz="1218621"/>
            <a:r>
              <a:rPr lang="en-US" sz="2999" noProof="1">
                <a:solidFill>
                  <a:schemeClr val="bg1">
                    <a:lumMod val="65000"/>
                  </a:schemeClr>
                </a:solidFill>
                <a:effectLst/>
              </a:rPr>
              <a:t>// nums = [2, 4, 6]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3054" y="4659467"/>
            <a:ext cx="10620892" cy="153000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2999" noProof="1">
                <a:solidFill>
                  <a:schemeClr val="bg1"/>
                </a:solidFill>
                <a:effectLst/>
              </a:rPr>
              <a:t>int[] nums = { 1, 2, 3, 4, 5, 6};</a:t>
            </a:r>
          </a:p>
          <a:p>
            <a:pPr defTabSz="1218621"/>
            <a:r>
              <a:rPr lang="en-US" sz="2999" noProof="1">
                <a:solidFill>
                  <a:schemeClr val="bg1"/>
                </a:solidFill>
                <a:effectLst/>
              </a:rPr>
              <a:t>int count = nums.</a:t>
            </a:r>
            <a:r>
              <a:rPr lang="en-US" sz="2999" noProof="1">
                <a:solidFill>
                  <a:srgbClr val="00B0F0"/>
                </a:solidFill>
                <a:effectLst/>
              </a:rPr>
              <a:t>Count</a:t>
            </a:r>
            <a:r>
              <a:rPr lang="en-US" sz="2999" noProof="1">
                <a:solidFill>
                  <a:schemeClr val="bg1"/>
                </a:solidFill>
                <a:effectLst/>
              </a:rPr>
              <a:t>(num =&gt; num % 2 == 0); </a:t>
            </a:r>
          </a:p>
          <a:p>
            <a:pPr defTabSz="1218621"/>
            <a:r>
              <a:rPr lang="en-US" sz="2999" noProof="1">
                <a:solidFill>
                  <a:schemeClr val="bg1">
                    <a:lumMod val="65000"/>
                  </a:schemeClr>
                </a:solidFill>
                <a:effectLst/>
              </a:rPr>
              <a:t>// count = 3</a:t>
            </a:r>
          </a:p>
        </p:txBody>
      </p:sp>
    </p:spTree>
    <p:extLst>
      <p:ext uri="{BB962C8B-B14F-4D97-AF65-F5344CB8AC3E}">
        <p14:creationId xmlns:p14="http://schemas.microsoft.com/office/powerpoint/2010/main" val="189202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67877" y="365125"/>
            <a:ext cx="10803185" cy="778473"/>
          </a:xfrm>
        </p:spPr>
        <p:txBody>
          <a:bodyPr>
            <a:noAutofit/>
          </a:bodyPr>
          <a:lstStyle/>
          <a:p>
            <a:r>
              <a:rPr lang="bg-BG" sz="2800" dirty="0">
                <a:latin typeface="Comfortaa" pitchFamily="2" charset="0"/>
              </a:rPr>
              <a:t>Филтриране и сортиране с </a:t>
            </a:r>
            <a:r>
              <a:rPr lang="en-US" sz="2800" dirty="0">
                <a:latin typeface="Comfortaa" pitchFamily="2" charset="0"/>
              </a:rPr>
              <a:t>Lambda </a:t>
            </a:r>
            <a:r>
              <a:rPr lang="bg-BG" sz="2800" dirty="0">
                <a:latin typeface="Comfortaa" pitchFamily="2" charset="0"/>
              </a:rPr>
              <a:t>функции</a:t>
            </a:r>
            <a:endParaRPr lang="en-US" sz="2800" dirty="0">
              <a:latin typeface="Comfortaa" pitchFamily="2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67878" y="1143598"/>
            <a:ext cx="10803184" cy="514543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2599" noProof="1">
                <a:solidFill>
                  <a:schemeClr val="bg1"/>
                </a:solidFill>
                <a:effectLst/>
              </a:rPr>
              <a:t>int[] nums = { 11, 99, 33, 55, 77, 44, 66, 22, 88 };</a:t>
            </a:r>
          </a:p>
          <a:p>
            <a:pPr defTabSz="1218621"/>
            <a:endParaRPr lang="en-US" sz="2599" noProof="1">
              <a:solidFill>
                <a:schemeClr val="bg1"/>
              </a:solidFill>
              <a:effectLst/>
            </a:endParaRPr>
          </a:p>
          <a:p>
            <a:pPr defTabSz="1218621">
              <a:spcBef>
                <a:spcPts val="600"/>
              </a:spcBef>
            </a:pPr>
            <a:r>
              <a:rPr lang="en-US" sz="2599" noProof="1">
                <a:solidFill>
                  <a:schemeClr val="bg1"/>
                </a:solidFill>
                <a:effectLst/>
              </a:rPr>
              <a:t>nums.</a:t>
            </a:r>
            <a:r>
              <a:rPr lang="en-US" sz="2599" noProof="1">
                <a:solidFill>
                  <a:srgbClr val="00B0F0"/>
                </a:solidFill>
                <a:effectLst/>
              </a:rPr>
              <a:t>OrderBy</a:t>
            </a:r>
            <a:r>
              <a:rPr lang="en-US" sz="2599" noProof="1">
                <a:solidFill>
                  <a:schemeClr val="bg1"/>
                </a:solidFill>
                <a:effectLst/>
              </a:rPr>
              <a:t>(x =&gt; x).</a:t>
            </a:r>
            <a:r>
              <a:rPr lang="en-US" sz="2599" noProof="1">
                <a:solidFill>
                  <a:srgbClr val="00B0F0"/>
                </a:solidFill>
                <a:effectLst/>
              </a:rPr>
              <a:t>Take</a:t>
            </a:r>
            <a:r>
              <a:rPr lang="en-US" sz="2599" noProof="1">
                <a:solidFill>
                  <a:schemeClr val="bg1"/>
                </a:solidFill>
                <a:effectLst/>
              </a:rPr>
              <a:t>(3); </a:t>
            </a:r>
          </a:p>
          <a:p>
            <a:pPr defTabSz="1218621">
              <a:spcBef>
                <a:spcPts val="600"/>
              </a:spcBef>
            </a:pPr>
            <a:r>
              <a:rPr lang="en-US" sz="2599" noProof="1">
                <a:solidFill>
                  <a:schemeClr val="bg1">
                    <a:lumMod val="65000"/>
                  </a:schemeClr>
                </a:solidFill>
                <a:effectLst/>
              </a:rPr>
              <a:t>// 11 22 33</a:t>
            </a:r>
          </a:p>
          <a:p>
            <a:pPr defTabSz="1218621">
              <a:spcBef>
                <a:spcPts val="1799"/>
              </a:spcBef>
            </a:pPr>
            <a:r>
              <a:rPr lang="en-US" sz="2599" noProof="1">
                <a:solidFill>
                  <a:schemeClr val="bg1"/>
                </a:solidFill>
                <a:effectLst/>
              </a:rPr>
              <a:t>nums.</a:t>
            </a:r>
            <a:r>
              <a:rPr lang="en-US" sz="2599" noProof="1">
                <a:solidFill>
                  <a:srgbClr val="00B0F0"/>
                </a:solidFill>
                <a:effectLst/>
              </a:rPr>
              <a:t>Where</a:t>
            </a:r>
            <a:r>
              <a:rPr lang="en-US" sz="2599" noProof="1">
                <a:solidFill>
                  <a:schemeClr val="bg1"/>
                </a:solidFill>
                <a:effectLst/>
              </a:rPr>
              <a:t>(x =&gt; x &lt; 50);</a:t>
            </a:r>
          </a:p>
          <a:p>
            <a:pPr defTabSz="1218621"/>
            <a:r>
              <a:rPr lang="en-US" sz="2599" noProof="1">
                <a:solidFill>
                  <a:schemeClr val="bg1">
                    <a:lumMod val="65000"/>
                  </a:schemeClr>
                </a:solidFill>
                <a:effectLst/>
              </a:rPr>
              <a:t>// 11 33 44 22</a:t>
            </a:r>
          </a:p>
          <a:p>
            <a:pPr defTabSz="1218621">
              <a:spcBef>
                <a:spcPts val="1799"/>
              </a:spcBef>
            </a:pPr>
            <a:r>
              <a:rPr lang="en-US" sz="2599" noProof="1">
                <a:solidFill>
                  <a:schemeClr val="bg1"/>
                </a:solidFill>
                <a:effectLst/>
              </a:rPr>
              <a:t>nums.</a:t>
            </a:r>
            <a:r>
              <a:rPr lang="en-US" sz="2599" noProof="1">
                <a:solidFill>
                  <a:srgbClr val="00B0F0"/>
                </a:solidFill>
                <a:effectLst/>
              </a:rPr>
              <a:t>Count</a:t>
            </a:r>
            <a:r>
              <a:rPr lang="en-US" sz="2599" noProof="1">
                <a:solidFill>
                  <a:schemeClr val="bg1"/>
                </a:solidFill>
                <a:effectLst/>
              </a:rPr>
              <a:t>(x =&gt; x % 2 == 1); </a:t>
            </a:r>
          </a:p>
          <a:p>
            <a:pPr defTabSz="1218621">
              <a:spcBef>
                <a:spcPts val="600"/>
              </a:spcBef>
            </a:pPr>
            <a:r>
              <a:rPr lang="en-US" sz="2599" noProof="1">
                <a:solidFill>
                  <a:schemeClr val="bg1">
                    <a:lumMod val="65000"/>
                  </a:schemeClr>
                </a:solidFill>
                <a:effectLst/>
              </a:rPr>
              <a:t>// 5</a:t>
            </a:r>
          </a:p>
          <a:p>
            <a:pPr defTabSz="1218621">
              <a:spcBef>
                <a:spcPts val="1799"/>
              </a:spcBef>
            </a:pPr>
            <a:r>
              <a:rPr lang="en-US" sz="2599" noProof="1">
                <a:solidFill>
                  <a:schemeClr val="bg1"/>
                </a:solidFill>
                <a:effectLst/>
              </a:rPr>
              <a:t>nums.</a:t>
            </a:r>
            <a:r>
              <a:rPr lang="en-US" sz="2599" noProof="1">
                <a:solidFill>
                  <a:srgbClr val="00B0F0"/>
                </a:solidFill>
                <a:effectLst/>
              </a:rPr>
              <a:t>Select</a:t>
            </a:r>
            <a:r>
              <a:rPr lang="en-US" sz="2599" noProof="1">
                <a:solidFill>
                  <a:schemeClr val="bg1"/>
                </a:solidFill>
                <a:effectLst/>
              </a:rPr>
              <a:t>(x =&gt; x * 2).</a:t>
            </a:r>
            <a:r>
              <a:rPr lang="en-US" sz="2599" noProof="1">
                <a:solidFill>
                  <a:srgbClr val="00B0F0"/>
                </a:solidFill>
                <a:effectLst/>
              </a:rPr>
              <a:t>Take</a:t>
            </a:r>
            <a:r>
              <a:rPr lang="en-US" sz="2599" noProof="1">
                <a:solidFill>
                  <a:schemeClr val="bg1"/>
                </a:solidFill>
                <a:effectLst/>
              </a:rPr>
              <a:t>(5); </a:t>
            </a:r>
          </a:p>
          <a:p>
            <a:pPr defTabSz="1218621">
              <a:spcBef>
                <a:spcPts val="600"/>
              </a:spcBef>
            </a:pPr>
            <a:r>
              <a:rPr lang="en-US" sz="2599" noProof="1">
                <a:solidFill>
                  <a:schemeClr val="bg1">
                    <a:lumMod val="65000"/>
                  </a:schemeClr>
                </a:solidFill>
                <a:effectLst/>
              </a:rPr>
              <a:t>// 22 198 66 110 154</a:t>
            </a:r>
          </a:p>
        </p:txBody>
      </p:sp>
    </p:spTree>
    <p:extLst>
      <p:ext uri="{BB962C8B-B14F-4D97-AF65-F5344CB8AC3E}">
        <p14:creationId xmlns:p14="http://schemas.microsoft.com/office/powerpoint/2010/main" val="3802538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0868" y="1065770"/>
            <a:ext cx="10665220" cy="780843"/>
          </a:xfrm>
        </p:spPr>
        <p:txBody>
          <a:bodyPr>
            <a:noAutofit/>
          </a:bodyPr>
          <a:lstStyle/>
          <a:p>
            <a:r>
              <a:rPr lang="bg-BG" sz="3200" b="1" dirty="0">
                <a:latin typeface="Comfortaa" pitchFamily="2" charset="0"/>
              </a:rPr>
              <a:t>Вземане на уникални елементи от колекция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50867" y="1846613"/>
            <a:ext cx="10665221" cy="58738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Distinct()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взема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unique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елементи от колекция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pPr marL="0" indent="0">
              <a:buNone/>
            </a:pPr>
            <a:endParaRPr lang="bg-BG" dirty="0">
              <a:latin typeface="Comfortaa" pitchFamily="2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50868" y="2496136"/>
            <a:ext cx="10290264" cy="309925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3199" noProof="1">
                <a:solidFill>
                  <a:schemeClr val="bg1"/>
                </a:solidFill>
                <a:effectLst/>
              </a:rPr>
              <a:t>int[] nums = </a:t>
            </a:r>
            <a:r>
              <a:rPr lang="en-US" sz="2000" noProof="1">
                <a:solidFill>
                  <a:schemeClr val="bg1"/>
                </a:solidFill>
                <a:effectLst/>
              </a:rPr>
              <a:t>{ 1, 2, 2, 3, 4, 5, 6, -2, 2, 0, 15, 3, 1, 0, 6 };</a:t>
            </a:r>
          </a:p>
          <a:p>
            <a:pPr defTabSz="1218621"/>
            <a:endParaRPr lang="en-US" sz="3199" noProof="1">
              <a:solidFill>
                <a:schemeClr val="bg1"/>
              </a:solidFill>
              <a:effectLst/>
            </a:endParaRPr>
          </a:p>
          <a:p>
            <a:pPr defTabSz="1218621"/>
            <a:r>
              <a:rPr lang="en-US" sz="3199" noProof="1">
                <a:solidFill>
                  <a:schemeClr val="bg1"/>
                </a:solidFill>
                <a:effectLst/>
              </a:rPr>
              <a:t>nums = nums</a:t>
            </a:r>
          </a:p>
          <a:p>
            <a:pPr defTabSz="1218621"/>
            <a:r>
              <a:rPr lang="en-US" sz="3199" noProof="1">
                <a:solidFill>
                  <a:schemeClr val="bg1"/>
                </a:solidFill>
                <a:effectLst/>
              </a:rPr>
              <a:t>  .</a:t>
            </a:r>
            <a:r>
              <a:rPr lang="en-US" sz="3199" noProof="1">
                <a:solidFill>
                  <a:srgbClr val="00B0F0"/>
                </a:solidFill>
                <a:effectLst/>
              </a:rPr>
              <a:t>Distinct</a:t>
            </a:r>
            <a:r>
              <a:rPr lang="en-US" sz="3199" noProof="1">
                <a:solidFill>
                  <a:schemeClr val="bg1"/>
                </a:solidFill>
                <a:effectLst/>
              </a:rPr>
              <a:t>()</a:t>
            </a:r>
          </a:p>
          <a:p>
            <a:pPr defTabSz="1218621"/>
            <a:r>
              <a:rPr lang="en-US" sz="3199" noProof="1">
                <a:solidFill>
                  <a:schemeClr val="bg1"/>
                </a:solidFill>
                <a:effectLst/>
              </a:rPr>
              <a:t>  .ToArray(); </a:t>
            </a:r>
          </a:p>
          <a:p>
            <a:pPr defTabSz="1218621"/>
            <a:r>
              <a:rPr lang="en-US" sz="3199" noProof="1">
                <a:solidFill>
                  <a:schemeClr val="bg1">
                    <a:lumMod val="65000"/>
                  </a:schemeClr>
                </a:solidFill>
                <a:effectLst/>
              </a:rPr>
              <a:t>// nums = [1, 2, 3, 4, 5, 6, -2, 0, 15]</a:t>
            </a:r>
          </a:p>
        </p:txBody>
      </p:sp>
    </p:spTree>
    <p:extLst>
      <p:ext uri="{BB962C8B-B14F-4D97-AF65-F5344CB8AC3E}">
        <p14:creationId xmlns:p14="http://schemas.microsoft.com/office/powerpoint/2010/main" val="2386533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612" y="1458914"/>
            <a:ext cx="10614258" cy="2697055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Въведете текст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извлечете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думите му,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намерете всички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къси думи </a:t>
            </a:r>
            <a:r>
              <a:rPr lang="en-US" dirty="0">
                <a:latin typeface="Comfortaa" pitchFamily="2" charset="0"/>
              </a:rPr>
              <a:t>(</a:t>
            </a:r>
            <a:r>
              <a:rPr lang="bg-BG" dirty="0">
                <a:latin typeface="Comfortaa" pitchFamily="2" charset="0"/>
              </a:rPr>
              <a:t>с по-малко от </a:t>
            </a:r>
            <a:r>
              <a:rPr lang="en-US" dirty="0">
                <a:latin typeface="Comfortaa" pitchFamily="2" charset="0"/>
              </a:rPr>
              <a:t>5 </a:t>
            </a:r>
            <a:r>
              <a:rPr lang="bg-BG" dirty="0">
                <a:latin typeface="Comfortaa" pitchFamily="2" charset="0"/>
              </a:rPr>
              <a:t>символа</a:t>
            </a:r>
            <a:r>
              <a:rPr lang="en-US" dirty="0">
                <a:latin typeface="Comfortaa" pitchFamily="2" charset="0"/>
              </a:rPr>
              <a:t>) </a:t>
            </a:r>
            <a:r>
              <a:rPr lang="bg-BG" dirty="0">
                <a:latin typeface="Comfortaa" pitchFamily="2" charset="0"/>
              </a:rPr>
              <a:t>и ги изведете в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азбучен ред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малки букви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Използвайте следните разделители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dirty="0">
                <a:latin typeface="Comfortaa" pitchFamily="2" charset="0"/>
              </a:rPr>
              <a:t>.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latin typeface="Comfortaa" pitchFamily="2" charset="0"/>
              </a:rPr>
              <a:t>,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latin typeface="Comfortaa" pitchFamily="2" charset="0"/>
              </a:rPr>
              <a:t>: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latin typeface="Comfortaa" pitchFamily="2" charset="0"/>
              </a:rPr>
              <a:t>;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latin typeface="Comfortaa" pitchFamily="2" charset="0"/>
              </a:rPr>
              <a:t>(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latin typeface="Comfortaa" pitchFamily="2" charset="0"/>
              </a:rPr>
              <a:t>)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latin typeface="Comfortaa" pitchFamily="2" charset="0"/>
              </a:rPr>
              <a:t>[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latin typeface="Comfortaa" pitchFamily="2" charset="0"/>
              </a:rPr>
              <a:t>]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latin typeface="Comfortaa" pitchFamily="2" charset="0"/>
              </a:rPr>
              <a:t>"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latin typeface="Comfortaa" pitchFamily="2" charset="0"/>
              </a:rPr>
              <a:t>'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latin typeface="Comfortaa" pitchFamily="2" charset="0"/>
              </a:rPr>
              <a:t>/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latin typeface="Comfortaa" pitchFamily="2" charset="0"/>
              </a:rPr>
              <a:t>\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latin typeface="Comfortaa" pitchFamily="2" charset="0"/>
              </a:rPr>
              <a:t>!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latin typeface="Comfortaa" pitchFamily="2" charset="0"/>
              </a:rPr>
              <a:t>?</a:t>
            </a:r>
            <a:r>
              <a:rPr lang="en-US" dirty="0">
                <a:latin typeface="Comfortaa" pitchFamily="2" charset="0"/>
              </a:rPr>
              <a:t> (space)</a:t>
            </a:r>
          </a:p>
          <a:p>
            <a:pPr lvl="1"/>
            <a:r>
              <a:rPr lang="bg-BG" dirty="0">
                <a:latin typeface="Comfortaa" pitchFamily="2" charset="0"/>
              </a:rPr>
              <a:t>Използвайте</a:t>
            </a:r>
            <a:r>
              <a:rPr lang="en-US" dirty="0">
                <a:latin typeface="Comfortaa" pitchFamily="2" charset="0"/>
              </a:rPr>
              <a:t> case-insensitive </a:t>
            </a:r>
            <a:r>
              <a:rPr lang="bg-BG" dirty="0">
                <a:latin typeface="Comfortaa" pitchFamily="2" charset="0"/>
              </a:rPr>
              <a:t>съвпдение</a:t>
            </a:r>
            <a:r>
              <a:rPr lang="en-US" dirty="0">
                <a:latin typeface="Comfortaa" pitchFamily="2" charset="0"/>
              </a:rPr>
              <a:t>; </a:t>
            </a:r>
            <a:r>
              <a:rPr lang="bg-BG" dirty="0">
                <a:latin typeface="Comfortaa" pitchFamily="2" charset="0"/>
              </a:rPr>
              <a:t>премахнете повторящите се думи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45277" y="438692"/>
            <a:ext cx="10193278" cy="1090038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Задача: Сортиране на къси думи</a:t>
            </a:r>
            <a:endParaRPr lang="en-US" sz="4000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99809" y="4310782"/>
            <a:ext cx="10014554" cy="91480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defTabSz="1218621">
              <a:lnSpc>
                <a:spcPct val="11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In SoftUni you can study Java, C#, PHP and JavaScript. JAVA and c# developers graduate in 2-3 years. Go in!</a:t>
            </a:r>
            <a:endParaRPr lang="it-IT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016924" y="5473117"/>
            <a:ext cx="10014554" cy="49007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defTabSz="1218621">
              <a:lnSpc>
                <a:spcPct val="115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2-3, and, c#, can, go, in, java, php, you</a:t>
            </a:r>
            <a:endParaRPr lang="it-IT" sz="24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7612" y="6096389"/>
            <a:ext cx="10896481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621"/>
            <a:r>
              <a:rPr lang="en-US" sz="2399" dirty="0">
                <a:solidFill>
                  <a:prstClr val="white"/>
                </a:solidFill>
                <a:latin typeface="Comfortaa" pitchFamily="2" charset="0"/>
                <a:hlinkClick r:id="rId2"/>
              </a:rPr>
              <a:t>https://judge.softuni.bg/Contests/Practice/Index/174#4</a:t>
            </a:r>
            <a:endParaRPr lang="en-US" sz="2399" dirty="0">
              <a:solidFill>
                <a:prstClr val="white"/>
              </a:solidFill>
              <a:latin typeface="Comfortaa" pitchFamily="2" charset="0"/>
            </a:endParaRPr>
          </a:p>
        </p:txBody>
      </p:sp>
      <p:sp>
        <p:nvSpPr>
          <p:cNvPr id="11" name="Curved Right Arrow 10"/>
          <p:cNvSpPr/>
          <p:nvPr/>
        </p:nvSpPr>
        <p:spPr>
          <a:xfrm>
            <a:off x="512006" y="4591372"/>
            <a:ext cx="390154" cy="1268423"/>
          </a:xfrm>
          <a:prstGeom prst="curvedRightArrow">
            <a:avLst>
              <a:gd name="adj1" fmla="val 62371"/>
              <a:gd name="adj2" fmla="val 142044"/>
              <a:gd name="adj3" fmla="val 25000"/>
            </a:avLst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endParaRPr lang="en-US" sz="2799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623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03966" y="495754"/>
            <a:ext cx="11184068" cy="869221"/>
          </a:xfrm>
        </p:spPr>
        <p:txBody>
          <a:bodyPr>
            <a:normAutofit/>
          </a:bodyPr>
          <a:lstStyle/>
          <a:p>
            <a:r>
              <a:rPr lang="bg-BG" sz="4000" b="1" dirty="0">
                <a:latin typeface="Comfortaa" pitchFamily="2" charset="0"/>
              </a:rPr>
              <a:t>Решение: Сортиране на къси думи </a:t>
            </a:r>
            <a:endParaRPr lang="en-US" sz="4000" b="1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03966" y="1364975"/>
            <a:ext cx="11191277" cy="448006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defTabSz="1218621">
              <a:lnSpc>
                <a:spcPct val="115000"/>
              </a:lnSpc>
            </a:pPr>
            <a:r>
              <a:rPr lang="en-US" sz="2799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char[] </a:t>
            </a:r>
            <a:r>
              <a:rPr lang="en-US" sz="2799" b="1" noProof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separators</a:t>
            </a:r>
            <a:r>
              <a:rPr lang="en-US" sz="2799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= new char[] </a:t>
            </a:r>
          </a:p>
          <a:p>
            <a:pPr defTabSz="1218621">
              <a:lnSpc>
                <a:spcPct val="115000"/>
              </a:lnSpc>
            </a:pPr>
            <a:r>
              <a:rPr lang="en-US" sz="2399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{'.',',',':',';','(',')','[',']','\\','\"','\'','/','!','?',' '};</a:t>
            </a:r>
          </a:p>
          <a:p>
            <a:pPr defTabSz="1218621">
              <a:lnSpc>
                <a:spcPct val="115000"/>
              </a:lnSpc>
            </a:pPr>
            <a:r>
              <a:rPr lang="en-US" sz="2799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string sentence = Console.ReadLine().ToLower();</a:t>
            </a:r>
          </a:p>
          <a:p>
            <a:pPr defTabSz="1218621">
              <a:lnSpc>
                <a:spcPct val="115000"/>
              </a:lnSpc>
            </a:pPr>
            <a:r>
              <a:rPr lang="en-US" sz="2799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string[] words = sentence.Split(</a:t>
            </a:r>
            <a:r>
              <a:rPr lang="en-US" sz="2799" b="1" noProof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separators</a:t>
            </a:r>
            <a:r>
              <a:rPr lang="en-US" sz="2799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);</a:t>
            </a:r>
          </a:p>
          <a:p>
            <a:pPr defTabSz="1218621">
              <a:lnSpc>
                <a:spcPct val="115000"/>
              </a:lnSpc>
            </a:pPr>
            <a:r>
              <a:rPr lang="en-US" sz="2799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var result = words</a:t>
            </a:r>
          </a:p>
          <a:p>
            <a:pPr defTabSz="1218621">
              <a:lnSpc>
                <a:spcPct val="115000"/>
              </a:lnSpc>
            </a:pPr>
            <a:r>
              <a:rPr lang="en-US" sz="2799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.</a:t>
            </a:r>
            <a:r>
              <a:rPr lang="en-US" sz="2799" b="1" noProof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Where</a:t>
            </a:r>
            <a:r>
              <a:rPr lang="en-US" sz="2799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(w =&gt; w != "")</a:t>
            </a:r>
          </a:p>
          <a:p>
            <a:pPr defTabSz="1218621">
              <a:lnSpc>
                <a:spcPct val="115000"/>
              </a:lnSpc>
            </a:pPr>
            <a:r>
              <a:rPr lang="en-US" sz="2799" b="1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// TODO: </a:t>
            </a:r>
            <a:r>
              <a:rPr lang="bg-BG" sz="2799" b="1" i="1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филтрирайте думите с дължина</a:t>
            </a:r>
            <a:r>
              <a:rPr lang="en-US" sz="2799" b="1" i="1" noProof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&lt; 5</a:t>
            </a:r>
          </a:p>
          <a:p>
            <a:pPr defTabSz="1218621">
              <a:lnSpc>
                <a:spcPct val="115000"/>
              </a:lnSpc>
            </a:pPr>
            <a:r>
              <a:rPr lang="en-US" sz="2799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.</a:t>
            </a:r>
            <a:r>
              <a:rPr lang="en-US" sz="2799" b="1" noProof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OrderBy</a:t>
            </a:r>
            <a:r>
              <a:rPr lang="en-US" sz="2799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(w =&gt; w).</a:t>
            </a:r>
            <a:r>
              <a:rPr lang="en-US" sz="2799" b="1" noProof="1">
                <a:solidFill>
                  <a:srgbClr val="00B0F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Distinct</a:t>
            </a:r>
            <a:r>
              <a:rPr lang="en-US" sz="2799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();</a:t>
            </a:r>
          </a:p>
          <a:p>
            <a:pPr defTabSz="1218621">
              <a:lnSpc>
                <a:spcPct val="115000"/>
              </a:lnSpc>
            </a:pPr>
            <a:r>
              <a:rPr lang="en-US" sz="2799" b="1" noProof="1">
                <a:solidFill>
                  <a:schemeClr val="bg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Console.WriteLine(string.Join(", ", result));</a:t>
            </a:r>
            <a:endParaRPr lang="it-IT" sz="2799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3966" y="5970740"/>
            <a:ext cx="1119127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621"/>
            <a:r>
              <a:rPr lang="en-US" sz="2399" dirty="0">
                <a:solidFill>
                  <a:prstClr val="white"/>
                </a:solidFill>
                <a:latin typeface="Comfortaa" pitchFamily="2" charset="0"/>
              </a:rPr>
              <a:t>: </a:t>
            </a:r>
            <a:r>
              <a:rPr lang="en-US" sz="2399" dirty="0">
                <a:solidFill>
                  <a:prstClr val="white"/>
                </a:solidFill>
                <a:latin typeface="Comfortaa" pitchFamily="2" charset="0"/>
                <a:hlinkClick r:id="rId2"/>
              </a:rPr>
              <a:t>https://judge.softuni.bg/Contests/Practice/Index/174#4</a:t>
            </a:r>
            <a:endParaRPr lang="en-US" sz="2399" dirty="0">
              <a:solidFill>
                <a:prstClr val="white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212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081" y="788157"/>
            <a:ext cx="11277838" cy="1010821"/>
          </a:xfrm>
        </p:spPr>
        <p:txBody>
          <a:bodyPr>
            <a:normAutofit/>
          </a:bodyPr>
          <a:lstStyle/>
          <a:p>
            <a:r>
              <a:rPr lang="bg-BG" sz="4000" b="1" dirty="0">
                <a:latin typeface="Comfortaa" pitchFamily="2" charset="0"/>
              </a:rPr>
              <a:t>Вземане на един елемент от колекция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081" y="1798978"/>
            <a:ext cx="11277838" cy="682965"/>
          </a:xfrm>
        </p:spPr>
        <p:txBody>
          <a:bodyPr/>
          <a:lstStyle/>
          <a:p>
            <a:pPr marL="0" indent="0">
              <a:buNone/>
            </a:pPr>
            <a:r>
              <a:rPr lang="bg-BG" dirty="0">
                <a:latin typeface="Comfortaa" pitchFamily="2" charset="0"/>
              </a:rPr>
              <a:t>Използвайте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First()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Last()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Single()</a:t>
            </a:r>
            <a:endParaRPr lang="bg-BG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40540" y="2546873"/>
            <a:ext cx="11110919" cy="359156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3199" noProof="1">
                <a:solidFill>
                  <a:schemeClr val="bg1"/>
                </a:solidFill>
                <a:effectLst/>
              </a:rPr>
              <a:t>int[] nums = { 1, 2, 3, 4, 5, 6 };</a:t>
            </a:r>
          </a:p>
          <a:p>
            <a:pPr defTabSz="1218621"/>
            <a:endParaRPr lang="en-US" sz="3199" noProof="1">
              <a:solidFill>
                <a:schemeClr val="bg1"/>
              </a:solidFill>
              <a:effectLst/>
            </a:endParaRPr>
          </a:p>
          <a:p>
            <a:pPr defTabSz="1218621"/>
            <a:r>
              <a:rPr lang="en-US" sz="3199" noProof="1">
                <a:solidFill>
                  <a:schemeClr val="bg1"/>
                </a:solidFill>
                <a:effectLst/>
              </a:rPr>
              <a:t>int firstNum = nums.</a:t>
            </a:r>
            <a:r>
              <a:rPr lang="en-US" sz="3199" noProof="1">
                <a:solidFill>
                  <a:srgbClr val="00B0F0"/>
                </a:solidFill>
                <a:effectLst/>
              </a:rPr>
              <a:t>First</a:t>
            </a:r>
            <a:r>
              <a:rPr lang="en-US" sz="3199" noProof="1">
                <a:solidFill>
                  <a:schemeClr val="bg1"/>
                </a:solidFill>
                <a:effectLst/>
              </a:rPr>
              <a:t>(x =&gt; x % 2 == 0); </a:t>
            </a:r>
            <a:r>
              <a:rPr lang="en-US" sz="3199" noProof="1">
                <a:solidFill>
                  <a:schemeClr val="bg1">
                    <a:lumMod val="65000"/>
                  </a:schemeClr>
                </a:solidFill>
                <a:effectLst/>
              </a:rPr>
              <a:t>// 2</a:t>
            </a:r>
          </a:p>
          <a:p>
            <a:pPr defTabSz="1218621"/>
            <a:endParaRPr lang="en-US" sz="3199" noProof="1">
              <a:solidFill>
                <a:schemeClr val="bg1"/>
              </a:solidFill>
              <a:effectLst/>
            </a:endParaRPr>
          </a:p>
          <a:p>
            <a:pPr defTabSz="1218621"/>
            <a:r>
              <a:rPr lang="en-US" sz="3199" noProof="1">
                <a:solidFill>
                  <a:schemeClr val="bg1"/>
                </a:solidFill>
                <a:effectLst/>
              </a:rPr>
              <a:t>int lastNum = nums.</a:t>
            </a:r>
            <a:r>
              <a:rPr lang="en-US" sz="3199" noProof="1">
                <a:solidFill>
                  <a:srgbClr val="00B0F0"/>
                </a:solidFill>
                <a:effectLst/>
              </a:rPr>
              <a:t>Last</a:t>
            </a:r>
            <a:r>
              <a:rPr lang="en-US" sz="3199" noProof="1">
                <a:solidFill>
                  <a:schemeClr val="bg1"/>
                </a:solidFill>
                <a:effectLst/>
              </a:rPr>
              <a:t>(x =&gt; x % 2 == 1); </a:t>
            </a:r>
            <a:r>
              <a:rPr lang="en-US" sz="3199" noProof="1">
                <a:solidFill>
                  <a:schemeClr val="bg1">
                    <a:lumMod val="65000"/>
                  </a:schemeClr>
                </a:solidFill>
                <a:effectLst/>
              </a:rPr>
              <a:t>// 5</a:t>
            </a:r>
          </a:p>
          <a:p>
            <a:pPr defTabSz="1218621"/>
            <a:endParaRPr lang="en-US" sz="3199" noProof="1">
              <a:solidFill>
                <a:schemeClr val="bg1"/>
              </a:solidFill>
              <a:effectLst/>
            </a:endParaRPr>
          </a:p>
          <a:p>
            <a:pPr defTabSz="1218621"/>
            <a:r>
              <a:rPr lang="en-US" sz="3199" noProof="1">
                <a:solidFill>
                  <a:schemeClr val="bg1"/>
                </a:solidFill>
                <a:effectLst/>
              </a:rPr>
              <a:t>int singleNum = nums.</a:t>
            </a:r>
            <a:r>
              <a:rPr lang="en-US" sz="3199" noProof="1">
                <a:solidFill>
                  <a:srgbClr val="00B0F0"/>
                </a:solidFill>
                <a:effectLst/>
              </a:rPr>
              <a:t>Single</a:t>
            </a:r>
            <a:r>
              <a:rPr lang="en-US" sz="3199" noProof="1">
                <a:solidFill>
                  <a:schemeClr val="bg1"/>
                </a:solidFill>
                <a:effectLst/>
              </a:rPr>
              <a:t>(x =&gt; x == 4); </a:t>
            </a:r>
            <a:r>
              <a:rPr lang="en-US" sz="3199" noProof="1">
                <a:solidFill>
                  <a:schemeClr val="bg1">
                    <a:lumMod val="65000"/>
                  </a:schemeClr>
                </a:solidFill>
                <a:effectLst/>
              </a:rPr>
              <a:t>// 4</a:t>
            </a:r>
          </a:p>
        </p:txBody>
      </p:sp>
    </p:spTree>
    <p:extLst>
      <p:ext uri="{BB962C8B-B14F-4D97-AF65-F5344CB8AC3E}">
        <p14:creationId xmlns:p14="http://schemas.microsoft.com/office/powerpoint/2010/main" val="1141674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56316" y="237033"/>
            <a:ext cx="10697484" cy="1024288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Други операции с колекции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56317" y="1308822"/>
            <a:ext cx="10879365" cy="2935132"/>
          </a:xfrm>
        </p:spPr>
        <p:txBody>
          <a:bodyPr>
            <a:normAutofit lnSpcReduction="10000"/>
          </a:bodyPr>
          <a:lstStyle/>
          <a:p>
            <a:r>
              <a:rPr lang="bg-BG" dirty="0">
                <a:latin typeface="Comfortaa" pitchFamily="2" charset="0"/>
              </a:rPr>
              <a:t>Ползвайте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Reverse()</a:t>
            </a:r>
            <a:endParaRPr lang="bg-BG" b="1" dirty="0">
              <a:solidFill>
                <a:srgbClr val="00B0F0"/>
              </a:solidFill>
              <a:latin typeface="Comfortaa" pitchFamily="2" charset="0"/>
            </a:endParaRPr>
          </a:p>
          <a:p>
            <a:endParaRPr lang="en-US" b="1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>
              <a:lnSpc>
                <a:spcPct val="17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20000"/>
              </a:lnSpc>
            </a:pPr>
            <a:r>
              <a:rPr lang="bg-BG" dirty="0">
                <a:latin typeface="Comfortaa" pitchFamily="2" charset="0"/>
              </a:rPr>
              <a:t>Ползвайте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Concat()</a:t>
            </a:r>
            <a:endParaRPr lang="en-US" noProof="1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56317" y="1806689"/>
            <a:ext cx="10879366" cy="162231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3199" noProof="1">
                <a:solidFill>
                  <a:schemeClr val="bg1"/>
                </a:solidFill>
                <a:effectLst/>
              </a:rPr>
              <a:t>int[] nums = { 1, 2, 3, 4, 5, 6};</a:t>
            </a:r>
          </a:p>
          <a:p>
            <a:pPr defTabSz="1218621"/>
            <a:r>
              <a:rPr lang="en-US" sz="3199" noProof="1">
                <a:solidFill>
                  <a:schemeClr val="bg1"/>
                </a:solidFill>
                <a:effectLst/>
              </a:rPr>
              <a:t>nums = nums.</a:t>
            </a:r>
            <a:r>
              <a:rPr lang="en-US" sz="3199" noProof="1">
                <a:solidFill>
                  <a:srgbClr val="00B0F0"/>
                </a:solidFill>
                <a:effectLst/>
              </a:rPr>
              <a:t>Reverse</a:t>
            </a:r>
            <a:r>
              <a:rPr lang="en-US" sz="3199" noProof="1">
                <a:solidFill>
                  <a:schemeClr val="bg1"/>
                </a:solidFill>
                <a:effectLst/>
              </a:rPr>
              <a:t>(); </a:t>
            </a:r>
          </a:p>
          <a:p>
            <a:pPr defTabSz="1218621"/>
            <a:r>
              <a:rPr lang="en-US" sz="3199" noProof="1">
                <a:solidFill>
                  <a:schemeClr val="bg1">
                    <a:lumMod val="65000"/>
                  </a:schemeClr>
                </a:solidFill>
                <a:effectLst/>
              </a:rPr>
              <a:t>// nums = 6, 5, 4, 3, 2, 1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56317" y="4184576"/>
            <a:ext cx="10879366" cy="211462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sz="2800"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3199" noProof="1">
                <a:solidFill>
                  <a:schemeClr val="bg1"/>
                </a:solidFill>
                <a:effectLst/>
              </a:rPr>
              <a:t>int[] nums = { 1, 2, 3, 4, 5, 6 };</a:t>
            </a:r>
          </a:p>
          <a:p>
            <a:pPr defTabSz="1218621"/>
            <a:r>
              <a:rPr lang="en-US" sz="3199" noProof="1">
                <a:solidFill>
                  <a:schemeClr val="bg1"/>
                </a:solidFill>
                <a:effectLst/>
              </a:rPr>
              <a:t>int[] otherNums = { 7, 8, 9, 0 };</a:t>
            </a:r>
          </a:p>
          <a:p>
            <a:pPr defTabSz="1218621"/>
            <a:r>
              <a:rPr lang="en-US" sz="3199" noProof="1">
                <a:solidFill>
                  <a:schemeClr val="bg1"/>
                </a:solidFill>
                <a:effectLst/>
              </a:rPr>
              <a:t>nums = nums.</a:t>
            </a:r>
            <a:r>
              <a:rPr lang="en-US" sz="3199" noProof="1">
                <a:solidFill>
                  <a:srgbClr val="00B0F0"/>
                </a:solidFill>
                <a:effectLst/>
              </a:rPr>
              <a:t>Concat</a:t>
            </a:r>
            <a:r>
              <a:rPr lang="en-US" sz="3199" noProof="1">
                <a:solidFill>
                  <a:schemeClr val="bg1"/>
                </a:solidFill>
                <a:effectLst/>
              </a:rPr>
              <a:t>(otherNums); </a:t>
            </a:r>
          </a:p>
          <a:p>
            <a:pPr defTabSz="1218621"/>
            <a:r>
              <a:rPr lang="en-US" sz="3199" noProof="1">
                <a:solidFill>
                  <a:schemeClr val="bg1">
                    <a:lumMod val="65000"/>
                  </a:schemeClr>
                </a:solidFill>
                <a:effectLst/>
              </a:rPr>
              <a:t>// nums = 1, 2, 3, 4, 5, 6, 7, 8, 9, 0</a:t>
            </a:r>
          </a:p>
        </p:txBody>
      </p:sp>
    </p:spTree>
    <p:extLst>
      <p:ext uri="{BB962C8B-B14F-4D97-AF65-F5344CB8AC3E}">
        <p14:creationId xmlns:p14="http://schemas.microsoft.com/office/powerpoint/2010/main" val="3239245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479" y="1312224"/>
            <a:ext cx="10609645" cy="94019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</a:rPr>
              <a:t>Въведтете масив от </a:t>
            </a:r>
            <a:r>
              <a:rPr lang="bg-BG" sz="2400" b="1" dirty="0">
                <a:latin typeface="Comfortaa" pitchFamily="2" charset="0"/>
              </a:rPr>
              <a:t>4*</a:t>
            </a:r>
            <a:r>
              <a:rPr lang="en-US" sz="2400" b="1" dirty="0">
                <a:latin typeface="Comfortaa" pitchFamily="2" charset="0"/>
              </a:rPr>
              <a:t>k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цели числа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bg-BG" sz="2400" dirty="0">
                <a:latin typeface="Comfortaa" pitchFamily="2" charset="0"/>
              </a:rPr>
              <a:t>сгънете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го както е показано по-долу и изведете сбора от горната и долната редици</a:t>
            </a:r>
            <a:r>
              <a:rPr lang="en-US" sz="2400" dirty="0">
                <a:latin typeface="Comfortaa" pitchFamily="2" charset="0"/>
              </a:rPr>
              <a:t> (</a:t>
            </a:r>
            <a:r>
              <a:rPr lang="en-US" sz="2400" b="1" dirty="0">
                <a:latin typeface="Comfortaa" pitchFamily="2" charset="0"/>
              </a:rPr>
              <a:t>2*k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цели числа</a:t>
            </a:r>
            <a:r>
              <a:rPr lang="en-US" sz="2400" dirty="0">
                <a:latin typeface="Comfortaa" pitchFamily="2" charset="0"/>
              </a:rPr>
              <a:t>):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1479" y="281999"/>
            <a:ext cx="10589041" cy="1024296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Сгъни и събери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080299" y="3732153"/>
            <a:ext cx="2742486" cy="88694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defTabSz="1218621"/>
            <a:r>
              <a:rPr lang="en-US" sz="2599" b="1" spc="-150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1 2 </a:t>
            </a:r>
            <a:r>
              <a:rPr lang="en-US" sz="2599" b="1" spc="-15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3 4 5 6 </a:t>
            </a:r>
            <a:r>
              <a:rPr lang="en-US" sz="2599" b="1" spc="-150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7 8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958628" y="4001778"/>
            <a:ext cx="380901" cy="34609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endParaRPr lang="en-US" sz="2799" dirty="0">
              <a:solidFill>
                <a:prstClr val="white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7057" y="6131057"/>
            <a:ext cx="105540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621"/>
            <a:r>
              <a:rPr lang="en-US" sz="2399" dirty="0">
                <a:solidFill>
                  <a:prstClr val="white"/>
                </a:solidFill>
                <a:latin typeface="Comfortaa" pitchFamily="2" charset="0"/>
                <a:hlinkClick r:id="rId2"/>
              </a:rPr>
              <a:t>https://judge.softuni.bg/Contests/Practice/Index/174#5</a:t>
            </a:r>
            <a:endParaRPr lang="en-US" sz="2399" dirty="0">
              <a:solidFill>
                <a:prstClr val="white"/>
              </a:solidFill>
              <a:latin typeface="Comfortaa" pitchFamily="2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472308" y="3732151"/>
            <a:ext cx="1511750" cy="89232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1218621"/>
            <a:r>
              <a:rPr lang="en-US" sz="2599" b="1" spc="-150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2 1 8 7</a:t>
            </a:r>
          </a:p>
          <a:p>
            <a:pPr algn="ctr" defTabSz="1218621"/>
            <a:r>
              <a:rPr lang="en-US" sz="2599" b="1" spc="-15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3 4 5 6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18559" y="4001778"/>
            <a:ext cx="380901" cy="34609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endParaRPr lang="en-US" sz="2799" dirty="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9638376" y="3732153"/>
            <a:ext cx="1752144" cy="88694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defTabSz="1218621"/>
            <a:r>
              <a:rPr lang="en-US" sz="2599" b="1" spc="-15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5 5 13 13</a:t>
            </a: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801479" y="5049058"/>
            <a:ext cx="4358591" cy="88694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defTabSz="1218621"/>
            <a:r>
              <a:rPr lang="en-US" sz="2599" b="1" spc="-150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4 3 -1 </a:t>
            </a:r>
            <a:r>
              <a:rPr lang="en-US" sz="2599" b="1" spc="-15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2 5 0 1 9 8 </a:t>
            </a:r>
            <a:r>
              <a:rPr lang="en-US" sz="2599" b="1" spc="-150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6 7 -2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305071" y="5318683"/>
            <a:ext cx="380901" cy="34609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endParaRPr lang="en-US" sz="2799" dirty="0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5834627" y="5049058"/>
            <a:ext cx="2356329" cy="88694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defTabSz="1218621"/>
            <a:r>
              <a:rPr lang="en-US" sz="2599" b="1" spc="-150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-1 3 4 -2 7 6</a:t>
            </a:r>
          </a:p>
          <a:p>
            <a:pPr algn="ctr" defTabSz="1218621"/>
            <a:r>
              <a:rPr lang="en-US" sz="2599" b="1" spc="-150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2599" b="1" spc="-15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2 5 0  1 9 8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343314" y="5318683"/>
            <a:ext cx="380901" cy="34609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endParaRPr lang="en-US" sz="2799" dirty="0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8871321" y="5049058"/>
            <a:ext cx="2519201" cy="88694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defTabSz="1218621"/>
            <a:r>
              <a:rPr lang="en-US" sz="2599" b="1" spc="-15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1 8 4 -1 16 14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6822786" y="2427318"/>
            <a:ext cx="1520529" cy="88694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defTabSz="1218621"/>
            <a:r>
              <a:rPr lang="en-US" sz="2599" b="1" spc="-150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5</a:t>
            </a:r>
            <a:r>
              <a:rPr lang="en-US" sz="2599" b="1" spc="-150" noProof="1">
                <a:solidFill>
                  <a:srgbClr val="FBEEC9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2599" b="1" spc="-15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2 3</a:t>
            </a:r>
            <a:r>
              <a:rPr lang="en-US" sz="2599" b="1" spc="-150" noProof="1">
                <a:solidFill>
                  <a:srgbClr val="FBEEC9">
                    <a:lumMod val="7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sz="2599" b="1" spc="-150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479157" y="2696943"/>
            <a:ext cx="380901" cy="34609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endParaRPr lang="en-US" sz="2799" dirty="0"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8980916" y="2427316"/>
            <a:ext cx="886003" cy="89232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defTabSz="1218621"/>
            <a:r>
              <a:rPr lang="en-US" sz="2599" b="1" spc="-150" noProof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5 6</a:t>
            </a:r>
          </a:p>
          <a:p>
            <a:pPr algn="ctr" defTabSz="1218621"/>
            <a:r>
              <a:rPr lang="en-US" sz="2599" b="1" spc="-15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2 3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992640" y="2696943"/>
            <a:ext cx="380901" cy="34609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621"/>
            <a:endParaRPr lang="en-US" sz="2799" dirty="0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10499263" y="2427318"/>
            <a:ext cx="891259" cy="88694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anchor="ctr" anchorCtr="0">
            <a:noAutofit/>
          </a:bodyPr>
          <a:lstStyle/>
          <a:p>
            <a:pPr algn="ctr" defTabSz="1218621"/>
            <a:r>
              <a:rPr lang="en-US" sz="2599" b="1" spc="-150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Arial" panose="020B0604020202020204" pitchFamily="34" charset="0"/>
              </a:rPr>
              <a:t>7 9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910537" y="2454117"/>
            <a:ext cx="3014329" cy="2166974"/>
            <a:chOff x="216658" y="2563502"/>
            <a:chExt cx="3015114" cy="2167538"/>
          </a:xfrm>
        </p:grpSpPr>
        <p:sp>
          <p:nvSpPr>
            <p:cNvPr id="30" name="Rectangle 29"/>
            <p:cNvSpPr/>
            <p:nvPr/>
          </p:nvSpPr>
          <p:spPr>
            <a:xfrm>
              <a:off x="988438" y="2617571"/>
              <a:ext cx="14478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621"/>
              <a:r>
                <a:rPr lang="en-US" sz="2799" b="1" dirty="0">
                  <a:solidFill>
                    <a:prstClr val="white"/>
                  </a:solidFill>
                </a:rPr>
                <a:t>3 4 5 6</a:t>
              </a:r>
            </a:p>
          </p:txBody>
        </p:sp>
        <p:sp>
          <p:nvSpPr>
            <p:cNvPr id="31" name="Rectangle 30"/>
            <p:cNvSpPr/>
            <p:nvPr/>
          </p:nvSpPr>
          <p:spPr>
            <a:xfrm rot="543358">
              <a:off x="216658" y="2563502"/>
              <a:ext cx="718763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621"/>
              <a:r>
                <a:rPr lang="en-US" sz="2799" b="1" dirty="0">
                  <a:solidFill>
                    <a:schemeClr val="tx1"/>
                  </a:solidFill>
                </a:rPr>
                <a:t>1 2</a:t>
              </a:r>
            </a:p>
          </p:txBody>
        </p:sp>
        <p:sp>
          <p:nvSpPr>
            <p:cNvPr id="32" name="Rectangle 31"/>
            <p:cNvSpPr/>
            <p:nvPr/>
          </p:nvSpPr>
          <p:spPr>
            <a:xfrm rot="21172160">
              <a:off x="2502736" y="2573917"/>
              <a:ext cx="729036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621"/>
              <a:r>
                <a:rPr lang="en-US" sz="2799" b="1" dirty="0">
                  <a:solidFill>
                    <a:schemeClr val="tx1"/>
                  </a:solidFill>
                </a:rPr>
                <a:t>7 8</a:t>
              </a:r>
              <a:r>
                <a:rPr lang="en-US" sz="2799" b="1" dirty="0">
                  <a:solidFill>
                    <a:srgbClr val="9BE5FF"/>
                  </a:solidFill>
                </a:rPr>
                <a:t> 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09584" y="4350040"/>
              <a:ext cx="1447800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621"/>
              <a:r>
                <a:rPr lang="en-US" sz="2799" b="1" dirty="0">
                  <a:solidFill>
                    <a:prstClr val="white"/>
                  </a:solidFill>
                </a:rPr>
                <a:t>3 4 5 6</a:t>
              </a:r>
            </a:p>
          </p:txBody>
        </p:sp>
        <p:sp>
          <p:nvSpPr>
            <p:cNvPr id="37" name="Rectangle 36"/>
            <p:cNvSpPr/>
            <p:nvPr/>
          </p:nvSpPr>
          <p:spPr>
            <a:xfrm rot="9767020">
              <a:off x="936768" y="3865274"/>
              <a:ext cx="718763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621"/>
              <a:r>
                <a:rPr lang="en-US" sz="2799" b="1" dirty="0">
                  <a:solidFill>
                    <a:schemeClr val="tx1"/>
                  </a:solidFill>
                </a:rPr>
                <a:t>1 2</a:t>
              </a:r>
            </a:p>
          </p:txBody>
        </p:sp>
        <p:sp>
          <p:nvSpPr>
            <p:cNvPr id="38" name="Rectangle 37"/>
            <p:cNvSpPr/>
            <p:nvPr/>
          </p:nvSpPr>
          <p:spPr>
            <a:xfrm rot="11713478">
              <a:off x="1804211" y="3848545"/>
              <a:ext cx="729036" cy="381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621"/>
              <a:r>
                <a:rPr lang="en-US" sz="2799" b="1" dirty="0">
                  <a:solidFill>
                    <a:schemeClr val="tx1"/>
                  </a:solidFill>
                </a:rPr>
                <a:t>7 8 </a:t>
              </a:r>
            </a:p>
          </p:txBody>
        </p:sp>
        <p:sp>
          <p:nvSpPr>
            <p:cNvPr id="40" name="Down Arrow 39"/>
            <p:cNvSpPr/>
            <p:nvPr/>
          </p:nvSpPr>
          <p:spPr>
            <a:xfrm>
              <a:off x="1528440" y="3202281"/>
              <a:ext cx="381000" cy="418002"/>
            </a:xfrm>
            <a:prstGeom prst="downArrow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8621"/>
              <a:endParaRPr lang="en-US" sz="2799" b="1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2755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3389" y="249382"/>
            <a:ext cx="10665221" cy="85508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Сгъни и събери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63389" y="1104465"/>
            <a:ext cx="10665222" cy="499158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lIns="143963" tIns="71981" rIns="143963" bIns="71981">
            <a:spAutoFit/>
          </a:bodyPr>
          <a:lstStyle>
            <a:defPPr>
              <a:defRPr lang="en-US"/>
            </a:defPPr>
            <a:lvl1pPr>
              <a:buClr>
                <a:srgbClr val="F2B254"/>
              </a:buClr>
              <a:buSzPct val="100000"/>
              <a:defRPr b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 defTabSz="1218621"/>
            <a:r>
              <a:rPr lang="en-US" sz="2899" noProof="1">
                <a:solidFill>
                  <a:schemeClr val="bg1"/>
                </a:solidFill>
                <a:effectLst/>
              </a:rPr>
              <a:t>int[] arr = Console.ReadLine()</a:t>
            </a:r>
          </a:p>
          <a:p>
            <a:pPr defTabSz="1218621"/>
            <a:r>
              <a:rPr lang="en-US" sz="2899" noProof="1">
                <a:solidFill>
                  <a:schemeClr val="bg1"/>
                </a:solidFill>
                <a:effectLst/>
              </a:rPr>
              <a:t>  .Split(' ').</a:t>
            </a:r>
            <a:r>
              <a:rPr lang="en-US" sz="2899" noProof="1">
                <a:solidFill>
                  <a:srgbClr val="00B0F0"/>
                </a:solidFill>
                <a:effectLst/>
              </a:rPr>
              <a:t>Select</a:t>
            </a:r>
            <a:r>
              <a:rPr lang="en-US" sz="2899" noProof="1">
                <a:solidFill>
                  <a:schemeClr val="bg1"/>
                </a:solidFill>
                <a:effectLst/>
              </a:rPr>
              <a:t>(int.Parse).ToArray();</a:t>
            </a:r>
          </a:p>
          <a:p>
            <a:pPr defTabSz="1218621">
              <a:spcBef>
                <a:spcPts val="600"/>
              </a:spcBef>
            </a:pPr>
            <a:r>
              <a:rPr lang="en-US" sz="2899" noProof="1">
                <a:solidFill>
                  <a:schemeClr val="bg1"/>
                </a:solidFill>
                <a:effectLst/>
              </a:rPr>
              <a:t>int k = arr.Length / 4;</a:t>
            </a:r>
          </a:p>
          <a:p>
            <a:pPr defTabSz="1218621">
              <a:spcBef>
                <a:spcPts val="1200"/>
              </a:spcBef>
            </a:pPr>
            <a:r>
              <a:rPr lang="en-US" sz="2899" noProof="1">
                <a:solidFill>
                  <a:schemeClr val="bg1"/>
                </a:solidFill>
                <a:effectLst/>
              </a:rPr>
              <a:t>int[] row1left = arr.</a:t>
            </a:r>
            <a:r>
              <a:rPr lang="en-US" sz="2899" noProof="1">
                <a:solidFill>
                  <a:srgbClr val="00B0F0"/>
                </a:solidFill>
                <a:effectLst/>
              </a:rPr>
              <a:t>Take</a:t>
            </a:r>
            <a:r>
              <a:rPr lang="en-US" sz="2899" noProof="1">
                <a:solidFill>
                  <a:schemeClr val="bg1"/>
                </a:solidFill>
                <a:effectLst/>
              </a:rPr>
              <a:t>(k).</a:t>
            </a:r>
            <a:r>
              <a:rPr lang="en-US" sz="2899" noProof="1">
                <a:solidFill>
                  <a:srgbClr val="00B0F0"/>
                </a:solidFill>
                <a:effectLst/>
              </a:rPr>
              <a:t>Reverse</a:t>
            </a:r>
            <a:r>
              <a:rPr lang="en-US" sz="2899" noProof="1">
                <a:solidFill>
                  <a:schemeClr val="bg1"/>
                </a:solidFill>
                <a:effectLst/>
              </a:rPr>
              <a:t>().ToArray();</a:t>
            </a:r>
          </a:p>
          <a:p>
            <a:pPr defTabSz="1218621"/>
            <a:r>
              <a:rPr lang="en-US" sz="2899" noProof="1">
                <a:solidFill>
                  <a:schemeClr val="bg1"/>
                </a:solidFill>
                <a:effectLst/>
              </a:rPr>
              <a:t>int[] row1right = arr.</a:t>
            </a:r>
            <a:r>
              <a:rPr lang="en-US" sz="2899" noProof="1">
                <a:solidFill>
                  <a:srgbClr val="00B0F0"/>
                </a:solidFill>
                <a:effectLst/>
              </a:rPr>
              <a:t>Reverse</a:t>
            </a:r>
            <a:r>
              <a:rPr lang="en-US" sz="2899" noProof="1">
                <a:solidFill>
                  <a:schemeClr val="bg1"/>
                </a:solidFill>
                <a:effectLst/>
              </a:rPr>
              <a:t>().</a:t>
            </a:r>
            <a:r>
              <a:rPr lang="en-US" sz="2899" noProof="1">
                <a:solidFill>
                  <a:srgbClr val="00B0F0"/>
                </a:solidFill>
                <a:effectLst/>
              </a:rPr>
              <a:t>Take</a:t>
            </a:r>
            <a:r>
              <a:rPr lang="en-US" sz="2899" noProof="1">
                <a:solidFill>
                  <a:schemeClr val="bg1"/>
                </a:solidFill>
                <a:effectLst/>
              </a:rPr>
              <a:t>(k).ToArray();</a:t>
            </a:r>
          </a:p>
          <a:p>
            <a:pPr defTabSz="1218621"/>
            <a:r>
              <a:rPr lang="en-US" sz="2899" noProof="1">
                <a:solidFill>
                  <a:schemeClr val="bg1"/>
                </a:solidFill>
                <a:effectLst/>
              </a:rPr>
              <a:t>int[] row1 = row1left.</a:t>
            </a:r>
            <a:r>
              <a:rPr lang="en-US" sz="2899" noProof="1">
                <a:solidFill>
                  <a:srgbClr val="00B0F0"/>
                </a:solidFill>
                <a:effectLst/>
              </a:rPr>
              <a:t>Concat</a:t>
            </a:r>
            <a:r>
              <a:rPr lang="en-US" sz="2899" noProof="1">
                <a:solidFill>
                  <a:schemeClr val="bg1"/>
                </a:solidFill>
                <a:effectLst/>
              </a:rPr>
              <a:t>(row1right).ToArray();</a:t>
            </a:r>
          </a:p>
          <a:p>
            <a:pPr defTabSz="1218621"/>
            <a:r>
              <a:rPr lang="en-US" sz="2899" noProof="1">
                <a:solidFill>
                  <a:schemeClr val="bg1"/>
                </a:solidFill>
                <a:effectLst/>
              </a:rPr>
              <a:t>int[] row2 = arr.</a:t>
            </a:r>
            <a:r>
              <a:rPr lang="en-US" sz="2899" noProof="1">
                <a:solidFill>
                  <a:srgbClr val="00B0F0"/>
                </a:solidFill>
                <a:effectLst/>
              </a:rPr>
              <a:t>Skip</a:t>
            </a:r>
            <a:r>
              <a:rPr lang="en-US" sz="2899" noProof="1">
                <a:solidFill>
                  <a:schemeClr val="bg1"/>
                </a:solidFill>
                <a:effectLst/>
              </a:rPr>
              <a:t>(k).</a:t>
            </a:r>
            <a:r>
              <a:rPr lang="en-US" sz="2899" noProof="1">
                <a:solidFill>
                  <a:srgbClr val="00B0F0"/>
                </a:solidFill>
                <a:effectLst/>
              </a:rPr>
              <a:t>Take</a:t>
            </a:r>
            <a:r>
              <a:rPr lang="en-US" sz="2899" noProof="1">
                <a:solidFill>
                  <a:schemeClr val="bg1"/>
                </a:solidFill>
                <a:effectLst/>
              </a:rPr>
              <a:t>(2 * k).ToArray();</a:t>
            </a:r>
          </a:p>
          <a:p>
            <a:pPr defTabSz="1218621">
              <a:spcBef>
                <a:spcPts val="1200"/>
              </a:spcBef>
            </a:pPr>
            <a:r>
              <a:rPr lang="en-US" sz="2899" noProof="1">
                <a:solidFill>
                  <a:schemeClr val="bg1"/>
                </a:solidFill>
                <a:effectLst/>
              </a:rPr>
              <a:t>var sumArr =</a:t>
            </a:r>
          </a:p>
          <a:p>
            <a:pPr defTabSz="1218621"/>
            <a:r>
              <a:rPr lang="en-US" sz="2899" noProof="1">
                <a:solidFill>
                  <a:schemeClr val="bg1"/>
                </a:solidFill>
                <a:effectLst/>
              </a:rPr>
              <a:t>  row1.</a:t>
            </a:r>
            <a:r>
              <a:rPr lang="en-US" sz="2899" noProof="1">
                <a:solidFill>
                  <a:srgbClr val="00B0F0"/>
                </a:solidFill>
                <a:effectLst/>
              </a:rPr>
              <a:t>Select</a:t>
            </a:r>
            <a:r>
              <a:rPr lang="en-US" sz="2899" noProof="1">
                <a:solidFill>
                  <a:schemeClr val="bg1"/>
                </a:solidFill>
                <a:effectLst/>
              </a:rPr>
              <a:t>((x, index) =&gt; x + row2[index]);</a:t>
            </a:r>
          </a:p>
          <a:p>
            <a:pPr defTabSz="1218621"/>
            <a:r>
              <a:rPr lang="en-US" sz="2899" noProof="1">
                <a:solidFill>
                  <a:schemeClr val="bg1"/>
                </a:solidFill>
                <a:effectLst/>
              </a:rPr>
              <a:t>Console.WriteLine(string.Join(" ", sumArr));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968" y="6214184"/>
            <a:ext cx="1055406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8621"/>
            <a:r>
              <a:rPr lang="en-US" sz="2399" dirty="0">
                <a:solidFill>
                  <a:prstClr val="white"/>
                </a:solidFill>
                <a:latin typeface="Comfortaa" pitchFamily="2" charset="0"/>
                <a:hlinkClick r:id="rId2"/>
              </a:rPr>
              <a:t>https://judge.softuni.bg/Contests/Practice/Index/174#5</a:t>
            </a:r>
            <a:endParaRPr lang="en-US" sz="2399" dirty="0">
              <a:solidFill>
                <a:prstClr val="white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160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80704" y="1018267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Какво научихме?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22335" y="2343830"/>
            <a:ext cx="10151406" cy="3184590"/>
          </a:xfrm>
        </p:spPr>
        <p:txBody>
          <a:bodyPr>
            <a:norm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Как се филтрират колекци</a:t>
            </a: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 помощта на </a:t>
            </a:r>
            <a:r>
              <a:rPr lang="en-US" dirty="0">
                <a:latin typeface="Comfortaa" pitchFamily="2" charset="0"/>
              </a:rPr>
              <a:t>LINQ</a:t>
            </a:r>
            <a:endParaRPr lang="bg-BG" dirty="0">
              <a:latin typeface="Comfortaa" pitchFamily="2" charset="0"/>
            </a:endParaRPr>
          </a:p>
          <a:p>
            <a:pPr marL="761946" lvl="1" indent="-45720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 </a:t>
            </a:r>
            <a:r>
              <a:rPr lang="en-US" dirty="0">
                <a:latin typeface="Comfortaa" pitchFamily="2" charset="0"/>
              </a:rPr>
              <a:t>Lambda </a:t>
            </a:r>
            <a:r>
              <a:rPr lang="bg-BG" dirty="0">
                <a:latin typeface="Comfortaa" pitchFamily="2" charset="0"/>
              </a:rPr>
              <a:t>функции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Как се вземат уникални елементи от колекция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Други операции с колекции</a:t>
            </a:r>
          </a:p>
        </p:txBody>
      </p:sp>
    </p:spTree>
    <p:extLst>
      <p:ext uri="{BB962C8B-B14F-4D97-AF65-F5344CB8AC3E}">
        <p14:creationId xmlns:p14="http://schemas.microsoft.com/office/powerpoint/2010/main" val="20707130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77724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Защо LINQ? — Мотивация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0700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F1F1F"/>
                </a:solidFill>
              </a:rPr>
              <a:t>Намерете числата под 50 и ги сортирайте. Без LINQ vs. с LINQ: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394960" cy="3657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700">
                <a:latin typeface="Courier New"/>
              </a:rPr>
              <a:t>int[] nums = { 11, 99, 33, 55, 77, 44, 66, 22, 88 };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БЕЗ LINQ — 8 реда</a:t>
            </a:r>
          </a:p>
          <a:p>
            <a:r>
              <a:rPr sz="1700">
                <a:latin typeface="Courier New"/>
              </a:rPr>
              <a:t>List&lt;int&gt; filtered = new List&lt;int&gt;();</a:t>
            </a:r>
          </a:p>
          <a:p>
            <a:r>
              <a:rPr sz="1700">
                <a:latin typeface="Courier New"/>
              </a:rPr>
              <a:t>foreach (var n in nums)</a:t>
            </a:r>
          </a:p>
          <a:p>
            <a:r>
              <a:rPr sz="1700">
                <a:latin typeface="Courier New"/>
              </a:rPr>
              <a:t>    if (n &lt; 50) filtered.Add(n);</a:t>
            </a:r>
          </a:p>
          <a:p>
            <a:r>
              <a:rPr sz="1700">
                <a:latin typeface="Courier New"/>
              </a:rPr>
              <a:t>filtered.Sort();</a:t>
            </a:r>
          </a:p>
          <a:p>
            <a:r>
              <a:rPr sz="1700">
                <a:latin typeface="Courier New"/>
              </a:rPr>
              <a:t>int[] result = filtered.ToArray();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920240"/>
            <a:ext cx="5394960" cy="36576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700">
                <a:solidFill>
                  <a:srgbClr val="008000"/>
                </a:solidFill>
                <a:latin typeface="Courier New"/>
              </a:rPr>
              <a:t>// С LINQ — 1 ред</a:t>
            </a:r>
          </a:p>
          <a:p>
            <a:r>
              <a:rPr sz="1700">
                <a:latin typeface="Courier New"/>
              </a:rPr>
              <a:t>int[] result = nums</a:t>
            </a:r>
          </a:p>
          <a:p>
            <a:r>
              <a:rPr sz="1700">
                <a:latin typeface="Courier New"/>
              </a:rPr>
              <a:t>    .Where(x =&gt; x &lt; 50)</a:t>
            </a:r>
          </a:p>
          <a:p>
            <a:r>
              <a:rPr sz="1700">
                <a:latin typeface="Courier New"/>
              </a:rPr>
              <a:t>    .OrderBy(x =&gt; x)</a:t>
            </a:r>
          </a:p>
          <a:p>
            <a:r>
              <a:rPr sz="1700">
                <a:latin typeface="Courier New"/>
              </a:rPr>
              <a:t>    .ToArray();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result = [ 11, 22, 33, 44 ]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77724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Select() — Трансформация на елементи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0700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Select() трансформира всеки елемент — аналог на map() в Python/JS. Резултатът е нова колекция с трансформираните стойности.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74552" cy="393192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700">
                <a:latin typeface="Courier New"/>
              </a:rPr>
              <a:t>int[] nums = { 1, 2, 3, 4, 5 };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latin typeface="Courier New"/>
              </a:rPr>
              <a:t>int[] doubled = nums.</a:t>
            </a:r>
            <a:r>
              <a:rPr sz="1700">
                <a:solidFill>
                  <a:srgbClr val="00B0F0"/>
                </a:solidFill>
                <a:latin typeface="Courier New"/>
              </a:rPr>
              <a:t>Select</a:t>
            </a:r>
            <a:r>
              <a:rPr sz="1700">
                <a:latin typeface="Courier New"/>
              </a:rPr>
              <a:t>(x =&gt; x * 2).</a:t>
            </a:r>
            <a:r>
              <a:rPr sz="1700">
                <a:solidFill>
                  <a:srgbClr val="00B0F0"/>
                </a:solidFill>
                <a:latin typeface="Courier New"/>
              </a:rPr>
              <a:t>ToArray</a:t>
            </a:r>
            <a:r>
              <a:rPr sz="1700">
                <a:latin typeface="Courier New"/>
              </a:rPr>
              <a:t>();</a:t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doubled = [ 2, 4, 6, 8, 10 ]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latin typeface="Courier New"/>
              </a:rPr>
              <a:t>string[] words = { "hello", "world", "linq" };</a:t>
            </a:r>
          </a:p>
          <a:p>
            <a:r>
              <a:rPr sz="1700">
                <a:latin typeface="Courier New"/>
              </a:rPr>
              <a:t>string[] upper = words.</a:t>
            </a:r>
            <a:r>
              <a:rPr sz="1700">
                <a:solidFill>
                  <a:srgbClr val="00B0F0"/>
                </a:solidFill>
                <a:latin typeface="Courier New"/>
              </a:rPr>
              <a:t>Select</a:t>
            </a:r>
            <a:r>
              <a:rPr sz="1700">
                <a:latin typeface="Courier New"/>
              </a:rPr>
              <a:t>(w =&gt; w.</a:t>
            </a:r>
            <a:r>
              <a:rPr sz="1700">
                <a:solidFill>
                  <a:srgbClr val="00B0F0"/>
                </a:solidFill>
                <a:latin typeface="Courier New"/>
              </a:rPr>
              <a:t>ToUpper</a:t>
            </a:r>
            <a:r>
              <a:rPr sz="1700">
                <a:latin typeface="Courier New"/>
              </a:rPr>
              <a:t>()).</a:t>
            </a:r>
            <a:r>
              <a:rPr sz="1700">
                <a:solidFill>
                  <a:srgbClr val="00B0F0"/>
                </a:solidFill>
                <a:latin typeface="Courier New"/>
              </a:rPr>
              <a:t>ToArray</a:t>
            </a:r>
            <a:r>
              <a:rPr sz="1700">
                <a:latin typeface="Courier New"/>
              </a:rPr>
              <a:t>();</a:t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upper = [ "HELLO", "WORLD", "LINQ" ]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Select с индекс — вторият параметър е позицията</a:t>
            </a:r>
          </a:p>
          <a:p>
            <a:r>
              <a:rPr sz="1700">
                <a:latin typeface="Courier New"/>
              </a:rPr>
              <a:t>var indexed = nums.</a:t>
            </a:r>
            <a:r>
              <a:rPr sz="1700">
                <a:solidFill>
                  <a:srgbClr val="00B0F0"/>
                </a:solidFill>
                <a:latin typeface="Courier New"/>
              </a:rPr>
              <a:t>Select</a:t>
            </a:r>
            <a:r>
              <a:rPr sz="1700">
                <a:latin typeface="Courier New"/>
              </a:rPr>
              <a:t>((x, i) =&gt; $"[{i}]={x}").</a:t>
            </a:r>
            <a:r>
              <a:rPr sz="1700">
                <a:solidFill>
                  <a:srgbClr val="00B0F0"/>
                </a:solidFill>
                <a:latin typeface="Courier New"/>
              </a:rPr>
              <a:t>ToList</a:t>
            </a:r>
            <a:r>
              <a:rPr sz="1700">
                <a:latin typeface="Courier New"/>
              </a:rPr>
              <a:t>();</a:t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indexed = [ "[0]=1", "[1]=2", "[2]=3", "[3]=4", "[4]=5"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77724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Агрегатни функции: Sum, Min, Max, Average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0700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1F1F1F"/>
                </a:solidFill>
              </a:rPr>
              <a:t>Пресмятат единична стойност от цялата колекция — без нужда от for-цикъл.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41148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700">
                <a:latin typeface="Courier New"/>
              </a:rPr>
              <a:t>int[] scores = { 85, 92, 78, 95, 60, 88 };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latin typeface="Courier New"/>
              </a:rPr>
              <a:t>int   total   = scores.</a:t>
            </a:r>
            <a:r>
              <a:rPr sz="1700">
                <a:solidFill>
                  <a:srgbClr val="00B0F0"/>
                </a:solidFill>
                <a:latin typeface="Courier New"/>
              </a:rPr>
              <a:t>Sum</a:t>
            </a:r>
            <a:r>
              <a:rPr sz="1700">
                <a:latin typeface="Courier New"/>
              </a:rPr>
              <a:t>();</a:t>
            </a:r>
            <a:r>
              <a:rPr sz="1700">
                <a:solidFill>
                  <a:srgbClr val="008000"/>
                </a:solidFill>
                <a:latin typeface="Courier New"/>
              </a:rPr>
              <a:t>          // 498</a:t>
            </a:r>
          </a:p>
          <a:p>
            <a:r>
              <a:rPr sz="1700">
                <a:latin typeface="Courier New"/>
              </a:rPr>
              <a:t>int   highest = scores.</a:t>
            </a:r>
            <a:r>
              <a:rPr sz="1700">
                <a:solidFill>
                  <a:srgbClr val="00B0F0"/>
                </a:solidFill>
                <a:latin typeface="Courier New"/>
              </a:rPr>
              <a:t>Max</a:t>
            </a:r>
            <a:r>
              <a:rPr sz="1700">
                <a:latin typeface="Courier New"/>
              </a:rPr>
              <a:t>();</a:t>
            </a:r>
            <a:r>
              <a:rPr sz="1700">
                <a:solidFill>
                  <a:srgbClr val="008000"/>
                </a:solidFill>
                <a:latin typeface="Courier New"/>
              </a:rPr>
              <a:t>          // 95</a:t>
            </a:r>
          </a:p>
          <a:p>
            <a:r>
              <a:rPr sz="1700">
                <a:latin typeface="Courier New"/>
              </a:rPr>
              <a:t>int   lowest  = scores.</a:t>
            </a:r>
            <a:r>
              <a:rPr sz="1700">
                <a:solidFill>
                  <a:srgbClr val="00B0F0"/>
                </a:solidFill>
                <a:latin typeface="Courier New"/>
              </a:rPr>
              <a:t>Min</a:t>
            </a:r>
            <a:r>
              <a:rPr sz="1700">
                <a:latin typeface="Courier New"/>
              </a:rPr>
              <a:t>();</a:t>
            </a:r>
            <a:r>
              <a:rPr sz="1700">
                <a:solidFill>
                  <a:srgbClr val="008000"/>
                </a:solidFill>
                <a:latin typeface="Courier New"/>
              </a:rPr>
              <a:t>          // 60</a:t>
            </a:r>
          </a:p>
          <a:p>
            <a:r>
              <a:rPr sz="1700">
                <a:latin typeface="Courier New"/>
              </a:rPr>
              <a:t>double avg    = scores.</a:t>
            </a:r>
            <a:r>
              <a:rPr sz="1700">
                <a:solidFill>
                  <a:srgbClr val="00B0F0"/>
                </a:solidFill>
                <a:latin typeface="Courier New"/>
              </a:rPr>
              <a:t>Average</a:t>
            </a:r>
            <a:r>
              <a:rPr sz="1700">
                <a:latin typeface="Courier New"/>
              </a:rPr>
              <a:t>();</a:t>
            </a:r>
            <a:r>
              <a:rPr sz="1700">
                <a:solidFill>
                  <a:srgbClr val="008000"/>
                </a:solidFill>
                <a:latin typeface="Courier New"/>
              </a:rPr>
              <a:t>       // 83.0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С ламбда — агрегат само на четните оценки:</a:t>
            </a:r>
          </a:p>
          <a:p>
            <a:r>
              <a:rPr sz="1700">
                <a:latin typeface="Courier New"/>
              </a:rPr>
              <a:t>int evenSum = scores.</a:t>
            </a:r>
            <a:r>
              <a:rPr sz="1700">
                <a:solidFill>
                  <a:srgbClr val="00B0F0"/>
                </a:solidFill>
                <a:latin typeface="Courier New"/>
              </a:rPr>
              <a:t>Where</a:t>
            </a:r>
            <a:r>
              <a:rPr sz="1700">
                <a:latin typeface="Courier New"/>
              </a:rPr>
              <a:t>(x =&gt; x % 2 == 0).</a:t>
            </a:r>
            <a:r>
              <a:rPr sz="1700">
                <a:solidFill>
                  <a:srgbClr val="00B0F0"/>
                </a:solidFill>
                <a:latin typeface="Courier New"/>
              </a:rPr>
              <a:t>Sum</a:t>
            </a:r>
            <a:r>
              <a:rPr sz="1700">
                <a:latin typeface="Courier New"/>
              </a:rPr>
              <a:t>();</a:t>
            </a:r>
            <a:r>
              <a:rPr sz="1700">
                <a:solidFill>
                  <a:srgbClr val="008000"/>
                </a:solidFill>
                <a:latin typeface="Courier New"/>
              </a:rPr>
              <a:t>  // 270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Sum по свойство на обект:</a:t>
            </a:r>
          </a:p>
          <a:p>
            <a:r>
              <a:rPr sz="1700">
                <a:latin typeface="Courier New"/>
              </a:rPr>
              <a:t>List&lt;Product&gt; products = GetProducts();</a:t>
            </a:r>
          </a:p>
          <a:p>
            <a:r>
              <a:rPr sz="1700">
                <a:latin typeface="Courier New"/>
              </a:rPr>
              <a:t>decimal total = products.</a:t>
            </a:r>
            <a:r>
              <a:rPr sz="1700">
                <a:solidFill>
                  <a:srgbClr val="00B0F0"/>
                </a:solidFill>
                <a:latin typeface="Courier New"/>
              </a:rPr>
              <a:t>Sum</a:t>
            </a:r>
            <a:r>
              <a:rPr sz="1700">
                <a:latin typeface="Courier New"/>
              </a:rPr>
              <a:t>(p =&gt; p.Price);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77724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Any() и All() — Проверки върху колекция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0700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Any() — вярно ако поне един елемент отговаря на условието. All() — вярно ако ВСИЧКИ отговарят.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74552" cy="393192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700">
                <a:latin typeface="Courier New"/>
              </a:rPr>
              <a:t>int[] grades = { 85, 92, 45, 78, 60 };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latin typeface="Courier New"/>
              </a:rPr>
              <a:t>bool anyFail   = grades.</a:t>
            </a:r>
            <a:r>
              <a:rPr sz="1700">
                <a:solidFill>
                  <a:srgbClr val="00B0F0"/>
                </a:solidFill>
                <a:latin typeface="Courier New"/>
              </a:rPr>
              <a:t>Any</a:t>
            </a:r>
            <a:r>
              <a:rPr sz="1700">
                <a:latin typeface="Courier New"/>
              </a:rPr>
              <a:t>(g =&gt; g &lt; 50);</a:t>
            </a:r>
            <a:r>
              <a:rPr sz="1700">
                <a:solidFill>
                  <a:srgbClr val="008000"/>
                </a:solidFill>
                <a:latin typeface="Courier New"/>
              </a:rPr>
              <a:t>   // true  (45 &lt; 50)</a:t>
            </a:r>
          </a:p>
          <a:p>
            <a:r>
              <a:rPr sz="1700">
                <a:latin typeface="Courier New"/>
              </a:rPr>
              <a:t>bool allPass   = grades.</a:t>
            </a:r>
            <a:r>
              <a:rPr sz="1700">
                <a:solidFill>
                  <a:srgbClr val="00B0F0"/>
                </a:solidFill>
                <a:latin typeface="Courier New"/>
              </a:rPr>
              <a:t>All</a:t>
            </a:r>
            <a:r>
              <a:rPr sz="1700">
                <a:latin typeface="Courier New"/>
              </a:rPr>
              <a:t>(g =&gt; g &gt;= 50);</a:t>
            </a:r>
            <a:r>
              <a:rPr sz="1700">
                <a:solidFill>
                  <a:srgbClr val="008000"/>
                </a:solidFill>
                <a:latin typeface="Courier New"/>
              </a:rPr>
              <a:t>   // false (45 &lt; 50)</a:t>
            </a:r>
          </a:p>
          <a:p>
            <a:r>
              <a:rPr sz="1700">
                <a:latin typeface="Courier New"/>
              </a:rPr>
              <a:t>bool anyExcell = grades.</a:t>
            </a:r>
            <a:r>
              <a:rPr sz="1700">
                <a:solidFill>
                  <a:srgbClr val="00B0F0"/>
                </a:solidFill>
                <a:latin typeface="Courier New"/>
              </a:rPr>
              <a:t>Any</a:t>
            </a:r>
            <a:r>
              <a:rPr sz="1700">
                <a:latin typeface="Courier New"/>
              </a:rPr>
              <a:t>(g =&gt; g &gt;= 90);</a:t>
            </a:r>
            <a:r>
              <a:rPr sz="1700">
                <a:solidFill>
                  <a:srgbClr val="008000"/>
                </a:solidFill>
                <a:latin typeface="Courier New"/>
              </a:rPr>
              <a:t>   // true  (92 &gt;= 90)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Any() без параметър — проверява дали колекцията НЕ е празна:</a:t>
            </a:r>
          </a:p>
          <a:p>
            <a:r>
              <a:rPr sz="1700">
                <a:latin typeface="Courier New"/>
              </a:rPr>
              <a:t>bool hasData = grades.</a:t>
            </a:r>
            <a:r>
              <a:rPr sz="1700">
                <a:solidFill>
                  <a:srgbClr val="00B0F0"/>
                </a:solidFill>
                <a:latin typeface="Courier New"/>
              </a:rPr>
              <a:t>Any</a:t>
            </a:r>
            <a:r>
              <a:rPr sz="1700">
                <a:latin typeface="Courier New"/>
              </a:rPr>
              <a:t>();</a:t>
            </a:r>
            <a:r>
              <a:rPr sz="1700">
                <a:solidFill>
                  <a:srgbClr val="008000"/>
                </a:solidFill>
                <a:latin typeface="Courier New"/>
              </a:rPr>
              <a:t>                       // true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Практически пример — не изчислявай ако няма данни:</a:t>
            </a:r>
          </a:p>
          <a:p>
            <a:r>
              <a:rPr sz="1700">
                <a:latin typeface="Courier New"/>
              </a:rPr>
              <a:t>if (scores.</a:t>
            </a:r>
            <a:r>
              <a:rPr sz="1700">
                <a:solidFill>
                  <a:srgbClr val="00B0F0"/>
                </a:solidFill>
                <a:latin typeface="Courier New"/>
              </a:rPr>
              <a:t>Any</a:t>
            </a:r>
            <a:r>
              <a:rPr sz="1700">
                <a:latin typeface="Courier New"/>
              </a:rPr>
              <a:t>())</a:t>
            </a:r>
          </a:p>
          <a:p>
            <a:r>
              <a:rPr sz="1700">
                <a:latin typeface="Courier New"/>
              </a:rPr>
              <a:t>    Console.WriteLine(scores.</a:t>
            </a:r>
            <a:r>
              <a:rPr sz="1700">
                <a:solidFill>
                  <a:srgbClr val="00B0F0"/>
                </a:solidFill>
                <a:latin typeface="Courier New"/>
              </a:rPr>
              <a:t>Average</a:t>
            </a:r>
            <a:r>
              <a:rPr sz="1700">
                <a:latin typeface="Courier New"/>
              </a:rPr>
              <a:t>());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77724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Skip() и Take() — Пагинация и диапазони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0700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Take(n) взима първите n елемента. Skip(n) прескача първите n. Комбинирани — пагинация (страниране на резултати).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41148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700">
                <a:latin typeface="Courier New"/>
              </a:rPr>
              <a:t>int[] nums = { 1, 2, 3, 4, 5, 6, 7, 8, 9, 10 };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latin typeface="Courier New"/>
              </a:rPr>
              <a:t>var first3 = nums.</a:t>
            </a:r>
            <a:r>
              <a:rPr sz="1700">
                <a:solidFill>
                  <a:srgbClr val="00B0F0"/>
                </a:solidFill>
                <a:latin typeface="Courier New"/>
              </a:rPr>
              <a:t>Take</a:t>
            </a:r>
            <a:r>
              <a:rPr sz="1700">
                <a:latin typeface="Courier New"/>
              </a:rPr>
              <a:t>(3);</a:t>
            </a:r>
            <a:r>
              <a:rPr sz="1700">
                <a:solidFill>
                  <a:srgbClr val="008000"/>
                </a:solidFill>
                <a:latin typeface="Courier New"/>
              </a:rPr>
              <a:t>               // 1 2 3</a:t>
            </a:r>
          </a:p>
          <a:p>
            <a:r>
              <a:rPr sz="1700">
                <a:latin typeface="Courier New"/>
              </a:rPr>
              <a:t>var skip3  = nums.</a:t>
            </a:r>
            <a:r>
              <a:rPr sz="1700">
                <a:solidFill>
                  <a:srgbClr val="00B0F0"/>
                </a:solidFill>
                <a:latin typeface="Courier New"/>
              </a:rPr>
              <a:t>Skip</a:t>
            </a:r>
            <a:r>
              <a:rPr sz="1700">
                <a:latin typeface="Courier New"/>
              </a:rPr>
              <a:t>(3);</a:t>
            </a:r>
            <a:r>
              <a:rPr sz="1700">
                <a:solidFill>
                  <a:srgbClr val="008000"/>
                </a:solidFill>
                <a:latin typeface="Courier New"/>
              </a:rPr>
              <a:t>               // 4 5 6 7 8 9 10</a:t>
            </a:r>
          </a:p>
          <a:p>
            <a:r>
              <a:rPr sz="1700">
                <a:latin typeface="Courier New"/>
              </a:rPr>
              <a:t>var mid    = nums.</a:t>
            </a:r>
            <a:r>
              <a:rPr sz="1700">
                <a:solidFill>
                  <a:srgbClr val="00B0F0"/>
                </a:solidFill>
                <a:latin typeface="Courier New"/>
              </a:rPr>
              <a:t>Skip</a:t>
            </a:r>
            <a:r>
              <a:rPr sz="1700">
                <a:latin typeface="Courier New"/>
              </a:rPr>
              <a:t>(2).</a:t>
            </a:r>
            <a:r>
              <a:rPr sz="1700">
                <a:solidFill>
                  <a:srgbClr val="00B0F0"/>
                </a:solidFill>
                <a:latin typeface="Courier New"/>
              </a:rPr>
              <a:t>Take</a:t>
            </a:r>
            <a:r>
              <a:rPr sz="1700">
                <a:latin typeface="Courier New"/>
              </a:rPr>
              <a:t>(4);</a:t>
            </a:r>
            <a:r>
              <a:rPr sz="1700">
                <a:solidFill>
                  <a:srgbClr val="008000"/>
                </a:solidFill>
                <a:latin typeface="Courier New"/>
              </a:rPr>
              <a:t>          // 3 4 5 6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Пагинация — страница P с по N елемента на страница:</a:t>
            </a:r>
          </a:p>
          <a:p>
            <a:r>
              <a:rPr sz="1700">
                <a:latin typeface="Courier New"/>
              </a:rPr>
              <a:t>int pageSize = 3;</a:t>
            </a:r>
          </a:p>
          <a:p>
            <a:r>
              <a:rPr sz="1700">
                <a:latin typeface="Courier New"/>
              </a:rPr>
              <a:t>int page = 2;  // страница 2 (0-базирана)</a:t>
            </a:r>
          </a:p>
          <a:p>
            <a:r>
              <a:rPr sz="1700">
                <a:latin typeface="Courier New"/>
              </a:rPr>
              <a:t>var pageData = nums</a:t>
            </a:r>
          </a:p>
          <a:p>
            <a:r>
              <a:rPr sz="1700">
                <a:latin typeface="Courier New"/>
              </a:rPr>
              <a:t>    .</a:t>
            </a:r>
            <a:r>
              <a:rPr sz="1700">
                <a:solidFill>
                  <a:srgbClr val="00B0F0"/>
                </a:solidFill>
                <a:latin typeface="Courier New"/>
              </a:rPr>
              <a:t>Skip</a:t>
            </a:r>
            <a:r>
              <a:rPr sz="1700">
                <a:latin typeface="Courier New"/>
              </a:rPr>
              <a:t>(page * pageSize)</a:t>
            </a:r>
          </a:p>
          <a:p>
            <a:r>
              <a:rPr sz="1700">
                <a:latin typeface="Courier New"/>
              </a:rPr>
              <a:t>    .</a:t>
            </a:r>
            <a:r>
              <a:rPr sz="1700">
                <a:solidFill>
                  <a:srgbClr val="00B0F0"/>
                </a:solidFill>
                <a:latin typeface="Courier New"/>
              </a:rPr>
              <a:t>Take</a:t>
            </a:r>
            <a:r>
              <a:rPr sz="1700">
                <a:latin typeface="Courier New"/>
              </a:rPr>
              <a:t>(pageSize);</a:t>
            </a:r>
            <a:r>
              <a:rPr sz="1700">
                <a:solidFill>
                  <a:srgbClr val="008000"/>
                </a:solidFill>
                <a:latin typeface="Courier New"/>
              </a:rPr>
              <a:t>     // 7 8 9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latin typeface="Courier New"/>
              </a:rPr>
              <a:t>// TakeLast / SkipLast (C# 8+):  nums.</a:t>
            </a:r>
            <a:r>
              <a:rPr sz="1700">
                <a:solidFill>
                  <a:srgbClr val="00B0F0"/>
                </a:solidFill>
                <a:latin typeface="Courier New"/>
              </a:rPr>
              <a:t>TakeLast</a:t>
            </a:r>
            <a:r>
              <a:rPr sz="1700">
                <a:solidFill>
                  <a:srgbClr val="008000"/>
                </a:solidFill>
                <a:latin typeface="Courier New"/>
              </a:rPr>
              <a:t>(3)  // 8 9 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77724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GroupBy() — Групиране на елементи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0700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GroupBy() разделя колекцията на групи по зададен ключ — аналог на GROUP BY в SQL.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41148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700">
                <a:latin typeface="Courier New"/>
              </a:rPr>
              <a:t>string[] words = { "apple", "ant", "ball", "cat", "car", "bear" };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Групираме по първата буква:</a:t>
            </a:r>
          </a:p>
          <a:p>
            <a:r>
              <a:rPr sz="1700">
                <a:latin typeface="Courier New"/>
              </a:rPr>
              <a:t>var groups = words.</a:t>
            </a:r>
            <a:r>
              <a:rPr sz="1700">
                <a:solidFill>
                  <a:srgbClr val="00B0F0"/>
                </a:solidFill>
                <a:latin typeface="Courier New"/>
              </a:rPr>
              <a:t>GroupBy</a:t>
            </a:r>
            <a:r>
              <a:rPr sz="1700">
                <a:latin typeface="Courier New"/>
              </a:rPr>
              <a:t>(w =&gt; w[0]);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latin typeface="Courier New"/>
              </a:rPr>
              <a:t>foreach (var group in groups)</a:t>
            </a:r>
          </a:p>
          <a:p>
            <a:r>
              <a:rPr sz="1700">
                <a:latin typeface="Courier New"/>
              </a:rPr>
              <a:t>{</a:t>
            </a:r>
          </a:p>
          <a:p>
            <a:r>
              <a:rPr sz="1700">
                <a:latin typeface="Courier New"/>
              </a:rPr>
              <a:t>    Console.Write($"Буква '{group.Key}': ");</a:t>
            </a:r>
          </a:p>
          <a:p>
            <a:r>
              <a:rPr sz="1700">
                <a:latin typeface="Courier New"/>
              </a:rPr>
              <a:t>    Console.WriteLine(string.</a:t>
            </a:r>
            <a:r>
              <a:rPr sz="1700">
                <a:solidFill>
                  <a:srgbClr val="00B0F0"/>
                </a:solidFill>
                <a:latin typeface="Courier New"/>
              </a:rPr>
              <a:t>Join</a:t>
            </a:r>
            <a:r>
              <a:rPr sz="1700">
                <a:latin typeface="Courier New"/>
              </a:rPr>
              <a:t>(", ", group));</a:t>
            </a:r>
          </a:p>
          <a:p>
            <a:r>
              <a:rPr sz="1700">
                <a:latin typeface="Courier New"/>
              </a:rPr>
              <a:t>}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Изход:</a:t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Буква 'a': apple, ant</a:t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Буква 'b': ball, bear</a:t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Буква 'c': cat, car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777240"/>
          </a:xfrm>
          <a:prstGeom prst="rect">
            <a:avLst/>
          </a:prstGeom>
          <a:solidFill>
            <a:srgbClr val="1F497D"/>
          </a:solidFill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Верига от LINQ методи (Method Chaining)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0700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F1F1F"/>
                </a:solidFill>
              </a:rPr>
              <a:t>LINQ методите могат да се наредят един след друг — всеки получава резултата от предишния.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411480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r>
              <a:rPr sz="1700">
                <a:solidFill>
                  <a:srgbClr val="008000"/>
                </a:solidFill>
                <a:latin typeface="Courier New"/>
              </a:rPr>
              <a:t>// Задача: топ 3 четни числа над 10, сортирани намаляващо</a:t>
            </a:r>
          </a:p>
          <a:p>
            <a:r>
              <a:rPr sz="1700">
                <a:latin typeface="Courier New"/>
              </a:rPr>
              <a:t>int[] data = { 5, 14, 3, 22, 8, 31, 18, 42, 7, 16 };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latin typeface="Courier New"/>
              </a:rPr>
              <a:t>int[] result = data</a:t>
            </a:r>
          </a:p>
          <a:p>
            <a:r>
              <a:rPr sz="1700">
                <a:latin typeface="Courier New"/>
              </a:rPr>
              <a:t>    .</a:t>
            </a:r>
            <a:r>
              <a:rPr sz="1700">
                <a:solidFill>
                  <a:srgbClr val="00B0F0"/>
                </a:solidFill>
                <a:latin typeface="Courier New"/>
              </a:rPr>
              <a:t>Where</a:t>
            </a:r>
            <a:r>
              <a:rPr sz="1700">
                <a:latin typeface="Courier New"/>
              </a:rPr>
              <a:t>(x =&gt; x &gt; 10)</a:t>
            </a:r>
          </a:p>
          <a:p>
            <a:r>
              <a:rPr sz="1700">
                <a:latin typeface="Courier New"/>
              </a:rPr>
              <a:t>    .</a:t>
            </a:r>
            <a:r>
              <a:rPr sz="1700">
                <a:solidFill>
                  <a:srgbClr val="00B0F0"/>
                </a:solidFill>
                <a:latin typeface="Courier New"/>
              </a:rPr>
              <a:t>Where</a:t>
            </a:r>
            <a:r>
              <a:rPr sz="1700">
                <a:latin typeface="Courier New"/>
              </a:rPr>
              <a:t>(x =&gt; x % 2 == 0)</a:t>
            </a:r>
          </a:p>
          <a:p>
            <a:r>
              <a:rPr sz="1700">
                <a:latin typeface="Courier New"/>
              </a:rPr>
              <a:t>    .</a:t>
            </a:r>
            <a:r>
              <a:rPr sz="1700">
                <a:solidFill>
                  <a:srgbClr val="00B0F0"/>
                </a:solidFill>
                <a:latin typeface="Courier New"/>
              </a:rPr>
              <a:t>OrderByDescending</a:t>
            </a:r>
            <a:r>
              <a:rPr sz="1700">
                <a:latin typeface="Courier New"/>
              </a:rPr>
              <a:t>(x =&gt; x)</a:t>
            </a:r>
          </a:p>
          <a:p>
            <a:r>
              <a:rPr sz="1700">
                <a:latin typeface="Courier New"/>
              </a:rPr>
              <a:t>    .</a:t>
            </a:r>
            <a:r>
              <a:rPr sz="1700">
                <a:solidFill>
                  <a:srgbClr val="00B0F0"/>
                </a:solidFill>
                <a:latin typeface="Courier New"/>
              </a:rPr>
              <a:t>Take</a:t>
            </a:r>
            <a:r>
              <a:rPr sz="1700">
                <a:latin typeface="Courier New"/>
              </a:rPr>
              <a:t>(3)</a:t>
            </a:r>
          </a:p>
          <a:p>
            <a:r>
              <a:rPr sz="1700">
                <a:latin typeface="Courier New"/>
              </a:rPr>
              <a:t>    .</a:t>
            </a:r>
            <a:r>
              <a:rPr sz="1700">
                <a:solidFill>
                  <a:srgbClr val="00B0F0"/>
                </a:solidFill>
                <a:latin typeface="Courier New"/>
              </a:rPr>
              <a:t>ToArray</a:t>
            </a:r>
            <a:r>
              <a:rPr sz="1700">
                <a:latin typeface="Courier New"/>
              </a:rPr>
              <a:t>();</a:t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result = [ 42, 22, 18 ]</a:t>
            </a:r>
          </a:p>
          <a:p>
            <a:r>
              <a:rPr sz="1700">
                <a:latin typeface="Courier New"/>
              </a:rPr>
              <a:t/>
            </a:r>
          </a:p>
          <a:p>
            <a:r>
              <a:rPr sz="1700">
                <a:solidFill>
                  <a:srgbClr val="008000"/>
                </a:solidFill>
                <a:latin typeface="Courier New"/>
              </a:rPr>
              <a:t>// Обработка на текст: уникални думи над 4 букви, главни букви, сортирани:</a:t>
            </a:r>
          </a:p>
          <a:p>
            <a:r>
              <a:rPr sz="1700">
                <a:latin typeface="Courier New"/>
              </a:rPr>
              <a:t>string text = "the quick brown fox jumps over the lazy dog";</a:t>
            </a:r>
          </a:p>
          <a:p>
            <a:r>
              <a:rPr sz="1700">
                <a:latin typeface="Courier New"/>
              </a:rPr>
              <a:t>var result2 = text.</a:t>
            </a:r>
            <a:r>
              <a:rPr sz="1700">
                <a:solidFill>
                  <a:srgbClr val="00B0F0"/>
                </a:solidFill>
                <a:latin typeface="Courier New"/>
              </a:rPr>
              <a:t>Split</a:t>
            </a:r>
            <a:r>
              <a:rPr sz="1700">
                <a:latin typeface="Courier New"/>
              </a:rPr>
              <a:t>(' ').</a:t>
            </a:r>
            <a:r>
              <a:rPr sz="1700">
                <a:solidFill>
                  <a:srgbClr val="00B0F0"/>
                </a:solidFill>
                <a:latin typeface="Courier New"/>
              </a:rPr>
              <a:t>Where</a:t>
            </a:r>
            <a:r>
              <a:rPr sz="1700">
                <a:latin typeface="Courier New"/>
              </a:rPr>
              <a:t>(w =&gt; w.Length &gt; 4).</a:t>
            </a:r>
            <a:r>
              <a:rPr sz="1700">
                <a:solidFill>
                  <a:srgbClr val="00B0F0"/>
                </a:solidFill>
                <a:latin typeface="Courier New"/>
              </a:rPr>
              <a:t>Distinct</a:t>
            </a:r>
            <a:r>
              <a:rPr sz="1700">
                <a:latin typeface="Courier New"/>
              </a:rPr>
              <a:t>().</a:t>
            </a:r>
          </a:p>
          <a:p>
            <a:r>
              <a:rPr sz="1700">
                <a:latin typeface="Courier New"/>
              </a:rPr>
              <a:t>    .</a:t>
            </a:r>
            <a:r>
              <a:rPr sz="1700">
                <a:solidFill>
                  <a:srgbClr val="00B0F0"/>
                </a:solidFill>
                <a:latin typeface="Courier New"/>
              </a:rPr>
              <a:t>Select</a:t>
            </a:r>
            <a:r>
              <a:rPr sz="1700">
                <a:latin typeface="Courier New"/>
              </a:rPr>
              <a:t>(w =&gt; w.</a:t>
            </a:r>
            <a:r>
              <a:rPr sz="1700">
                <a:solidFill>
                  <a:srgbClr val="00B0F0"/>
                </a:solidFill>
                <a:latin typeface="Courier New"/>
              </a:rPr>
              <a:t>ToUpper</a:t>
            </a:r>
            <a:r>
              <a:rPr sz="1700">
                <a:latin typeface="Courier New"/>
              </a:rPr>
              <a:t>()).</a:t>
            </a:r>
            <a:r>
              <a:rPr sz="1700">
                <a:solidFill>
                  <a:srgbClr val="00B0F0"/>
                </a:solidFill>
                <a:latin typeface="Courier New"/>
              </a:rPr>
              <a:t>OrderBy</a:t>
            </a:r>
            <a:r>
              <a:rPr sz="1700">
                <a:latin typeface="Courier New"/>
              </a:rPr>
              <a:t>(w =&gt; w).</a:t>
            </a:r>
            <a:r>
              <a:rPr sz="1700">
                <a:solidFill>
                  <a:srgbClr val="00B0F0"/>
                </a:solidFill>
                <a:latin typeface="Courier New"/>
              </a:rPr>
              <a:t>ToList</a:t>
            </a:r>
            <a:r>
              <a:rPr sz="1700">
                <a:latin typeface="Courier New"/>
              </a:rPr>
              <a:t>();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1155</Words>
  <Application>Microsoft Office PowerPoint</Application>
  <PresentationFormat>Widescreen</PresentationFormat>
  <Paragraphs>133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Comfortaa</vt:lpstr>
      <vt:lpstr>Consolas</vt:lpstr>
      <vt:lpstr>Office Theme</vt:lpstr>
      <vt:lpstr>LINQ функции за работа с колекции</vt:lpstr>
      <vt:lpstr>Съдържание</vt:lpstr>
      <vt:lpstr>Филтриране на колекции</vt:lpstr>
      <vt:lpstr>Филтриране и сортиране с Lambda функции</vt:lpstr>
      <vt:lpstr>Вземане на уникални елементи от колекция</vt:lpstr>
      <vt:lpstr>Задача: Сортиране на къси думи</vt:lpstr>
      <vt:lpstr>Решение: Сортиране на къси думи </vt:lpstr>
      <vt:lpstr>Вземане на един елемент от колекция</vt:lpstr>
      <vt:lpstr>Други операции с колекции</vt:lpstr>
      <vt:lpstr>Задача: Сгъни и събери</vt:lpstr>
      <vt:lpstr>Решение: Сгъни и събери</vt:lpstr>
      <vt:lpstr>Какво научихме?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2022-09-15T08:16:47Z</dcterms:modified>
</cp:coreProperties>
</file>