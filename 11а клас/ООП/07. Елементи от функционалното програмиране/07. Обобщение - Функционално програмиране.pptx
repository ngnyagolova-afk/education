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ЗАГЛАВЕН СЛАЙД</a:t>
            </a:r>
          </a:p>
          <a:p>
            <a:r>
              <a:t>Поздравете учениците и обявете, че днешният урок е обобщение на целия раздел за функционалното програмиране.</a:t>
            </a:r>
          </a:p>
          <a:p>
            <a:r>
              <a:t>Подчертайте, че темата с делегатите (07.4) е нова и е акцентът на упражнението.</a:t>
            </a:r>
          </a:p>
          <a:p>
            <a:r>
              <a:t>Очакваното времетраене на целия урок: ~45 мин.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СЪДЪРЖАНИЕ</a:t>
            </a:r>
          </a:p>
          <a:p>
            <a:r>
              <a:t>Прегледайте накратко темите. Точки 1-2 са повторение от предишните уроци.</a:t>
            </a:r>
          </a:p>
          <a:p>
            <a:r>
              <a:t>Точки 3-5 (маркирани в жълто) са новото от 07.4 – делегатите.</a:t>
            </a:r>
          </a:p>
          <a:p>
            <a:r>
              <a:t>Точка 6 е синтез – покажте как всичко се свързва в един пример.</a:t>
            </a:r>
          </a:p>
          <a:p>
            <a:r>
              <a:t>Попитайте дали някой си спомня какво са lambda изрази преди да преминете напред.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LAMBDA И FUNC (07.1)</a:t>
            </a:r>
          </a:p>
          <a:p>
            <a:r>
              <a:t>Обяснете: Func&lt;T, TResult&gt; е начинът в C# да съхраним функция в променлива.</a:t>
            </a:r>
          </a:p>
          <a:p>
            <a:r>
              <a:t>- Входният тип е в началото, изходният – последен.</a:t>
            </a:r>
          </a:p>
          <a:p>
            <a:r>
              <a:t>- Lambda изразът (=&gt;) описва какво прави функцията.</a:t>
            </a:r>
          </a:p>
          <a:p>
            <a:r>
              <a:t>Пример за живот: "Func е като рецепта – записвате как да я правите и после я изпълнявате когато ви трябва."</a:t>
            </a:r>
          </a:p>
          <a:p>
            <a:r>
              <a:t>Може да има до 15 входни параметъра: Func&lt;int, int, int, ...&gt;</a:t>
            </a:r>
          </a:p>
          <a:p>
            <a:r>
              <a:t>Попитайте: "Какво ще върне square(4)?" →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LINQ (07.2 – 07.3)</a:t>
            </a:r>
          </a:p>
          <a:p>
            <a:r>
              <a:t>LINQ позволява да обработваме колекции по декларативен начин – описваме КАКВО искаме, не КАК да го направим.</a:t>
            </a:r>
          </a:p>
          <a:p/>
          <a:p>
            <a:r>
              <a:t>Важни моменти за акцентиране:</a:t>
            </a:r>
          </a:p>
          <a:p>
            <a:r>
              <a:t>- Where() → приема предикат (Func&lt;T, bool&gt;) – тук lambda изразите са задължителни</a:t>
            </a:r>
          </a:p>
          <a:p>
            <a:r>
              <a:t>- Select() → приема трансформация (Func&lt;T, TResult&gt;)</a:t>
            </a:r>
          </a:p>
          <a:p>
            <a:r>
              <a:t>- LINQ операциите се изпълняват мързеливо (lazy) – само при ToList()/ToArray()</a:t>
            </a:r>
          </a:p>
          <a:p/>
          <a:p>
            <a:r>
              <a:t>Пример в клас: дайте числата от 1 до 10 и помолете учениците да напишат LINQ верига, която взема четните числа, умножени по 3.</a:t>
            </a:r>
          </a:p>
          <a:p>
            <a:r>
              <a:t>Очаквано: Where(n =&gt; n%2==0).Select(n =&gt; n*3)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ACTION&lt;T&gt; (07.4 – НОВО)</a:t>
            </a:r>
          </a:p>
          <a:p>
            <a:r>
              <a:t>Action&lt;T&gt; е вторият вид делегат след Func.</a:t>
            </a:r>
          </a:p>
          <a:p>
            <a:r>
              <a:t>Ключова разлика: Action НЕ връща резултат – изпълнява "действие" (страничен ефект).</a:t>
            </a:r>
          </a:p>
          <a:p/>
          <a:p>
            <a:r>
              <a:t>Аналогия: "Func е като машина, която произвежда продукт. Action е като сервитьор – носи нещо, но не ви дава нищо обратно."</a:t>
            </a:r>
          </a:p>
          <a:p/>
          <a:p>
            <a:r>
              <a:t>Покажете как ForEach() приема Action:</a:t>
            </a:r>
          </a:p>
          <a:p>
            <a:r>
              <a:t>list.ForEach(n =&gt; Console.WriteLine(n));</a:t>
            </a:r>
          </a:p>
          <a:p>
            <a:r>
              <a:t>→ това е Action&lt;int&gt; предаден директно.</a:t>
            </a:r>
          </a:p>
          <a:p/>
          <a:p>
            <a:r>
              <a:t>Въпрос за класа: "Ако искаме да запишем резултат в файл, ще използваме Func или Action?" → Action (void)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ДЕЛЕГАТИ (07.4 – НОВО)</a:t>
            </a:r>
          </a:p>
          <a:p>
            <a:r>
              <a:t>Делегатът е тип данни, чиито стойности са функции.</a:t>
            </a:r>
          </a:p>
          <a:p>
            <a:r>
              <a:t>Аналогия: "Делегатът е договор – той описва какъв вид функция може да бъде назначена за тази роля."</a:t>
            </a:r>
          </a:p>
          <a:p/>
          <a:p>
            <a:r>
              <a:t>Func и Action са вградени делегати – не се налага да пишем `delegate` ключовата дума.</a:t>
            </a:r>
          </a:p>
          <a:p>
            <a:r>
              <a:t>Собствен delegate пишем само когато имаме &gt;15 параметъра (рядко в практиката).</a:t>
            </a:r>
          </a:p>
          <a:p/>
          <a:p>
            <a:r>
              <a:t>ВАЖНО – подчертайте: Func и Action са делегати под капака. Когато пишете</a:t>
            </a:r>
          </a:p>
          <a:p>
            <a:r>
              <a:t>Func&lt;int,int&gt; sq = n =&gt; n*n;</a:t>
            </a:r>
          </a:p>
          <a:p>
            <a:r>
              <a:t>вие реално създавате екземпляр на делегат и го свързвате с lambda функция.</a:t>
            </a:r>
          </a:p>
          <a:p/>
          <a:p>
            <a:r>
              <a:t>Връзка напред: делегатите са основата и на events в C# (следващ модул).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ПРЕДАВАНЕ НА ФУНКЦИИ КЪМ МЕТОД (07.4 – НОВО)</a:t>
            </a:r>
          </a:p>
          <a:p>
            <a:r>
              <a:t>Това е кулминацията на темата – можем да правим методи с "гнездо" за логика.</a:t>
            </a:r>
          </a:p>
          <a:p/>
          <a:p>
            <a:r>
              <a:t>Покажете на дъската:</a:t>
            </a:r>
          </a:p>
          <a:p>
            <a:r>
              <a:t>1. Напишете ApplyOperation без делегат – после с твърдо coded if/switch за всяка операция.</a:t>
            </a:r>
          </a:p>
          <a:p>
            <a:r>
              <a:t>2. Покажете как с Func&lt;int,int&gt; целият switch изчезва.</a:t>
            </a:r>
          </a:p>
          <a:p/>
          <a:p>
            <a:r>
              <a:t>Ключова фраза: "Вместо да питаме функцията 'какво да прави', й казваме 'ето функцията, която ти каза какво да прави'."</a:t>
            </a:r>
          </a:p>
          <a:p/>
          <a:p>
            <a:r>
              <a:t>Връзка с LINQ: Where(n =&gt; n &gt; 5) е ТОЧНО предаване на Func&lt;int,bool&gt; към метода Where().</a:t>
            </a:r>
          </a:p>
          <a:p>
            <a:r>
              <a:t>Учениците вече са го правили – просто не са знаели термина "делегат".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СИНТЕЗ – ВСИЧКО ЗАЕДНО (07.1 – 07.4)</a:t>
            </a:r>
          </a:p>
          <a:p>
            <a:r>
              <a:t>Този слайд показва задача 3 от упражнението.</a:t>
            </a:r>
          </a:p>
          <a:p/>
          <a:p>
            <a:r>
              <a:t>Прегледайте кода заедно с класа, ред по ред, и питайте:</a:t>
            </a:r>
          </a:p>
          <a:p>
            <a:r>
              <a:t>- "Тази линия – от кой урок е?"</a:t>
            </a:r>
          </a:p>
          <a:p>
            <a:r>
              <a:t>  → Func = 07.4, =&gt; = 07.1, OrderByDescending/Where = 07.3</a:t>
            </a:r>
          </a:p>
          <a:p/>
          <a:p>
            <a:r>
              <a:t>Акценти:</a:t>
            </a:r>
          </a:p>
          <a:p>
            <a:r>
              <a:t>- gradeToText е Func&lt;double, string&gt; – съхраняваме бизнес логика в делегат</a:t>
            </a:r>
          </a:p>
          <a:p>
            <a:r>
              <a:t>- filter и printer се избират по входа – динамично поведение без if-ове в основната логика</a:t>
            </a:r>
          </a:p>
          <a:p>
            <a:r>
              <a:t>- .Where(filter) – LINQ директно приема Func делегат (не трябва да се wrapped-ва в нищо)</a:t>
            </a:r>
          </a:p>
          <a:p>
            <a:r>
              <a:t>- .ForEach(printer) – List.ForEach директно приема Action делегат</a:t>
            </a:r>
          </a:p>
          <a:p/>
          <a:p>
            <a:r>
              <a:t>Попитайте учениците: "Ако искаме да добавим нов формат на изход, трябва ли да пипаме метода FilterAndPrint?" → НЕ! Само добавяме нов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ОБОБЩЕНИЕ</a:t>
            </a:r>
          </a:p>
          <a:p>
            <a:r>
              <a:t>Използвайте този слайд за финален преглед.</a:t>
            </a:r>
          </a:p>
          <a:p/>
          <a:p>
            <a:r>
              <a:t>Попитайте учениците да свържат понятията:</a:t>
            </a:r>
          </a:p>
          <a:p>
            <a:r>
              <a:t>Q: "Func и Action реализирани чрез…?" → делегати</a:t>
            </a:r>
          </a:p>
          <a:p>
            <a:r>
              <a:t>Q: "LINQ Where() вътрешно използва…?" → Func&lt;T, bool&gt; делегат</a:t>
            </a:r>
          </a:p>
          <a:p>
            <a:r>
              <a:t>Q: "Кога ползваме Action вместо Func?" → когато нямаме върнат резултат</a:t>
            </a:r>
          </a:p>
          <a:p/>
          <a:p>
            <a:r>
              <a:t>Домашна работа / упражнение:</a:t>
            </a:r>
          </a:p>
          <a:p>
            <a:r>
              <a:t>Учениците имат три задачи в 07.4.Делегати-упражнение.docx</a:t>
            </a:r>
          </a:p>
          <a:p>
            <a:r>
              <a:t>- Задача 1: Трансформатор на числа (Func параметър)</a:t>
            </a:r>
          </a:p>
          <a:p>
            <a:r>
              <a:t>- Задача 2: Каталог на продукти (Func + Action параметри)</a:t>
            </a:r>
          </a:p>
          <a:p>
            <a:r>
              <a:t>- Задача 3: Оценяване на ученици (пълен синтез)</a:t>
            </a:r>
          </a:p>
          <a:p/>
          <a:p>
            <a:r>
              <a:t>Решенията са в 07.4.Делегати-упражнение-решения.docx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ВЪПРОСИ И ДИСКУСИЯ</a:t>
            </a:r>
          </a:p>
          <a:p>
            <a:r>
              <a:t>Насочващи въпроси, ако учениците мълчат:</a:t>
            </a:r>
          </a:p>
          <a:p/>
          <a:p>
            <a:r>
              <a:t>1. "Ако имам Func&lt;int, bool&gt; isEven = n =&gt; n % 2 == 0; как ще я извикам за числото 7?"</a:t>
            </a:r>
          </a:p>
          <a:p>
            <a:r>
              <a:t>   → isEven(7) → false</a:t>
            </a:r>
          </a:p>
          <a:p/>
          <a:p>
            <a:r>
              <a:t>2. "Мога ли да имам Func без входен параметър?"</a:t>
            </a:r>
          </a:p>
          <a:p>
            <a:r>
              <a:t>   → Да: Func&lt;int&gt; f = () =&gt; 42;  (само изходен тип)</a:t>
            </a:r>
          </a:p>
          <a:p/>
          <a:p>
            <a:r>
              <a:t>3. "Мога ли да предам именуван метод вместо lambda за делегат?"</a:t>
            </a:r>
          </a:p>
          <a:p>
            <a:r>
              <a:t>   → Да: static int Square(int n) =&gt; n*n;</a:t>
            </a:r>
          </a:p>
          <a:p>
            <a:r>
              <a:t>         Func&lt;int,int&gt; f = Square;</a:t>
            </a:r>
          </a:p>
          <a:p/>
          <a:p>
            <a:r>
              <a:t>Ако времето позволява: помолете ученик да напише на дъската Func делегат,</a:t>
            </a:r>
          </a:p>
          <a:p>
            <a:r>
              <a:t>приемащ string и връщащ нейната дължина.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Елементи от функционалното програмиране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0E0EF"/>
                </a:solidFill>
              </a:rPr>
              <a:t>Обобщение на раздел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AABB"/>
                </a:solidFill>
              </a:rPr>
              <a:t>Урок 07.1  •  Lambda изрази и функции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AABB"/>
                </a:solidFill>
              </a:rPr>
              <a:t>Урок 07.2  •  Библиотека LINQ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AABB"/>
                </a:solidFill>
              </a:rPr>
              <a:t>Урок 07.3  •  LINQ, Lambda и още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B4D8"/>
                </a:solidFill>
              </a:rPr>
              <a:t>Урок 07.4  •  Делегати. Функционално програмиране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Какво ще повторим днес?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332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Lambda изрази и Func&lt;T, TResult&gt;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0332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E0EF"/>
                </a:solidFill>
              </a:rPr>
              <a:t>07.1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411480" cy="4114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190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4650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LINQ – филтриране, проекция, агрегиране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7465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E0EF"/>
                </a:solidFill>
              </a:rPr>
              <a:t>07.2-07.3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32304"/>
            <a:ext cx="411480" cy="4114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323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5973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Action&lt;T&gt; – действия без върнат резултат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4597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D166"/>
                </a:solidFill>
              </a:rPr>
              <a:t>07.4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45536"/>
            <a:ext cx="411480" cy="4114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455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7296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Делегати – какво са и защо съществуват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729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D166"/>
                </a:solidFill>
              </a:rPr>
              <a:t>07.4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58768"/>
            <a:ext cx="411480" cy="4114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58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8620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Предаване на функции като параметри на метод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8862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D166"/>
                </a:solidFill>
              </a:rPr>
              <a:t>07.4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41148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572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9943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Всичко заедно – пример стъпка по стъпка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6D6A0"/>
                </a:solidFill>
              </a:rPr>
              <a:t>07.1-07.4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Lambda изрази и Func&lt;T, TResult&gt;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E0EF"/>
                </a:solidFill>
              </a:rPr>
              <a:t>07.1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Func&lt;T, TResult&gt; – съхранява функция в променлива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19202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760" y="1543040"/>
            <a:ext cx="11190000" cy="176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Func&lt;int, string&gt; func = n =&gt; n.ToString();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AAAABB"/>
                </a:solidFill>
                <a:latin typeface="Courier New"/>
              </a:rPr>
              <a:t>//       ^входен  ^изход   ^lambda израз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Func&lt;int, int&gt;  square = n =&gt; n * 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Func&lt;string, bool&gt; isLong = s =&gt; s.Length &gt; 5;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Func&lt;double, double&gt; vat = price =&gt; price * 1.20;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Ключови правила: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39"/>
            <a:ext cx="2560320" cy="320040"/>
          </a:xfrm>
          <a:prstGeom prst="rect">
            <a:avLst/>
          </a:prstGeom>
          <a:solidFill>
            <a:srgbClr val="0D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Входен тип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3159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Func&lt;int, ...&gt;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977639"/>
            <a:ext cx="2560320" cy="320040"/>
          </a:xfrm>
          <a:prstGeom prst="rect">
            <a:avLst/>
          </a:prstGeom>
          <a:solidFill>
            <a:srgbClr val="0D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Изходен тип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3159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Func&lt;..., string&gt;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977639"/>
            <a:ext cx="2560320" cy="320040"/>
          </a:xfrm>
          <a:prstGeom prst="rect">
            <a:avLst/>
          </a:prstGeom>
          <a:solidFill>
            <a:srgbClr val="0D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Извикване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43159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func(5)  →  "5"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3977639"/>
            <a:ext cx="2560320" cy="320040"/>
          </a:xfrm>
          <a:prstGeom prst="rect">
            <a:avLst/>
          </a:prstGeom>
          <a:solidFill>
            <a:srgbClr val="0D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Без изход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3159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вижте Action&lt;T&gt;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LINQ – обработка на колекции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E0EF"/>
                </a:solidFill>
              </a:rPr>
              <a:t>07.2 – 07.3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Чейнване на LINQ операции върху колекция: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2286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760" y="1497320"/>
            <a:ext cx="11190000" cy="2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var numbers = new[] { 1, 2, 3, 4, 5, 6, 7, 8, 9, 10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var result = numbers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    .Where(n =&gt; n % 2 == 0)       // филтриране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    .Select(n =&gt; n * n)            // трансформация (проекция)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    .OrderByDescending(n =&gt; n)     // сортиране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  .Take(3)                       // вземи само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  .ToList();                     // материализация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AAAABB"/>
                </a:solidFill>
                <a:latin typeface="Courier New"/>
              </a:rPr>
              <a:t>// result: [ 100, 64, 36 ]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2743200" cy="86868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93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Филтрира по условие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3840480"/>
            <a:ext cx="2743200" cy="86868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886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2793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Трансформира всеки елемент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840480"/>
            <a:ext cx="2743200" cy="86868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886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OrderBy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793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Сортира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3840480"/>
            <a:ext cx="2743200" cy="86868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886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Sum /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2793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Агрегира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92040"/>
            <a:ext cx="2743200" cy="86868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377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ToList/ToArray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30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Материализира резултата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4892040"/>
            <a:ext cx="2743200" cy="86868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49377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Take / Skip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330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Взема / пропуска N елемента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892040"/>
            <a:ext cx="2743200" cy="86868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9377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Any / 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30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Проверява условие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4892040"/>
            <a:ext cx="2743200" cy="86868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49377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GroupBy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5330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Групира по ключ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Action&lt;T&gt; – действия без върнат резултат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E0EF"/>
                </a:solidFill>
              </a:rPr>
              <a:t>07.4  НОВО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</a:rPr>
              <a:t>Action&lt;T&gt; е като Func&lt;T&gt;, но НЕ връща резултат (void)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486400" cy="1463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760" y="1634480"/>
            <a:ext cx="5246400" cy="130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AAAABB"/>
                </a:solidFill>
                <a:latin typeface="Courier New"/>
              </a:rPr>
              <a:t>// Стар начин – обикновен метод: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urier New"/>
              </a:rPr>
              <a:t>private void Print(string msg)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urier New"/>
              </a:rPr>
              <a:t>    Console.WriteLine(msg);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54480"/>
            <a:ext cx="5760720" cy="1463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5040" y="1634480"/>
            <a:ext cx="5520720" cy="130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AAAABB"/>
                </a:solidFill>
                <a:latin typeface="Courier New"/>
              </a:rPr>
              <a:t>// Нов начин – Action делегат: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B4D8"/>
                </a:solidFill>
                <a:latin typeface="Courier New"/>
              </a:rPr>
              <a:t>Action&lt;string&gt; print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B4D8"/>
                </a:solidFill>
                <a:latin typeface="Courier New"/>
              </a:rPr>
              <a:t>    msg =&gt; Console.WriteLine(msg);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urier New"/>
              </a:rPr>
              <a:t>print("Здравей!");   // извикване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Разлика между Func и Action: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2011680" cy="475488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3611880"/>
            <a:ext cx="4389120" cy="475488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3611880"/>
            <a:ext cx="4937760" cy="475488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657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6576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Func&lt;T, TResult&gt;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6576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Action&lt;T&gt;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33088"/>
            <a:ext cx="201168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4133088"/>
            <a:ext cx="438912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4133088"/>
            <a:ext cx="493776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78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Връща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7880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Да  (TResult)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788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Не  (void)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201168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23160" y="4654296"/>
            <a:ext cx="438912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4654296"/>
            <a:ext cx="493776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7000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Употреба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70001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Select, Where, трансформации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70001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ForEach, принтиране, странични ефекти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75504"/>
            <a:ext cx="201168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23160" y="5175504"/>
            <a:ext cx="438912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5175504"/>
            <a:ext cx="4937760" cy="475488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22122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Пример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22122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Func&lt;int,int&gt; sq = n =&gt; n*n;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22122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Action&lt;string&gt; pr = s =&gt; Console.WriteLine(s);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Делегати – типове за функции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E0EF"/>
                </a:solidFill>
              </a:rPr>
              <a:t>07.4  НОВО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Func и Action са вградени делегати. Делегатът е тип, описващ сигнатурата на функция.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7406640" cy="21945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760" y="1680200"/>
            <a:ext cx="7166640" cy="20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AAAABB"/>
                </a:solidFill>
                <a:latin typeface="Courier New"/>
              </a:rPr>
              <a:t>// Собствен делегат (когато Func/Action не са достатъчни):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delegate int MathOperation(int a, int b);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MathOperation add      = (a, b) =&gt; a + b;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MathOperation multiply = (a, b) =&gt; a * b;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Console.WriteLine(add(3, 4));       // 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Console.WriteLine(multiply(3, 4));  //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600200"/>
            <a:ext cx="3931920" cy="21945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691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Кога да ползваме кое?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194560"/>
            <a:ext cx="13716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Func&lt;T,TResult&gt;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420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функция с резултат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926079"/>
            <a:ext cx="137160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7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Action&lt;T&gt;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7355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функция без резултат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657599"/>
            <a:ext cx="137160" cy="32004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65759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464"/>
                </a:solidFill>
              </a:rPr>
              <a:t>delegate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050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повече от 15 параметъра или специфична сигнатура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9319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Защо изобщо делегати?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→  Функциите стават "граждани от първи клас" – могат да се съхраняват и предават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188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→  Кодът става динамичен – поведението се избира по времето на изпълнение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48655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→  Основа на LINQ, събития (events) и асинхронното програмиране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Предаване на функции към метод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E0EF"/>
                </a:solidFill>
              </a:rPr>
              <a:t>07.4  НОВО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Метод, приемащ Func като параметър: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1430000" cy="27432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760" y="1543040"/>
            <a:ext cx="11190000" cy="258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AAAABB"/>
                </a:solidFill>
                <a:latin typeface="Courier New"/>
              </a:rPr>
              <a:t>// Методът не знае каква операция ще се приложи – получава я отвън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static int ApplyOperation(int number, Func&lt;int, int&gt; operation)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  return operation(number);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int a = 5;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int b = ApplyOperation(a, number =&gt; number * 5);  // 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int c = ApplyOperation(a, number =&gt; number - 3);  //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B4D8"/>
                </a:solidFill>
                <a:latin typeface="Courier New"/>
              </a:rPr>
              <a:t>int d = ApplyOperation(b, number =&gt; number % 7);  //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434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Ползи от тази техника: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→  Един метод  →  безброй поведения (Open/Closed Principle)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846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→  Кодът е по-кратък, четим и тестваем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1441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→  Точно така работят Where(), Select(), OrderBy() в LINQ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Всичко заедно – Система за оценяване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E0EF"/>
                </a:solidFill>
              </a:rPr>
              <a:t>07.1 – 07.4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53949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760" y="1040120"/>
            <a:ext cx="11190000" cy="523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AAABB"/>
                </a:solidFill>
                <a:latin typeface="Courier New"/>
              </a:rPr>
              <a:t>// Lambda (07.1) + Func делегат (07.4)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B4D8"/>
                </a:solidFill>
                <a:latin typeface="Courier New"/>
              </a:rPr>
              <a:t>Func&lt;double, string&gt; gradeToText = g =&gt;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   g &gt;= 6.0 ? "Отличен" : g &gt;= 5.0 ? "Много добър"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   g &gt;= 4.0 ? "Добър"   : g &gt;= 3.0 ? "Среден" : "Слаб";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AAABB"/>
                </a:solidFill>
                <a:latin typeface="Courier New"/>
              </a:rPr>
              <a:t>// Func предикат – избран динамично (07.4)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B4D8"/>
                </a:solidFill>
                <a:latin typeface="Courier New"/>
              </a:rPr>
              <a:t>Func&lt;Student, bool&gt; filter = condType == "above"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B4D8"/>
                </a:solidFill>
                <a:latin typeface="Courier New"/>
              </a:rPr>
              <a:t>    ? s =&gt; s.Grade &gt;= condGrade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B4D8"/>
                </a:solidFill>
                <a:latin typeface="Courier New"/>
              </a:rPr>
              <a:t>    : s =&gt; s.Grade &lt;  condGrade;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AAABB"/>
                </a:solidFill>
                <a:latin typeface="Courier New"/>
              </a:rPr>
              <a:t>// Action делегат за извеждане (07.4)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B4D8"/>
                </a:solidFill>
                <a:latin typeface="Courier New"/>
              </a:rPr>
              <a:t>Action&lt;Student&gt; printer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B4D8"/>
                </a:solidFill>
                <a:latin typeface="Courier New"/>
              </a:rPr>
              <a:t>    s =&gt; Console.WriteLine($"{s.Name} - {s.Grade:F2} ({gradeToText(s.Grade)})");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AAABB"/>
                </a:solidFill>
                <a:latin typeface="Courier New"/>
              </a:rPr>
              <a:t>// LINQ сортиране (07.3) + FilterAndPrint (07.4)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B4D8"/>
                </a:solidFill>
                <a:latin typeface="Courier New"/>
              </a:rPr>
              <a:t>students.OrderByDescending(s =&gt; s.Grade)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       .Where(filter)       // LINQ приема Func директно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       .ToList()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       .ForEach(printer);   // ForEach приема Action директно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Обобщение – Функционалното програмиране в C#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743200"/>
            <a:ext cx="26517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743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Функционално
програмиране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2286000" cy="8229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73152" cy="8229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05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Lambda
изрази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44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n =&gt; n * 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868680"/>
            <a:ext cx="2286000" cy="8229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868680"/>
            <a:ext cx="73152" cy="8229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905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Func&lt;T,TResult&gt;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344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функция с резултат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868680"/>
            <a:ext cx="2286000" cy="8229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868680"/>
            <a:ext cx="73152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905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Action&lt;T&gt;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344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функция без резултат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2560320"/>
            <a:ext cx="2286000" cy="8229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0" y="2560320"/>
            <a:ext cx="73152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5968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Делегати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тип за функция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60320"/>
            <a:ext cx="2286000" cy="8229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560320"/>
            <a:ext cx="73152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5968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LINQ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Where, Select, OrderBy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63440"/>
            <a:ext cx="2286000" cy="8229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663440"/>
            <a:ext cx="73152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000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Предаване
към метод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1389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динамично поведение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5394960"/>
            <a:ext cx="2286000" cy="8229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5394960"/>
            <a:ext cx="73152" cy="8229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54315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Func като
параметър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5870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Method(list, func)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5394960"/>
            <a:ext cx="2286000" cy="822960"/>
          </a:xfrm>
          <a:prstGeom prst="rect">
            <a:avLst/>
          </a:prstGeom>
          <a:solidFill>
            <a:srgbClr val="0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5394960"/>
            <a:ext cx="73152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54315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Action като
параметър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5870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Method(list, action)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3716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00B4D8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Въпроси и дискусия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</a:rPr>
              <a:t>   Каква е разликата между Func&lt;T,TResult&gt; и Action&lt;T&gt;?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</a:rPr>
              <a:t>   Защо предаваме делегат към метод вместо да пишем директно логиката?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</a:rPr>
              <a:t>   Как LINQ Where() използва делегати вътрешно?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