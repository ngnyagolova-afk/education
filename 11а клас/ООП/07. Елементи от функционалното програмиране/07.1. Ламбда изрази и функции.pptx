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"/>
  </p:notesMasterIdLst>
  <p:sldIdLst>
    <p:sldId id="258" r:id="rId2"/>
    <p:sldId id="571" r:id="rId3"/>
    <p:sldId id="601" r:id="rId4"/>
    <p:sldId id="595" r:id="rId5"/>
    <p:sldId id="596" r:id="rId6"/>
    <p:sldId id="597" r:id="rId7"/>
    <p:sldId id="598" r:id="rId8"/>
    <p:sldId id="599" r:id="rId9"/>
    <p:sldId id="600" r:id="rId10"/>
    <p:sldId id="57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571"/>
            <p14:sldId id="601"/>
            <p14:sldId id="595"/>
            <p14:sldId id="596"/>
            <p14:sldId id="597"/>
            <p14:sldId id="598"/>
            <p14:sldId id="599"/>
            <p14:sldId id="600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>
        <p:scale>
          <a:sx n="75" d="100"/>
          <a:sy n="75" d="100"/>
        </p:scale>
        <p:origin x="699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D067460-1A26-424A-BA0C-684BD8D88E4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549847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C2B89B0-A07E-4243-BA8C-7818456EA43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712816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Practice/Index/597#0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ru-RU" dirty="0" err="1">
                <a:latin typeface="Comfortaa" pitchFamily="2" charset="0"/>
              </a:rPr>
              <a:t>Ламбда</a:t>
            </a:r>
            <a:r>
              <a:rPr lang="ru-RU" dirty="0">
                <a:latin typeface="Comfortaa" pitchFamily="2" charset="0"/>
              </a:rPr>
              <a:t> </a:t>
            </a:r>
            <a:r>
              <a:rPr lang="ru-RU" dirty="0" err="1">
                <a:latin typeface="Comfortaa" pitchFamily="2" charset="0"/>
              </a:rPr>
              <a:t>изрази</a:t>
            </a:r>
            <a:r>
              <a:rPr lang="ru-RU" dirty="0">
                <a:latin typeface="Comfortaa" pitchFamily="2" charset="0"/>
              </a:rPr>
              <a:t> и</a:t>
            </a:r>
            <a:br>
              <a:rPr lang="ru-RU" dirty="0">
                <a:latin typeface="Comfortaa" pitchFamily="2" charset="0"/>
              </a:rPr>
            </a:br>
            <a:r>
              <a:rPr lang="ru-RU" dirty="0" err="1">
                <a:latin typeface="Comfortaa" pitchFamily="2" charset="0"/>
              </a:rPr>
              <a:t>ламбда</a:t>
            </a:r>
            <a:r>
              <a:rPr lang="ru-RU" dirty="0">
                <a:latin typeface="Comfortaa" pitchFamily="2" charset="0"/>
              </a:rPr>
              <a:t> функции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Lambda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65136" y="718693"/>
            <a:ext cx="9061727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565136" y="2157984"/>
            <a:ext cx="9061727" cy="4108704"/>
          </a:xfrm>
        </p:spPr>
        <p:txBody>
          <a:bodyPr>
            <a:normAutofit/>
          </a:bodyPr>
          <a:lstStyle/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Що е функция?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Ламбда изрази</a:t>
            </a:r>
            <a:endParaRPr lang="en-US" dirty="0">
              <a:latin typeface="Comfortaa" pitchFamily="2" charset="0"/>
            </a:endParaRP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Ламбда функции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44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3354" y="1391011"/>
            <a:ext cx="5960423" cy="596941"/>
          </a:xfrm>
        </p:spPr>
        <p:txBody>
          <a:bodyPr/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Математически функции</a:t>
            </a:r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21108" y="603264"/>
            <a:ext cx="10515600" cy="91500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Какво е функция</a:t>
            </a:r>
            <a:r>
              <a:rPr lang="en-US" dirty="0">
                <a:latin typeface="Comfortaa" pitchFamily="2" charset="0"/>
              </a:rPr>
              <a:t>?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407379" y="2174428"/>
            <a:ext cx="3089307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i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</a:t>
            </a:r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(x) = x</a:t>
            </a:r>
            <a:r>
              <a:rPr lang="en-US" sz="7200" b="1" baseline="3000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en-US" sz="7200" b="1" i="1" baseline="30000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758133" y="2459101"/>
            <a:ext cx="1157541" cy="800322"/>
          </a:xfrm>
          <a:prstGeom prst="wedgeRoundRectCallout">
            <a:avLst>
              <a:gd name="adj1" fmla="val 91585"/>
              <a:gd name="adj2" fmla="val 7868"/>
              <a:gd name="adj3" fmla="val 16667"/>
            </a:avLst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1600" dirty="0">
                <a:solidFill>
                  <a:srgbClr val="FFFFFF"/>
                </a:solidFill>
                <a:latin typeface="Comfortaa" pitchFamily="2" charset="0"/>
              </a:rPr>
              <a:t>Име</a:t>
            </a: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1600193" y="3833376"/>
            <a:ext cx="2088288" cy="1000465"/>
          </a:xfrm>
          <a:prstGeom prst="wedgeRoundRectCallout">
            <a:avLst>
              <a:gd name="adj1" fmla="val 31855"/>
              <a:gd name="adj2" fmla="val -114622"/>
              <a:gd name="adj3" fmla="val 16667"/>
            </a:avLst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1400" dirty="0">
                <a:solidFill>
                  <a:srgbClr val="FFFFFF"/>
                </a:solidFill>
                <a:latin typeface="Comfortaa" pitchFamily="2" charset="0"/>
              </a:rPr>
              <a:t>Аргумент/вход</a:t>
            </a:r>
          </a:p>
        </p:txBody>
      </p:sp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3864964" y="3833376"/>
            <a:ext cx="2113944" cy="1000466"/>
          </a:xfrm>
          <a:prstGeom prst="wedgeRoundRectCallout">
            <a:avLst>
              <a:gd name="adj1" fmla="val 1294"/>
              <a:gd name="adj2" fmla="val -109281"/>
              <a:gd name="adj3" fmla="val 16667"/>
            </a:avLst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1400" dirty="0">
                <a:solidFill>
                  <a:srgbClr val="FFFFFF"/>
                </a:solidFill>
                <a:latin typeface="Comfortaa" pitchFamily="2" charset="0"/>
              </a:rPr>
              <a:t>Стойност/изход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51516" y="1943595"/>
            <a:ext cx="4878387" cy="4076443"/>
          </a:xfrm>
          <a:prstGeom prst="roundRect">
            <a:avLst>
              <a:gd name="adj" fmla="val 6659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108000" rIns="144000" bIns="108000" rtlCol="0">
            <a:noAutofit/>
          </a:bodyPr>
          <a:lstStyle/>
          <a:p>
            <a:pPr defTabSz="1218987">
              <a:buClr>
                <a:srgbClr val="F2B254"/>
              </a:buClr>
              <a:buSzPct val="100000"/>
            </a:pP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graphicFrame>
        <p:nvGraphicFramePr>
          <p:cNvPr id="16" name="Group 1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9434079"/>
              </p:ext>
            </p:extLst>
          </p:nvPr>
        </p:nvGraphicFramePr>
        <p:xfrm>
          <a:off x="7280014" y="2774595"/>
          <a:ext cx="3821388" cy="29959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33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7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918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bg-BG" sz="3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bg-BG" sz="3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18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bg-BG" sz="3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bg-BG" sz="3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18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bg-BG" sz="3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bg-BG" sz="3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18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bg-BG" sz="3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bg-BG" sz="3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18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1"/>
                          </a:solidFill>
                        </a:rPr>
                        <a:t>-4</a:t>
                      </a:r>
                      <a:endParaRPr lang="bg-BG" sz="3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bg-BG" sz="3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485786" y="1943596"/>
            <a:ext cx="1364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x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41538" y="1943596"/>
            <a:ext cx="1483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i="1" dirty="0">
                <a:solidFill>
                  <a:schemeClr val="bg1"/>
                </a:solidFill>
              </a:rPr>
              <a:t>f</a:t>
            </a:r>
            <a:r>
              <a:rPr lang="en-US" sz="4800" dirty="0">
                <a:solidFill>
                  <a:schemeClr val="bg1"/>
                </a:solidFill>
              </a:rPr>
              <a:t>(x)</a:t>
            </a:r>
            <a:endParaRPr lang="en-US" sz="2800" i="1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8909" y="5004375"/>
            <a:ext cx="57081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Функцията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е специално отношение, където на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всички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входни данни има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еднозначен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изход</a:t>
            </a:r>
            <a:endParaRPr lang="en-US" sz="20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275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1" name="Rectangle 3"/>
          <p:cNvSpPr>
            <a:spLocks noGrp="1" noChangeArrowheads="1"/>
          </p:cNvSpPr>
          <p:nvPr>
            <p:ph idx="1"/>
          </p:nvPr>
        </p:nvSpPr>
        <p:spPr>
          <a:xfrm>
            <a:off x="843717" y="1484225"/>
            <a:ext cx="10710819" cy="49517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omfortaa" pitchFamily="2" charset="0"/>
              </a:rPr>
              <a:t>Lambda </a:t>
            </a:r>
            <a:r>
              <a:rPr lang="bg-BG" dirty="0">
                <a:latin typeface="Comfortaa" pitchFamily="2" charset="0"/>
              </a:rPr>
              <a:t>изразът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неименувана (анонимна) функция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 параметри и тяло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Comfortaa" pitchFamily="2" charset="0"/>
              </a:rPr>
              <a:t>Lambda </a:t>
            </a:r>
            <a:r>
              <a:rPr lang="bg-BG" dirty="0">
                <a:latin typeface="Comfortaa" pitchFamily="2" charset="0"/>
              </a:rPr>
              <a:t>синтаксис</a:t>
            </a:r>
            <a:endParaRPr lang="en-US" dirty="0">
              <a:latin typeface="Comfortaa" pitchFamily="2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Comfortaa" pitchFamily="2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bg-BG" dirty="0">
                <a:latin typeface="Comfortaa" pitchFamily="2" charset="0"/>
              </a:rPr>
              <a:t>Ползва се </a:t>
            </a:r>
            <a:r>
              <a:rPr lang="en-US" dirty="0">
                <a:latin typeface="Comfortaa" pitchFamily="2" charset="0"/>
              </a:rPr>
              <a:t>lambda </a:t>
            </a:r>
            <a:r>
              <a:rPr lang="bg-BG" dirty="0">
                <a:latin typeface="Comfortaa" pitchFamily="2" charset="0"/>
              </a:rPr>
              <a:t>оператор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=&gt;</a:t>
            </a:r>
          </a:p>
          <a:p>
            <a:pPr lvl="2">
              <a:lnSpc>
                <a:spcPct val="100000"/>
              </a:lnSpc>
            </a:pPr>
            <a:r>
              <a:rPr lang="bg-BG" sz="3199" dirty="0">
                <a:latin typeface="Comfortaa" pitchFamily="2" charset="0"/>
              </a:rPr>
              <a:t>Чете се </a:t>
            </a:r>
            <a:r>
              <a:rPr lang="bg-BG" sz="3199" dirty="0" err="1">
                <a:solidFill>
                  <a:srgbClr val="00B0F0"/>
                </a:solidFill>
                <a:latin typeface="Comfortaa" pitchFamily="2" charset="0"/>
              </a:rPr>
              <a:t>се</a:t>
            </a:r>
            <a:r>
              <a:rPr lang="bg-BG" sz="3199" dirty="0">
                <a:solidFill>
                  <a:srgbClr val="00B0F0"/>
                </a:solidFill>
                <a:latin typeface="Comfortaa" pitchFamily="2" charset="0"/>
              </a:rPr>
              <a:t> преобразува в</a:t>
            </a:r>
            <a:r>
              <a:rPr lang="bg-BG" sz="3199" dirty="0">
                <a:latin typeface="Comfortaa" pitchFamily="2" charset="0"/>
              </a:rPr>
              <a:t> или </a:t>
            </a:r>
            <a:r>
              <a:rPr lang="bg-BG" sz="3199" dirty="0">
                <a:solidFill>
                  <a:srgbClr val="00B0F0"/>
                </a:solidFill>
                <a:latin typeface="Comfortaa" pitchFamily="2" charset="0"/>
              </a:rPr>
              <a:t>отива в</a:t>
            </a:r>
            <a:endParaRPr lang="en-US" sz="3199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Параметрите може да са затворени в скоби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(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Тялото съдържа изразът или част код (</a:t>
            </a:r>
            <a:r>
              <a:rPr lang="en-US" dirty="0">
                <a:latin typeface="Comfortaa" pitchFamily="2" charset="0"/>
              </a:rPr>
              <a:t>statement</a:t>
            </a:r>
            <a:r>
              <a:rPr lang="bg-BG" dirty="0">
                <a:latin typeface="Comfortaa" pitchFamily="2" charset="0"/>
              </a:rPr>
              <a:t>) и може да се постави в операторни скоби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{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}</a:t>
            </a:r>
          </a:p>
        </p:txBody>
      </p:sp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>
          <a:xfrm>
            <a:off x="826324" y="276060"/>
            <a:ext cx="10515600" cy="1325563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Lambda </a:t>
            </a:r>
            <a:r>
              <a:rPr lang="bg-BG" dirty="0">
                <a:latin typeface="Comfortaa" pitchFamily="2" charset="0"/>
              </a:rPr>
              <a:t>изрази </a:t>
            </a:r>
            <a:r>
              <a:rPr lang="en-US" dirty="0">
                <a:latin typeface="Comfortaa" pitchFamily="2" charset="0"/>
              </a:rPr>
              <a:t>[1/2]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507789" y="3024616"/>
            <a:ext cx="6358839" cy="915645"/>
          </a:xfrm>
          <a:prstGeom prst="roundRect">
            <a:avLst>
              <a:gd name="adj" fmla="val 6659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3963" tIns="107972" rIns="143963" bIns="107972" rtlCol="0">
            <a:noAutofit/>
          </a:bodyPr>
          <a:lstStyle/>
          <a:p>
            <a:pPr defTabSz="1218621">
              <a:buClr>
                <a:srgbClr val="F2B254"/>
              </a:buClr>
              <a:buSzPct val="100000"/>
            </a:pPr>
            <a:endParaRPr lang="en-US" sz="2399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44831" y="3113626"/>
            <a:ext cx="6484755" cy="707862"/>
          </a:xfrm>
          <a:prstGeom prst="rect">
            <a:avLst/>
          </a:prstGeom>
          <a:noFill/>
        </p:spPr>
        <p:txBody>
          <a:bodyPr wrap="square" lIns="91416" tIns="45708" rIns="91416" bIns="45708">
            <a:spAutoFit/>
          </a:bodyPr>
          <a:lstStyle/>
          <a:p>
            <a:pPr algn="ctr" defTabSz="1218621"/>
            <a:r>
              <a:rPr lang="en-US" sz="40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prstClr val="black">
                      <a:lumMod val="50000"/>
                    </a:prstClr>
                  </a:outerShdw>
                </a:effectLst>
                <a:latin typeface="Consolas" panose="020B0609020204030204" pitchFamily="49" charset="0"/>
              </a:rPr>
              <a:t>(</a:t>
            </a:r>
            <a:r>
              <a:rPr lang="bg-BG" sz="40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prstClr val="black">
                      <a:lumMod val="50000"/>
                    </a:prstClr>
                  </a:outerShdw>
                </a:effectLst>
                <a:latin typeface="Consolas" panose="020B0609020204030204" pitchFamily="49" charset="0"/>
              </a:rPr>
              <a:t>параметри</a:t>
            </a:r>
            <a:r>
              <a:rPr lang="en-US" sz="40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prstClr val="black">
                      <a:lumMod val="50000"/>
                    </a:prstClr>
                  </a:outerShdw>
                </a:effectLst>
                <a:latin typeface="Consolas" panose="020B0609020204030204" pitchFamily="49" charset="0"/>
              </a:rPr>
              <a:t>) =&gt; {</a:t>
            </a:r>
            <a:r>
              <a:rPr lang="bg-BG" sz="40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prstClr val="black">
                      <a:lumMod val="50000"/>
                    </a:prstClr>
                  </a:outerShdw>
                </a:effectLst>
                <a:latin typeface="Consolas" panose="020B0609020204030204" pitchFamily="49" charset="0"/>
              </a:rPr>
              <a:t>тяло</a:t>
            </a:r>
            <a:r>
              <a:rPr lang="en-US" sz="40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prstClr val="black">
                      <a:lumMod val="50000"/>
                    </a:prstClr>
                  </a:outerShdw>
                </a:effectLs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052065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1" name="Rectangle 3"/>
          <p:cNvSpPr>
            <a:spLocks noGrp="1" noChangeArrowheads="1"/>
          </p:cNvSpPr>
          <p:nvPr>
            <p:ph idx="1"/>
          </p:nvPr>
        </p:nvSpPr>
        <p:spPr>
          <a:xfrm>
            <a:off x="850076" y="1487556"/>
            <a:ext cx="10404821" cy="457479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неявни</a:t>
            </a:r>
            <a:r>
              <a:rPr lang="en-US" sz="3200" dirty="0">
                <a:latin typeface="Comfortaa" pitchFamily="2" charset="0"/>
              </a:rPr>
              <a:t> lambda </a:t>
            </a:r>
            <a:r>
              <a:rPr lang="bg-BG" sz="3200" dirty="0">
                <a:latin typeface="Comfortaa" pitchFamily="2" charset="0"/>
              </a:rPr>
              <a:t>изрази</a:t>
            </a: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явни</a:t>
            </a:r>
            <a:r>
              <a:rPr lang="en-US" sz="3200" dirty="0">
                <a:latin typeface="Comfortaa" pitchFamily="2" charset="0"/>
              </a:rPr>
              <a:t> lambda </a:t>
            </a:r>
            <a:r>
              <a:rPr lang="bg-BG" sz="3200" dirty="0">
                <a:latin typeface="Comfortaa" pitchFamily="2" charset="0"/>
              </a:rPr>
              <a:t>изрази</a:t>
            </a: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Без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параметри</a:t>
            </a:r>
            <a:r>
              <a:rPr lang="en-US" sz="3200" dirty="0">
                <a:latin typeface="Comfortaa" pitchFamily="2" charset="0"/>
              </a:rPr>
              <a:t> </a:t>
            </a:r>
          </a:p>
          <a:p>
            <a:pPr>
              <a:lnSpc>
                <a:spcPct val="100000"/>
              </a:lnSpc>
            </a:pP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С повече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параметри</a:t>
            </a:r>
            <a:r>
              <a:rPr lang="en-US" sz="3200" dirty="0">
                <a:latin typeface="Comfortaa" pitchFamily="2" charset="0"/>
              </a:rPr>
              <a:t> 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894396" y="2130788"/>
            <a:ext cx="10360501" cy="54462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defTabSz="1218621" eaLnBrk="0" hangingPunct="0">
              <a:lnSpc>
                <a:spcPct val="105000"/>
              </a:lnSpc>
              <a:buClr>
                <a:srgbClr val="A19574">
                  <a:lumMod val="40000"/>
                  <a:lumOff val="60000"/>
                </a:srgbClr>
              </a:buClr>
              <a:buSzPct val="70000"/>
            </a:pPr>
            <a:r>
              <a:rPr lang="en-US" sz="2799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msg</a:t>
            </a:r>
            <a:r>
              <a:rPr lang="en-US" sz="2799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=&gt; Console.WriteLine(msg);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92153" y="3346693"/>
            <a:ext cx="10360501" cy="54462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defTabSz="1218621" eaLnBrk="0" hangingPunct="0">
              <a:lnSpc>
                <a:spcPct val="105000"/>
              </a:lnSpc>
              <a:buClr>
                <a:srgbClr val="A19574">
                  <a:lumMod val="40000"/>
                  <a:lumOff val="60000"/>
                </a:srgbClr>
              </a:buClr>
              <a:buSzPct val="70000"/>
            </a:pPr>
            <a:r>
              <a:rPr lang="en-US" sz="2799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</a:t>
            </a:r>
            <a:r>
              <a:rPr lang="en-US" sz="2799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String</a:t>
            </a:r>
            <a:r>
              <a:rPr lang="en-US" sz="2799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msg) =&gt; { Console.WriteLine(msg); }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92153" y="4640495"/>
            <a:ext cx="10360501" cy="54462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defTabSz="1218621" eaLnBrk="0" hangingPunct="0">
              <a:lnSpc>
                <a:spcPct val="105000"/>
              </a:lnSpc>
              <a:buClr>
                <a:srgbClr val="A19574">
                  <a:lumMod val="40000"/>
                  <a:lumOff val="60000"/>
                </a:srgbClr>
              </a:buClr>
              <a:buSzPct val="70000"/>
            </a:pPr>
            <a:r>
              <a:rPr lang="en-US" sz="2799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</a:t>
            </a:r>
            <a:r>
              <a:rPr lang="en-US" sz="2799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=&gt; { Console.WriteLine("hi"); }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892152" y="5839077"/>
            <a:ext cx="10360501" cy="54462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defTabSz="1218621" eaLnBrk="0" hangingPunct="0">
              <a:lnSpc>
                <a:spcPct val="105000"/>
              </a:lnSpc>
              <a:buClr>
                <a:srgbClr val="A19574">
                  <a:lumMod val="40000"/>
                  <a:lumOff val="60000"/>
                </a:srgbClr>
              </a:buClr>
              <a:buSzPct val="70000"/>
            </a:pPr>
            <a:r>
              <a:rPr lang="en-US" sz="2799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</a:t>
            </a:r>
            <a:r>
              <a:rPr lang="en-US" sz="2799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int</a:t>
            </a:r>
            <a:r>
              <a:rPr lang="en-US" sz="2799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x, </a:t>
            </a:r>
            <a:r>
              <a:rPr lang="en-US" sz="2799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int</a:t>
            </a:r>
            <a:r>
              <a:rPr lang="en-US" sz="2799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y) =&gt; { return x + y; }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31D33A3-511C-2BB5-E298-05435F4D2B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6324" y="276060"/>
            <a:ext cx="10515600" cy="1325563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Lambda </a:t>
            </a:r>
            <a:r>
              <a:rPr lang="bg-BG" dirty="0">
                <a:latin typeface="Comfortaa" pitchFamily="2" charset="0"/>
              </a:rPr>
              <a:t>изрази </a:t>
            </a:r>
            <a:r>
              <a:rPr lang="en-US" dirty="0">
                <a:latin typeface="Comfortaa" pitchFamily="2" charset="0"/>
              </a:rPr>
              <a:t>[2/2]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25571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80704" y="1802216"/>
            <a:ext cx="9906426" cy="234362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Въведете цели числа от клаватурата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Изведете нечетните числа,</a:t>
            </a:r>
            <a:br>
              <a:rPr lang="en-US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подредени в нарастващ ред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Използвайте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два</a:t>
            </a:r>
            <a:r>
              <a:rPr lang="en-US" dirty="0">
                <a:latin typeface="Comfortaa" pitchFamily="2" charset="0"/>
              </a:rPr>
              <a:t> lambda </a:t>
            </a:r>
            <a:r>
              <a:rPr lang="bg-BG" dirty="0">
                <a:latin typeface="Comfortaa" pitchFamily="2" charset="0"/>
              </a:rPr>
              <a:t>израза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0704" y="656070"/>
            <a:ext cx="10515600" cy="1325563"/>
          </a:xfrm>
        </p:spPr>
        <p:txBody>
          <a:bodyPr>
            <a:normAutofit/>
          </a:bodyPr>
          <a:lstStyle/>
          <a:p>
            <a:r>
              <a:rPr lang="bg-BG" sz="3600" b="1" dirty="0">
                <a:latin typeface="Comfortaa" pitchFamily="2" charset="0"/>
              </a:rPr>
              <a:t>Задача</a:t>
            </a:r>
            <a:r>
              <a:rPr lang="en-US" sz="3600" b="1" dirty="0">
                <a:latin typeface="Comfortaa" pitchFamily="2" charset="0"/>
              </a:rPr>
              <a:t>: </a:t>
            </a:r>
            <a:r>
              <a:rPr lang="bg-BG" sz="3600" b="1" dirty="0">
                <a:latin typeface="Comfortaa" pitchFamily="2" charset="0"/>
              </a:rPr>
              <a:t>сортиране на нечетни числа</a:t>
            </a:r>
            <a:endParaRPr lang="en-US" sz="3600" b="1" dirty="0">
              <a:latin typeface="Comfortaa" pitchFamily="2" charset="0"/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344881" y="4197677"/>
            <a:ext cx="6301528" cy="54462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1218621">
              <a:lnSpc>
                <a:spcPct val="105000"/>
              </a:lnSpc>
            </a:pPr>
            <a:r>
              <a:rPr lang="sv-SE" sz="2799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4, 2, 1, 3, 5, 7, 1, 4, 2, 12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344880" y="5455754"/>
            <a:ext cx="2972765" cy="54462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defTabSz="1218621">
              <a:lnSpc>
                <a:spcPct val="105000"/>
              </a:lnSpc>
            </a:pPr>
            <a:r>
              <a:rPr lang="sv-SE" sz="2799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2, 2, 4, 4, 12</a:t>
            </a:r>
          </a:p>
        </p:txBody>
      </p:sp>
      <p:sp>
        <p:nvSpPr>
          <p:cNvPr id="14" name="Left Arrow 13"/>
          <p:cNvSpPr/>
          <p:nvPr/>
        </p:nvSpPr>
        <p:spPr>
          <a:xfrm rot="16200000">
            <a:off x="2488452" y="4817610"/>
            <a:ext cx="685620" cy="535000"/>
          </a:xfrm>
          <a:prstGeom prst="leftArrow">
            <a:avLst>
              <a:gd name="adj1" fmla="val 50000"/>
              <a:gd name="adj2" fmla="val 44685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endParaRPr lang="bg-BG" sz="2799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16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20579" y="365126"/>
            <a:ext cx="11206816" cy="854649"/>
          </a:xfrm>
        </p:spPr>
        <p:txBody>
          <a:bodyPr>
            <a:normAutofit/>
          </a:bodyPr>
          <a:lstStyle/>
          <a:p>
            <a:pPr algn="ctr"/>
            <a:r>
              <a:rPr lang="bg-BG" sz="3600" b="1" dirty="0">
                <a:latin typeface="Comfortaa" pitchFamily="2" charset="0"/>
              </a:rPr>
              <a:t>Решение</a:t>
            </a:r>
            <a:r>
              <a:rPr lang="en-US" sz="3600" b="1" dirty="0">
                <a:latin typeface="Comfortaa" pitchFamily="2" charset="0"/>
              </a:rPr>
              <a:t>: </a:t>
            </a:r>
            <a:r>
              <a:rPr lang="bg-BG" sz="3600" b="1" dirty="0">
                <a:latin typeface="Comfortaa" pitchFamily="2" charset="0"/>
              </a:rPr>
              <a:t>Сортиране на нечетни числа</a:t>
            </a:r>
            <a:endParaRPr lang="en-US" sz="3600" b="1" dirty="0">
              <a:latin typeface="Comfortaa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0578" y="5994941"/>
            <a:ext cx="1120681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621"/>
            <a:r>
              <a:rPr lang="en-US" sz="2399" dirty="0">
                <a:solidFill>
                  <a:prstClr val="white"/>
                </a:solidFill>
                <a:latin typeface="Comfortaa" pitchFamily="2" charset="0"/>
                <a:hlinkClick r:id="rId2"/>
              </a:rPr>
              <a:t>https://judge.softuni.bg/Contests/Practice/Index/597#0</a:t>
            </a:r>
            <a:endParaRPr lang="en-US" sz="2399" dirty="0">
              <a:solidFill>
                <a:prstClr val="white"/>
              </a:solidFill>
              <a:latin typeface="Comfortaa" pitchFamily="2" charset="0"/>
            </a:endParaRP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420579" y="1219775"/>
            <a:ext cx="11206817" cy="470664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3963" tIns="71981" rIns="143963" bIns="71981" rtlCol="0" anchor="t" anchorCtr="0">
            <a:no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pPr defTabSz="1218621"/>
            <a:r>
              <a:rPr sz="3199" dirty="0">
                <a:solidFill>
                  <a:schemeClr val="bg1"/>
                </a:solidFill>
              </a:rPr>
              <a:t>int[] numbers = Console.ReadLine()</a:t>
            </a:r>
          </a:p>
          <a:p>
            <a:pPr defTabSz="1218621"/>
            <a:r>
              <a:rPr sz="3199" dirty="0">
                <a:solidFill>
                  <a:schemeClr val="bg1"/>
                </a:solidFill>
              </a:rPr>
              <a:t>       .Split(new string[] { ", " }, </a:t>
            </a:r>
          </a:p>
          <a:p>
            <a:pPr defTabSz="1218621"/>
            <a:r>
              <a:rPr sz="3199" dirty="0">
                <a:solidFill>
                  <a:schemeClr val="bg1"/>
                </a:solidFill>
              </a:rPr>
              <a:t>	   </a:t>
            </a:r>
            <a:r>
              <a:rPr sz="3199" dirty="0" err="1">
                <a:solidFill>
                  <a:schemeClr val="bg1"/>
                </a:solidFill>
              </a:rPr>
              <a:t>StringSplitOptions.RemoveEmptyEntries</a:t>
            </a:r>
            <a:r>
              <a:rPr sz="3199" dirty="0">
                <a:solidFill>
                  <a:schemeClr val="bg1"/>
                </a:solidFill>
              </a:rPr>
              <a:t>)</a:t>
            </a:r>
          </a:p>
          <a:p>
            <a:pPr defTabSz="1218621"/>
            <a:r>
              <a:rPr sz="3199" dirty="0">
                <a:solidFill>
                  <a:schemeClr val="bg1"/>
                </a:solidFill>
              </a:rPr>
              <a:t>       .Select(</a:t>
            </a:r>
            <a:r>
              <a:rPr sz="3199" dirty="0">
                <a:solidFill>
                  <a:srgbClr val="00B0F0"/>
                </a:solidFill>
              </a:rPr>
              <a:t>n =&gt; int.Parse(n)</a:t>
            </a:r>
            <a:r>
              <a:rPr sz="3199" dirty="0">
                <a:solidFill>
                  <a:schemeClr val="bg1"/>
                </a:solidFill>
              </a:rPr>
              <a:t>)</a:t>
            </a:r>
          </a:p>
          <a:p>
            <a:pPr defTabSz="1218621"/>
            <a:r>
              <a:rPr sz="3199" dirty="0">
                <a:solidFill>
                  <a:schemeClr val="bg1"/>
                </a:solidFill>
              </a:rPr>
              <a:t>       .Where(</a:t>
            </a:r>
            <a:r>
              <a:rPr sz="3199" dirty="0">
                <a:solidFill>
                  <a:srgbClr val="00B0F0"/>
                </a:solidFill>
              </a:rPr>
              <a:t>n =&gt; n % 2 </a:t>
            </a:r>
            <a:r>
              <a:rPr lang="bg-BG" sz="3199" dirty="0">
                <a:solidFill>
                  <a:srgbClr val="00B0F0"/>
                </a:solidFill>
              </a:rPr>
              <a:t>=</a:t>
            </a:r>
            <a:r>
              <a:rPr sz="3199" dirty="0">
                <a:solidFill>
                  <a:srgbClr val="00B0F0"/>
                </a:solidFill>
              </a:rPr>
              <a:t>= 0</a:t>
            </a:r>
            <a:r>
              <a:rPr sz="3199" dirty="0">
                <a:solidFill>
                  <a:schemeClr val="bg1"/>
                </a:solidFill>
              </a:rPr>
              <a:t>)</a:t>
            </a:r>
          </a:p>
          <a:p>
            <a:pPr defTabSz="1218621"/>
            <a:r>
              <a:rPr sz="3199" dirty="0">
                <a:solidFill>
                  <a:schemeClr val="bg1"/>
                </a:solidFill>
              </a:rPr>
              <a:t>       .OrderBy(</a:t>
            </a:r>
            <a:r>
              <a:rPr sz="3199" dirty="0">
                <a:solidFill>
                  <a:srgbClr val="00B0F0"/>
                </a:solidFill>
              </a:rPr>
              <a:t>n =&gt; n</a:t>
            </a:r>
            <a:r>
              <a:rPr sz="3199" dirty="0">
                <a:solidFill>
                  <a:schemeClr val="bg1"/>
                </a:solidFill>
              </a:rPr>
              <a:t>)</a:t>
            </a:r>
          </a:p>
          <a:p>
            <a:pPr defTabSz="1218621"/>
            <a:r>
              <a:rPr sz="3199" dirty="0">
                <a:solidFill>
                  <a:schemeClr val="bg1"/>
                </a:solidFill>
              </a:rPr>
              <a:t>       .ToArray();</a:t>
            </a:r>
          </a:p>
          <a:p>
            <a:pPr defTabSz="1218621"/>
            <a:r>
              <a:rPr sz="3199" dirty="0">
                <a:solidFill>
                  <a:schemeClr val="bg1"/>
                </a:solidFill>
              </a:rPr>
              <a:t>string result = string.Join(", ", numbers);</a:t>
            </a:r>
          </a:p>
          <a:p>
            <a:pPr defTabSz="1218621"/>
            <a:r>
              <a:rPr sz="3199" dirty="0">
                <a:solidFill>
                  <a:schemeClr val="bg1"/>
                </a:solidFill>
              </a:rPr>
              <a:t>Console.WriteLine(result);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8023431" y="2899171"/>
            <a:ext cx="3859286" cy="1767832"/>
          </a:xfrm>
          <a:prstGeom prst="wedgeRoundRectCallout">
            <a:avLst>
              <a:gd name="adj1" fmla="val -99997"/>
              <a:gd name="adj2" fmla="val 14311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000" dirty="0">
                <a:solidFill>
                  <a:srgbClr val="FFFFFF"/>
                </a:solidFill>
                <a:latin typeface="Comfortaa" pitchFamily="2" charset="0"/>
              </a:rPr>
              <a:t>Забележка: В примера се използва и </a:t>
            </a:r>
            <a:r>
              <a:rPr lang="en-US" sz="2000" dirty="0">
                <a:solidFill>
                  <a:srgbClr val="FFFFFF"/>
                </a:solidFill>
                <a:latin typeface="Comfortaa" pitchFamily="2" charset="0"/>
              </a:rPr>
              <a:t>LINQ, </a:t>
            </a:r>
            <a:r>
              <a:rPr lang="bg-BG" sz="2000" dirty="0">
                <a:solidFill>
                  <a:srgbClr val="FFFFFF"/>
                </a:solidFill>
                <a:latin typeface="Comfortaa" pitchFamily="2" charset="0"/>
              </a:rPr>
              <a:t>което ще разгледаме в следващите уроци</a:t>
            </a:r>
            <a:r>
              <a:rPr lang="en-US" sz="2000" dirty="0">
                <a:solidFill>
                  <a:srgbClr val="FFFFFF"/>
                </a:solidFill>
                <a:latin typeface="Comfortaa" pitchFamily="2" charset="0"/>
              </a:rPr>
              <a:t> </a:t>
            </a:r>
            <a:endParaRPr lang="bg-BG" sz="1400" dirty="0">
              <a:solidFill>
                <a:srgbClr val="FFFFFF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162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389" y="1351164"/>
            <a:ext cx="10665222" cy="853722"/>
          </a:xfrm>
        </p:spPr>
        <p:txBody>
          <a:bodyPr>
            <a:normAutofit fontScale="85000" lnSpcReduction="10000"/>
          </a:bodyPr>
          <a:lstStyle/>
          <a:p>
            <a:pPr marL="0" lvl="1" indent="0">
              <a:lnSpc>
                <a:spcPct val="100000"/>
              </a:lnSpc>
              <a:buClr>
                <a:srgbClr val="F2B254"/>
              </a:buClr>
              <a:buSzPct val="100000"/>
              <a:buNone/>
            </a:pPr>
            <a:r>
              <a:rPr lang="en-US" sz="3000" b="1" dirty="0">
                <a:solidFill>
                  <a:srgbClr val="00B0F0"/>
                </a:solidFill>
                <a:latin typeface="Comfortaa" pitchFamily="2" charset="0"/>
              </a:rPr>
              <a:t>Lambda </a:t>
            </a:r>
            <a:r>
              <a:rPr lang="bg-BG" sz="3000" b="1" dirty="0">
                <a:solidFill>
                  <a:srgbClr val="00B0F0"/>
                </a:solidFill>
                <a:latin typeface="Comfortaa" pitchFamily="2" charset="0"/>
              </a:rPr>
              <a:t>функциите</a:t>
            </a:r>
            <a:r>
              <a:rPr lang="en-US" sz="30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3000" dirty="0">
                <a:latin typeface="Comfortaa" pitchFamily="2" charset="0"/>
              </a:rPr>
              <a:t>са</a:t>
            </a:r>
            <a:r>
              <a:rPr lang="en-US" sz="3000" dirty="0">
                <a:latin typeface="Comfortaa" pitchFamily="2" charset="0"/>
              </a:rPr>
              <a:t> inline </a:t>
            </a:r>
            <a:r>
              <a:rPr lang="bg-BG" sz="3000" dirty="0">
                <a:latin typeface="Comfortaa" pitchFamily="2" charset="0"/>
              </a:rPr>
              <a:t>методи</a:t>
            </a:r>
            <a:r>
              <a:rPr lang="en-US" sz="3000" dirty="0">
                <a:latin typeface="Comfortaa" pitchFamily="2" charset="0"/>
              </a:rPr>
              <a:t> (</a:t>
            </a:r>
            <a:r>
              <a:rPr lang="bg-BG" sz="3000" dirty="0">
                <a:latin typeface="Comfortaa" pitchFamily="2" charset="0"/>
              </a:rPr>
              <a:t>функции), които вземат входните параметри и връщат стойност</a:t>
            </a:r>
            <a:r>
              <a:rPr lang="en-US" sz="3000" dirty="0">
                <a:latin typeface="Comfortaa" pitchFamily="2" charset="0"/>
              </a:rPr>
              <a:t>:</a:t>
            </a:r>
          </a:p>
          <a:p>
            <a:pPr marL="304656" lvl="1" indent="-304656">
              <a:lnSpc>
                <a:spcPct val="100000"/>
              </a:lnSpc>
              <a:spcBef>
                <a:spcPts val="1200"/>
              </a:spcBef>
              <a:buClr>
                <a:srgbClr val="F2B254"/>
              </a:buClr>
              <a:buSzPct val="100000"/>
            </a:pPr>
            <a:endParaRPr lang="en-US" sz="3399" b="1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marL="304656" lvl="1" indent="-304656">
              <a:lnSpc>
                <a:spcPct val="100000"/>
              </a:lnSpc>
              <a:spcBef>
                <a:spcPts val="1200"/>
              </a:spcBef>
              <a:buClr>
                <a:srgbClr val="F2B254"/>
              </a:buClr>
              <a:buSzPct val="100000"/>
            </a:pPr>
            <a:endParaRPr lang="en-US" sz="3399" b="1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marL="304656" lvl="1" indent="-304656">
              <a:lnSpc>
                <a:spcPct val="100000"/>
              </a:lnSpc>
              <a:spcBef>
                <a:spcPts val="1200"/>
              </a:spcBef>
              <a:buClr>
                <a:srgbClr val="F2B254"/>
              </a:buClr>
              <a:buSzPct val="100000"/>
            </a:pPr>
            <a:endParaRPr lang="en-US" sz="3399" b="1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3388" y="365125"/>
            <a:ext cx="10515600" cy="1035504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Lambda </a:t>
            </a:r>
            <a:r>
              <a:rPr lang="bg-BG" dirty="0">
                <a:latin typeface="Comfortaa" pitchFamily="2" charset="0"/>
              </a:rPr>
              <a:t>Функции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63389" y="2421179"/>
            <a:ext cx="2056864" cy="57614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3963" tIns="71981" rIns="143963" bIns="71981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 defTabSz="1218621"/>
            <a:r>
              <a:rPr lang="en-US" sz="2799" noProof="1">
                <a:solidFill>
                  <a:schemeClr val="bg1"/>
                </a:solidFill>
              </a:rPr>
              <a:t>x</a:t>
            </a:r>
            <a:r>
              <a:rPr lang="en-US" sz="2799" noProof="1">
                <a:solidFill>
                  <a:schemeClr val="bg1"/>
                </a:solidFill>
                <a:latin typeface="Calibri"/>
              </a:rPr>
              <a:t> </a:t>
            </a:r>
            <a:r>
              <a:rPr lang="en-US" sz="2799" noProof="1">
                <a:solidFill>
                  <a:srgbClr val="00B0F0"/>
                </a:solidFill>
              </a:rPr>
              <a:t>=&gt;</a:t>
            </a:r>
            <a:r>
              <a:rPr lang="en-US" sz="2799" noProof="1">
                <a:solidFill>
                  <a:schemeClr val="bg1"/>
                </a:solidFill>
                <a:latin typeface="Calibri"/>
              </a:rPr>
              <a:t> </a:t>
            </a:r>
            <a:r>
              <a:rPr lang="en-US" sz="2799" noProof="1">
                <a:solidFill>
                  <a:schemeClr val="bg1"/>
                </a:solidFill>
              </a:rPr>
              <a:t>x</a:t>
            </a:r>
            <a:r>
              <a:rPr lang="en-US" sz="2799" noProof="1">
                <a:solidFill>
                  <a:schemeClr val="bg1"/>
                </a:solidFill>
                <a:latin typeface="Calibri"/>
              </a:rPr>
              <a:t> </a:t>
            </a:r>
            <a:r>
              <a:rPr lang="en-US" sz="2799" noProof="1">
                <a:solidFill>
                  <a:schemeClr val="bg1"/>
                </a:solidFill>
              </a:rPr>
              <a:t>/</a:t>
            </a:r>
            <a:r>
              <a:rPr lang="en-US" sz="2799" noProof="1">
                <a:solidFill>
                  <a:schemeClr val="bg1"/>
                </a:solidFill>
                <a:latin typeface="Calibri"/>
              </a:rPr>
              <a:t> </a:t>
            </a:r>
            <a:r>
              <a:rPr lang="en-US" sz="2799" noProof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390105" y="2421179"/>
            <a:ext cx="8038507" cy="57614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3963" tIns="71981" rIns="143963" bIns="71981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 defTabSz="1218621"/>
            <a:r>
              <a:rPr lang="en-US" sz="2799" noProof="1">
                <a:solidFill>
                  <a:schemeClr val="bg1"/>
                </a:solidFill>
              </a:rPr>
              <a:t>static int Func(int x) {</a:t>
            </a:r>
            <a:r>
              <a:rPr lang="en-US" sz="2799" noProof="1">
                <a:solidFill>
                  <a:schemeClr val="bg1"/>
                </a:solidFill>
                <a:latin typeface="Calibri"/>
              </a:rPr>
              <a:t> </a:t>
            </a:r>
            <a:r>
              <a:rPr lang="en-US" sz="2799" noProof="1">
                <a:solidFill>
                  <a:schemeClr val="bg1"/>
                </a:solidFill>
              </a:rPr>
              <a:t>return x</a:t>
            </a:r>
            <a:r>
              <a:rPr lang="en-US" sz="2799" noProof="1">
                <a:solidFill>
                  <a:schemeClr val="bg1"/>
                </a:solidFill>
                <a:latin typeface="Calibri"/>
              </a:rPr>
              <a:t> </a:t>
            </a:r>
            <a:r>
              <a:rPr lang="en-US" sz="2799" noProof="1">
                <a:solidFill>
                  <a:schemeClr val="bg1"/>
                </a:solidFill>
              </a:rPr>
              <a:t>/</a:t>
            </a:r>
            <a:r>
              <a:rPr lang="en-US" sz="2799" noProof="1">
                <a:solidFill>
                  <a:schemeClr val="bg1"/>
                </a:solidFill>
                <a:latin typeface="Calibri"/>
              </a:rPr>
              <a:t> </a:t>
            </a:r>
            <a:r>
              <a:rPr lang="en-US" sz="2799" noProof="1">
                <a:solidFill>
                  <a:schemeClr val="bg1"/>
                </a:solidFill>
              </a:rPr>
              <a:t>2;</a:t>
            </a:r>
            <a:r>
              <a:rPr lang="en-US" sz="2799" noProof="1">
                <a:solidFill>
                  <a:schemeClr val="bg1"/>
                </a:solidFill>
                <a:latin typeface="Calibri"/>
              </a:rPr>
              <a:t> </a:t>
            </a:r>
            <a:r>
              <a:rPr lang="en-US" sz="2799" noProof="1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11" name="Left-Right Arrow 10"/>
          <p:cNvSpPr/>
          <p:nvPr/>
        </p:nvSpPr>
        <p:spPr>
          <a:xfrm>
            <a:off x="2820253" y="2530433"/>
            <a:ext cx="569852" cy="379378"/>
          </a:xfrm>
          <a:prstGeom prst="left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endParaRPr lang="en-US" sz="2799" noProof="1">
              <a:solidFill>
                <a:prstClr val="white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390105" y="3356590"/>
            <a:ext cx="8038507" cy="57614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3963" tIns="71981" rIns="143963" bIns="71981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 defTabSz="1218621"/>
            <a:r>
              <a:rPr lang="en-US" sz="2799" noProof="1">
                <a:solidFill>
                  <a:schemeClr val="bg1"/>
                </a:solidFill>
              </a:rPr>
              <a:t>static bool Func(int x) {</a:t>
            </a:r>
            <a:r>
              <a:rPr lang="en-US" sz="2799" noProof="1">
                <a:solidFill>
                  <a:schemeClr val="bg1"/>
                </a:solidFill>
                <a:latin typeface="Calibri"/>
              </a:rPr>
              <a:t> </a:t>
            </a:r>
            <a:r>
              <a:rPr lang="en-US" sz="2799" noProof="1">
                <a:solidFill>
                  <a:schemeClr val="bg1"/>
                </a:solidFill>
              </a:rPr>
              <a:t>return x</a:t>
            </a:r>
            <a:r>
              <a:rPr lang="en-US" sz="2799" noProof="1">
                <a:solidFill>
                  <a:schemeClr val="bg1"/>
                </a:solidFill>
                <a:latin typeface="Calibri"/>
              </a:rPr>
              <a:t> </a:t>
            </a:r>
            <a:r>
              <a:rPr lang="en-US" sz="2799" noProof="1">
                <a:solidFill>
                  <a:schemeClr val="bg1"/>
                </a:solidFill>
              </a:rPr>
              <a:t>!=</a:t>
            </a:r>
            <a:r>
              <a:rPr lang="en-US" sz="2799" noProof="1">
                <a:solidFill>
                  <a:schemeClr val="bg1"/>
                </a:solidFill>
                <a:latin typeface="Calibri"/>
              </a:rPr>
              <a:t> </a:t>
            </a:r>
            <a:r>
              <a:rPr lang="en-US" sz="2799" noProof="1">
                <a:solidFill>
                  <a:schemeClr val="bg1"/>
                </a:solidFill>
              </a:rPr>
              <a:t>0;</a:t>
            </a:r>
            <a:r>
              <a:rPr lang="en-US" sz="2799" noProof="1">
                <a:solidFill>
                  <a:schemeClr val="bg1"/>
                </a:solidFill>
                <a:latin typeface="Calibri"/>
              </a:rPr>
              <a:t> </a:t>
            </a:r>
            <a:r>
              <a:rPr lang="en-US" sz="2799" noProof="1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14" name="Left-Right Arrow 13"/>
          <p:cNvSpPr/>
          <p:nvPr/>
        </p:nvSpPr>
        <p:spPr>
          <a:xfrm>
            <a:off x="2820253" y="3454972"/>
            <a:ext cx="569852" cy="379378"/>
          </a:xfrm>
          <a:prstGeom prst="left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endParaRPr lang="en-US" sz="2799" noProof="1">
              <a:solidFill>
                <a:prstClr val="white"/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763389" y="3356590"/>
            <a:ext cx="2056864" cy="57614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3963" tIns="71981" rIns="143963" bIns="71981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 defTabSz="1218621"/>
            <a:r>
              <a:rPr lang="en-US" sz="2799" noProof="1">
                <a:solidFill>
                  <a:schemeClr val="bg1"/>
                </a:solidFill>
              </a:rPr>
              <a:t>x</a:t>
            </a:r>
            <a:r>
              <a:rPr lang="en-US" sz="2799" noProof="1">
                <a:solidFill>
                  <a:schemeClr val="bg1"/>
                </a:solidFill>
                <a:latin typeface="Calibri"/>
              </a:rPr>
              <a:t> </a:t>
            </a:r>
            <a:r>
              <a:rPr lang="en-US" sz="2799" noProof="1">
                <a:solidFill>
                  <a:srgbClr val="00B0F0"/>
                </a:solidFill>
              </a:rPr>
              <a:t>=&gt;</a:t>
            </a:r>
            <a:r>
              <a:rPr lang="en-US" sz="2799" noProof="1">
                <a:solidFill>
                  <a:schemeClr val="bg1"/>
                </a:solidFill>
                <a:latin typeface="Calibri"/>
              </a:rPr>
              <a:t> </a:t>
            </a:r>
            <a:r>
              <a:rPr lang="en-US" sz="2799" noProof="1">
                <a:solidFill>
                  <a:schemeClr val="bg1"/>
                </a:solidFill>
              </a:rPr>
              <a:t>x</a:t>
            </a:r>
            <a:r>
              <a:rPr lang="en-US" sz="2799" noProof="1">
                <a:solidFill>
                  <a:schemeClr val="bg1"/>
                </a:solidFill>
                <a:latin typeface="Calibri"/>
              </a:rPr>
              <a:t> </a:t>
            </a:r>
            <a:r>
              <a:rPr lang="en-US" sz="2799" noProof="1">
                <a:solidFill>
                  <a:schemeClr val="bg1"/>
                </a:solidFill>
              </a:rPr>
              <a:t>!=</a:t>
            </a:r>
            <a:r>
              <a:rPr lang="en-US" sz="2799" noProof="1">
                <a:solidFill>
                  <a:schemeClr val="bg1"/>
                </a:solidFill>
                <a:latin typeface="Calibri"/>
              </a:rPr>
              <a:t> </a:t>
            </a:r>
            <a:r>
              <a:rPr lang="en-US" sz="2799" noProof="1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7" name="Left-Right Arrow 16"/>
          <p:cNvSpPr/>
          <p:nvPr/>
        </p:nvSpPr>
        <p:spPr>
          <a:xfrm>
            <a:off x="2820253" y="4484710"/>
            <a:ext cx="569852" cy="379378"/>
          </a:xfrm>
          <a:prstGeom prst="left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endParaRPr lang="en-US" sz="2799" noProof="1">
              <a:solidFill>
                <a:prstClr val="white"/>
              </a:solidFill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763389" y="4353295"/>
            <a:ext cx="2056864" cy="57614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3963" tIns="71981" rIns="143963" bIns="71981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 defTabSz="1218621"/>
            <a:r>
              <a:rPr lang="en-US" sz="2799" noProof="1">
                <a:solidFill>
                  <a:schemeClr val="bg1"/>
                </a:solidFill>
              </a:rPr>
              <a:t>()</a:t>
            </a:r>
            <a:r>
              <a:rPr lang="en-US" sz="2799" noProof="1">
                <a:solidFill>
                  <a:schemeClr val="bg1"/>
                </a:solidFill>
                <a:latin typeface="Calibri"/>
              </a:rPr>
              <a:t> </a:t>
            </a:r>
            <a:r>
              <a:rPr lang="en-US" sz="2799" noProof="1">
                <a:solidFill>
                  <a:srgbClr val="00B0F0"/>
                </a:solidFill>
              </a:rPr>
              <a:t>=&gt;</a:t>
            </a:r>
            <a:r>
              <a:rPr lang="en-US" sz="2799" noProof="1">
                <a:solidFill>
                  <a:schemeClr val="bg1"/>
                </a:solidFill>
                <a:latin typeface="Calibri"/>
              </a:rPr>
              <a:t> </a:t>
            </a:r>
            <a:r>
              <a:rPr lang="en-US" sz="2799" noProof="1">
                <a:solidFill>
                  <a:schemeClr val="bg1"/>
                </a:solidFill>
              </a:rPr>
              <a:t>42</a:t>
            </a: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3390105" y="4353295"/>
            <a:ext cx="8038507" cy="57614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3963" tIns="71981" rIns="143963" bIns="71981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 defTabSz="1218621"/>
            <a:r>
              <a:rPr lang="en-US" sz="2799" noProof="1">
                <a:solidFill>
                  <a:schemeClr val="bg1"/>
                </a:solidFill>
              </a:rPr>
              <a:t>static int Func() {</a:t>
            </a:r>
            <a:r>
              <a:rPr lang="en-US" sz="2799" noProof="1">
                <a:solidFill>
                  <a:schemeClr val="bg1"/>
                </a:solidFill>
                <a:latin typeface="Calibri"/>
              </a:rPr>
              <a:t> </a:t>
            </a:r>
            <a:r>
              <a:rPr lang="en-US" sz="2799" noProof="1">
                <a:solidFill>
                  <a:schemeClr val="bg1"/>
                </a:solidFill>
              </a:rPr>
              <a:t>return 42;</a:t>
            </a:r>
            <a:r>
              <a:rPr lang="en-US" sz="2799" noProof="1">
                <a:solidFill>
                  <a:schemeClr val="bg1"/>
                </a:solidFill>
                <a:latin typeface="Calibri"/>
              </a:rPr>
              <a:t> </a:t>
            </a:r>
            <a:r>
              <a:rPr lang="en-US" sz="2799" noProof="1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25" name="Left-Right Arrow 16"/>
          <p:cNvSpPr/>
          <p:nvPr/>
        </p:nvSpPr>
        <p:spPr>
          <a:xfrm>
            <a:off x="3505875" y="5412809"/>
            <a:ext cx="569852" cy="379378"/>
          </a:xfrm>
          <a:prstGeom prst="left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endParaRPr lang="en-US" sz="2799" noProof="1">
              <a:solidFill>
                <a:prstClr val="white"/>
              </a:solidFill>
            </a:endParaRPr>
          </a:p>
        </p:txBody>
      </p:sp>
      <p:sp>
        <p:nvSpPr>
          <p:cNvPr id="26" name="Content Placeholder 2"/>
          <p:cNvSpPr txBox="1">
            <a:spLocks/>
          </p:cNvSpPr>
          <p:nvPr/>
        </p:nvSpPr>
        <p:spPr>
          <a:xfrm>
            <a:off x="763389" y="5317682"/>
            <a:ext cx="2742486" cy="57614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3963" tIns="71981" rIns="143963" bIns="71981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 defTabSz="1218621"/>
            <a:r>
              <a:rPr lang="en-US" sz="2799" noProof="1">
                <a:solidFill>
                  <a:schemeClr val="bg1"/>
                </a:solidFill>
              </a:rPr>
              <a:t>(x, y)</a:t>
            </a:r>
            <a:r>
              <a:rPr lang="en-US" sz="2799" noProof="1">
                <a:solidFill>
                  <a:schemeClr val="bg1"/>
                </a:solidFill>
                <a:latin typeface="Calibri"/>
              </a:rPr>
              <a:t> </a:t>
            </a:r>
            <a:r>
              <a:rPr lang="en-US" sz="2799" noProof="1">
                <a:solidFill>
                  <a:srgbClr val="00B0F0"/>
                </a:solidFill>
              </a:rPr>
              <a:t>=&gt;</a:t>
            </a:r>
            <a:r>
              <a:rPr lang="en-US" sz="2799" noProof="1">
                <a:solidFill>
                  <a:schemeClr val="bg1"/>
                </a:solidFill>
                <a:latin typeface="Calibri"/>
              </a:rPr>
              <a:t> </a:t>
            </a:r>
            <a:r>
              <a:rPr lang="en-US" sz="2799" noProof="1">
                <a:solidFill>
                  <a:schemeClr val="bg1"/>
                </a:solidFill>
              </a:rPr>
              <a:t>x+y</a:t>
            </a:r>
          </a:p>
        </p:txBody>
      </p:sp>
      <p:sp>
        <p:nvSpPr>
          <p:cNvPr id="27" name="Content Placeholder 2"/>
          <p:cNvSpPr txBox="1">
            <a:spLocks/>
          </p:cNvSpPr>
          <p:nvPr/>
        </p:nvSpPr>
        <p:spPr>
          <a:xfrm>
            <a:off x="4075727" y="5317682"/>
            <a:ext cx="7352884" cy="100691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3963" tIns="71981" rIns="143963" bIns="71981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 defTabSz="1218621"/>
            <a:r>
              <a:rPr lang="en-US" sz="2799" noProof="1">
                <a:solidFill>
                  <a:schemeClr val="bg1"/>
                </a:solidFill>
              </a:rPr>
              <a:t>static int Func(int x, int y)</a:t>
            </a:r>
          </a:p>
          <a:p>
            <a:pPr defTabSz="1218621"/>
            <a:r>
              <a:rPr lang="en-US" sz="2799" noProof="1">
                <a:solidFill>
                  <a:schemeClr val="bg1"/>
                </a:solidFill>
              </a:rPr>
              <a:t>{</a:t>
            </a:r>
            <a:r>
              <a:rPr lang="en-US" sz="2799" noProof="1">
                <a:solidFill>
                  <a:schemeClr val="bg1"/>
                </a:solidFill>
                <a:latin typeface="Calibri"/>
              </a:rPr>
              <a:t> </a:t>
            </a:r>
            <a:r>
              <a:rPr lang="en-US" sz="2799" noProof="1">
                <a:solidFill>
                  <a:schemeClr val="bg1"/>
                </a:solidFill>
              </a:rPr>
              <a:t>return x+y;</a:t>
            </a:r>
            <a:r>
              <a:rPr lang="en-US" sz="2799" noProof="1">
                <a:solidFill>
                  <a:schemeClr val="bg1"/>
                </a:solidFill>
                <a:latin typeface="Calibri"/>
              </a:rPr>
              <a:t> </a:t>
            </a:r>
            <a:r>
              <a:rPr lang="en-US" sz="2799" noProof="1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0371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011010"/>
            <a:ext cx="9909942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Какво научихме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8200" y="2336573"/>
            <a:ext cx="9909942" cy="3322476"/>
          </a:xfrm>
        </p:spPr>
        <p:txBody>
          <a:bodyPr>
            <a:normAutofit/>
          </a:bodyPr>
          <a:lstStyle/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Запознахме се с ламбда изразите и ламбда функции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Те са „синтактична захар“, която ни улеснява в писането на функции по-кратко и интуитивно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242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</TotalTime>
  <Words>622</Words>
  <Application>Microsoft Office PowerPoint</Application>
  <PresentationFormat>Widescreen</PresentationFormat>
  <Paragraphs>96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Comfortaa</vt:lpstr>
      <vt:lpstr>Consolas</vt:lpstr>
      <vt:lpstr>Wingdings</vt:lpstr>
      <vt:lpstr>Office Theme</vt:lpstr>
      <vt:lpstr>Ламбда изрази и ламбда функции</vt:lpstr>
      <vt:lpstr>Съдържание</vt:lpstr>
      <vt:lpstr>Какво е функция?</vt:lpstr>
      <vt:lpstr>Lambda изрази [1/2]</vt:lpstr>
      <vt:lpstr>Lambda изрази [2/2]</vt:lpstr>
      <vt:lpstr>Задача: сортиране на нечетни числа</vt:lpstr>
      <vt:lpstr>Решение: Сортиране на нечетни числа</vt:lpstr>
      <vt:lpstr>Lambda Функции</vt:lpstr>
      <vt:lpstr>Какво научихме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11</cp:revision>
  <dcterms:created xsi:type="dcterms:W3CDTF">2022-08-09T09:25:46Z</dcterms:created>
  <dcterms:modified xsi:type="dcterms:W3CDTF">2022-09-15T07:25:51Z</dcterms:modified>
</cp:coreProperties>
</file>