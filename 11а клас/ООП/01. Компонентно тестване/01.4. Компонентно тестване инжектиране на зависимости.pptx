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596" r:id="rId3"/>
    <p:sldId id="597" r:id="rId4"/>
    <p:sldId id="598" r:id="rId5"/>
    <p:sldId id="599" r:id="rId6"/>
    <p:sldId id="600" r:id="rId7"/>
    <p:sldId id="601" r:id="rId8"/>
    <p:sldId id="602" r:id="rId9"/>
    <p:sldId id="603" r:id="rId10"/>
    <p:sldId id="604" r:id="rId11"/>
    <p:sldId id="605" r:id="rId12"/>
    <p:sldId id="5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BD35609-29D4-48D7-B806-C34E3D158B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32179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D1AFF5D-D4A3-481D-9D43-41A2D668F0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22110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77EFE9-617D-4030-BDF1-31CE1ADAEB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4211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D969D97-13A7-4DE9-9C5F-1C1189EE62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0888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A85F915-32CF-43C1-8B5E-AD13BC211A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30351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/>
              <a:t>Инжектиране на зависимости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sz="1800" dirty="0">
                <a:effectLst/>
                <a:latin typeface="Comforta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Dependency Injection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850" y="1238763"/>
            <a:ext cx="9753973" cy="1144227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Да разгледаме следния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Искаме да тестваме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единично поведение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0850" y="440076"/>
            <a:ext cx="10736704" cy="90612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Свързаване и тестване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45761" y="2275549"/>
            <a:ext cx="10840496" cy="39703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Bank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private AccountManager accountManager;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Bank()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 accountManager = new AccountManager();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AccountInfo getInfo(String id) { …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746761" y="4552050"/>
            <a:ext cx="2590800" cy="756810"/>
          </a:xfrm>
          <a:prstGeom prst="wedgeRoundRectCallout">
            <a:avLst>
              <a:gd name="adj1" fmla="val -62039"/>
              <a:gd name="adj2" fmla="val -5593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Bank </a:t>
            </a: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зависи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от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en-US" noProof="1">
                <a:solidFill>
                  <a:schemeClr val="bg1"/>
                </a:solidFill>
                <a:latin typeface="Comfortaa" pitchFamily="2" charset="0"/>
              </a:rPr>
              <a:t>AccountManager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8594361" y="1968417"/>
            <a:ext cx="2362200" cy="756810"/>
          </a:xfrm>
          <a:prstGeom prst="wedgeRoundRectCallout">
            <a:avLst>
              <a:gd name="adj1" fmla="val -66953"/>
              <a:gd name="adj2" fmla="val 4573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Конкретна имплементаиця</a:t>
            </a:r>
          </a:p>
        </p:txBody>
      </p:sp>
    </p:spTree>
    <p:extLst>
      <p:ext uri="{BB962C8B-B14F-4D97-AF65-F5344CB8AC3E}">
        <p14:creationId xmlns:p14="http://schemas.microsoft.com/office/powerpoint/2010/main" val="340667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746" y="1420891"/>
            <a:ext cx="10515600" cy="4351338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Трябва да намерим решение да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разграничим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класовете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223805" y="3345110"/>
            <a:ext cx="3962400" cy="1905000"/>
            <a:chOff x="1522412" y="3200400"/>
            <a:chExt cx="3962400" cy="1905000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522412" y="3200400"/>
              <a:ext cx="3962400" cy="1905000"/>
            </a:xfrm>
            <a:prstGeom prst="roundRect">
              <a:avLst>
                <a:gd name="adj" fmla="val 6965"/>
              </a:avLst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800" dirty="0"/>
                <a:t>Bank</a:t>
              </a:r>
            </a:p>
          </p:txBody>
        </p:sp>
        <p:sp>
          <p:nvSpPr>
            <p:cNvPr id="11" name="Rectangle: Rounded Corners 10"/>
            <p:cNvSpPr/>
            <p:nvPr/>
          </p:nvSpPr>
          <p:spPr>
            <a:xfrm>
              <a:off x="2513012" y="3664166"/>
              <a:ext cx="2743200" cy="977468"/>
            </a:xfrm>
            <a:prstGeom prst="roundRect">
              <a:avLst>
                <a:gd name="adj" fmla="val 6965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2800" noProof="1"/>
                <a:t>AccountManager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559263" y="2435715"/>
            <a:ext cx="4364859" cy="3838927"/>
            <a:chOff x="6377753" y="2209800"/>
            <a:chExt cx="4364859" cy="3838927"/>
          </a:xfrm>
        </p:grpSpPr>
        <p:sp>
          <p:nvSpPr>
            <p:cNvPr id="12" name="Rectangle: Rounded Corners 11"/>
            <p:cNvSpPr/>
            <p:nvPr/>
          </p:nvSpPr>
          <p:spPr>
            <a:xfrm>
              <a:off x="7008812" y="4498625"/>
              <a:ext cx="3733800" cy="1550102"/>
            </a:xfrm>
            <a:prstGeom prst="roundRect">
              <a:avLst>
                <a:gd name="adj" fmla="val 6965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/>
                <a:t>Bank</a:t>
              </a: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7008812" y="2209800"/>
              <a:ext cx="3733800" cy="1550102"/>
            </a:xfrm>
            <a:prstGeom prst="roundRect">
              <a:avLst>
                <a:gd name="adj" fmla="val 6965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noProof="1"/>
                <a:t>AccountManager</a:t>
              </a:r>
            </a:p>
            <a:p>
              <a:pPr algn="ctr"/>
              <a:endParaRPr lang="en-GB" sz="2800" dirty="0"/>
            </a:p>
            <a:p>
              <a:pPr algn="ctr"/>
              <a:r>
                <a:rPr lang="en-GB" sz="2800" dirty="0"/>
                <a:t>+Account </a:t>
              </a:r>
              <a:r>
                <a:rPr lang="en-GB" sz="2800" noProof="1"/>
                <a:t>GetAccount</a:t>
              </a:r>
              <a:r>
                <a:rPr lang="en-GB" sz="2800" dirty="0"/>
                <a:t>()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913812" y="3846951"/>
              <a:ext cx="15263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g-BG" sz="2800" dirty="0">
                  <a:latin typeface="Comfortaa" pitchFamily="2" charset="0"/>
                </a:rPr>
                <a:t>ползва</a:t>
              </a:r>
              <a:endParaRPr lang="en-GB" sz="2800" dirty="0">
                <a:latin typeface="Comfortaa" pitchFamily="2" charset="0"/>
              </a:endParaRPr>
            </a:p>
          </p:txBody>
        </p:sp>
        <p:sp>
          <p:nvSpPr>
            <p:cNvPr id="19" name="Arrow: Right 18"/>
            <p:cNvSpPr/>
            <p:nvPr/>
          </p:nvSpPr>
          <p:spPr>
            <a:xfrm>
              <a:off x="6377753" y="3873263"/>
              <a:ext cx="457200" cy="507298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3" name="AutoShape 6"/>
          <p:cNvSpPr>
            <a:spLocks noChangeArrowheads="1"/>
          </p:cNvSpPr>
          <p:nvPr/>
        </p:nvSpPr>
        <p:spPr bwMode="auto">
          <a:xfrm>
            <a:off x="9621702" y="2800088"/>
            <a:ext cx="1953148" cy="492556"/>
          </a:xfrm>
          <a:prstGeom prst="wedgeRoundRectCallout">
            <a:avLst>
              <a:gd name="adj1" fmla="val -60532"/>
              <a:gd name="adj2" fmla="val -4947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Интерфейс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2125266" y="2716471"/>
            <a:ext cx="3433997" cy="494295"/>
          </a:xfrm>
          <a:prstGeom prst="wedgeRoundRectCallout">
            <a:avLst>
              <a:gd name="adj1" fmla="val -59374"/>
              <a:gd name="adj2" fmla="val 13438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Bank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наследява бъгове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9FB55B8-3DE0-1CD9-A646-291659A2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48" y="492542"/>
            <a:ext cx="10736704" cy="90612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Свързаване и тестване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13196D6-234A-5342-5DA7-B9715B6C687D}"/>
              </a:ext>
            </a:extLst>
          </p:cNvPr>
          <p:cNvSpPr/>
          <p:nvPr/>
        </p:nvSpPr>
        <p:spPr>
          <a:xfrm rot="16200000">
            <a:off x="7451938" y="4072312"/>
            <a:ext cx="457200" cy="507298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312020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681" y="1463928"/>
            <a:ext cx="10316980" cy="689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Разграничава класовете и прави кода удобен за тестване</a:t>
            </a: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457200" lvl="1" indent="0">
              <a:buNone/>
            </a:pPr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65681" y="478988"/>
            <a:ext cx="10316980" cy="984940"/>
          </a:xfrm>
        </p:spPr>
        <p:txBody>
          <a:bodyPr>
            <a:normAutofit/>
          </a:bodyPr>
          <a:lstStyle/>
          <a:p>
            <a:r>
              <a:rPr lang="bg-BG" dirty="0"/>
              <a:t>Инжектиране на зависимост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65681" y="2391147"/>
            <a:ext cx="10316980" cy="3416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IAccountManager 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Account Account { get;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Bank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private IAccountManager accountManager;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Bank(IAccountManager accountManager)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this.accountManager = accountManager;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733377" y="2211412"/>
            <a:ext cx="3972128" cy="457200"/>
          </a:xfrm>
          <a:prstGeom prst="wedgeRoundRectCallout">
            <a:avLst>
              <a:gd name="adj1" fmla="val -60849"/>
              <a:gd name="adj2" fmla="val 4039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Използайки интерфейс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733706" y="5034424"/>
            <a:ext cx="4703788" cy="541917"/>
          </a:xfrm>
          <a:prstGeom prst="wedgeRoundRectCallout">
            <a:avLst>
              <a:gd name="adj1" fmla="val -68382"/>
              <a:gd name="adj2" fmla="val -4372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Инжектиране на зависимост</a:t>
            </a: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>
            <a:off x="5476406" y="3247970"/>
            <a:ext cx="5486400" cy="457200"/>
          </a:xfrm>
          <a:prstGeom prst="wedgeRoundRectCallout">
            <a:avLst>
              <a:gd name="adj1" fmla="val -58998"/>
              <a:gd name="adj2" fmla="val 4420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Независим от имплементацията</a:t>
            </a:r>
          </a:p>
        </p:txBody>
      </p:sp>
    </p:spTree>
    <p:extLst>
      <p:ext uri="{BB962C8B-B14F-4D97-AF65-F5344CB8AC3E}">
        <p14:creationId xmlns:p14="http://schemas.microsoft.com/office/powerpoint/2010/main" val="341311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916" y="1644743"/>
            <a:ext cx="10840496" cy="5691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000" dirty="0">
                <a:latin typeface="Comfortaa" pitchFamily="2" charset="0"/>
              </a:rPr>
              <a:t>С други думи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да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застопорим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всички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мърдащи се части</a:t>
            </a:r>
            <a:endParaRPr lang="en-US" sz="2000" b="1" dirty="0">
              <a:solidFill>
                <a:srgbClr val="00B0F0"/>
              </a:solidFill>
              <a:latin typeface="Comfortaa" pitchFamily="2" charset="0"/>
            </a:endParaRPr>
          </a:p>
          <a:p>
            <a:pPr marL="457200" lvl="1" indent="0">
              <a:buNone/>
            </a:pPr>
            <a:endParaRPr lang="en-US" sz="18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0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0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000" dirty="0">
              <a:latin typeface="Comfortaa" pitchFamily="2" charset="0"/>
            </a:endParaRPr>
          </a:p>
          <a:p>
            <a:pPr marL="457200" lvl="1" indent="0">
              <a:buNone/>
            </a:pPr>
            <a:endParaRPr lang="en-US" sz="18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5916" y="798284"/>
            <a:ext cx="10840496" cy="866318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Цел</a:t>
            </a:r>
            <a:r>
              <a:rPr lang="en-US" sz="3200" dirty="0">
                <a:latin typeface="Comfortaa" pitchFamily="2" charset="0"/>
              </a:rPr>
              <a:t>: </a:t>
            </a:r>
            <a:r>
              <a:rPr lang="bg-BG" sz="3200" dirty="0">
                <a:latin typeface="Comfortaa" pitchFamily="2" charset="0"/>
              </a:rPr>
              <a:t>Изолиране на поведението за тестване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25916" y="2213875"/>
            <a:ext cx="10374300" cy="36933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TestGetInfoById()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AccountManager manager = new AccountManager()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Account Account(String id) { … }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Bank bank = new Bank(manager);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AccountInfo info = bank.getInfo(id);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Assert…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128952" y="4559521"/>
            <a:ext cx="3581400" cy="1881158"/>
          </a:xfrm>
          <a:prstGeom prst="wedgeRoundRectCallout">
            <a:avLst>
              <a:gd name="adj1" fmla="val -78609"/>
              <a:gd name="adj2" fmla="val -4986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Фалшива имплементация на интерфейс с фиксирано поведение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882198" y="2610900"/>
            <a:ext cx="2447154" cy="569164"/>
          </a:xfrm>
          <a:prstGeom prst="wedgeRoundRectCallout">
            <a:avLst>
              <a:gd name="adj1" fmla="val -67790"/>
              <a:gd name="adj2" fmla="val 6167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Анонимен клас</a:t>
            </a:r>
          </a:p>
        </p:txBody>
      </p:sp>
    </p:spTree>
    <p:extLst>
      <p:ext uri="{BB962C8B-B14F-4D97-AF65-F5344CB8AC3E}">
        <p14:creationId xmlns:p14="http://schemas.microsoft.com/office/powerpoint/2010/main" val="344505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304" y="1608323"/>
            <a:ext cx="10665108" cy="4432714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Тествайте дали герой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получава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XP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когато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мишената умре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 да направите това, първо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1"/>
            <a:r>
              <a:rPr lang="bg-BG" dirty="0">
                <a:latin typeface="Comfortaa" pitchFamily="2" charset="0"/>
              </a:rPr>
              <a:t>Направете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Hero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тестваем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чрез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инжекция на зависимост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Направете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интерфейси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</a:t>
            </a:r>
            <a:r>
              <a:rPr lang="en-US" dirty="0">
                <a:latin typeface="Comfortaa" pitchFamily="2" charset="0"/>
              </a:rPr>
              <a:t> Axe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Dummy</a:t>
            </a:r>
          </a:p>
          <a:p>
            <a:pPr lvl="2"/>
            <a:r>
              <a:rPr lang="bg-BG" dirty="0">
                <a:latin typeface="Comfortaa" pitchFamily="2" charset="0"/>
              </a:rPr>
              <a:t>Интерфейс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noProof="1">
                <a:latin typeface="Comfortaa" pitchFamily="2" charset="0"/>
              </a:rPr>
              <a:t>IWeapon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2"/>
            <a:r>
              <a:rPr lang="bg-BG" dirty="0">
                <a:latin typeface="Comfortaa" pitchFamily="2" charset="0"/>
              </a:rPr>
              <a:t>Интерфейс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noProof="1">
                <a:latin typeface="Comfortaa" pitchFamily="2" charset="0"/>
              </a:rPr>
              <a:t>ITarget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1"/>
            <a:r>
              <a:rPr lang="bg-BG" dirty="0">
                <a:latin typeface="Comfortaa" pitchFamily="2" charset="0"/>
              </a:rPr>
              <a:t>Създайте тест използвайки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фалшив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Weapon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фалшив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Dummy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2965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Фалшиви</a:t>
            </a:r>
            <a:r>
              <a:rPr lang="en-US" dirty="0">
                <a:latin typeface="Comfortaa" pitchFamily="2" charset="0"/>
              </a:rPr>
              <a:t> Axe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Dummy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3DA6253-EB10-484D-899E-6AFEC6520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13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7973" y="613352"/>
            <a:ext cx="9849896" cy="789544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Фалшиви</a:t>
            </a:r>
            <a:r>
              <a:rPr lang="en-US" sz="3600" b="1" dirty="0">
                <a:latin typeface="Comfortaa" pitchFamily="2" charset="0"/>
              </a:rPr>
              <a:t> Axe </a:t>
            </a:r>
            <a:r>
              <a:rPr lang="bg-BG" sz="3600" b="1" dirty="0">
                <a:latin typeface="Comfortaa" pitchFamily="2" charset="0"/>
              </a:rPr>
              <a:t>и</a:t>
            </a:r>
            <a:r>
              <a:rPr lang="en-US" sz="3600" b="1" dirty="0">
                <a:latin typeface="Comfortaa" pitchFamily="2" charset="0"/>
              </a:rPr>
              <a:t> Dummy [1/4]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017973" y="3783105"/>
            <a:ext cx="9849896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interface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ITarget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void TakeAttack(int attackPoints);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Health { get;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GiveExperience();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bool IsDead();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17973" y="1549968"/>
            <a:ext cx="9849896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interface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IWeapon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void Attack(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Target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target);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AttackPoints { get;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DurabilityPoints { get;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59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20536" y="1496519"/>
            <a:ext cx="10209660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Hero: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Инжекция на зависимост чрез конструктора</a:t>
            </a:r>
            <a:endParaRPr lang="en-GB" sz="2800" b="1" noProof="1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Hero(String name,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IWeapon weapon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this.name = name;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this.experience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this.weapon = weapon;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20536" y="4896788"/>
            <a:ext cx="10209660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Axe :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IWeapon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void attack(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ITarget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target) { …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253A8DD-55EE-47E3-8FF8-9913B4F1A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DC9F78D-E826-8EDD-7662-A05F444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973" y="613352"/>
            <a:ext cx="9849896" cy="789544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Фалшиви</a:t>
            </a:r>
            <a:r>
              <a:rPr lang="en-US" sz="3600" b="1" dirty="0">
                <a:latin typeface="Comfortaa" pitchFamily="2" charset="0"/>
              </a:rPr>
              <a:t> Axe </a:t>
            </a:r>
            <a:r>
              <a:rPr lang="bg-BG" sz="3600" b="1" dirty="0">
                <a:latin typeface="Comfortaa" pitchFamily="2" charset="0"/>
              </a:rPr>
              <a:t>и</a:t>
            </a:r>
            <a:r>
              <a:rPr lang="en-US" sz="3600" b="1" dirty="0">
                <a:latin typeface="Comfortaa" pitchFamily="2" charset="0"/>
              </a:rPr>
              <a:t> Dummy [2/4]</a:t>
            </a:r>
          </a:p>
        </p:txBody>
      </p:sp>
    </p:spTree>
    <p:extLst>
      <p:ext uri="{BB962C8B-B14F-4D97-AF65-F5344CB8AC3E}">
        <p14:creationId xmlns:p14="http://schemas.microsoft.com/office/powerpoint/2010/main" val="1340386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77950" y="1413801"/>
            <a:ext cx="10436100" cy="48320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FakeTarget :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ITarget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void TakeAttack(int attackPoints)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int Health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=&gt; 0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int GiveExperience()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{ return 20;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bool IsDead()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{ return true;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TODO: </a:t>
            </a:r>
            <a:r>
              <a:rPr lang="bg-BG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Имплементирайте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FakeWeapon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19FF9D5-01D8-9E84-E8BB-F16E5C3E16BC}"/>
              </a:ext>
            </a:extLst>
          </p:cNvPr>
          <p:cNvSpPr txBox="1">
            <a:spLocks/>
          </p:cNvSpPr>
          <p:nvPr/>
        </p:nvSpPr>
        <p:spPr>
          <a:xfrm>
            <a:off x="1017973" y="613352"/>
            <a:ext cx="9849896" cy="789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Фалшиви</a:t>
            </a:r>
            <a:r>
              <a:rPr lang="en-US" sz="3600" b="1" dirty="0">
                <a:latin typeface="Comfortaa" pitchFamily="2" charset="0"/>
              </a:rPr>
              <a:t> Axe </a:t>
            </a:r>
            <a:r>
              <a:rPr lang="bg-BG" sz="3600" b="1" dirty="0">
                <a:latin typeface="Comfortaa" pitchFamily="2" charset="0"/>
              </a:rPr>
              <a:t>и</a:t>
            </a:r>
            <a:r>
              <a:rPr lang="en-US" sz="3600" b="1" dirty="0">
                <a:latin typeface="Comfortaa" pitchFamily="2" charset="0"/>
              </a:rPr>
              <a:t> Dummy [3/4]</a:t>
            </a:r>
          </a:p>
        </p:txBody>
      </p:sp>
    </p:spTree>
    <p:extLst>
      <p:ext uri="{BB962C8B-B14F-4D97-AF65-F5344CB8AC3E}">
        <p14:creationId xmlns:p14="http://schemas.microsoft.com/office/powerpoint/2010/main" val="354754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52884" y="1555951"/>
            <a:ext cx="9714985" cy="45243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const string HeroName = "Pesho"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HeroGainsExperienceAfterAttackIfTargetDies()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ITarget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fakeTarget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new FakeTarget()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IWeapon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fakeWeapon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= new FakeWeapon()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Hero hero = new Hero(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HeroName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fakeWeapon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hero.attack(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fakeTarget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Assert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488055F-A3DD-4FDD-9CF6-DC7047E29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FE55E85-110C-C37A-273A-9F16F846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973" y="613352"/>
            <a:ext cx="9849896" cy="789544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Фалшиви</a:t>
            </a:r>
            <a:r>
              <a:rPr lang="en-US" sz="3600" b="1" dirty="0">
                <a:latin typeface="Comfortaa" pitchFamily="2" charset="0"/>
              </a:rPr>
              <a:t> Axe </a:t>
            </a:r>
            <a:r>
              <a:rPr lang="bg-BG" sz="3600" b="1" dirty="0">
                <a:latin typeface="Comfortaa" pitchFamily="2" charset="0"/>
              </a:rPr>
              <a:t>и</a:t>
            </a:r>
            <a:r>
              <a:rPr lang="en-US" sz="3600" b="1" dirty="0">
                <a:latin typeface="Comfortaa" pitchFamily="2" charset="0"/>
              </a:rPr>
              <a:t> Dummy [4/4]</a:t>
            </a:r>
          </a:p>
        </p:txBody>
      </p:sp>
    </p:spTree>
    <p:extLst>
      <p:ext uri="{BB962C8B-B14F-4D97-AF65-F5344CB8AC3E}">
        <p14:creationId xmlns:p14="http://schemas.microsoft.com/office/powerpoint/2010/main" val="113614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738" y="1564263"/>
            <a:ext cx="10709547" cy="498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Не е четимо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тромаво и стереотипно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1738" y="644195"/>
            <a:ext cx="10840496" cy="96491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Фалшиви имплементации (</a:t>
            </a:r>
            <a:r>
              <a:rPr lang="en-US" dirty="0">
                <a:latin typeface="Comfortaa" pitchFamily="2" charset="0"/>
              </a:rPr>
              <a:t>Mocks)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98616" y="2369310"/>
            <a:ext cx="10334501" cy="3416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[Test]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TestRequiresFakeImplementationOfBigInterface()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GB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Arrange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Database db = new BankDatabase()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GB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Твърде много методи</a:t>
            </a:r>
            <a:r>
              <a:rPr lang="en-GB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AccountManager manager = new AccountManager(db);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GB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Act…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// Assert…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7658604" y="3464625"/>
            <a:ext cx="3122213" cy="990600"/>
          </a:xfrm>
          <a:prstGeom prst="wedgeRoundRectCallout">
            <a:avLst>
              <a:gd name="adj1" fmla="val -67462"/>
              <a:gd name="adj2" fmla="val -2710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Не е удачно при големи интерфейси</a:t>
            </a:r>
          </a:p>
        </p:txBody>
      </p:sp>
    </p:spTree>
    <p:extLst>
      <p:ext uri="{BB962C8B-B14F-4D97-AF65-F5344CB8AC3E}">
        <p14:creationId xmlns:p14="http://schemas.microsoft.com/office/powerpoint/2010/main" val="126301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812</Words>
  <Application>Microsoft Office PowerPoint</Application>
  <PresentationFormat>Widescreen</PresentationFormat>
  <Paragraphs>176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Инжектиране на зависимости</vt:lpstr>
      <vt:lpstr>Свързаване и тестване [1/2]</vt:lpstr>
      <vt:lpstr>Свързаване и тестване [1/2]</vt:lpstr>
      <vt:lpstr>Инжектиране на зависимост</vt:lpstr>
      <vt:lpstr>Цел: Изолиране на поведението за тестване</vt:lpstr>
      <vt:lpstr>Задача: Фалшиви Axe и Dummy</vt:lpstr>
      <vt:lpstr>Решение: Фалшиви Axe и Dummy [1/4]</vt:lpstr>
      <vt:lpstr>Решение: Фалшиви Axe и Dummy [2/4]</vt:lpstr>
      <vt:lpstr>PowerPoint Presentation</vt:lpstr>
      <vt:lpstr>Решение: Фалшиви Axe и Dummy [4/4]</vt:lpstr>
      <vt:lpstr>Фалшиви имплементации (Mocks)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14</cp:revision>
  <dcterms:created xsi:type="dcterms:W3CDTF">2022-08-09T09:25:46Z</dcterms:created>
  <dcterms:modified xsi:type="dcterms:W3CDTF">2022-09-14T15:37:26Z</dcterms:modified>
</cp:coreProperties>
</file>