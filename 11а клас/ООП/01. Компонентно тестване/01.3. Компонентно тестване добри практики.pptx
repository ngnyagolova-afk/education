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5"/>
  </p:notesMasterIdLst>
  <p:sldIdLst>
    <p:sldId id="258" r:id="rId2"/>
    <p:sldId id="595" r:id="rId3"/>
    <p:sldId id="596" r:id="rId4"/>
    <p:sldId id="597" r:id="rId5"/>
    <p:sldId id="598" r:id="rId6"/>
    <p:sldId id="599" r:id="rId7"/>
    <p:sldId id="600" r:id="rId8"/>
    <p:sldId id="601" r:id="rId9"/>
    <p:sldId id="602" r:id="rId10"/>
    <p:sldId id="603" r:id="rId11"/>
    <p:sldId id="604" r:id="rId12"/>
    <p:sldId id="605" r:id="rId13"/>
    <p:sldId id="57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</p14:sldIdLst>
        </p14:section>
        <p14:section name="Съдържание" id="{0B0C01F3-1F60-4ADB-AC1E-9589654EAEF3}">
          <p14:sldIdLst>
            <p14:sldId id="595"/>
            <p14:sldId id="596"/>
            <p14:sldId id="597"/>
            <p14:sldId id="598"/>
            <p14:sldId id="599"/>
            <p14:sldId id="600"/>
            <p14:sldId id="601"/>
            <p14:sldId id="602"/>
            <p14:sldId id="603"/>
            <p14:sldId id="604"/>
            <p14:sldId id="605"/>
          </p14:sldIdLst>
        </p14:section>
        <p14:section name="Заключение" id="{9315BEE7-605C-4839-996A-A4EEA70921D9}">
          <p14:sldIdLst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8A51F5-6E34-4A9B-8787-8C29D4F40D1D}" v="1" dt="2022-08-10T06:34:56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92" d="100"/>
          <a:sy n="92" d="100"/>
        </p:scale>
        <p:origin x="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A7D6E249-EE06-444F-ABC1-3AC21C50DA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4501549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2DEE87BE-EB80-491E-A107-28DE56B0DA5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953654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D2A8CF02-3AA4-4FE3-A06D-880DA6929BC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9913621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6D1EA141-C5C4-4F54-848C-621E88CE9C5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3050075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C7FCD612-5B73-46A4-BE81-E9FA367A640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061679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bg-BG" dirty="0">
                <a:latin typeface="Comfortaa" pitchFamily="2" charset="0"/>
              </a:rPr>
              <a:t>Компонентно тестване: утвърдени практики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Unit Testing: Best Practices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1" y="4858190"/>
            <a:ext cx="10363200" cy="820600"/>
          </a:xfrm>
        </p:spPr>
        <p:txBody>
          <a:bodyPr>
            <a:normAutofit fontScale="90000"/>
          </a:bodyPr>
          <a:lstStyle/>
          <a:p>
            <a:r>
              <a:rPr lang="bg-BG" dirty="0">
                <a:latin typeface="Comfortaa" pitchFamily="2" charset="0"/>
              </a:rPr>
              <a:t>Добри практики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914401" y="5757966"/>
            <a:ext cx="10363200" cy="719034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Как да пишем добри тестове?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C0FE1E4D-A7F2-4361-AF41-025E274A0F88}"/>
              </a:ext>
            </a:extLst>
          </p:cNvPr>
          <p:cNvSpPr txBox="1">
            <a:spLocks/>
          </p:cNvSpPr>
          <p:nvPr/>
        </p:nvSpPr>
        <p:spPr>
          <a:xfrm>
            <a:off x="11568000" y="6525003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>
                <a:solidFill>
                  <a:prstClr val="white">
                    <a:tint val="75000"/>
                  </a:prstClr>
                </a:solidFill>
              </a:rPr>
              <a:pPr/>
              <a:t>2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17219A-8E43-CE61-E904-3F24ECBD8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639" y="972483"/>
            <a:ext cx="5606478" cy="3561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755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4827" y="1499930"/>
            <a:ext cx="10515600" cy="4351338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Условно твърдение</a:t>
            </a:r>
            <a:endParaRPr lang="en-US" dirty="0">
              <a:latin typeface="Comfortaa" pitchFamily="2" charset="0"/>
            </a:endParaRPr>
          </a:p>
          <a:p>
            <a:endParaRPr lang="en-GB" dirty="0">
              <a:latin typeface="Comfortaa" pitchFamily="2" charset="0"/>
            </a:endParaRPr>
          </a:p>
          <a:p>
            <a:endParaRPr lang="en-GB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Сравнително твърдение</a:t>
            </a:r>
            <a:endParaRPr lang="en-US" dirty="0">
              <a:latin typeface="Comfortaa" pitchFamily="2" charset="0"/>
            </a:endParaRPr>
          </a:p>
          <a:p>
            <a:endParaRPr lang="en-GB" dirty="0">
              <a:latin typeface="Comfortaa" pitchFamily="2" charset="0"/>
            </a:endParaRPr>
          </a:p>
          <a:p>
            <a:endParaRPr lang="en-GB" dirty="0">
              <a:latin typeface="Comfortaa" pitchFamily="2" charset="0"/>
            </a:endParaRPr>
          </a:p>
          <a:p>
            <a:pPr>
              <a:spcBef>
                <a:spcPts val="1200"/>
              </a:spcBef>
            </a:pPr>
            <a:r>
              <a:rPr lang="bg-BG" dirty="0">
                <a:latin typeface="Comfortaa" pitchFamily="2" charset="0"/>
              </a:rPr>
              <a:t>Твърдение за проверка на изключение</a:t>
            </a:r>
            <a:endParaRPr lang="en-GB" dirty="0">
              <a:latin typeface="Comfortaa" pitchFamily="2" charset="0"/>
            </a:endParaRPr>
          </a:p>
          <a:p>
            <a:endParaRPr lang="en-GB" dirty="0">
              <a:latin typeface="Comfortaa" pitchFamily="2" charset="0"/>
            </a:endParaRPr>
          </a:p>
          <a:p>
            <a:endParaRPr lang="en-GB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77727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Твърдения</a:t>
            </a:r>
            <a:r>
              <a:rPr lang="en-US" dirty="0">
                <a:latin typeface="Comfortaa" pitchFamily="2" charset="0"/>
              </a:rPr>
              <a:t> [1/2]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172689" y="3645809"/>
            <a:ext cx="10008337" cy="52322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Assert.AreEqual(expected value, actual value);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172689" y="2173184"/>
            <a:ext cx="10013867" cy="52322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Assert.IsTrue(bool condition, string message);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172689" y="5201561"/>
            <a:ext cx="10008336" cy="95410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Assert.Throws(Type expectedExceptionType, TestDelegate code);</a:t>
            </a:r>
          </a:p>
        </p:txBody>
      </p:sp>
    </p:spTree>
    <p:extLst>
      <p:ext uri="{BB962C8B-B14F-4D97-AF65-F5344CB8AC3E}">
        <p14:creationId xmlns:p14="http://schemas.microsoft.com/office/powerpoint/2010/main" val="2652553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6442" y="1439677"/>
            <a:ext cx="10515600" cy="4351338"/>
          </a:xfrm>
        </p:spPr>
        <p:txBody>
          <a:bodyPr/>
          <a:lstStyle/>
          <a:p>
            <a:r>
              <a:rPr lang="bg-BG" dirty="0"/>
              <a:t>Низово твърдение</a:t>
            </a:r>
            <a:endParaRPr lang="en-US" dirty="0"/>
          </a:p>
          <a:p>
            <a:endParaRPr lang="en-GB" dirty="0"/>
          </a:p>
          <a:p>
            <a:endParaRPr lang="en-GB" dirty="0"/>
          </a:p>
          <a:p>
            <a:r>
              <a:rPr lang="bg-BG" dirty="0"/>
              <a:t>Твърдение за колекция</a:t>
            </a:r>
            <a:endParaRPr lang="en-US" dirty="0"/>
          </a:p>
          <a:p>
            <a:endParaRPr lang="en-GB" dirty="0"/>
          </a:p>
          <a:p>
            <a:endParaRPr lang="en-GB" dirty="0"/>
          </a:p>
          <a:p>
            <a:endParaRPr lang="en-GB" sz="1200" dirty="0"/>
          </a:p>
          <a:p>
            <a:r>
              <a:rPr lang="bg-BG" dirty="0"/>
              <a:t>Файлово твърдение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25228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Твърдения</a:t>
            </a:r>
            <a:r>
              <a:rPr lang="en-US" dirty="0">
                <a:latin typeface="Comfortaa" pitchFamily="2" charset="0"/>
              </a:rPr>
              <a:t> [2/2]</a:t>
            </a:r>
            <a:endParaRPr lang="en-US" dirty="0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095501" y="1942605"/>
            <a:ext cx="9800110" cy="95410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 err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StringAssert.Contains</a:t>
            </a:r>
            <a:r>
              <a:rPr lang="en-US" sz="28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(string expected, string actual);</a:t>
            </a:r>
            <a:endParaRPr lang="en-GB" sz="2800" b="1" dirty="0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095499" y="3619005"/>
            <a:ext cx="9794697" cy="95410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CollectionAssert.Contains(IEnumerable expected, object actual);</a:t>
            </a: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1095499" y="5333682"/>
            <a:ext cx="9794697" cy="95410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FileAssert.AreEqual(FileInfo expected, FileInfo actual);</a:t>
            </a:r>
          </a:p>
        </p:txBody>
      </p:sp>
    </p:spTree>
    <p:extLst>
      <p:ext uri="{BB962C8B-B14F-4D97-AF65-F5344CB8AC3E}">
        <p14:creationId xmlns:p14="http://schemas.microsoft.com/office/powerpoint/2010/main" val="595355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5537" y="149677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IsTrue(condition)</a:t>
            </a:r>
          </a:p>
          <a:p>
            <a:endParaRPr lang="en-GB" sz="2400" noProof="1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>
              <a:spcBef>
                <a:spcPts val="1200"/>
              </a:spcBef>
            </a:pPr>
            <a:endParaRPr lang="en-GB" sz="2400" noProof="1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>
              <a:spcBef>
                <a:spcPts val="1200"/>
              </a:spcBef>
            </a:pPr>
            <a:endParaRPr lang="en-GB" sz="2400" noProof="1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>
              <a:spcBef>
                <a:spcPts val="1200"/>
              </a:spcBef>
            </a:pPr>
            <a:endParaRPr lang="en-GB" sz="2400" noProof="1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marL="0" indent="0">
              <a:spcBef>
                <a:spcPts val="1200"/>
              </a:spcBef>
              <a:buNone/>
            </a:pPr>
            <a:endParaRPr lang="en-GB" sz="1100" noProof="1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GB" sz="2400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AreEqual(expected, actual)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15537" y="348715"/>
            <a:ext cx="10515600" cy="1325563"/>
          </a:xfrm>
        </p:spPr>
        <p:txBody>
          <a:bodyPr>
            <a:normAutofit/>
          </a:bodyPr>
          <a:lstStyle/>
          <a:p>
            <a:r>
              <a:rPr lang="en-GB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IsTrue()</a:t>
            </a:r>
            <a:r>
              <a:rPr lang="en-GB" noProof="1">
                <a:latin typeface="Comfortaa" pitchFamily="2" charset="0"/>
              </a:rPr>
              <a:t> </a:t>
            </a:r>
            <a:r>
              <a:rPr lang="bg-BG" noProof="1">
                <a:latin typeface="Comfortaa" pitchFamily="2" charset="0"/>
              </a:rPr>
              <a:t>с/у</a:t>
            </a:r>
            <a:r>
              <a:rPr lang="en-GB" noProof="1">
                <a:latin typeface="Comfortaa" pitchFamily="2" charset="0"/>
              </a:rPr>
              <a:t> </a:t>
            </a:r>
            <a:r>
              <a:rPr lang="en-GB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AreEqual()</a:t>
            </a:r>
            <a:endParaRPr lang="en-GB" noProof="1">
              <a:latin typeface="Comfortaa" pitchFamily="2" charset="0"/>
            </a:endParaRPr>
          </a:p>
        </p:txBody>
      </p:sp>
      <p:sp>
        <p:nvSpPr>
          <p:cNvPr id="21" name="Rectangle 5"/>
          <p:cNvSpPr>
            <a:spLocks noChangeArrowheads="1"/>
          </p:cNvSpPr>
          <p:nvPr/>
        </p:nvSpPr>
        <p:spPr bwMode="auto">
          <a:xfrm>
            <a:off x="671641" y="2072245"/>
            <a:ext cx="10840496" cy="58477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Assert.IsTrue(axe.DurabilityPoints == 12);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615537" y="4721259"/>
            <a:ext cx="10840496" cy="58477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Assert.AreEqual(12, axe.DurabilityPoints);</a:t>
            </a:r>
          </a:p>
        </p:txBody>
      </p:sp>
      <p:sp>
        <p:nvSpPr>
          <p:cNvPr id="10" name="AutoShape 6"/>
          <p:cNvSpPr>
            <a:spLocks noChangeArrowheads="1"/>
          </p:cNvSpPr>
          <p:nvPr/>
        </p:nvSpPr>
        <p:spPr bwMode="auto">
          <a:xfrm>
            <a:off x="2256311" y="5667515"/>
            <a:ext cx="5522026" cy="880904"/>
          </a:xfrm>
          <a:prstGeom prst="wedgeRoundRectCallout">
            <a:avLst>
              <a:gd name="adj1" fmla="val 55145"/>
              <a:gd name="adj2" fmla="val -22527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400" dirty="0">
                <a:solidFill>
                  <a:schemeClr val="bg1"/>
                </a:solidFill>
                <a:latin typeface="Comfortaa" pitchFamily="2" charset="0"/>
              </a:rPr>
              <a:t>По-добро описание, когато очакваме стойност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r="4621" b="16355"/>
          <a:stretch/>
        </p:blipFill>
        <p:spPr>
          <a:xfrm>
            <a:off x="8144472" y="5600334"/>
            <a:ext cx="3367665" cy="83446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0299" y="2910445"/>
            <a:ext cx="3367666" cy="895449"/>
          </a:xfrm>
          <a:prstGeom prst="rect">
            <a:avLst/>
          </a:prstGeom>
        </p:spPr>
      </p:pic>
      <p:sp>
        <p:nvSpPr>
          <p:cNvPr id="11" name="AutoShape 6"/>
          <p:cNvSpPr>
            <a:spLocks noChangeArrowheads="1"/>
          </p:cNvSpPr>
          <p:nvPr/>
        </p:nvSpPr>
        <p:spPr bwMode="auto">
          <a:xfrm>
            <a:off x="2998519" y="2910444"/>
            <a:ext cx="4813401" cy="880904"/>
          </a:xfrm>
          <a:prstGeom prst="wedgeRoundRectCallout">
            <a:avLst>
              <a:gd name="adj1" fmla="val 55145"/>
              <a:gd name="adj2" fmla="val -22527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400" dirty="0">
                <a:solidFill>
                  <a:schemeClr val="bg1"/>
                </a:solidFill>
                <a:latin typeface="Comfortaa" pitchFamily="2" charset="0"/>
              </a:rPr>
              <a:t>Дава само </a:t>
            </a:r>
            <a:r>
              <a:rPr lang="en-US" sz="2400" dirty="0">
                <a:solidFill>
                  <a:schemeClr val="bg1"/>
                </a:solidFill>
                <a:latin typeface="Comfortaa" pitchFamily="2" charset="0"/>
              </a:rPr>
              <a:t>True/False </a:t>
            </a:r>
            <a:r>
              <a:rPr lang="bg-BG" sz="2400" dirty="0">
                <a:solidFill>
                  <a:schemeClr val="bg1"/>
                </a:solidFill>
                <a:latin typeface="Comfortaa" pitchFamily="2" charset="0"/>
              </a:rPr>
              <a:t>информация</a:t>
            </a:r>
          </a:p>
        </p:txBody>
      </p:sp>
    </p:spTree>
    <p:extLst>
      <p:ext uri="{BB962C8B-B14F-4D97-AF65-F5344CB8AC3E}">
        <p14:creationId xmlns:p14="http://schemas.microsoft.com/office/powerpoint/2010/main" val="3162973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223" y="2181885"/>
            <a:ext cx="11277599" cy="1013854"/>
          </a:xfrm>
        </p:spPr>
        <p:txBody>
          <a:bodyPr>
            <a:noAutofit/>
          </a:bodyPr>
          <a:lstStyle/>
          <a:p>
            <a:r>
              <a:rPr lang="bg-BG" dirty="0">
                <a:latin typeface="Comfortaa" pitchFamily="2" charset="0"/>
              </a:rPr>
              <a:t>Твърденията могат да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показват съобщения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Помагат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с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диагностиката</a:t>
            </a:r>
            <a:endParaRPr lang="en-US" dirty="0">
              <a:solidFill>
                <a:srgbClr val="00B0F0"/>
              </a:solidFill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pPr lvl="1"/>
            <a:endParaRPr lang="en-US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52203" y="721385"/>
            <a:ext cx="11228619" cy="1325563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Съобщения при твърдения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503223" y="3195739"/>
            <a:ext cx="11277600" cy="107721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Assert.AreEqual(12, axe.DurabilityPoints,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"Axe Durability doesn't change after attack");</a:t>
            </a:r>
            <a:endParaRPr lang="en-GB" sz="32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470066"/>
            <a:ext cx="4485094" cy="1510405"/>
          </a:xfrm>
          <a:prstGeom prst="rect">
            <a:avLst/>
          </a:prstGeom>
        </p:spPr>
      </p:pic>
      <p:sp>
        <p:nvSpPr>
          <p:cNvPr id="9" name="AutoShape 6"/>
          <p:cNvSpPr>
            <a:spLocks noChangeArrowheads="1"/>
          </p:cNvSpPr>
          <p:nvPr/>
        </p:nvSpPr>
        <p:spPr bwMode="auto">
          <a:xfrm>
            <a:off x="1423296" y="4788939"/>
            <a:ext cx="4385931" cy="872658"/>
          </a:xfrm>
          <a:prstGeom prst="wedgeRoundRectCallout">
            <a:avLst>
              <a:gd name="adj1" fmla="val 63442"/>
              <a:gd name="adj2" fmla="val -19125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400" dirty="0">
                <a:solidFill>
                  <a:schemeClr val="bg1"/>
                </a:solidFill>
                <a:latin typeface="Comfortaa" pitchFamily="2" charset="0"/>
              </a:rPr>
              <a:t>Помага за намирането на проблема</a:t>
            </a:r>
          </a:p>
        </p:txBody>
      </p:sp>
    </p:spTree>
    <p:extLst>
      <p:ext uri="{BB962C8B-B14F-4D97-AF65-F5344CB8AC3E}">
        <p14:creationId xmlns:p14="http://schemas.microsoft.com/office/powerpoint/2010/main" val="132657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006" y="1661148"/>
            <a:ext cx="10460181" cy="50016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bg-BG" dirty="0">
                <a:latin typeface="Comfortaa" pitchFamily="2" charset="0"/>
              </a:rPr>
              <a:t>Избягвайте употребата на магически числа</a:t>
            </a:r>
            <a:endParaRPr lang="en-US" dirty="0">
              <a:latin typeface="Comfortaa" pitchFamily="2" charset="0"/>
            </a:endParaRPr>
          </a:p>
          <a:p>
            <a:pPr marL="0" indent="0">
              <a:buNone/>
            </a:pPr>
            <a:endParaRPr lang="en-US" dirty="0">
              <a:latin typeface="Comfortaa" pitchFamily="2" charset="0"/>
            </a:endParaRPr>
          </a:p>
          <a:p>
            <a:pPr marL="0" indent="0">
              <a:buNone/>
            </a:pPr>
            <a:endParaRPr lang="en-US" dirty="0">
              <a:latin typeface="Comfortaa" pitchFamily="2" charset="0"/>
            </a:endParaRPr>
          </a:p>
          <a:p>
            <a:pPr marL="0" indent="0">
              <a:buNone/>
            </a:pPr>
            <a:endParaRPr lang="en-US" dirty="0">
              <a:latin typeface="Comfortaa" pitchFamily="2" charset="0"/>
            </a:endParaRPr>
          </a:p>
          <a:p>
            <a:pPr marL="457200" lvl="1" indent="0">
              <a:buNone/>
            </a:pPr>
            <a:endParaRPr lang="en-US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52006" y="911390"/>
            <a:ext cx="10460181" cy="790925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Магически числа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952006" y="2280646"/>
            <a:ext cx="10460181" cy="341632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private const int axeDurability = 10;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private const int axeAttack = 10;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GB" sz="2400" b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[Test]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public void AxeLosesDurabilyAfterAttack()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Axe axe = new Axe(axeDurability, axeAttack);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Assert.AreEqual(axeDurability, axe.DurabilityPoints, "…");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30083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5801" y="303933"/>
            <a:ext cx="10840495" cy="915267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Не се повтаряйте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85800" y="1219200"/>
            <a:ext cx="10840496" cy="501675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private BankAccount account;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GB" sz="32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[SetUp]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void TestInit()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this.account = new BankAccount();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GB" sz="32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[TearDown]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void TestCleanUp() {}</a:t>
            </a: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3092531" y="1873127"/>
            <a:ext cx="7708075" cy="699861"/>
          </a:xfrm>
          <a:prstGeom prst="wedgeRoundRectCallout">
            <a:avLst>
              <a:gd name="adj1" fmla="val -58857"/>
              <a:gd name="adj2" fmla="val 51613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dirty="0">
                <a:solidFill>
                  <a:schemeClr val="bg1"/>
                </a:solidFill>
                <a:latin typeface="Comfortaa" pitchFamily="2" charset="0"/>
              </a:rPr>
              <a:t>Изпълнява се преди всеки тест</a:t>
            </a:r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auto">
          <a:xfrm>
            <a:off x="3838850" y="4715288"/>
            <a:ext cx="6612253" cy="699861"/>
          </a:xfrm>
          <a:prstGeom prst="wedgeRoundRectCallout">
            <a:avLst>
              <a:gd name="adj1" fmla="val -61719"/>
              <a:gd name="adj2" fmla="val 51298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dirty="0">
                <a:solidFill>
                  <a:schemeClr val="bg1"/>
                </a:solidFill>
                <a:latin typeface="Comfortaa" pitchFamily="2" charset="0"/>
              </a:rPr>
              <a:t>Изпълнява се след всеки тест</a:t>
            </a:r>
          </a:p>
        </p:txBody>
      </p:sp>
    </p:spTree>
    <p:extLst>
      <p:ext uri="{BB962C8B-B14F-4D97-AF65-F5344CB8AC3E}">
        <p14:creationId xmlns:p14="http://schemas.microsoft.com/office/powerpoint/2010/main" val="4288766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825625"/>
            <a:ext cx="10840496" cy="1384995"/>
          </a:xfrm>
        </p:spPr>
        <p:txBody>
          <a:bodyPr>
            <a:noAutofit/>
          </a:bodyPr>
          <a:lstStyle/>
          <a:p>
            <a:r>
              <a:rPr lang="bg-BG" dirty="0">
                <a:latin typeface="Comfortaa" pitchFamily="2" charset="0"/>
              </a:rPr>
              <a:t>Имената на тестовете трябва: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Да ползват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подходяща терминлогия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Да бъдат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описателни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четими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/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pPr lvl="1"/>
            <a:endParaRPr lang="en-US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5799" y="365125"/>
            <a:ext cx="10840495" cy="1325563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Именуване на методите в тестовете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85800" y="4953001"/>
            <a:ext cx="10840496" cy="138499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DepositAddsMoneyToBalance() {}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DepositNegativeShouldNotAddMoney() {}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TransferSubtractsFromSourceAddsToDestAccount() {}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85800" y="3276601"/>
            <a:ext cx="10840496" cy="138499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IncrementNumber() {}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Test1() {}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TestTransfer() {}</a:t>
            </a:r>
          </a:p>
        </p:txBody>
      </p:sp>
      <p:pic>
        <p:nvPicPr>
          <p:cNvPr id="4098" name="Picture 2" descr="Image result for tick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5205919"/>
            <a:ext cx="879156" cy="879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Image result for x ico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591800" y="3657600"/>
            <a:ext cx="665160" cy="665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3269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9523" y="1952707"/>
            <a:ext cx="9741708" cy="4578722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Рефакторирайте тестовете за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Axe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Dummy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класовете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Уверете се, че: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Имената</a:t>
            </a:r>
            <a:r>
              <a:rPr lang="bg-BG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на тест методите са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описателни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Използвате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подходящи твърдения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en-US" dirty="0">
                <a:latin typeface="Comfortaa" pitchFamily="2" charset="0"/>
              </a:rPr>
              <a:t>(assert equals </a:t>
            </a:r>
            <a:r>
              <a:rPr lang="bg-BG" dirty="0">
                <a:latin typeface="Comfortaa" pitchFamily="2" charset="0"/>
              </a:rPr>
              <a:t>с/у</a:t>
            </a:r>
            <a:r>
              <a:rPr lang="en-US" dirty="0">
                <a:latin typeface="Comfortaa" pitchFamily="2" charset="0"/>
              </a:rPr>
              <a:t> assert true)</a:t>
            </a:r>
          </a:p>
          <a:p>
            <a:pPr lvl="1"/>
            <a:r>
              <a:rPr lang="bg-BG" dirty="0">
                <a:latin typeface="Comfortaa" pitchFamily="2" charset="0"/>
              </a:rPr>
              <a:t>Използвате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съобщения за твърденията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Няма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магически числа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Няма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повторение на кода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en-US" dirty="0">
                <a:latin typeface="Comfortaa" pitchFamily="2" charset="0"/>
              </a:rPr>
              <a:t>(</a:t>
            </a:r>
            <a:r>
              <a:rPr lang="bg-BG" dirty="0">
                <a:latin typeface="Comfortaa" pitchFamily="2" charset="0"/>
              </a:rPr>
              <a:t>Не се повтаряйте</a:t>
            </a:r>
            <a:r>
              <a:rPr lang="en-US" dirty="0">
                <a:latin typeface="Comfortaa" pitchFamily="2" charset="0"/>
              </a:rPr>
              <a:t>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99522" y="742207"/>
            <a:ext cx="9842649" cy="1104405"/>
          </a:xfrm>
        </p:spPr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Задача</a:t>
            </a:r>
            <a:r>
              <a:rPr lang="en-US" sz="3600" dirty="0">
                <a:latin typeface="Comfortaa" pitchFamily="2" charset="0"/>
              </a:rPr>
              <a:t>: </a:t>
            </a:r>
            <a:r>
              <a:rPr lang="bg-BG" sz="3600" dirty="0">
                <a:latin typeface="Comfortaa" pitchFamily="2" charset="0"/>
              </a:rPr>
              <a:t>Рефакториране на тестове</a:t>
            </a:r>
            <a:endParaRPr lang="en-US" sz="36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0665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33693" y="400751"/>
            <a:ext cx="10924613" cy="863971"/>
          </a:xfrm>
        </p:spPr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Решение</a:t>
            </a:r>
            <a:r>
              <a:rPr lang="en-US" sz="3600" dirty="0">
                <a:latin typeface="Comfortaa" pitchFamily="2" charset="0"/>
              </a:rPr>
              <a:t>: </a:t>
            </a:r>
            <a:r>
              <a:rPr lang="bg-BG" sz="3600" dirty="0" err="1">
                <a:latin typeface="Comfortaa" pitchFamily="2" charset="0"/>
              </a:rPr>
              <a:t>Рефакториране</a:t>
            </a:r>
            <a:r>
              <a:rPr lang="bg-BG" sz="3600" dirty="0">
                <a:latin typeface="Comfortaa" pitchFamily="2" charset="0"/>
              </a:rPr>
              <a:t> на тестове</a:t>
            </a:r>
            <a:r>
              <a:rPr lang="en-US" sz="3600" dirty="0">
                <a:latin typeface="Comfortaa" pitchFamily="2" charset="0"/>
              </a:rPr>
              <a:t> [1/2]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33693" y="1380460"/>
            <a:ext cx="10924612" cy="489364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private const int </a:t>
            </a:r>
            <a:r>
              <a:rPr lang="en-US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AxeAttack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= 2;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private const int </a:t>
            </a:r>
            <a:r>
              <a:rPr lang="en-US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AxeDurability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= 2;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private const int </a:t>
            </a:r>
            <a:r>
              <a:rPr lang="en-US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DummyHealth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= 20;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private const int </a:t>
            </a:r>
            <a:r>
              <a:rPr lang="en-US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DummyXP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= 20;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private Axe axe;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private Dummy dummy;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4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[SetUp]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void TestInit()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this.axe = new Axe(</a:t>
            </a:r>
            <a:r>
              <a:rPr lang="en-US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AxeAttack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, </a:t>
            </a:r>
            <a:r>
              <a:rPr lang="en-US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AxeDurability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this.dummy = new Dummy(</a:t>
            </a:r>
            <a:r>
              <a:rPr lang="en-US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DummyHealth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, </a:t>
            </a:r>
            <a:r>
              <a:rPr lang="en-US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DummyXP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61003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987307" y="1235033"/>
            <a:ext cx="10065327" cy="501675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[Test]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void AxeLosesDurabilyAfterAttack()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axe.Attack(dummy);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Assert.AreEqual(1, axe.DurabilityPoints,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     "Axe Durability doesn't change after attack");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[Test]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void BrokenAxeCantAttack()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axe.Attack(dummy);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axe.Attack(dummy);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var ex = Assert.Throws&lt;InvalidOperationException&gt;(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                          () =&gt; axe.Attack(dummy));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Assert.That(ex.Message, Is.EqualTo("Axe is broken."));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9C18840A-1757-18FE-3BDF-4CCEDE79E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99" y="371062"/>
            <a:ext cx="10297544" cy="863971"/>
          </a:xfrm>
        </p:spPr>
        <p:txBody>
          <a:bodyPr>
            <a:normAutofit fontScale="90000"/>
          </a:bodyPr>
          <a:lstStyle/>
          <a:p>
            <a:r>
              <a:rPr lang="bg-BG" sz="3600" dirty="0">
                <a:latin typeface="Comfortaa" pitchFamily="2" charset="0"/>
              </a:rPr>
              <a:t>Решение</a:t>
            </a:r>
            <a:r>
              <a:rPr lang="en-US" sz="3600" dirty="0">
                <a:latin typeface="Comfortaa" pitchFamily="2" charset="0"/>
              </a:rPr>
              <a:t>: </a:t>
            </a:r>
            <a:r>
              <a:rPr lang="bg-BG" sz="3600" dirty="0">
                <a:latin typeface="Comfortaa" pitchFamily="2" charset="0"/>
              </a:rPr>
              <a:t>Рефакториране на тестове</a:t>
            </a:r>
            <a:r>
              <a:rPr lang="en-US" sz="3600" dirty="0">
                <a:latin typeface="Comfortaa" pitchFamily="2" charset="0"/>
              </a:rPr>
              <a:t> [2/2]</a:t>
            </a:r>
          </a:p>
        </p:txBody>
      </p:sp>
    </p:spTree>
    <p:extLst>
      <p:ext uri="{BB962C8B-B14F-4D97-AF65-F5344CB8AC3E}">
        <p14:creationId xmlns:p14="http://schemas.microsoft.com/office/powerpoint/2010/main" val="2699993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</TotalTime>
  <Words>767</Words>
  <Application>Microsoft Office PowerPoint</Application>
  <PresentationFormat>Widescreen</PresentationFormat>
  <Paragraphs>155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Comfortaa</vt:lpstr>
      <vt:lpstr>Consolas</vt:lpstr>
      <vt:lpstr>Office Theme</vt:lpstr>
      <vt:lpstr>Компонентно тестване: утвърдени практики</vt:lpstr>
      <vt:lpstr>Добри практики</vt:lpstr>
      <vt:lpstr>Твърдения [1/2]</vt:lpstr>
      <vt:lpstr>Твърдения [2/2]</vt:lpstr>
      <vt:lpstr>IsTrue() с/у AreEqual()</vt:lpstr>
      <vt:lpstr>Съобщения при твърдения</vt:lpstr>
      <vt:lpstr>Магически числа</vt:lpstr>
      <vt:lpstr>Не се повтаряйте</vt:lpstr>
      <vt:lpstr>Именуване на методите в тестовете</vt:lpstr>
      <vt:lpstr>Задача: Рефакториране на тестове</vt:lpstr>
      <vt:lpstr>Решение: Рефакториране на тестове [1/2]</vt:lpstr>
      <vt:lpstr>Решение: Рефакториране на тестове [2/2]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Димитър Минчев</cp:lastModifiedBy>
  <cp:revision>11</cp:revision>
  <dcterms:created xsi:type="dcterms:W3CDTF">2022-08-09T09:25:46Z</dcterms:created>
  <dcterms:modified xsi:type="dcterms:W3CDTF">2022-09-14T15:37:50Z</dcterms:modified>
</cp:coreProperties>
</file>