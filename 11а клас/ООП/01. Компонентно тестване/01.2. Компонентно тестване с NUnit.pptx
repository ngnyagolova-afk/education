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8" r:id="rId2"/>
    <p:sldId id="595" r:id="rId3"/>
    <p:sldId id="596" r:id="rId4"/>
    <p:sldId id="597" r:id="rId5"/>
    <p:sldId id="598" r:id="rId6"/>
    <p:sldId id="487" r:id="rId7"/>
    <p:sldId id="600" r:id="rId8"/>
    <p:sldId id="601" r:id="rId9"/>
    <p:sldId id="602" r:id="rId10"/>
    <p:sldId id="603" r:id="rId11"/>
    <p:sldId id="5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95"/>
            <p14:sldId id="596"/>
            <p14:sldId id="597"/>
            <p14:sldId id="598"/>
            <p14:sldId id="487"/>
            <p14:sldId id="600"/>
            <p14:sldId id="601"/>
            <p14:sldId id="602"/>
            <p14:sldId id="603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E2A566-7337-4248-930C-557FC63222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19923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Компонентно тестване с </a:t>
            </a:r>
            <a:r>
              <a:rPr lang="en-US" dirty="0" err="1">
                <a:latin typeface="Comfortaa" pitchFamily="2" charset="0"/>
              </a:rPr>
              <a:t>NUnit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Unit Testing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00225" y="4934368"/>
            <a:ext cx="8938472" cy="820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mfortaa" pitchFamily="2" charset="0"/>
              </a:rPr>
              <a:t>NUnit 3.0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577128" y="5754968"/>
            <a:ext cx="8938472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Инсталация и първи тест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164" y="685800"/>
            <a:ext cx="3962400" cy="39624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8E7F6534-EE7B-41DF-A0E0-7C19CDA72ABB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3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5631"/>
            <a:ext cx="10515600" cy="3203574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Първоначално създаден на базата на</a:t>
            </a:r>
            <a:r>
              <a:rPr lang="en-GB" sz="3200" dirty="0">
                <a:latin typeface="Comfortaa" pitchFamily="2" charset="0"/>
              </a:rPr>
              <a:t> Junit</a:t>
            </a:r>
          </a:p>
          <a:p>
            <a:r>
              <a:rPr lang="en-US" sz="3200" dirty="0" err="1">
                <a:latin typeface="Comfortaa" pitchFamily="2" charset="0"/>
              </a:rPr>
              <a:t>NUnit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версия </a:t>
            </a:r>
            <a:r>
              <a:rPr lang="en-US" sz="3200" dirty="0">
                <a:latin typeface="Comfortaa" pitchFamily="2" charset="0"/>
              </a:rPr>
              <a:t>3.0, </a:t>
            </a:r>
            <a:r>
              <a:rPr lang="bg-BG" sz="3200" dirty="0">
                <a:latin typeface="Comfortaa" pitchFamily="2" charset="0"/>
              </a:rPr>
              <a:t>е напълно пренаписана</a:t>
            </a:r>
            <a:endParaRPr lang="en-US" sz="3200" dirty="0">
              <a:latin typeface="Comfortaa" pitchFamily="2" charset="0"/>
            </a:endParaRPr>
          </a:p>
          <a:p>
            <a:r>
              <a:rPr lang="en-US" sz="3200" dirty="0" err="1">
                <a:latin typeface="Comfortaa" pitchFamily="2" charset="0"/>
              </a:rPr>
              <a:t>NUnit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е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софтуер с отворен код</a:t>
            </a:r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Поддържа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широко</a:t>
            </a:r>
            <a:r>
              <a:rPr lang="en-US" sz="3200" dirty="0">
                <a:latin typeface="Comfortaa" pitchFamily="2" charset="0"/>
              </a:rPr>
              <a:t> .NET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555131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NUnit</a:t>
            </a:r>
          </a:p>
        </p:txBody>
      </p:sp>
    </p:spTree>
    <p:extLst>
      <p:ext uri="{BB962C8B-B14F-4D97-AF65-F5344CB8AC3E}">
        <p14:creationId xmlns:p14="http://schemas.microsoft.com/office/powerpoint/2010/main" val="227871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позволява ползването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параметризирани тестове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Четим</a:t>
            </a:r>
            <a:r>
              <a:rPr lang="en-GB" dirty="0">
                <a:latin typeface="Comfortaa" pitchFamily="2" charset="0"/>
              </a:rPr>
              <a:t> Assert </a:t>
            </a:r>
            <a:r>
              <a:rPr lang="bg-BG" dirty="0">
                <a:latin typeface="Comfortaa" pitchFamily="2" charset="0"/>
              </a:rPr>
              <a:t>метод</a:t>
            </a:r>
            <a:endParaRPr lang="en-US" dirty="0">
              <a:latin typeface="Comfortaa" pitchFamily="2" charset="0"/>
            </a:endParaRPr>
          </a:p>
          <a:p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чести обновления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MS-Test </a:t>
            </a:r>
            <a:r>
              <a:rPr lang="bg-BG" dirty="0">
                <a:latin typeface="Comfortaa" pitchFamily="2" charset="0"/>
              </a:rPr>
              <a:t>има само по 1 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версия на </a:t>
            </a:r>
            <a:r>
              <a:rPr lang="en-US" dirty="0">
                <a:latin typeface="Comfortaa" pitchFamily="2" charset="0"/>
              </a:rPr>
              <a:t>VS</a:t>
            </a:r>
          </a:p>
          <a:p>
            <a:r>
              <a:rPr lang="bg-BG" dirty="0">
                <a:latin typeface="Comfortaa" pitchFamily="2" charset="0"/>
              </a:rPr>
              <a:t>Проверка за очаквано съобещение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на изключението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Може да се направи с атрибут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</a:t>
            </a:r>
            <a:r>
              <a:rPr lang="en-US" dirty="0">
                <a:latin typeface="Comfortaa" pitchFamily="2" charset="0"/>
              </a:rPr>
              <a:t> NUnit</a:t>
            </a:r>
          </a:p>
          <a:p>
            <a:pPr lvl="1"/>
            <a:r>
              <a:rPr lang="bg-BG" dirty="0">
                <a:latin typeface="Comfortaa" pitchFamily="2" charset="0"/>
              </a:rPr>
              <a:t>Трябва да се прави с </a:t>
            </a:r>
            <a:r>
              <a:rPr lang="en-US" dirty="0">
                <a:latin typeface="Comfortaa" pitchFamily="2" charset="0"/>
              </a:rPr>
              <a:t>Try-Catch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MS-Test</a:t>
            </a:r>
          </a:p>
          <a:p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vs. MSTest</a:t>
            </a:r>
          </a:p>
        </p:txBody>
      </p:sp>
    </p:spTree>
    <p:extLst>
      <p:ext uri="{BB962C8B-B14F-4D97-AF65-F5344CB8AC3E}">
        <p14:creationId xmlns:p14="http://schemas.microsoft.com/office/powerpoint/2010/main" val="325502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049488" cy="436735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Добавете </a:t>
            </a:r>
            <a:r>
              <a:rPr lang="en-US" b="1" dirty="0" err="1">
                <a:latin typeface="Comfortaa" pitchFamily="2" charset="0"/>
              </a:rPr>
              <a:t>NUnit</a:t>
            </a:r>
            <a:r>
              <a:rPr lang="en-US" b="1" dirty="0">
                <a:latin typeface="Comfortaa" pitchFamily="2" charset="0"/>
              </a:rPr>
              <a:t> 3.0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разширението към</a:t>
            </a:r>
            <a:r>
              <a:rPr lang="en-US" dirty="0">
                <a:latin typeface="Comfortaa" pitchFamily="2" charset="0"/>
              </a:rPr>
              <a:t> Visual Studio</a:t>
            </a:r>
          </a:p>
          <a:p>
            <a:r>
              <a:rPr lang="bg-BG" dirty="0">
                <a:latin typeface="Comfortaa" pitchFamily="2" charset="0"/>
              </a:rPr>
              <a:t>Създайте проект за конзолен проект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Добавете </a:t>
            </a:r>
            <a:r>
              <a:rPr lang="en-US" dirty="0" err="1">
                <a:latin typeface="Comfortaa" pitchFamily="2" charset="0"/>
              </a:rPr>
              <a:t>BankAcount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Създайте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проект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Напишете тест за </a:t>
            </a:r>
            <a:r>
              <a:rPr lang="en-US" dirty="0" err="1">
                <a:latin typeface="Comfortaa" pitchFamily="2" charset="0"/>
              </a:rPr>
              <a:t>BankAcount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Тест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512" y="2175946"/>
            <a:ext cx="4278025" cy="330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7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359194"/>
            <a:ext cx="9813966" cy="4994105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bg-BG" sz="2400" dirty="0">
                <a:latin typeface="Comfortaa" pitchFamily="2" charset="0"/>
              </a:rPr>
              <a:t>Добавете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NUnit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</a:p>
          <a:p>
            <a:pPr>
              <a:lnSpc>
                <a:spcPct val="7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r>
              <a:rPr lang="bg-BG" sz="2400" dirty="0">
                <a:latin typeface="Comfortaa" pitchFamily="2" charset="0"/>
              </a:rPr>
              <a:t>Добавете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NUnit3TestAdapter</a:t>
            </a: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r>
              <a:rPr lang="bg-BG" sz="2400" dirty="0">
                <a:latin typeface="Comfortaa" pitchFamily="2" charset="0"/>
              </a:rPr>
              <a:t>Добавете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Microsoft.Net.Test.Sdk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70000"/>
              </a:lnSpc>
              <a:spcBef>
                <a:spcPts val="900"/>
              </a:spcBef>
            </a:pPr>
            <a:r>
              <a:rPr lang="bg-BG" sz="2400" dirty="0">
                <a:latin typeface="Comfortaa" pitchFamily="2" charset="0"/>
              </a:rPr>
              <a:t>Покажете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Test Explorer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</a:rPr>
              <a:t>(Test-&gt;Windows -&gt;</a:t>
            </a:r>
            <a:r>
              <a:rPr lang="en-US" sz="2400" dirty="0" err="1">
                <a:latin typeface="Comfortaa" pitchFamily="2" charset="0"/>
              </a:rPr>
              <a:t>TestExplorer</a:t>
            </a:r>
            <a:r>
              <a:rPr lang="en-US" sz="2400" dirty="0">
                <a:latin typeface="Comfortaa" pitchFamily="2" charset="0"/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29" t="10601" r="18206" b="10601"/>
          <a:stretch/>
        </p:blipFill>
        <p:spPr>
          <a:xfrm>
            <a:off x="1170119" y="1757442"/>
            <a:ext cx="7968098" cy="91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stA="40000" endPos="0" dist="5000" dir="5400000" sy="-100000" algn="bl" rotWithShape="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119" y="4714962"/>
            <a:ext cx="6781801" cy="9500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8581" r="10612" b="6264"/>
          <a:stretch/>
        </p:blipFill>
        <p:spPr>
          <a:xfrm>
            <a:off x="1170119" y="3198102"/>
            <a:ext cx="8519160" cy="990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F3CEB63-733B-E5CD-D592-D7DF5104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814"/>
            <a:ext cx="10515600" cy="88772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Тест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6220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4227"/>
            <a:ext cx="10246154" cy="553022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Напишете първия си тест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11687"/>
            <a:ext cx="10515600" cy="88772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 err="1">
                <a:latin typeface="Comfortaa" pitchFamily="2" charset="0"/>
              </a:rPr>
              <a:t>NUnit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Тест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845399" y="1637249"/>
            <a:ext cx="10246154" cy="48732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pPr>
              <a:lnSpc>
                <a:spcPct val="110000"/>
              </a:lnSpc>
            </a:pPr>
            <a:r>
              <a:rPr lang="en-US" sz="2700" dirty="0">
                <a:solidFill>
                  <a:srgbClr val="00B0F0"/>
                </a:solidFill>
              </a:rPr>
              <a:t>[TestFixture]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public class BankAcountTests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  </a:t>
            </a:r>
            <a:r>
              <a:rPr lang="en-US" sz="2700" dirty="0">
                <a:solidFill>
                  <a:srgbClr val="00B0F0"/>
                </a:solidFill>
              </a:rPr>
              <a:t>[Test]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  public void AcountInitializeWithPositiveValue()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  {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    BankAcount acount = new BankAcount(2000m);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    </a:t>
            </a:r>
            <a:r>
              <a:rPr lang="en-US" sz="2700" dirty="0">
                <a:solidFill>
                  <a:srgbClr val="00B0F0"/>
                </a:solidFill>
              </a:rPr>
              <a:t>Assert</a:t>
            </a:r>
            <a:r>
              <a:rPr lang="en-US" sz="2700" dirty="0">
                <a:solidFill>
                  <a:schemeClr val="bg1"/>
                </a:solidFill>
              </a:rPr>
              <a:t>.AreEqual(2000m, acount.Amount);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  }</a:t>
            </a:r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6688777" y="1199409"/>
            <a:ext cx="4724400" cy="1110780"/>
          </a:xfrm>
          <a:prstGeom prst="wedgeRoundRectCallout">
            <a:avLst>
              <a:gd name="adj1" fmla="val -113846"/>
              <a:gd name="adj2" fmla="val 2647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Атрибута на класа показва, че това е клас с тестове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4724399" y="2844925"/>
            <a:ext cx="2895600" cy="598408"/>
          </a:xfrm>
          <a:prstGeom prst="wedgeRoundRectCallout">
            <a:avLst>
              <a:gd name="adj1" fmla="val -123120"/>
              <a:gd name="adj2" fmla="val 3893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Comfortaa" pitchFamily="2" charset="0"/>
              </a:rPr>
              <a:t>Test </a:t>
            </a:r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метод</a:t>
            </a: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3903511" y="5526689"/>
            <a:ext cx="4537377" cy="706519"/>
          </a:xfrm>
          <a:prstGeom prst="wedgeRoundRectCallout">
            <a:avLst>
              <a:gd name="adj1" fmla="val -69111"/>
              <a:gd name="adj2" fmla="val -6626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Comfortaa" pitchFamily="2" charset="0"/>
              </a:rPr>
              <a:t>Assert </a:t>
            </a:r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класа е част от </a:t>
            </a:r>
            <a:r>
              <a:rPr lang="en-US" sz="2000" dirty="0" err="1">
                <a:solidFill>
                  <a:srgbClr val="FFFFFF"/>
                </a:solidFill>
                <a:latin typeface="Comfortaa" pitchFamily="2" charset="0"/>
              </a:rPr>
              <a:t>NUnit</a:t>
            </a:r>
            <a:endParaRPr lang="bg-BG" sz="2000" dirty="0">
              <a:solidFill>
                <a:srgbClr val="FFFFFF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585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1" name="Rectangle 3"/>
          <p:cNvSpPr>
            <a:spLocks noGrp="1" noChangeArrowheads="1"/>
          </p:cNvSpPr>
          <p:nvPr>
            <p:ph idx="1"/>
          </p:nvPr>
        </p:nvSpPr>
        <p:spPr>
          <a:xfrm>
            <a:off x="939140" y="1620198"/>
            <a:ext cx="10323598" cy="470935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Организиране и изясняване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тестовия код чрез разделяне на тестовия случай на следните секции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Arrange</a:t>
            </a:r>
            <a:r>
              <a:rPr lang="en-US" dirty="0">
                <a:latin typeface="Comfortaa" pitchFamily="2" charset="0"/>
              </a:rPr>
              <a:t> </a:t>
            </a:r>
            <a:r>
              <a:rPr lang="bg-BG" dirty="0">
                <a:latin typeface="Comfortaa" pitchFamily="2" charset="0"/>
              </a:rPr>
              <a:t>(организационна) секция на теста инициализира обекти и задава стойностите на информацията, която се подава към теста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Act</a:t>
            </a:r>
            <a:r>
              <a:rPr lang="en-US" dirty="0">
                <a:latin typeface="Comfortaa" pitchFamily="2" charset="0"/>
              </a:rPr>
              <a:t> </a:t>
            </a:r>
            <a:r>
              <a:rPr lang="bg-BG" dirty="0">
                <a:latin typeface="Comfortaa" pitchFamily="2" charset="0"/>
              </a:rPr>
              <a:t>(Действаща) секцията пуска теста със зададените параметри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Assert</a:t>
            </a:r>
            <a:r>
              <a:rPr lang="en-US" dirty="0">
                <a:latin typeface="Comfortaa" pitchFamily="2" charset="0"/>
              </a:rPr>
              <a:t> </a:t>
            </a:r>
            <a:r>
              <a:rPr lang="bg-BG" dirty="0">
                <a:latin typeface="Comfortaa" pitchFamily="2" charset="0"/>
              </a:rPr>
              <a:t>(Секция за проверка на твърдение) секцията проверява дали теста се държи както се очаква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9140" y="359188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е</a:t>
            </a:r>
            <a:r>
              <a:rPr lang="en-US" dirty="0">
                <a:latin typeface="Comfortaa" pitchFamily="2" charset="0"/>
              </a:rPr>
              <a:t> AAA </a:t>
            </a:r>
            <a:r>
              <a:rPr lang="bg-BG" dirty="0">
                <a:latin typeface="Comfortaa" pitchFamily="2" charset="0"/>
              </a:rPr>
              <a:t>тестовият шаблон</a:t>
            </a:r>
          </a:p>
        </p:txBody>
      </p:sp>
    </p:spTree>
    <p:extLst>
      <p:ext uri="{BB962C8B-B14F-4D97-AF65-F5344CB8AC3E}">
        <p14:creationId xmlns:p14="http://schemas.microsoft.com/office/powerpoint/2010/main" val="24876713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sz="3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752" y="385947"/>
            <a:ext cx="10840496" cy="920687"/>
          </a:xfrm>
        </p:spPr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AAA </a:t>
            </a:r>
            <a:r>
              <a:rPr lang="bg-BG" dirty="0">
                <a:latin typeface="Comfortaa" pitchFamily="2" charset="0"/>
              </a:rPr>
              <a:t>шаблон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75752" y="1306634"/>
            <a:ext cx="10840496" cy="501675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DepositShouldAddMoney()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Arrange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BankAccount account = new BankAccount();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Act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account.Deposit(50);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Assert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Assert.assertTrue(account.Balance == 50)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7122825" y="3997037"/>
            <a:ext cx="3962400" cy="957104"/>
          </a:xfrm>
          <a:prstGeom prst="wedgeRoundRectCallout">
            <a:avLst>
              <a:gd name="adj1" fmla="val -81366"/>
              <a:gd name="adj2" fmla="val 1571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Всеки тест проверява</a:t>
            </a:r>
            <a:r>
              <a:rPr lang="en-US" sz="2000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b="1" dirty="0">
                <a:solidFill>
                  <a:schemeClr val="bg1"/>
                </a:solidFill>
                <a:latin typeface="Comfortaa" pitchFamily="2" charset="0"/>
              </a:rPr>
              <a:t>единично действие</a:t>
            </a:r>
            <a:r>
              <a:rPr lang="en-US" sz="2000" dirty="0">
                <a:solidFill>
                  <a:schemeClr val="bg1"/>
                </a:solidFill>
                <a:latin typeface="Comfortaa" pitchFamily="2" charset="0"/>
              </a:rPr>
              <a:t>!</a:t>
            </a:r>
            <a:endParaRPr lang="bg-BG" sz="2000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23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4858190"/>
            <a:ext cx="10363200" cy="820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Компонетно тестване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4401" y="5757966"/>
            <a:ext cx="10363200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Лаб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29E68AC-4014-4A74-A172-2A26CE83F8F3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9BB7C-76EC-6C22-1F41-748F5790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639" y="972483"/>
            <a:ext cx="5606478" cy="356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0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456</Words>
  <Application>Microsoft Office PowerPoint</Application>
  <PresentationFormat>Widescreen</PresentationFormat>
  <Paragraphs>89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Компонентно тестване с NUnit</vt:lpstr>
      <vt:lpstr>NUnit 3.0</vt:lpstr>
      <vt:lpstr>NUnit</vt:lpstr>
      <vt:lpstr>Nunit vs. MSTest</vt:lpstr>
      <vt:lpstr>Задача: NUnit Тест</vt:lpstr>
      <vt:lpstr>Решение: NUnit Тест [1/2]</vt:lpstr>
      <vt:lpstr>Решение: NUnit Тест [1/2]</vt:lpstr>
      <vt:lpstr>Какво е AAA тестовият шаблон</vt:lpstr>
      <vt:lpstr>AAA шаблон</vt:lpstr>
      <vt:lpstr>Компонетно тестване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2022-09-14T15:38:00Z</dcterms:modified>
</cp:coreProperties>
</file>