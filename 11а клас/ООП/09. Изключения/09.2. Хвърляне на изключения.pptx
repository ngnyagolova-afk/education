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520" r:id="rId3"/>
    <p:sldId id="495" r:id="rId4"/>
    <p:sldId id="496" r:id="rId5"/>
    <p:sldId id="497" r:id="rId6"/>
    <p:sldId id="498" r:id="rId7"/>
    <p:sldId id="499" r:id="rId8"/>
    <p:sldId id="501" r:id="rId9"/>
    <p:sldId id="525" r:id="rId10"/>
    <p:sldId id="508" r:id="rId11"/>
    <p:sldId id="509" r:id="rId12"/>
    <p:sldId id="518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20"/>
          </p14:sldIdLst>
        </p14:section>
        <p14:section name="Съдържание" id="{0B0C01F3-1F60-4ADB-AC1E-9589654EAEF3}">
          <p14:sldIdLst>
            <p14:sldId id="495"/>
            <p14:sldId id="496"/>
            <p14:sldId id="497"/>
            <p14:sldId id="498"/>
            <p14:sldId id="499"/>
            <p14:sldId id="501"/>
            <p14:sldId id="525"/>
            <p14:sldId id="508"/>
            <p14:sldId id="509"/>
            <p14:sldId id="518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8755031-D58D-491E-A67F-0610B31960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40468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E8AFCF-28C4-49D0-B044-E430F0C2F2EB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2B74180-7498-4E21-9E4E-8A0BA260B6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0718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A4314D-9142-443D-9050-C21ABEC42780}" type="slidenum">
              <a:rPr lang="en-US"/>
              <a:pPr/>
              <a:t>5</a:t>
            </a:fld>
            <a:r>
              <a:rPr lang="en-US" dirty="0"/>
              <a:t>##</a:t>
            </a:r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043BE80-50D5-44F1-94ED-33F827F522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57840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524B3F-307C-46D2-B2A1-9A0C3BF3E426}" type="slidenum">
              <a:rPr lang="en-US"/>
              <a:pPr/>
              <a:t>6</a:t>
            </a:fld>
            <a:r>
              <a:rPr lang="en-US" dirty="0"/>
              <a:t>##</a:t>
            </a:r>
          </a:p>
        </p:txBody>
      </p:sp>
      <p:sp>
        <p:nvSpPr>
          <p:cNvPr id="63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5B459011-742D-4F91-9F6A-9C3A20F7FC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149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149E57-0798-442F-9EDF-19F617E03DDC}" type="slidenum">
              <a:rPr lang="en-US"/>
              <a:pPr/>
              <a:t>7</a:t>
            </a:fld>
            <a:r>
              <a:rPr lang="en-US" dirty="0"/>
              <a:t>##</a:t>
            </a:r>
          </a:p>
        </p:txBody>
      </p:sp>
      <p:sp>
        <p:nvSpPr>
          <p:cNvPr id="56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53CD9DA4-A29C-469D-A217-ABEA9F81D6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0087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DD92AE-254A-448F-B235-F9EFA2042F54}" type="slidenum">
              <a:rPr lang="en-US"/>
              <a:pPr/>
              <a:t>9</a:t>
            </a:fld>
            <a:r>
              <a:rPr lang="en-US" dirty="0"/>
              <a:t>##</a:t>
            </a:r>
          </a:p>
        </p:txBody>
      </p:sp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7DD45ED-C78B-482A-9FED-2EC6B90DC1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3649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F0BA62-3ACE-41F1-A92A-05FBE87679B7}" type="slidenum">
              <a:rPr lang="en-US"/>
              <a:pPr/>
              <a:t>11</a:t>
            </a:fld>
            <a:r>
              <a:rPr lang="en-US" dirty="0"/>
              <a:t>##</a:t>
            </a:r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AE33B7C-CD76-4A27-AA4E-7E00541FF3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36513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20.9.2022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Хвърляне на изключения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Exceptions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601165"/>
            <a:ext cx="9444825" cy="438399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Comfortaa" pitchFamily="2" charset="0"/>
              </a:rPr>
              <a:t>Генериране (</a:t>
            </a:r>
            <a:r>
              <a:rPr lang="bg-BG" dirty="0">
                <a:latin typeface="Comfortaa" pitchFamily="2" charset="0"/>
              </a:rPr>
              <a:t>хвърляне</a:t>
            </a:r>
            <a:r>
              <a:rPr lang="ru-RU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изключения</a:t>
            </a:r>
            <a:endParaRPr lang="en-US" dirty="0"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Избор на типа на изключението</a:t>
            </a:r>
            <a:endParaRPr lang="en-US" dirty="0"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Препоръки при работа с изключения</a:t>
            </a:r>
            <a:endParaRPr lang="en-US" dirty="0">
              <a:latin typeface="Comfortaa" pitchFamily="2" charset="0"/>
            </a:endParaRPr>
          </a:p>
          <a:p>
            <a:pPr marL="452438" indent="-452438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Създаване на потребителски изключения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211437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sz="3400" dirty="0">
                <a:latin typeface="Comfortaa" pitchFamily="2" charset="0"/>
              </a:rPr>
              <a:t>Изк</a:t>
            </a:r>
            <a:r>
              <a:rPr lang="bg-BG" dirty="0">
                <a:latin typeface="Comfortaa" pitchFamily="2" charset="0"/>
              </a:rPr>
              <a:t>люченията се хвърлят </a:t>
            </a:r>
            <a:r>
              <a:rPr lang="en-US" sz="3400" dirty="0">
                <a:latin typeface="Comfortaa" pitchFamily="2" charset="0"/>
              </a:rPr>
              <a:t>(</a:t>
            </a:r>
            <a:r>
              <a:rPr lang="bg-BG" sz="3400" dirty="0">
                <a:latin typeface="Comfortaa" pitchFamily="2" charset="0"/>
              </a:rPr>
              <a:t>пораждат</a:t>
            </a:r>
            <a:r>
              <a:rPr lang="en-US" sz="3400" dirty="0">
                <a:latin typeface="Comfortaa" pitchFamily="2" charset="0"/>
              </a:rPr>
              <a:t>) </a:t>
            </a:r>
            <a:r>
              <a:rPr lang="bg-BG" sz="3400" dirty="0">
                <a:latin typeface="Comfortaa" pitchFamily="2" charset="0"/>
              </a:rPr>
              <a:t>чрез командата</a:t>
            </a:r>
            <a:r>
              <a:rPr lang="en-US" sz="3400" dirty="0">
                <a:latin typeface="Comfortaa" pitchFamily="2" charset="0"/>
              </a:rPr>
              <a:t> </a:t>
            </a:r>
            <a:r>
              <a:rPr lang="en-US" sz="3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throw</a:t>
            </a:r>
            <a:endParaRPr lang="en-US" sz="3400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Целта е уведомяване на кода, извикал текущия програмен блок, за грешка или друга необичайна ситуация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се  хвърля изключение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Изпълнението на програмата спира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Изключението пътува през стека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Докато не достигне подходящ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catch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блок, който да го прихване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Неприхванатите</a:t>
            </a:r>
            <a:r>
              <a:rPr lang="bg-BG" dirty="0">
                <a:latin typeface="Comfortaa" pitchFamily="2" charset="0"/>
              </a:rPr>
              <a:t> изключения извеждат съобщение за грешка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Хвърляне на изключения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2FFEE54E-5178-472A-943A-AAA5E2E8F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94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Curved Connector 111"/>
          <p:cNvCxnSpPr>
            <a:stCxn id="83" idx="0"/>
            <a:endCxn id="104" idx="0"/>
          </p:cNvCxnSpPr>
          <p:nvPr/>
        </p:nvCxnSpPr>
        <p:spPr>
          <a:xfrm rot="16200000" flipH="1">
            <a:off x="4835157" y="-830579"/>
            <a:ext cx="2530" cy="5307218"/>
          </a:xfrm>
          <a:prstGeom prst="curvedConnector3">
            <a:avLst>
              <a:gd name="adj1" fmla="val -18447634"/>
            </a:avLst>
          </a:prstGeom>
          <a:noFill/>
          <a:ln w="25400">
            <a:solidFill>
              <a:schemeClr val="tx1"/>
            </a:solidFill>
            <a:round/>
            <a:headEnd type="none" w="lg" len="lg"/>
            <a:tailEnd type="stealth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cxnSp>
        <p:nvCxnSpPr>
          <p:cNvPr id="65" name="AutoShape 44"/>
          <p:cNvCxnSpPr>
            <a:cxnSpLocks noChangeShapeType="1"/>
          </p:cNvCxnSpPr>
          <p:nvPr/>
        </p:nvCxnSpPr>
        <p:spPr bwMode="auto">
          <a:xfrm flipH="1" flipV="1">
            <a:off x="3146428" y="3756710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none" w="lg" len="lg"/>
            <a:tailEnd type="stealth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cxnSp>
        <p:nvCxnSpPr>
          <p:cNvPr id="74" name="AutoShape 44"/>
          <p:cNvCxnSpPr>
            <a:cxnSpLocks noChangeShapeType="1"/>
          </p:cNvCxnSpPr>
          <p:nvPr/>
        </p:nvCxnSpPr>
        <p:spPr bwMode="auto">
          <a:xfrm flipH="1" flipV="1">
            <a:off x="3146428" y="2908985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none" w="lg" len="lg"/>
            <a:tailEnd type="stealth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cxnSp>
        <p:nvCxnSpPr>
          <p:cNvPr id="82" name="AutoShape 44"/>
          <p:cNvCxnSpPr>
            <a:cxnSpLocks noChangeShapeType="1"/>
          </p:cNvCxnSpPr>
          <p:nvPr/>
        </p:nvCxnSpPr>
        <p:spPr bwMode="auto">
          <a:xfrm flipH="1" flipV="1">
            <a:off x="3146428" y="2063790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none" w="lg" len="lg"/>
            <a:tailEnd type="stealth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908"/>
            <a:ext cx="12175974" cy="940306"/>
          </a:xfrm>
        </p:spPr>
        <p:txBody>
          <a:bodyPr/>
          <a:lstStyle/>
          <a:p>
            <a:pPr algn="ctr"/>
            <a:r>
              <a:rPr lang="bg-BG" dirty="0">
                <a:latin typeface="Comfortaa" pitchFamily="2" charset="0"/>
              </a:rPr>
              <a:t>Как работят изключенията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19200" y="4250642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Main()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9200" y="3438487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latin typeface="Comfortaa" pitchFamily="2" charset="0"/>
                <a:cs typeface="Consolas" pitchFamily="49" charset="0"/>
              </a:rPr>
              <a:t>Метод </a:t>
            </a:r>
            <a:r>
              <a:rPr lang="en-US" sz="2000" b="1" noProof="1">
                <a:latin typeface="Comfortaa" pitchFamily="2" charset="0"/>
                <a:cs typeface="Consolas" pitchFamily="49" charset="0"/>
              </a:rPr>
              <a:t>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19200" y="2628862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latin typeface="Comfortaa" pitchFamily="2" charset="0"/>
                <a:cs typeface="Consolas" pitchFamily="49" charset="0"/>
              </a:rPr>
              <a:t>Метод </a:t>
            </a:r>
            <a:r>
              <a:rPr lang="en-US" sz="2000" b="1" noProof="1">
                <a:latin typeface="Comfortaa" pitchFamily="2" charset="0"/>
                <a:cs typeface="Consolas" pitchFamily="49" charset="0"/>
              </a:rPr>
              <a:t>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219200" y="1821766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latin typeface="Comfortaa" pitchFamily="2" charset="0"/>
                <a:cs typeface="Consolas" pitchFamily="49" charset="0"/>
              </a:rPr>
              <a:t>Метод </a:t>
            </a:r>
            <a:r>
              <a:rPr lang="en-US" sz="2000" b="1" noProof="1">
                <a:latin typeface="Comfortaa" pitchFamily="2" charset="0"/>
                <a:cs typeface="Consolas" pitchFamily="49" charset="0"/>
              </a:rPr>
              <a:t>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71045" y="3792143"/>
            <a:ext cx="179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2. </a:t>
            </a:r>
            <a:r>
              <a:rPr lang="bg-BG" b="1" dirty="0">
                <a:latin typeface="Comfortaa" pitchFamily="2" charset="0"/>
              </a:rPr>
              <a:t>Извикване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на метод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48791" y="2907328"/>
            <a:ext cx="1798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3. </a:t>
            </a:r>
            <a:r>
              <a:rPr lang="bg-BG" b="1" dirty="0">
                <a:latin typeface="Comfortaa" pitchFamily="2" charset="0"/>
              </a:rPr>
              <a:t>Извикване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на метод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871045" y="2083177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4. </a:t>
            </a:r>
            <a:r>
              <a:rPr lang="bg-BG" b="1" dirty="0">
                <a:latin typeface="Comfortaa" pitchFamily="2" charset="0"/>
              </a:rPr>
              <a:t>Извикване 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на метод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22693" y="2212290"/>
            <a:ext cx="515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fortaa" pitchFamily="2" charset="0"/>
              </a:rPr>
              <a:t>…</a:t>
            </a:r>
            <a:endParaRPr lang="en-US" b="1" dirty="0">
              <a:latin typeface="Comfortaa" pitchFamily="2" charset="0"/>
            </a:endParaRPr>
          </a:p>
        </p:txBody>
      </p:sp>
      <p:cxnSp>
        <p:nvCxnSpPr>
          <p:cNvPr id="98" name="AutoShape 44"/>
          <p:cNvCxnSpPr>
            <a:cxnSpLocks noChangeShapeType="1"/>
          </p:cNvCxnSpPr>
          <p:nvPr/>
        </p:nvCxnSpPr>
        <p:spPr bwMode="auto">
          <a:xfrm flipH="1" flipV="1">
            <a:off x="8453645" y="3759240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cxnSp>
        <p:nvCxnSpPr>
          <p:cNvPr id="99" name="AutoShape 44"/>
          <p:cNvCxnSpPr>
            <a:cxnSpLocks noChangeShapeType="1"/>
          </p:cNvCxnSpPr>
          <p:nvPr/>
        </p:nvCxnSpPr>
        <p:spPr bwMode="auto">
          <a:xfrm flipH="1" flipV="1">
            <a:off x="8453645" y="2911515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cxnSp>
        <p:nvCxnSpPr>
          <p:cNvPr id="100" name="AutoShape 44"/>
          <p:cNvCxnSpPr>
            <a:cxnSpLocks noChangeShapeType="1"/>
          </p:cNvCxnSpPr>
          <p:nvPr/>
        </p:nvCxnSpPr>
        <p:spPr bwMode="auto">
          <a:xfrm flipH="1" flipV="1">
            <a:off x="8453645" y="2066320"/>
            <a:ext cx="2671" cy="720000"/>
          </a:xfrm>
          <a:prstGeom prst="curvedConnector3">
            <a:avLst>
              <a:gd name="adj1" fmla="val -23397174"/>
            </a:avLst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sp>
        <p:nvSpPr>
          <p:cNvPr id="101" name="Rounded Rectangle 100"/>
          <p:cNvSpPr/>
          <p:nvPr/>
        </p:nvSpPr>
        <p:spPr>
          <a:xfrm>
            <a:off x="6526418" y="4253172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Main()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26418" y="3441017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Method 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26418" y="2631392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Method 2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26418" y="1824297"/>
            <a:ext cx="1927226" cy="483245"/>
          </a:xfrm>
          <a:prstGeom prst="roundRect">
            <a:avLst>
              <a:gd name="adj" fmla="val 1031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Method 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18871" y="3746197"/>
            <a:ext cx="1766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8. </a:t>
            </a:r>
            <a:r>
              <a:rPr lang="bg-BG" b="1" dirty="0">
                <a:latin typeface="Comfortaa" pitchFamily="2" charset="0"/>
              </a:rPr>
              <a:t>Търси 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 err="1">
                <a:latin typeface="Comfortaa" pitchFamily="2" charset="0"/>
              </a:rPr>
              <a:t>обработчик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118871" y="2901002"/>
            <a:ext cx="1766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7. </a:t>
            </a:r>
            <a:r>
              <a:rPr lang="bg-BG" b="1" dirty="0">
                <a:latin typeface="Comfortaa" pitchFamily="2" charset="0"/>
              </a:rPr>
              <a:t>Търси 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 err="1">
                <a:latin typeface="Comfortaa" pitchFamily="2" charset="0"/>
              </a:rPr>
              <a:t>обработчик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9137161" y="2053277"/>
            <a:ext cx="1834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6. </a:t>
            </a:r>
            <a:r>
              <a:rPr lang="bg-BG" b="1" dirty="0">
                <a:latin typeface="Comfortaa" pitchFamily="2" charset="0"/>
              </a:rPr>
              <a:t>Търси 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 err="1">
                <a:latin typeface="Comfortaa" pitchFamily="2" charset="0"/>
              </a:rPr>
              <a:t>обработчик</a:t>
            </a:r>
            <a:r>
              <a:rPr lang="bg-BG" b="1" noProof="1">
                <a:latin typeface="Comfortaa" pitchFamily="2" charset="0"/>
                <a:cs typeface="Consolas" pitchFamily="49" charset="0"/>
              </a:rPr>
              <a:t> 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229910" y="2214820"/>
            <a:ext cx="515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fortaa" pitchFamily="2" charset="0"/>
              </a:rPr>
              <a:t>…</a:t>
            </a:r>
            <a:endParaRPr lang="en-US" b="1" dirty="0">
              <a:latin typeface="Comfortaa" pitchFamily="2" charset="0"/>
            </a:endParaRPr>
          </a:p>
        </p:txBody>
      </p:sp>
      <p:cxnSp>
        <p:nvCxnSpPr>
          <p:cNvPr id="109" name="AutoShape 44"/>
          <p:cNvCxnSpPr>
            <a:cxnSpLocks noChangeShapeType="1"/>
            <a:stCxn id="116" idx="0"/>
            <a:endCxn id="101" idx="2"/>
          </p:cNvCxnSpPr>
          <p:nvPr/>
        </p:nvCxnSpPr>
        <p:spPr bwMode="auto">
          <a:xfrm flipV="1">
            <a:off x="5813761" y="4736417"/>
            <a:ext cx="1676271" cy="515551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sp>
        <p:nvSpPr>
          <p:cNvPr id="115" name="TextBox 114"/>
          <p:cNvSpPr txBox="1"/>
          <p:nvPr/>
        </p:nvSpPr>
        <p:spPr>
          <a:xfrm>
            <a:off x="3326647" y="971550"/>
            <a:ext cx="359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5. </a:t>
            </a:r>
            <a:r>
              <a:rPr lang="bg-BG" b="1" dirty="0">
                <a:latin typeface="Comfortaa" pitchFamily="2" charset="0"/>
              </a:rPr>
              <a:t>Хвърляне на изключение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16" name="Cloud 115"/>
          <p:cNvSpPr/>
          <p:nvPr/>
        </p:nvSpPr>
        <p:spPr>
          <a:xfrm>
            <a:off x="4088448" y="4743450"/>
            <a:ext cx="1726750" cy="1017032"/>
          </a:xfrm>
          <a:prstGeom prst="cloud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latin typeface="Comfortaa" pitchFamily="2" charset="0"/>
                <a:cs typeface="Consolas" pitchFamily="49" charset="0"/>
              </a:rPr>
              <a:t>.NET CLR</a:t>
            </a:r>
          </a:p>
        </p:txBody>
      </p:sp>
      <p:cxnSp>
        <p:nvCxnSpPr>
          <p:cNvPr id="118" name="Curved Connector 117"/>
          <p:cNvCxnSpPr>
            <a:stCxn id="116" idx="2"/>
            <a:endCxn id="72" idx="2"/>
          </p:cNvCxnSpPr>
          <p:nvPr/>
        </p:nvCxnSpPr>
        <p:spPr>
          <a:xfrm rot="10800000">
            <a:off x="2182814" y="4733888"/>
            <a:ext cx="1910990" cy="518081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stealth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sp>
        <p:nvSpPr>
          <p:cNvPr id="120" name="TextBox 119"/>
          <p:cNvSpPr txBox="1"/>
          <p:nvPr/>
        </p:nvSpPr>
        <p:spPr>
          <a:xfrm rot="809375">
            <a:off x="1944882" y="5149556"/>
            <a:ext cx="2090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omfortaa" pitchFamily="2" charset="0"/>
              </a:rPr>
              <a:t>1. </a:t>
            </a:r>
            <a:r>
              <a:rPr lang="bg-BG" b="1" dirty="0">
                <a:latin typeface="Comfortaa" pitchFamily="2" charset="0"/>
              </a:rPr>
              <a:t>Изпълняваме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програмата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 rot="20288132">
            <a:off x="6357051" y="5067503"/>
            <a:ext cx="1766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mfortaa" pitchFamily="2" charset="0"/>
              </a:rPr>
              <a:t>9. </a:t>
            </a:r>
            <a:r>
              <a:rPr lang="bg-BG" b="1" dirty="0">
                <a:latin typeface="Comfortaa" pitchFamily="2" charset="0"/>
              </a:rPr>
              <a:t>Търси 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 err="1">
                <a:latin typeface="Comfortaa" pitchFamily="2" charset="0"/>
              </a:rPr>
              <a:t>обработчик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 rot="369246">
            <a:off x="4847152" y="6073317"/>
            <a:ext cx="3126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omfortaa" pitchFamily="2" charset="0"/>
              </a:rPr>
              <a:t>10. </a:t>
            </a:r>
            <a:r>
              <a:rPr lang="bg-BG" b="1" dirty="0">
                <a:latin typeface="Comfortaa" pitchFamily="2" charset="0"/>
              </a:rPr>
              <a:t>Извежда съобщение</a:t>
            </a:r>
            <a:br>
              <a:rPr lang="bg-BG" b="1" dirty="0">
                <a:latin typeface="Comfortaa" pitchFamily="2" charset="0"/>
              </a:rPr>
            </a:br>
            <a:r>
              <a:rPr lang="bg-BG" b="1" dirty="0">
                <a:latin typeface="Comfortaa" pitchFamily="2" charset="0"/>
              </a:rPr>
              <a:t>за грешка</a:t>
            </a:r>
            <a:endParaRPr lang="en-US" b="1" dirty="0">
              <a:latin typeface="Comfortaa" pitchFamily="2" charset="0"/>
            </a:endParaRPr>
          </a:p>
        </p:txBody>
      </p:sp>
      <p:cxnSp>
        <p:nvCxnSpPr>
          <p:cNvPr id="126" name="AutoShape 44"/>
          <p:cNvCxnSpPr>
            <a:cxnSpLocks noChangeShapeType="1"/>
            <a:endCxn id="116" idx="1"/>
          </p:cNvCxnSpPr>
          <p:nvPr/>
        </p:nvCxnSpPr>
        <p:spPr bwMode="auto">
          <a:xfrm rot="10800000">
            <a:off x="4951823" y="5759402"/>
            <a:ext cx="3402714" cy="336601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ffectLst>
            <a:outerShdw dist="12700" dir="2700000" algn="ctr" rotWithShape="0">
              <a:schemeClr val="bg1">
                <a:lumMod val="75000"/>
                <a:lumOff val="25000"/>
              </a:schemeClr>
            </a:outerShdw>
          </a:effectLst>
        </p:spPr>
      </p:cxnSp>
      <p:pic>
        <p:nvPicPr>
          <p:cNvPr id="3121" name="Picture 49" descr="C:\Trash\CLR-exception-dialog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537" y="5469302"/>
            <a:ext cx="3009321" cy="10457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680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14880"/>
            <a:ext cx="10448630" cy="5026437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bg-BG" sz="2000" b="1" dirty="0">
                <a:solidFill>
                  <a:srgbClr val="00B0F0"/>
                </a:solidFill>
                <a:latin typeface="Comfortaa" pitchFamily="2" charset="0"/>
              </a:rPr>
              <a:t>Хвърляне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на изключение със съобщение за грешка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spcBef>
                <a:spcPct val="3000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3000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r>
              <a:rPr lang="bg-BG" sz="2000" dirty="0">
                <a:latin typeface="Comfortaa" pitchFamily="2" charset="0"/>
              </a:rPr>
              <a:t>Изключението може да приема съобщение и причина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2000" dirty="0">
              <a:latin typeface="Comfortaa" pitchFamily="2" charset="0"/>
            </a:endParaRPr>
          </a:p>
          <a:p>
            <a:pPr>
              <a:spcBef>
                <a:spcPct val="0"/>
              </a:spcBef>
            </a:pPr>
            <a:endParaRPr lang="en-US" sz="4000" dirty="0">
              <a:latin typeface="Comfortaa" pitchFamily="2" charset="0"/>
            </a:endParaRPr>
          </a:p>
          <a:p>
            <a:r>
              <a:rPr lang="bg-BG" sz="2000" dirty="0">
                <a:latin typeface="Comfortaa" pitchFamily="2" charset="0"/>
              </a:rPr>
              <a:t>Бележка: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ако и оригиналното изключение не бъде подадено като параметър, ще загубим първоначалната причина за изключението</a:t>
            </a:r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2126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Използване на командата </a:t>
            </a:r>
            <a:r>
              <a:rPr lang="en-US" dirty="0">
                <a:latin typeface="Comfortaa" pitchFamily="2" charset="0"/>
              </a:rPr>
              <a:t>Throw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64228" name="Rectangle 4"/>
          <p:cNvSpPr>
            <a:spLocks noChangeArrowheads="1"/>
          </p:cNvSpPr>
          <p:nvPr/>
        </p:nvSpPr>
        <p:spPr bwMode="auto">
          <a:xfrm>
            <a:off x="905170" y="2080859"/>
            <a:ext cx="10269509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throw new ArgumentException("Invalid amount!");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05169" y="3086061"/>
            <a:ext cx="10269509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(SqlException sqlEx)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throw new InvalidOperationException("Cannot save invoice.", sqlEx);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17548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5" name="Rectangle 3"/>
          <p:cNvSpPr>
            <a:spLocks noGrp="1" noChangeArrowheads="1"/>
          </p:cNvSpPr>
          <p:nvPr>
            <p:ph idx="1"/>
          </p:nvPr>
        </p:nvSpPr>
        <p:spPr>
          <a:xfrm>
            <a:off x="812827" y="1139138"/>
            <a:ext cx="11068435" cy="53762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sz="2400" dirty="0">
                <a:latin typeface="Comfortaa" pitchFamily="2" charset="0"/>
              </a:rPr>
              <a:t>Прихванатите изключения може да бъдат хвърлени наново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72581" y="172029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Повторно хвърляне на изключение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12827" y="1785879"/>
            <a:ext cx="10464773" cy="31393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Int32.Parse(str);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(FormatException fe)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Console.WriteLine("Parse failed!");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throw fe; // Re-throw the caught exception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3408" y="5106650"/>
            <a:ext cx="10464773" cy="14465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catch (FormatException)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throw; // Re-throws the last caught exception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81310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39028" y="365126"/>
            <a:ext cx="10414771" cy="777876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Хвърляне на изключения – пример</a:t>
            </a:r>
          </a:p>
        </p:txBody>
      </p:sp>
      <p:sp>
        <p:nvSpPr>
          <p:cNvPr id="566275" name="Rectangle 3"/>
          <p:cNvSpPr>
            <a:spLocks noChangeArrowheads="1"/>
          </p:cNvSpPr>
          <p:nvPr/>
        </p:nvSpPr>
        <p:spPr bwMode="auto">
          <a:xfrm>
            <a:off x="939029" y="1143001"/>
            <a:ext cx="10337222" cy="53674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double Sqrt(double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alue)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if 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alue &lt; 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throw new System.ArgumentOutOfRangeException(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"value",</a:t>
            </a:r>
            <a:endParaRPr lang="bg-BG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"Sqrt for negative numbers is undefined!");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return Math.Sqrt(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alue);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static void Main()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try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Sqrt(-1);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catch (ArgumentOutOfRangeException ex)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Console.Error.WriteLine("Error: " + ex.Message);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throw;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lnSpc>
                <a:spcPct val="7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35934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202750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Когато се подаде невалидна стойност в параметър на метод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ArgumentException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ArgumentNullException</a:t>
            </a:r>
            <a:r>
              <a:rPr lang="en-US" sz="3000" dirty="0">
                <a:solidFill>
                  <a:srgbClr val="00B0F0"/>
                </a:solidFill>
                <a:latin typeface="Comfortaa" pitchFamily="2" charset="0"/>
              </a:rPr>
              <a:t>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ArgumentOutOfRangeException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Когато заявената операция не се поддържа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NotSupportedException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Когато методът все още не е реализиран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sz="30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NotImplementedException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Когато няма друг подходящ стандартен клас изключения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Създайте ваш собствен клас </a:t>
            </a:r>
            <a:r>
              <a:rPr lang="en-US" sz="3000" dirty="0">
                <a:latin typeface="Comfortaa" pitchFamily="2" charset="0"/>
              </a:rPr>
              <a:t>(</a:t>
            </a:r>
            <a:r>
              <a:rPr lang="bg-BG" sz="3000" dirty="0">
                <a:latin typeface="Comfortaa" pitchFamily="2" charset="0"/>
              </a:rPr>
              <a:t>наследяващ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en-US" sz="3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Exception</a:t>
            </a:r>
            <a:r>
              <a:rPr lang="en-US" sz="3000" dirty="0">
                <a:latin typeface="Comfortaa" pitchFamily="2" charset="0"/>
              </a:rPr>
              <a:t>)</a:t>
            </a:r>
            <a:endParaRPr lang="en-US" sz="3000" noProof="1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67006"/>
            <a:ext cx="10918371" cy="1325563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Избиране на типа на изключението</a:t>
            </a:r>
            <a:endParaRPr lang="en-US" sz="40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90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1" name="Rectangle 3"/>
          <p:cNvSpPr>
            <a:spLocks noGrp="1" noChangeArrowheads="1"/>
          </p:cNvSpPr>
          <p:nvPr>
            <p:ph idx="1"/>
          </p:nvPr>
        </p:nvSpPr>
        <p:spPr>
          <a:xfrm>
            <a:off x="885701" y="164749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catch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блоковете трябва да започват с изключенията, които са най-ниско в йерархията (т.е. с най-специфичните)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 да продължават с по-общите изключения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противен случай ще има грешка при компилация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Всеки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catch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трябва да обработва само тези изключения, които очаква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Ако метод не е компетентен да обработи дадено изключение, той би трябвало да го остави </a:t>
            </a:r>
            <a:r>
              <a:rPr lang="bg-BG" dirty="0" err="1">
                <a:latin typeface="Comfortaa" pitchFamily="2" charset="0"/>
              </a:rPr>
              <a:t>неприхванато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Прихващането на всички изключения, независимо от какъв тип са, е популярна лоша практика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 err="1">
                <a:latin typeface="Comfortaa" pitchFamily="2" charset="0"/>
              </a:rPr>
              <a:t>анти</a:t>
            </a:r>
            <a:r>
              <a:rPr lang="bg-BG" dirty="0">
                <a:latin typeface="Comfortaa" pitchFamily="2" charset="0"/>
              </a:rPr>
              <a:t>-шаблон</a:t>
            </a:r>
            <a:r>
              <a:rPr lang="en-US" dirty="0">
                <a:latin typeface="Comfortaa" pitchFamily="2" charset="0"/>
              </a:rPr>
              <a:t>)!</a:t>
            </a:r>
          </a:p>
        </p:txBody>
      </p:sp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18563"/>
            <a:ext cx="10515600" cy="1325563"/>
          </a:xfrm>
        </p:spPr>
        <p:txBody>
          <a:bodyPr>
            <a:normAutofit/>
          </a:bodyPr>
          <a:lstStyle/>
          <a:p>
            <a:r>
              <a:rPr lang="bg-BG" sz="3400" b="1" dirty="0">
                <a:latin typeface="Comfortaa" pitchFamily="2" charset="0"/>
              </a:rPr>
              <a:t>Препоръки при работа с изключения</a:t>
            </a:r>
            <a:r>
              <a:rPr lang="en-US" sz="3400" b="1" dirty="0">
                <a:latin typeface="Comfortaa" pitchFamily="2" charset="0"/>
              </a:rPr>
              <a:t> [1/3]</a:t>
            </a:r>
            <a:endParaRPr lang="bg-BG" sz="34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31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>
                <a:latin typeface="Comfortaa" pitchFamily="2" charset="0"/>
              </a:rPr>
              <a:t>Когато генерирате изключение, винаги подавайте на конструктора достатъчно </a:t>
            </a:r>
            <a:r>
              <a:rPr lang="bg-BG" dirty="0" err="1">
                <a:latin typeface="Comfortaa" pitchFamily="2" charset="0"/>
              </a:rPr>
              <a:t>говорящо</a:t>
            </a:r>
            <a:r>
              <a:rPr lang="bg-BG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пояснително съобщение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хвърляте изключение, винаги подавайте добро описание на проблема, който го е предизвикал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Съобщението на изключението трябва да обяснява какво е породило проблема и как той може да бъде решен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Добро</a:t>
            </a:r>
            <a:r>
              <a:rPr lang="en-US" dirty="0">
                <a:latin typeface="Comfortaa" pitchFamily="2" charset="0"/>
              </a:rPr>
              <a:t>: „</a:t>
            </a:r>
            <a:r>
              <a:rPr lang="bg-BG" i="1" dirty="0">
                <a:latin typeface="Comfortaa" pitchFamily="2" charset="0"/>
              </a:rPr>
              <a:t>Размерът трябва  да е число в диапазона</a:t>
            </a:r>
            <a:r>
              <a:rPr lang="en-US" i="1" dirty="0">
                <a:latin typeface="Comfortaa" pitchFamily="2" charset="0"/>
              </a:rPr>
              <a:t> [1…15]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Добро</a:t>
            </a:r>
            <a:r>
              <a:rPr lang="en-US" dirty="0">
                <a:latin typeface="Comfortaa" pitchFamily="2" charset="0"/>
              </a:rPr>
              <a:t>: „</a:t>
            </a:r>
            <a:r>
              <a:rPr lang="bg-BG" i="1" dirty="0">
                <a:latin typeface="Comfortaa" pitchFamily="2" charset="0"/>
              </a:rPr>
              <a:t>Невалидно състояние. Извикайте първо </a:t>
            </a:r>
            <a:r>
              <a:rPr lang="en-US" i="1" dirty="0">
                <a:latin typeface="Comfortaa" pitchFamily="2" charset="0"/>
              </a:rPr>
              <a:t>Initialize()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Лошо</a:t>
            </a:r>
            <a:r>
              <a:rPr lang="en-US" dirty="0">
                <a:latin typeface="Comfortaa" pitchFamily="2" charset="0"/>
              </a:rPr>
              <a:t>: „</a:t>
            </a:r>
            <a:r>
              <a:rPr lang="bg-BG" i="1" dirty="0">
                <a:latin typeface="Comfortaa" pitchFamily="2" charset="0"/>
              </a:rPr>
              <a:t>Неочакван проблем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Лошо</a:t>
            </a:r>
            <a:r>
              <a:rPr lang="en-US" dirty="0">
                <a:latin typeface="Comfortaa" pitchFamily="2" charset="0"/>
              </a:rPr>
              <a:t>: „</a:t>
            </a:r>
            <a:r>
              <a:rPr lang="bg-BG" i="1" dirty="0">
                <a:latin typeface="Comfortaa" pitchFamily="2" charset="0"/>
              </a:rPr>
              <a:t>Невалиден аргумент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bg-BG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pic>
        <p:nvPicPr>
          <p:cNvPr id="13" name="Picture 2" descr="accept, accord, check, correct, green, ok, success, yes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727" y="3984874"/>
            <a:ext cx="1230782" cy="9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ancel, close, cross, delete, exit, no, remove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727" y="5289337"/>
            <a:ext cx="1230782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31FFEA3-C025-EB79-225A-C492BF769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18563"/>
            <a:ext cx="10515600" cy="1325563"/>
          </a:xfrm>
        </p:spPr>
        <p:txBody>
          <a:bodyPr>
            <a:normAutofit/>
          </a:bodyPr>
          <a:lstStyle/>
          <a:p>
            <a:r>
              <a:rPr lang="bg-BG" sz="3400" b="1" dirty="0">
                <a:latin typeface="Comfortaa" pitchFamily="2" charset="0"/>
              </a:rPr>
              <a:t>Препоръки при работа с изключения</a:t>
            </a:r>
            <a:r>
              <a:rPr lang="en-US" sz="3400" b="1" dirty="0">
                <a:latin typeface="Comfortaa" pitchFamily="2" charset="0"/>
              </a:rPr>
              <a:t> [2/3]</a:t>
            </a:r>
            <a:endParaRPr lang="bg-BG" sz="34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18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Изключенията може да намалят производителността на приложението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Затова ги хвърляйте само в ситуации, които са наистина необичайни и трябва да бъдат обработени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Не хвърляйте изключения при нормалната работа на програма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Comfortaa" pitchFamily="2" charset="0"/>
              </a:rPr>
              <a:t>CLR </a:t>
            </a:r>
            <a:r>
              <a:rPr lang="bg-BG" dirty="0">
                <a:latin typeface="Comfortaa" pitchFamily="2" charset="0"/>
              </a:rPr>
              <a:t>може да хвърли изключения по всяко време, няма как да бъде предвидено това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System.OutOfMemoryException</a:t>
            </a:r>
            <a:endParaRPr lang="bg-BG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9BEA06C-7895-4B1F-965E-F2B538B67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5BC8605-DFC8-2FC8-80B5-931632238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18563"/>
            <a:ext cx="10515600" cy="1325563"/>
          </a:xfrm>
        </p:spPr>
        <p:txBody>
          <a:bodyPr>
            <a:normAutofit/>
          </a:bodyPr>
          <a:lstStyle/>
          <a:p>
            <a:r>
              <a:rPr lang="bg-BG" sz="3400" b="1" dirty="0">
                <a:latin typeface="Comfortaa" pitchFamily="2" charset="0"/>
              </a:rPr>
              <a:t>Препоръки при работа с изключения</a:t>
            </a:r>
            <a:r>
              <a:rPr lang="en-US" sz="3400" b="1" dirty="0">
                <a:latin typeface="Comfortaa" pitchFamily="2" charset="0"/>
              </a:rPr>
              <a:t> [3/3]</a:t>
            </a:r>
            <a:endParaRPr lang="bg-BG" sz="34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5191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48" y="1576243"/>
            <a:ext cx="10515600" cy="4351338"/>
          </a:xfrm>
        </p:spPr>
        <p:txBody>
          <a:bodyPr>
            <a:normAutofit/>
          </a:bodyPr>
          <a:lstStyle/>
          <a:p>
            <a:r>
              <a:rPr lang="bg-BG" sz="1800" dirty="0">
                <a:latin typeface="Comfortaa" pitchFamily="2" charset="0"/>
              </a:rPr>
              <a:t>Потребителските изключения наследяват някой от класовете изключения </a:t>
            </a:r>
            <a:r>
              <a:rPr lang="en-US" sz="1800" dirty="0">
                <a:latin typeface="Comfortaa" pitchFamily="2" charset="0"/>
              </a:rPr>
              <a:t>(</a:t>
            </a:r>
            <a:r>
              <a:rPr lang="bg-BG" sz="1800" dirty="0">
                <a:latin typeface="Comfortaa" pitchFamily="2" charset="0"/>
              </a:rPr>
              <a:t>най-често </a:t>
            </a:r>
            <a:r>
              <a:rPr lang="en-US" sz="18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System.Exception</a:t>
            </a:r>
            <a:r>
              <a:rPr lang="en-US" sz="1800" dirty="0">
                <a:latin typeface="Comfortaa" pitchFamily="2" charset="0"/>
              </a:rPr>
              <a:t>)</a:t>
            </a: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endParaRPr lang="en-US" sz="1800" dirty="0">
              <a:latin typeface="Comfortaa" pitchFamily="2" charset="0"/>
            </a:endParaRPr>
          </a:p>
          <a:p>
            <a:r>
              <a:rPr lang="bg-BG" sz="2000" dirty="0">
                <a:latin typeface="Comfortaa" pitchFamily="2" charset="0"/>
              </a:rPr>
              <a:t>Те се хвърлят като всяко друго изключение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Създаване на потребителски изключения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48883" y="2324594"/>
            <a:ext cx="9597346" cy="256993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TankException : Exception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TankException(string msg)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: base(msg)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50759" y="5677394"/>
            <a:ext cx="9597346" cy="44627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3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throw new TankException("Not enough fuel to travel");</a:t>
            </a:r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A4463B44-7C9D-4A50-9275-8DBA2A820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52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1011</Words>
  <Application>Microsoft Office PowerPoint</Application>
  <PresentationFormat>Widescreen</PresentationFormat>
  <Paragraphs>186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Office Theme</vt:lpstr>
      <vt:lpstr>Хвърляне на изключения</vt:lpstr>
      <vt:lpstr>Съдържание</vt:lpstr>
      <vt:lpstr>Хвърляне на изключения</vt:lpstr>
      <vt:lpstr>Как работят изключенията?</vt:lpstr>
      <vt:lpstr>Използване на командата Throw</vt:lpstr>
      <vt:lpstr>Повторно хвърляне на изключение</vt:lpstr>
      <vt:lpstr>Хвърляне на изключения – пример</vt:lpstr>
      <vt:lpstr>Избиране на типа на изключението</vt:lpstr>
      <vt:lpstr>Препоръки при работа с изключения [1/3]</vt:lpstr>
      <vt:lpstr>Препоръки при работа с изключения [2/3]</vt:lpstr>
      <vt:lpstr>Препоръки при работа с изключения [3/3]</vt:lpstr>
      <vt:lpstr>Създаване на потребителски изключения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12</cp:revision>
  <dcterms:created xsi:type="dcterms:W3CDTF">2022-08-09T09:25:46Z</dcterms:created>
  <dcterms:modified xsi:type="dcterms:W3CDTF">2022-09-20T07:20:28Z</dcterms:modified>
</cp:coreProperties>
</file>