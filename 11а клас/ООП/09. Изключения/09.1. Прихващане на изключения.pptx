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8" r:id="rId2"/>
    <p:sldId id="520" r:id="rId3"/>
    <p:sldId id="478" r:id="rId4"/>
    <p:sldId id="480" r:id="rId5"/>
    <p:sldId id="481" r:id="rId6"/>
    <p:sldId id="483" r:id="rId7"/>
    <p:sldId id="484" r:id="rId8"/>
    <p:sldId id="485" r:id="rId9"/>
    <p:sldId id="489" r:id="rId10"/>
    <p:sldId id="490" r:id="rId11"/>
    <p:sldId id="491" r:id="rId12"/>
    <p:sldId id="492" r:id="rId13"/>
    <p:sldId id="493" r:id="rId14"/>
    <p:sldId id="503" r:id="rId15"/>
    <p:sldId id="504" r:id="rId16"/>
    <p:sldId id="512" r:id="rId17"/>
    <p:sldId id="513" r:id="rId18"/>
    <p:sldId id="510" r:id="rId19"/>
    <p:sldId id="5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20"/>
          </p14:sldIdLst>
        </p14:section>
        <p14:section name="Съдържание" id="{0B0C01F3-1F60-4ADB-AC1E-9589654EAEF3}">
          <p14:sldIdLst>
            <p14:sldId id="478"/>
            <p14:sldId id="480"/>
            <p14:sldId id="481"/>
            <p14:sldId id="483"/>
            <p14:sldId id="484"/>
            <p14:sldId id="485"/>
            <p14:sldId id="489"/>
            <p14:sldId id="490"/>
            <p14:sldId id="491"/>
            <p14:sldId id="492"/>
            <p14:sldId id="493"/>
            <p14:sldId id="503"/>
            <p14:sldId id="504"/>
            <p14:sldId id="512"/>
            <p14:sldId id="513"/>
          </p14:sldIdLst>
        </p14:section>
        <p14:section name="Заключение" id="{9315BEE7-605C-4839-996A-A4EEA70921D9}">
          <p14:sldIdLst>
            <p14:sldId id="510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826142-E348-4799-B371-4FAF09E40D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73785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EE1E64-20FC-4D06-B2D9-D0477C9C9B6E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BCBD868-C8DE-4652-A18B-2A03E64463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359722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5882A2-37B3-4CA8-9793-FBC405D86674}" type="slidenum">
              <a:rPr lang="en-US"/>
              <a:pPr/>
              <a:t>4</a:t>
            </a:fld>
            <a:r>
              <a:rPr lang="en-US" dirty="0"/>
              <a:t>##</a:t>
            </a:r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90C4A105-4906-4EAB-9DFC-521AB0F3EB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9453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229CA6-5BB0-4430-A3FD-9E6B29777C56}" type="slidenum">
              <a:rPr lang="en-US"/>
              <a:pPr/>
              <a:t>8</a:t>
            </a:fld>
            <a:r>
              <a:rPr lang="en-US" dirty="0"/>
              <a:t>##</a:t>
            </a:r>
          </a:p>
        </p:txBody>
      </p:sp>
      <p:sp>
        <p:nvSpPr>
          <p:cNvPr id="54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7F6F3C4B-0DDD-47B2-9957-FC4DC5ACA1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91109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E1D4CE-86AF-45DA-8A9D-2B904CCC43F3}" type="slidenum">
              <a:rPr lang="en-US"/>
              <a:pPr/>
              <a:t>9</a:t>
            </a:fld>
            <a:r>
              <a:rPr lang="en-US" dirty="0"/>
              <a:t>##</a:t>
            </a:r>
          </a:p>
        </p:txBody>
      </p:sp>
      <p:sp>
        <p:nvSpPr>
          <p:cNvPr id="55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C803B9C8-C9C0-4F25-9AE5-7CDE02B3CA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47272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4A69B2-E48D-40A4-A868-56192CA06198}" type="slidenum">
              <a:rPr lang="en-US"/>
              <a:pPr/>
              <a:t>10</a:t>
            </a:fld>
            <a:r>
              <a:rPr lang="en-US" dirty="0"/>
              <a:t>##</a:t>
            </a:r>
          </a:p>
        </p:txBody>
      </p:sp>
      <p:sp>
        <p:nvSpPr>
          <p:cNvPr id="55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CCD89DD-6802-4B8B-A6D3-1CCC4A17FD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82931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69F979-6036-4AC6-9658-94B8622CB9C6}" type="slidenum">
              <a:rPr lang="en-US"/>
              <a:pPr/>
              <a:t>11</a:t>
            </a:fld>
            <a:r>
              <a:rPr lang="en-US" dirty="0"/>
              <a:t>##</a:t>
            </a:r>
          </a:p>
        </p:txBody>
      </p:sp>
      <p:sp>
        <p:nvSpPr>
          <p:cNvPr id="55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9035BE43-FE6B-49E6-AF1D-BA1C373742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19396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DABA3-5382-48D1-94EC-1651B196C235}" type="slidenum">
              <a:rPr lang="en-US"/>
              <a:pPr/>
              <a:t>12</a:t>
            </a:fld>
            <a:r>
              <a:rPr lang="en-US" dirty="0"/>
              <a:t>##</a:t>
            </a:r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4EC3ABA-9086-46BE-8D53-8EC3AED652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29334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5C244D-260F-4411-A724-694B843B705A}" type="slidenum">
              <a:rPr lang="en-US"/>
              <a:pPr/>
              <a:t>13</a:t>
            </a:fld>
            <a:r>
              <a:rPr lang="en-US" dirty="0"/>
              <a:t>##</a:t>
            </a:r>
          </a:p>
        </p:txBody>
      </p:sp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6C237D5-8AF7-494B-8481-B044D20CF6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04141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BDEC5F-A820-4C1A-AE57-56124B9DFBD3}" type="slidenum">
              <a:rPr lang="en-US"/>
              <a:pPr/>
              <a:t>14</a:t>
            </a:fld>
            <a:r>
              <a:rPr lang="en-US" dirty="0"/>
              <a:t>##</a:t>
            </a:r>
          </a:p>
        </p:txBody>
      </p:sp>
      <p:sp>
        <p:nvSpPr>
          <p:cNvPr id="64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0A4BA66-AD6E-42EC-9B55-4EF7CA75A5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30600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6CEA00-236F-49E8-9320-6F1A3663A681}" type="slidenum">
              <a:rPr lang="en-US"/>
              <a:pPr/>
              <a:t>15</a:t>
            </a:fld>
            <a:r>
              <a:rPr lang="en-US" dirty="0"/>
              <a:t>##</a:t>
            </a:r>
          </a:p>
        </p:txBody>
      </p:sp>
      <p:sp>
        <p:nvSpPr>
          <p:cNvPr id="64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7C6015B-14EB-460D-8969-A6FF7E8923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60846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Прихващане на изключения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Exceptions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81710" y="709509"/>
            <a:ext cx="10437404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1710" y="2035072"/>
            <a:ext cx="9997028" cy="3879297"/>
          </a:xfrm>
        </p:spPr>
        <p:txBody>
          <a:bodyPr>
            <a:normAutofit/>
          </a:bodyPr>
          <a:lstStyle/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Какво са изключенията</a:t>
            </a:r>
            <a:r>
              <a:rPr lang="en-US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Прихващане на изключения</a:t>
            </a: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Класът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System.Exception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Свойства на изключенията</a:t>
            </a:r>
            <a:endParaRPr lang="en-US" dirty="0">
              <a:latin typeface="Comfortaa" pitchFamily="2" charset="0"/>
            </a:endParaRP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Йерархия на изключенията в</a:t>
            </a:r>
            <a:r>
              <a:rPr lang="en-US" dirty="0">
                <a:latin typeface="Comfortaa" pitchFamily="2" charset="0"/>
              </a:rPr>
              <a:t> C#</a:t>
            </a:r>
            <a:endParaRPr lang="ru-RU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47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Изключенията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</a:t>
            </a:r>
            <a:r>
              <a:rPr lang="en-US" dirty="0">
                <a:latin typeface="Comfortaa" pitchFamily="2" charset="0"/>
              </a:rPr>
              <a:t> .NET Framework / Java </a:t>
            </a:r>
            <a:r>
              <a:rPr lang="bg-BG" dirty="0">
                <a:latin typeface="Comfortaa" pitchFamily="2" charset="0"/>
              </a:rPr>
              <a:t>са класическа реализация на модела на изключенията в ООП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Предоставят мощен механизъм за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централизирано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прихващане на грешки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необичайни събития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Заменят процедурно-ориентирания подход, при който всяка функция връща код за грешка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Опростяват изграждането и поддръжката на кода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Позволяват проблематични ситуации да бъдат обработени на множество нива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са изключенията</a:t>
            </a:r>
            <a:r>
              <a:rPr lang="en-US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8578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9" name="Rectangle 3"/>
          <p:cNvSpPr>
            <a:spLocks noGrp="1" noChangeArrowheads="1"/>
          </p:cNvSpPr>
          <p:nvPr>
            <p:ph idx="1"/>
          </p:nvPr>
        </p:nvSpPr>
        <p:spPr>
          <a:xfrm>
            <a:off x="624000" y="1533016"/>
            <a:ext cx="10944000" cy="48958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</a:t>
            </a:r>
            <a:r>
              <a:rPr lang="en-US" sz="2400" dirty="0">
                <a:latin typeface="Comfortaa" pitchFamily="2" charset="0"/>
              </a:rPr>
              <a:t> C# </a:t>
            </a:r>
            <a:r>
              <a:rPr lang="bg-BG" sz="2400" dirty="0">
                <a:latin typeface="Comfortaa" pitchFamily="2" charset="0"/>
              </a:rPr>
              <a:t>могат да бъдат прихванати чрез</a:t>
            </a:r>
            <a:r>
              <a:rPr lang="en-US" sz="2400" dirty="0">
                <a:solidFill>
                  <a:schemeClr val="tx2"/>
                </a:solidFill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try-catch-finally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конструкция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ru-RU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ru-RU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ru-RU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ru-RU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ru-RU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ru-RU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catch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ru-RU" sz="2400" dirty="0">
                <a:latin typeface="Comfortaa" pitchFamily="2" charset="0"/>
              </a:rPr>
              <a:t>блоковете </a:t>
            </a:r>
            <a:r>
              <a:rPr lang="bg-BG" sz="2400" dirty="0">
                <a:latin typeface="Comfortaa" pitchFamily="2" charset="0"/>
              </a:rPr>
              <a:t>могат да бъдат използвани многократно за обработка на различни типове изключения</a:t>
            </a:r>
            <a:endParaRPr lang="ru-RU" sz="2400" dirty="0">
              <a:latin typeface="Comfortaa" pitchFamily="2" charset="0"/>
            </a:endParaRPr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4000" y="451104"/>
            <a:ext cx="10944000" cy="94697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Прихващане на изключенията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966965" y="2518410"/>
            <a:ext cx="10043999" cy="26653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Вършим някаква работа, която може да породи изключение</a:t>
            </a: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SomeException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Прихващаме хвърленото изключение</a:t>
            </a: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792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28675" y="234497"/>
            <a:ext cx="10515600" cy="779595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Прихващане на изключения – пример</a:t>
            </a:r>
          </a:p>
        </p:txBody>
      </p:sp>
      <p:sp>
        <p:nvSpPr>
          <p:cNvPr id="533508" name="Rectangle 4"/>
          <p:cNvSpPr>
            <a:spLocks noChangeArrowheads="1"/>
          </p:cNvSpPr>
          <p:nvPr/>
        </p:nvSpPr>
        <p:spPr bwMode="auto">
          <a:xfrm>
            <a:off x="823698" y="1014092"/>
            <a:ext cx="10544603" cy="545207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string s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.Parse(s);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"You entered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valid Int32 number {0}.", s);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catch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(FormatException)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Console.WriteLine("Invalid integer number!");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catch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(OverflowException)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"The number is too big to fit in Int32!");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898735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3" name="Rectangle 3"/>
          <p:cNvSpPr>
            <a:spLocks noGrp="1" noChangeArrowheads="1"/>
          </p:cNvSpPr>
          <p:nvPr>
            <p:ph idx="1"/>
          </p:nvPr>
        </p:nvSpPr>
        <p:spPr>
          <a:xfrm>
            <a:off x="347536" y="1813213"/>
            <a:ext cx="11647698" cy="4679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Изключенията в</a:t>
            </a:r>
            <a:r>
              <a:rPr lang="ru-RU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C# / </a:t>
            </a:r>
            <a:r>
              <a:rPr lang="ru-RU" dirty="0">
                <a:latin typeface="Comfortaa" pitchFamily="2" charset="0"/>
              </a:rPr>
              <a:t>.NET </a:t>
            </a:r>
            <a:r>
              <a:rPr lang="bg-BG" dirty="0">
                <a:latin typeface="Comfortaa" pitchFamily="2" charset="0"/>
              </a:rPr>
              <a:t>са обекти</a:t>
            </a:r>
            <a:endParaRPr lang="ru-RU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System.Exception</a:t>
            </a:r>
            <a:r>
              <a:rPr lang="ru-RU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базов клас за всички изключения в</a:t>
            </a:r>
            <a:r>
              <a:rPr lang="en-US" dirty="0">
                <a:latin typeface="Comfortaa" pitchFamily="2" charset="0"/>
              </a:rPr>
              <a:t> CLR</a:t>
            </a:r>
            <a:endParaRPr lang="ru-RU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Съдържа информация за причината на грешката / необичайната ситуация</a:t>
            </a:r>
            <a:endParaRPr lang="ru-RU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ru-RU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Message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ru-RU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текст, описващ изключението</a:t>
            </a:r>
            <a:endParaRPr lang="ru-RU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ru-RU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StackTrace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ru-RU" dirty="0">
                <a:latin typeface="Comfortaa" pitchFamily="2" charset="0"/>
              </a:rPr>
              <a:t>–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снимка на стека в момента на хвърлянето на изключението</a:t>
            </a:r>
            <a:endParaRPr lang="ru-RU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ru-RU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InnerException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ru-RU" dirty="0">
                <a:latin typeface="Comfortaa" pitchFamily="2" charset="0"/>
              </a:rPr>
              <a:t>– изключението, породило текущото (ако има)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Подобни са нещата и в </a:t>
            </a:r>
            <a:r>
              <a:rPr lang="en-US" dirty="0">
                <a:latin typeface="Comfortaa" pitchFamily="2" charset="0"/>
              </a:rPr>
              <a:t>Java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PHP</a:t>
            </a:r>
            <a:endParaRPr lang="ru-RU" dirty="0">
              <a:latin typeface="Comfortaa" pitchFamily="2" charset="0"/>
            </a:endParaRPr>
          </a:p>
        </p:txBody>
      </p:sp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5379" y="365125"/>
            <a:ext cx="10515600" cy="1325563"/>
          </a:xfrm>
        </p:spPr>
        <p:txBody>
          <a:bodyPr anchor="ctr" anchorCtr="0">
            <a:noAutofit/>
          </a:bodyPr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noProof="1">
                <a:latin typeface="Comfortaa" pitchFamily="2" charset="0"/>
                <a:cs typeface="Consolas" pitchFamily="49" charset="0"/>
              </a:rPr>
              <a:t>System.Exception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9167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21066" y="207819"/>
            <a:ext cx="10749866" cy="866959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Свойства на изключенията – пример</a:t>
            </a:r>
          </a:p>
        </p:txBody>
      </p:sp>
      <p:sp>
        <p:nvSpPr>
          <p:cNvPr id="543748" name="Rectangle 4"/>
          <p:cNvSpPr>
            <a:spLocks noChangeArrowheads="1"/>
          </p:cNvSpPr>
          <p:nvPr/>
        </p:nvSpPr>
        <p:spPr bwMode="auto">
          <a:xfrm>
            <a:off x="721068" y="1074778"/>
            <a:ext cx="10749866" cy="54784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Exceptions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Example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public static void CauseFormatException()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"an invalid number";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.Parse(s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CauseFormatException();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(FormatException fe)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Console.Error.WriteLine("Exception: {0}\n{1}",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fe.Message, fe.StackTrace);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38B1E19B-CC3C-4C45-A4B9-49F24DC09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0655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38200" y="2063132"/>
            <a:ext cx="10515600" cy="14163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ct val="25000"/>
              </a:spcBef>
            </a:pPr>
            <a:r>
              <a:rPr lang="bg-BG" sz="2400" dirty="0">
                <a:latin typeface="Comfortaa" pitchFamily="2" charset="0"/>
              </a:rPr>
              <a:t>Свойството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Message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дава кратко описание на проблема</a:t>
            </a:r>
          </a:p>
          <a:p>
            <a:pPr>
              <a:lnSpc>
                <a:spcPct val="100000"/>
              </a:lnSpc>
              <a:spcBef>
                <a:spcPct val="25000"/>
              </a:spcBef>
            </a:pPr>
            <a:r>
              <a:rPr lang="bg-BG" sz="2400" dirty="0">
                <a:latin typeface="Comfortaa" pitchFamily="2" charset="0"/>
              </a:rPr>
              <a:t>Свойството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StackTrace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е изключително полезно за откриване на причината, породила изключението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20973"/>
            <a:ext cx="10515600" cy="1325563"/>
          </a:xfrm>
        </p:spPr>
        <p:txBody>
          <a:bodyPr anchor="ctr" anchorCtr="0">
            <a:noAutofit/>
          </a:bodyPr>
          <a:lstStyle/>
          <a:p>
            <a:r>
              <a:rPr lang="bg-BG" dirty="0">
                <a:latin typeface="Comfortaa" pitchFamily="2" charset="0"/>
              </a:rPr>
              <a:t>Свойства на изключенията</a:t>
            </a:r>
          </a:p>
        </p:txBody>
      </p:sp>
      <p:sp>
        <p:nvSpPr>
          <p:cNvPr id="545796" name="Rectangle 4"/>
          <p:cNvSpPr>
            <a:spLocks noChangeArrowheads="1"/>
          </p:cNvSpPr>
          <p:nvPr/>
        </p:nvSpPr>
        <p:spPr bwMode="auto">
          <a:xfrm>
            <a:off x="904505" y="3544786"/>
            <a:ext cx="10103921" cy="23083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Exception caught: Input string was not in a correct format.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at System.Number.ParseInt32(String s, NumberStyles style, NumberFormatInfo info)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at System.Int32.Parse(String 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at ExceptionsTest.CauseFormatException() in c:\consoleapplication1\exceptionstest.cs:line 8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at ExceptionsTest.Main(String[] args) in c:\consoleapplication1\exceptionstest.cs:line 15</a:t>
            </a:r>
          </a:p>
        </p:txBody>
      </p:sp>
    </p:spTree>
    <p:extLst>
      <p:ext uri="{BB962C8B-B14F-4D97-AF65-F5344CB8AC3E}">
        <p14:creationId xmlns:p14="http://schemas.microsoft.com/office/powerpoint/2010/main" val="385359655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430977"/>
            <a:ext cx="10515600" cy="47459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sz="2000" dirty="0">
                <a:latin typeface="Comfortaa" pitchFamily="2" charset="0"/>
              </a:rPr>
              <a:t>Изключенията в</a:t>
            </a:r>
            <a:r>
              <a:rPr lang="en-US" sz="2000" dirty="0">
                <a:latin typeface="Comfortaa" pitchFamily="2" charset="0"/>
              </a:rPr>
              <a:t> .NET Framework </a:t>
            </a:r>
            <a:r>
              <a:rPr lang="bg-BG" sz="2000" dirty="0">
                <a:latin typeface="Comfortaa" pitchFamily="2" charset="0"/>
              </a:rPr>
              <a:t>са организирани в йерархия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title"/>
          </p:nvPr>
        </p:nvSpPr>
        <p:spPr/>
        <p:txBody>
          <a:bodyPr anchor="ctr" anchorCtr="0">
            <a:noAutofit/>
          </a:bodyPr>
          <a:lstStyle/>
          <a:p>
            <a:r>
              <a:rPr lang="bg-BG" sz="4000" dirty="0">
                <a:latin typeface="Comfortaa" pitchFamily="2" charset="0"/>
              </a:rPr>
              <a:t>Йерархия на изключенията в </a:t>
            </a:r>
            <a:r>
              <a:rPr lang="en-US" sz="4000" dirty="0">
                <a:latin typeface="Comfortaa" pitchFamily="2" charset="0"/>
              </a:rPr>
              <a:t>.NET</a:t>
            </a:r>
            <a:endParaRPr lang="bg-BG" sz="4000" dirty="0">
              <a:latin typeface="Comfortaa" pitchFamily="2" charset="0"/>
            </a:endParaRPr>
          </a:p>
        </p:txBody>
      </p:sp>
      <p:pic>
        <p:nvPicPr>
          <p:cNvPr id="549892" name="Picture 4" descr="Exceptions-Hierarch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9" t="-4600" r="-1981" b="-4447"/>
          <a:stretch>
            <a:fillRect/>
          </a:stretch>
        </p:blipFill>
        <p:spPr bwMode="auto">
          <a:xfrm>
            <a:off x="762000" y="2057400"/>
            <a:ext cx="10641210" cy="4343400"/>
          </a:xfrm>
          <a:prstGeom prst="roundRect">
            <a:avLst>
              <a:gd name="adj" fmla="val 0"/>
            </a:avLst>
          </a:prstGeom>
          <a:noFill/>
          <a:ln w="317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11611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Изключенията в </a:t>
            </a:r>
            <a:r>
              <a:rPr lang="en-US" sz="3200" dirty="0">
                <a:latin typeface="Comfortaa" pitchFamily="2" charset="0"/>
              </a:rPr>
              <a:t>.NET </a:t>
            </a:r>
            <a:r>
              <a:rPr lang="bg-BG" sz="3200" dirty="0">
                <a:latin typeface="Comfortaa" pitchFamily="2" charset="0"/>
              </a:rPr>
              <a:t>са наследници на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System.Exception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Системните изключения наследяват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System.SystemException</a:t>
            </a:r>
            <a:endParaRPr lang="bg-BG" sz="3200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System.ArgumentException</a:t>
            </a:r>
          </a:p>
          <a:p>
            <a:pPr lvl="1">
              <a:lnSpc>
                <a:spcPct val="11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System.FormatException</a:t>
            </a:r>
          </a:p>
          <a:p>
            <a:pPr lvl="1">
              <a:lnSpc>
                <a:spcPct val="11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System.NullReferenceException</a:t>
            </a:r>
          </a:p>
          <a:p>
            <a:pPr lvl="1">
              <a:lnSpc>
                <a:spcPct val="11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System.OutOfMemoryException</a:t>
            </a:r>
          </a:p>
          <a:p>
            <a:pPr lvl="1">
              <a:lnSpc>
                <a:spcPct val="11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System.StackOverflowException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Потребителските трябва да наследяват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System.Exception</a:t>
            </a:r>
            <a:endParaRPr lang="bg-BG" sz="32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Типове изключения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429325313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53431"/>
            <a:ext cx="10820400" cy="48394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bg-BG" sz="2400" dirty="0">
                <a:latin typeface="Comfortaa" pitchFamily="2" charset="0"/>
              </a:rPr>
              <a:t>Когато се прихваща изключение от даден клас, всички негови наследници (наследени изключения) също се прихващат: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ct val="250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ct val="250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ct val="250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ct val="250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Прихваща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ArithmeticException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всички негови наследници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DivideByZeroException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OverflowException</a:t>
            </a:r>
          </a:p>
        </p:txBody>
      </p: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41003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Прихващане на изключения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1003465" y="2939392"/>
            <a:ext cx="9945584" cy="243143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Do some work that can cause an exception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(System.ArithmeticException)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Handle the caught arithmetic exception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672917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97725" y="237506"/>
            <a:ext cx="10874717" cy="570168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Открийте грешката</a:t>
            </a:r>
            <a:r>
              <a:rPr lang="en-US" sz="3200" dirty="0">
                <a:latin typeface="Comfortaa" pitchFamily="2" charset="0"/>
              </a:rPr>
              <a:t>!</a:t>
            </a:r>
            <a:endParaRPr lang="bg-BG" sz="3200" dirty="0">
              <a:latin typeface="Comfortaa" pitchFamily="2" charset="0"/>
            </a:endParaRPr>
          </a:p>
        </p:txBody>
      </p:sp>
      <p:sp>
        <p:nvSpPr>
          <p:cNvPr id="556035" name="Rectangle 3"/>
          <p:cNvSpPr>
            <a:spLocks noChangeArrowheads="1"/>
          </p:cNvSpPr>
          <p:nvPr/>
        </p:nvSpPr>
        <p:spPr bwMode="auto">
          <a:xfrm>
            <a:off x="597725" y="807674"/>
            <a:ext cx="10874717" cy="57554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str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Int32.Parse(str);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Console.WriteLine("Cannot parse the number!");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(FormatException)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Console.WriteLine("Invalid integer number!");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(OverflowException)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"The number is too big to fit in Int32!");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5068389" y="1869692"/>
            <a:ext cx="4062942" cy="485665"/>
          </a:xfrm>
          <a:prstGeom prst="wedgeRoundRectCallout">
            <a:avLst>
              <a:gd name="adj1" fmla="val -80795"/>
              <a:gd name="adj2" fmla="val 15300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Това трябва да е последно</a:t>
            </a:r>
            <a:endParaRPr lang="en-US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354987" y="3596892"/>
            <a:ext cx="4062942" cy="492831"/>
          </a:xfrm>
          <a:prstGeom prst="wedgeRoundRectCallout">
            <a:avLst>
              <a:gd name="adj1" fmla="val -67371"/>
              <a:gd name="adj2" fmla="val -5571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Никога не се стига дотук</a:t>
            </a:r>
            <a:endParaRPr lang="en-US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744352" y="4797796"/>
            <a:ext cx="4062942" cy="492831"/>
          </a:xfrm>
          <a:prstGeom prst="wedgeRoundRectCallout">
            <a:avLst>
              <a:gd name="adj1" fmla="val -67382"/>
              <a:gd name="adj2" fmla="val -6682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Никога не се стига дотук</a:t>
            </a:r>
            <a:endParaRPr lang="en-US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3373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1" name="Rectangle 3"/>
          <p:cNvSpPr>
            <a:spLocks noGrp="1" noChangeArrowheads="1"/>
          </p:cNvSpPr>
          <p:nvPr>
            <p:ph idx="1"/>
          </p:nvPr>
        </p:nvSpPr>
        <p:spPr>
          <a:xfrm>
            <a:off x="685799" y="1466602"/>
            <a:ext cx="10744199" cy="209005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Всички изключения, генерирани в</a:t>
            </a:r>
            <a:r>
              <a:rPr lang="en-US" sz="3200" dirty="0">
                <a:latin typeface="Comfortaa" pitchFamily="2" charset="0"/>
              </a:rPr>
              <a:t> .NET </a:t>
            </a:r>
            <a:r>
              <a:rPr lang="bg-BG" sz="3200" dirty="0">
                <a:latin typeface="Comfortaa" pitchFamily="2" charset="0"/>
              </a:rPr>
              <a:t>контролиран код наследяват класа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System.Exception</a:t>
            </a:r>
            <a:endParaRPr lang="en-US" sz="3200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Неконтролираният код хвърля други изключения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За прихващане на абсолютно всички изключения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използвайте</a:t>
            </a:r>
            <a:r>
              <a:rPr lang="en-US" sz="3200" dirty="0">
                <a:latin typeface="Comfortaa" pitchFamily="2" charset="0"/>
              </a:rPr>
              <a:t>:</a:t>
            </a:r>
            <a:endParaRPr lang="bg-BG" sz="3200" dirty="0">
              <a:latin typeface="Comfortaa" pitchFamily="2" charset="0"/>
            </a:endParaRPr>
          </a:p>
        </p:txBody>
      </p:sp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799" y="365126"/>
            <a:ext cx="10744199" cy="1166792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Прихващане на всички изключения</a:t>
            </a:r>
          </a:p>
        </p:txBody>
      </p:sp>
      <p:sp>
        <p:nvSpPr>
          <p:cNvPr id="560132" name="Rectangle 4"/>
          <p:cNvSpPr>
            <a:spLocks noChangeArrowheads="1"/>
          </p:cNvSpPr>
          <p:nvPr/>
        </p:nvSpPr>
        <p:spPr bwMode="auto">
          <a:xfrm>
            <a:off x="685800" y="3600034"/>
            <a:ext cx="10744200" cy="280076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Do some work that can raise any exception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Handle the caught exception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90925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9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1457489"/>
            <a:ext cx="10591800" cy="5139254"/>
          </a:xfrm>
        </p:spPr>
        <p:txBody>
          <a:bodyPr>
            <a:normAutofit fontScale="85000" lnSpcReduction="10000"/>
          </a:bodyPr>
          <a:lstStyle/>
          <a:p>
            <a:r>
              <a:rPr lang="bg-BG" dirty="0">
                <a:latin typeface="Comfortaa" pitchFamily="2" charset="0"/>
              </a:rPr>
              <a:t>Конструкцията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buFontTx/>
              <a:buNone/>
            </a:pPr>
            <a:endParaRPr lang="en-US" dirty="0">
              <a:latin typeface="Comfortaa" pitchFamily="2" charset="0"/>
            </a:endParaRPr>
          </a:p>
          <a:p>
            <a:endParaRPr lang="en-US" sz="3000" dirty="0">
              <a:latin typeface="Comfortaa" pitchFamily="2" charset="0"/>
            </a:endParaRPr>
          </a:p>
          <a:p>
            <a:endParaRPr lang="en-US" sz="3000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Подсигурява изпълнението на даден блок във всички случаи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Независимо дали ще се генерира изключение в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try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блока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Използва се за изпълнение на разчистващия код (например освобождаване на заделените в конструкцията ресурси)</a:t>
            </a:r>
          </a:p>
        </p:txBody>
      </p:sp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Конструкцията </a:t>
            </a:r>
            <a:r>
              <a:rPr lang="en-US" dirty="0">
                <a:latin typeface="Comfortaa" pitchFamily="2" charset="0"/>
              </a:rPr>
              <a:t>Try-finally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44100" name="Rectangle 4"/>
          <p:cNvSpPr>
            <a:spLocks noChangeArrowheads="1"/>
          </p:cNvSpPr>
          <p:nvPr/>
        </p:nvSpPr>
        <p:spPr bwMode="auto">
          <a:xfrm>
            <a:off x="1100447" y="2021296"/>
            <a:ext cx="9765872" cy="25299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Do some work that can cause an exception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finally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This block will always execute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B752F90C-85DD-490F-A03F-0E4AD0D0E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0152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41966" y="231649"/>
            <a:ext cx="10273339" cy="966770"/>
          </a:xfrm>
        </p:spPr>
        <p:txBody>
          <a:bodyPr/>
          <a:lstStyle/>
          <a:p>
            <a:r>
              <a:rPr lang="en-US" dirty="0">
                <a:latin typeface="Comfortaa" pitchFamily="2" charset="0"/>
                <a:cs typeface="Consolas" pitchFamily="49" charset="0"/>
              </a:rPr>
              <a:t>Try-finally – </a:t>
            </a:r>
            <a:r>
              <a:rPr lang="ru-RU" dirty="0">
                <a:latin typeface="Comfortaa" pitchFamily="2" charset="0"/>
                <a:cs typeface="Consolas" pitchFamily="49" charset="0"/>
              </a:rPr>
              <a:t>пример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46147" name="Rectangle 3"/>
          <p:cNvSpPr>
            <a:spLocks noChangeArrowheads="1"/>
          </p:cNvSpPr>
          <p:nvPr/>
        </p:nvSpPr>
        <p:spPr bwMode="auto">
          <a:xfrm>
            <a:off x="841966" y="1198419"/>
            <a:ext cx="10273339" cy="501675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TestTryFinally()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Console.WriteLine("Code executed before try-finally.");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string str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int.Parse(str);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Console.WriteLine("Parsing was successful.");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return; // Exit from the current method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catch (FormatException)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Console.WriteLine("Parsing failed!");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finally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Console.WriteLine("This cleanup code is always executed.");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Console.WriteLine("This code is after the try-finally block.");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1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3879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62" y="1478800"/>
            <a:ext cx="11024398" cy="3781969"/>
          </a:xfrm>
        </p:spPr>
        <p:txBody>
          <a:bodyPr>
            <a:normAutofit/>
          </a:bodyPr>
          <a:lstStyle/>
          <a:p>
            <a:r>
              <a:rPr lang="bg-BG" sz="2000" dirty="0">
                <a:latin typeface="Comfortaa" pitchFamily="2" charset="0"/>
              </a:rPr>
              <a:t>В програмирането често се ползва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Dispose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шаблона</a:t>
            </a:r>
            <a:endParaRPr lang="en-US" sz="20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Така се подсигуряваме, че всички ресурси са коректно затворени</a:t>
            </a:r>
            <a:endParaRPr lang="en-US" sz="2000" dirty="0"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r>
              <a:rPr lang="bg-BG" sz="2000" dirty="0">
                <a:latin typeface="Comfortaa" pitchFamily="2" charset="0"/>
              </a:rPr>
              <a:t>Същият ефект може да се постигне и чрез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using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израза в</a:t>
            </a:r>
            <a:r>
              <a:rPr lang="en-US" sz="2000" dirty="0">
                <a:latin typeface="Comfortaa" pitchFamily="2" charset="0"/>
              </a:rPr>
              <a:t> C#: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Командата "</a:t>
            </a:r>
            <a:r>
              <a:rPr lang="en-US" dirty="0">
                <a:latin typeface="Comfortaa" pitchFamily="2" charset="0"/>
              </a:rPr>
              <a:t>Using"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98414" y="5051005"/>
            <a:ext cx="10246578" cy="132343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using (&lt;resource&gt;)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// Use the resource. It will be disposed (closed) at the end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98414" y="2346685"/>
            <a:ext cx="10246578" cy="193899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Resource resource = AllocateResource();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Use the resource here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finally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(resource != null) resource.Dispose();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648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/>
          <p:cNvSpPr>
            <a:spLocks noGrp="1" noChangeArrowheads="1"/>
          </p:cNvSpPr>
          <p:nvPr>
            <p:ph idx="1"/>
          </p:nvPr>
        </p:nvSpPr>
        <p:spPr>
          <a:xfrm>
            <a:off x="742950" y="131498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Чете и извежда текстов файл ред по ред</a:t>
            </a:r>
            <a:r>
              <a:rPr lang="en-US" dirty="0">
                <a:latin typeface="Comfortaa" pitchFamily="2" charset="0"/>
              </a:rPr>
              <a:t>: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260184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Четене на текстов файл </a:t>
            </a:r>
            <a:r>
              <a:rPr lang="en-US" sz="4000" dirty="0">
                <a:latin typeface="Comfortaa" pitchFamily="2" charset="0"/>
              </a:rPr>
              <a:t>– </a:t>
            </a:r>
            <a:r>
              <a:rPr lang="bg-BG" sz="4000" dirty="0">
                <a:latin typeface="Comfortaa" pitchFamily="2" charset="0"/>
              </a:rPr>
              <a:t>пример</a:t>
            </a:r>
          </a:p>
        </p:txBody>
      </p:sp>
      <p:sp>
        <p:nvSpPr>
          <p:cNvPr id="680964" name="Rectangle 4"/>
          <p:cNvSpPr>
            <a:spLocks noChangeArrowheads="1"/>
          </p:cNvSpPr>
          <p:nvPr/>
        </p:nvSpPr>
        <p:spPr bwMode="auto">
          <a:xfrm>
            <a:off x="742950" y="1981200"/>
            <a:ext cx="10706100" cy="43396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StreamReader reader = new StreamReader("somefile.txt");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using (reader)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lineNumber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string line = reader.ReadLine();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while (line != null)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lineNumber++;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Console.WriteLine("Line {0}: {1}", lineNumber, line);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line = reader.ReadLine();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9302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780798" cy="4578722"/>
          </a:xfrm>
        </p:spPr>
        <p:txBody>
          <a:bodyPr>
            <a:normAutofit lnSpcReduction="10000"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Изключенията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са гъвкав механизъм за обработка на грешки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1"/>
            <a:r>
              <a:rPr lang="bg-BG" dirty="0">
                <a:latin typeface="Comfortaa" pitchFamily="2" charset="0"/>
              </a:rPr>
              <a:t>Позволяват грешките да бъдат прихванати на множество нива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Всеки </a:t>
            </a:r>
            <a:r>
              <a:rPr lang="bg-BG" dirty="0" err="1">
                <a:latin typeface="Comfortaa" pitchFamily="2" charset="0"/>
              </a:rPr>
              <a:t>прихващач</a:t>
            </a:r>
            <a:r>
              <a:rPr lang="bg-BG" dirty="0">
                <a:latin typeface="Comfortaa" pitchFamily="2" charset="0"/>
              </a:rPr>
              <a:t> на изключения обработва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само грешки от даден тип (и подтиповете му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2"/>
            <a:r>
              <a:rPr lang="bg-BG" dirty="0">
                <a:latin typeface="Comfortaa" pitchFamily="2" charset="0"/>
              </a:rPr>
              <a:t>Другите типове грешки се обработват от други</a:t>
            </a:r>
            <a:br>
              <a:rPr lang="bg-BG" dirty="0">
                <a:latin typeface="Comfortaa" pitchFamily="2" charset="0"/>
              </a:rPr>
            </a:br>
            <a:r>
              <a:rPr lang="bg-BG" dirty="0" err="1">
                <a:latin typeface="Comfortaa" pitchFamily="2" charset="0"/>
              </a:rPr>
              <a:t>прихващачи</a:t>
            </a:r>
            <a:r>
              <a:rPr lang="bg-BG" dirty="0">
                <a:latin typeface="Comfortaa" pitchFamily="2" charset="0"/>
              </a:rPr>
              <a:t> по-късно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Необработените изключения извеждат съобщения за грешка</a:t>
            </a:r>
            <a:endParaRPr lang="en-US" dirty="0">
              <a:latin typeface="Comfortaa" pitchFamily="2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Try-finally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конструкцията гарантира, че даден блок с код ще се изпълни винаги (дори когато хвърлено изключение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933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1545</Words>
  <Application>Microsoft Office PowerPoint</Application>
  <PresentationFormat>Widescreen</PresentationFormat>
  <Paragraphs>290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Comfortaa</vt:lpstr>
      <vt:lpstr>Consolas</vt:lpstr>
      <vt:lpstr>Office Theme</vt:lpstr>
      <vt:lpstr>Прихващане на изключения</vt:lpstr>
      <vt:lpstr>Съдържание</vt:lpstr>
      <vt:lpstr>Какво са изключенията?</vt:lpstr>
      <vt:lpstr>Прихващане на изключенията</vt:lpstr>
      <vt:lpstr>Прихващане на изключения – пример</vt:lpstr>
      <vt:lpstr>Класът System.Exception</vt:lpstr>
      <vt:lpstr>Свойства на изключенията – пример</vt:lpstr>
      <vt:lpstr>Свойства на изключенията</vt:lpstr>
      <vt:lpstr>Йерархия на изключенията в .NET</vt:lpstr>
      <vt:lpstr>Типове изключения</vt:lpstr>
      <vt:lpstr>Прихващане на изключения</vt:lpstr>
      <vt:lpstr>Открийте грешката!</vt:lpstr>
      <vt:lpstr>Прихващане на всички изключения</vt:lpstr>
      <vt:lpstr>Конструкцията Try-finally</vt:lpstr>
      <vt:lpstr>Try-finally – пример</vt:lpstr>
      <vt:lpstr>Командата "Using"</vt:lpstr>
      <vt:lpstr>Четене на текстов файл – пример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2022-09-20T07:09:43Z</dcterms:modified>
</cp:coreProperties>
</file>