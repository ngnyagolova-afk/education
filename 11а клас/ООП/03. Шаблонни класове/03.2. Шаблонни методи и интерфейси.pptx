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8" r:id="rId2"/>
    <p:sldId id="643" r:id="rId3"/>
    <p:sldId id="603" r:id="rId4"/>
    <p:sldId id="626" r:id="rId5"/>
    <p:sldId id="604" r:id="rId6"/>
    <p:sldId id="605" r:id="rId7"/>
    <p:sldId id="608" r:id="rId8"/>
    <p:sldId id="646" r:id="rId9"/>
    <p:sldId id="609" r:id="rId10"/>
    <p:sldId id="631" r:id="rId11"/>
    <p:sldId id="486" r:id="rId12"/>
    <p:sldId id="5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643"/>
            <p14:sldId id="603"/>
            <p14:sldId id="626"/>
            <p14:sldId id="604"/>
            <p14:sldId id="605"/>
            <p14:sldId id="608"/>
            <p14:sldId id="646"/>
            <p14:sldId id="609"/>
            <p14:sldId id="631"/>
            <p14:sldId id="486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6CDE19-E441-4A49-8A9E-79F71691F0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481205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5F1D2C5E-B6C6-4545-A708-FE0125B933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541049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E65B3B-E6E2-4525-8F2E-49AC8F612DB9}" type="slidenum">
              <a:rPr lang="en-US"/>
              <a:pPr/>
              <a:t>11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6D21BA00-9AFC-4FBD-82AC-440A9902A2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792889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 err="1">
                <a:latin typeface="Comfortaa" pitchFamily="2" charset="0"/>
              </a:rPr>
              <a:t>Шаблонни</a:t>
            </a:r>
            <a:r>
              <a:rPr lang="ru-RU" dirty="0">
                <a:latin typeface="Comfortaa" pitchFamily="2" charset="0"/>
              </a:rPr>
              <a:t> </a:t>
            </a:r>
            <a:r>
              <a:rPr lang="ru-RU" dirty="0" err="1">
                <a:latin typeface="Comfortaa" pitchFamily="2" charset="0"/>
              </a:rPr>
              <a:t>методи</a:t>
            </a:r>
            <a:r>
              <a:rPr lang="ru-RU" dirty="0">
                <a:latin typeface="Comfortaa" pitchFamily="2" charset="0"/>
              </a:rPr>
              <a:t> и </a:t>
            </a:r>
            <a:r>
              <a:rPr lang="ru-RU" dirty="0" err="1">
                <a:latin typeface="Comfortaa" pitchFamily="2" charset="0"/>
              </a:rPr>
              <a:t>интерфейси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Templates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60303" y="830074"/>
            <a:ext cx="10448299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61901" y="1981201"/>
            <a:ext cx="10448299" cy="4218733"/>
          </a:xfrm>
        </p:spPr>
        <p:txBody>
          <a:bodyPr>
            <a:normAutofit/>
          </a:bodyPr>
          <a:lstStyle/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Шаблонни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интерфейси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Шаблонни</a:t>
            </a:r>
            <a:r>
              <a:rPr lang="en-US" dirty="0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методи</a:t>
            </a: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Използване на</a:t>
            </a:r>
            <a:r>
              <a:rPr lang="en-US" dirty="0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default</a:t>
            </a:r>
            <a:endParaRPr lang="bg-BG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772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752" y="1712809"/>
            <a:ext cx="10840495" cy="5939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Подобни са на шаблонните класове</a:t>
            </a: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753" y="574839"/>
            <a:ext cx="10840496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Шаблонни интерфейси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675753" y="2306783"/>
            <a:ext cx="10840496" cy="206210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interface IBox&lt;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void Add (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element);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75753" y="4546159"/>
            <a:ext cx="10840496" cy="5847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MyList : IBox&lt;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MyClass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 {…}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5801" y="5305153"/>
            <a:ext cx="10840496" cy="5847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MyList&lt;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 : IBox&lt;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 {…}</a:t>
            </a:r>
          </a:p>
        </p:txBody>
      </p:sp>
    </p:spTree>
    <p:extLst>
      <p:ext uri="{BB962C8B-B14F-4D97-AF65-F5344CB8AC3E}">
        <p14:creationId xmlns:p14="http://schemas.microsoft.com/office/powerpoint/2010/main" val="15489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282" y="1487177"/>
            <a:ext cx="10515600" cy="5005697"/>
          </a:xfrm>
        </p:spPr>
        <p:txBody>
          <a:bodyPr>
            <a:noAutofit/>
          </a:bodyPr>
          <a:lstStyle/>
          <a:p>
            <a:r>
              <a:rPr lang="bg-BG" sz="2400" dirty="0">
                <a:latin typeface="Comfortaa" pitchFamily="2" charset="0"/>
              </a:rPr>
              <a:t>Може да имат какъв да е вход и връщан резултат</a:t>
            </a:r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br>
              <a:rPr lang="bg-BG" sz="2400" dirty="0">
                <a:latin typeface="Comfortaa" pitchFamily="2" charset="0"/>
              </a:rPr>
            </a:br>
            <a:endParaRPr lang="bg-BG" sz="2400" dirty="0">
              <a:latin typeface="Comfortaa" pitchFamily="2" charset="0"/>
            </a:endParaRPr>
          </a:p>
          <a:p>
            <a:endParaRPr lang="bg-BG" sz="2400" dirty="0">
              <a:latin typeface="Comfortaa" pitchFamily="2" charset="0"/>
            </a:endParaRPr>
          </a:p>
          <a:p>
            <a:endParaRPr lang="bg-BG" sz="2400" dirty="0">
              <a:latin typeface="Comfortaa" pitchFamily="2" charset="0"/>
            </a:endParaRPr>
          </a:p>
          <a:p>
            <a:endParaRPr lang="bg-BG" sz="2400" dirty="0">
              <a:latin typeface="Comfortaa" pitchFamily="2" charset="0"/>
            </a:endParaRPr>
          </a:p>
          <a:p>
            <a:pPr marL="0" indent="0">
              <a:buNone/>
            </a:pPr>
            <a:endParaRPr lang="bg-BG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Статичните методи също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могат</a:t>
            </a:r>
            <a:r>
              <a:rPr lang="bg-BG" sz="2400" dirty="0">
                <a:latin typeface="Comfortaa" pitchFamily="2" charset="0"/>
              </a:rPr>
              <a:t> да бъдат шаблонни</a:t>
            </a: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Конструкторите и свойствата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не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могат</a:t>
            </a: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Шаблонни методи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024486" y="2135580"/>
            <a:ext cx="9681119" cy="31085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List&lt;</a:t>
            </a:r>
            <a:r>
              <a:rPr lang="en-GB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 createList(</a:t>
            </a:r>
            <a:r>
              <a:rPr lang="en-GB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item, int count)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List&lt;</a:t>
            </a:r>
            <a:r>
              <a:rPr lang="en-GB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 list = new List&lt;</a:t>
            </a:r>
            <a:r>
              <a:rPr lang="en-GB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for (int i = 0; i &lt; count; i++)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list.Add(item);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return list;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271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951" y="2306575"/>
            <a:ext cx="10515600" cy="393390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Създайте клас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ArrayCreator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 един-единствен метод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static T[] create(int length, T item)</a:t>
            </a:r>
          </a:p>
          <a:p>
            <a:r>
              <a:rPr lang="bg-BG" dirty="0">
                <a:latin typeface="Comfortaa" pitchFamily="2" charset="0"/>
              </a:rPr>
              <a:t>Той трябва да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връща масив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 указаната дължина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Всички елементи трябва да бъдат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от типа, подаден като параметър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61951" y="846075"/>
            <a:ext cx="9380517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Създател на шаблонен масив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2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8512" y="644195"/>
            <a:ext cx="9558647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Създател на шаблонен масив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904046" y="2182091"/>
            <a:ext cx="10496266" cy="35394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static class ArrayCreator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public static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T[] 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Create&lt;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&gt;(int lenght,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item)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T[] 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array = new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[length];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return array;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4740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90" y="1946007"/>
            <a:ext cx="11113308" cy="3926341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Създайте клас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Scale&lt;T&gt;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който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dirty="0">
                <a:latin typeface="Comfortaa" pitchFamily="2" charset="0"/>
              </a:rPr>
              <a:t>Съдържа два елемента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left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right</a:t>
            </a:r>
          </a:p>
          <a:p>
            <a:pPr lvl="1"/>
            <a:r>
              <a:rPr lang="bg-BG" dirty="0">
                <a:latin typeface="Comfortaa" pitchFamily="2" charset="0"/>
              </a:rPr>
              <a:t>Получава елементите чрез своя единствен конструктор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2"/>
            <a:r>
              <a:rPr lang="en-US" dirty="0">
                <a:latin typeface="Comfortaa" pitchFamily="2" charset="0"/>
              </a:rPr>
              <a:t>Scale(T left, T right)</a:t>
            </a:r>
          </a:p>
          <a:p>
            <a:pPr lvl="1"/>
            <a:r>
              <a:rPr lang="bg-BG" dirty="0">
                <a:latin typeface="Comfortaa" pitchFamily="2" charset="0"/>
              </a:rPr>
              <a:t>Има метод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GetHeavier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()</a:t>
            </a:r>
          </a:p>
          <a:p>
            <a:r>
              <a:rPr lang="bg-BG" dirty="0">
                <a:latin typeface="Comfortaa" pitchFamily="2" charset="0"/>
              </a:rPr>
              <a:t>По-големият от двата елемента е по-тежък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Проблем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Ако елементите са равни, какво да върне?</a:t>
            </a:r>
          </a:p>
          <a:p>
            <a:pPr lvl="1"/>
            <a:r>
              <a:rPr lang="bg-BG" dirty="0">
                <a:latin typeface="Comfortaa" pitchFamily="2" charset="0"/>
              </a:rPr>
              <a:t>Ако Т е референтен тип, трябва да е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null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 а ако е числов -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0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8890" y="620444"/>
            <a:ext cx="11113308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Универсална везна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366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891" y="2106324"/>
            <a:ext cx="9569516" cy="3830577"/>
          </a:xfrm>
        </p:spPr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Връща </a:t>
            </a:r>
            <a:r>
              <a:rPr lang="ru-RU" b="1" dirty="0">
                <a:solidFill>
                  <a:srgbClr val="00B0F0"/>
                </a:solidFill>
                <a:latin typeface="Comfortaa" pitchFamily="2" charset="0"/>
              </a:rPr>
              <a:t>подразбиращата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се </a:t>
            </a:r>
            <a:r>
              <a:rPr lang="ru-RU" b="1" dirty="0">
                <a:solidFill>
                  <a:srgbClr val="00B0F0"/>
                </a:solidFill>
                <a:latin typeface="Comfortaa" pitchFamily="2" charset="0"/>
              </a:rPr>
              <a:t>стойност </a:t>
            </a:r>
            <a:r>
              <a:rPr lang="ru-RU" dirty="0">
                <a:latin typeface="Comfortaa" pitchFamily="2" charset="0"/>
              </a:rPr>
              <a:t>за конкретния тип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dirty="0">
                <a:latin typeface="Comfortaa" pitchFamily="2" charset="0"/>
              </a:rPr>
              <a:t>за референтни типове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null</a:t>
            </a:r>
          </a:p>
          <a:p>
            <a:pPr lvl="1"/>
            <a:r>
              <a:rPr lang="bg-BG" dirty="0">
                <a:latin typeface="Comfortaa" pitchFamily="2" charset="0"/>
              </a:rPr>
              <a:t>за числови типове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0</a:t>
            </a:r>
          </a:p>
          <a:p>
            <a:pPr lvl="1"/>
            <a:r>
              <a:rPr lang="bg-BG" dirty="0">
                <a:latin typeface="Comfortaa" pitchFamily="2" charset="0"/>
              </a:rPr>
              <a:t>за булев тип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false</a:t>
            </a:r>
            <a:r>
              <a:rPr lang="en-US" dirty="0">
                <a:latin typeface="Comfortaa" pitchFamily="2" charset="0"/>
              </a:rPr>
              <a:t>,</a:t>
            </a:r>
            <a:r>
              <a:rPr lang="bg-BG" dirty="0">
                <a:latin typeface="Comfortaa" pitchFamily="2" charset="0"/>
              </a:rPr>
              <a:t> за символен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'\0'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т.н.</a:t>
            </a:r>
            <a:b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</a:b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Т.е. нашата везна трябва да връща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default</a:t>
            </a:r>
            <a:r>
              <a:rPr lang="bg-BG" dirty="0">
                <a:latin typeface="Comfortaa" pitchFamily="2" charset="0"/>
              </a:rPr>
              <a:t>,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ако елементите са равни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62891" y="780761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Оператор </a:t>
            </a:r>
            <a:r>
              <a:rPr lang="en-US" dirty="0">
                <a:latin typeface="Comfortaa" pitchFamily="2" charset="0"/>
              </a:rPr>
              <a:t>Default(T)</a:t>
            </a:r>
          </a:p>
        </p:txBody>
      </p:sp>
    </p:spTree>
    <p:extLst>
      <p:ext uri="{BB962C8B-B14F-4D97-AF65-F5344CB8AC3E}">
        <p14:creationId xmlns:p14="http://schemas.microsoft.com/office/powerpoint/2010/main" val="4249871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5916" y="374074"/>
            <a:ext cx="10764296" cy="933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Универсална везна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725916" y="1307835"/>
            <a:ext cx="10840496" cy="526297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Scale&lt;T&gt; where T :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IComparable&lt;T&gt;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T left;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T right;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Scale(T left, T right)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this.left = left;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this.right = right;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// TODO: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продължава на следващия слайд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GB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096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725916" y="1658156"/>
            <a:ext cx="10840496" cy="430887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T GetHavier()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(left.CompareTo(right) &gt; 0)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return left;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 if (left.CompareTo(right) &lt; 0)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return right;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return </a:t>
            </a:r>
            <a:r>
              <a:rPr lang="en-GB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default(T)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20CBAB5-A724-46CF-B78B-7E1B009A9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98164E2-F1F0-5F3D-E536-55630945A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916" y="374074"/>
            <a:ext cx="10764296" cy="933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Универсална везна</a:t>
            </a:r>
            <a:r>
              <a:rPr lang="en-US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1479020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6604" y="501889"/>
            <a:ext cx="10881851" cy="111078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10780800" cy="45763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Шаблонните интерфейси улесняват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взаимодействието</a:t>
            </a:r>
            <a:r>
              <a:rPr lang="bg-BG" dirty="0">
                <a:latin typeface="Comfortaa" pitchFamily="2" charset="0"/>
              </a:rPr>
              <a:t> с кода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В същото време позволяват </a:t>
            </a:r>
            <a:r>
              <a:rPr lang="bg-BG" sz="2800" b="1" dirty="0">
                <a:solidFill>
                  <a:srgbClr val="00B0F0"/>
                </a:solidFill>
                <a:latin typeface="Comfortaa" pitchFamily="2" charset="0"/>
              </a:rPr>
              <a:t>проверка на типа</a:t>
            </a:r>
            <a:endParaRPr lang="en-US" sz="2800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Шаблонните методи са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по-универсални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Статичните методи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могат</a:t>
            </a:r>
            <a:r>
              <a:rPr lang="bg-BG" dirty="0">
                <a:latin typeface="Comfortaa" pitchFamily="2" charset="0"/>
              </a:rPr>
              <a:t> да бъдат шаблонни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Конструкторите и свойствата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не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могат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Default</a:t>
            </a:r>
            <a:r>
              <a:rPr lang="bg-BG" dirty="0">
                <a:latin typeface="Comfortaa" pitchFamily="2" charset="0"/>
              </a:rPr>
              <a:t> </a:t>
            </a:r>
            <a:r>
              <a:rPr lang="ru-RU" dirty="0">
                <a:latin typeface="Comfortaa" pitchFamily="2" charset="0"/>
              </a:rPr>
              <a:t>връща подразбиращата се </a:t>
            </a:r>
            <a:br>
              <a:rPr lang="ru-RU" dirty="0">
                <a:latin typeface="Comfortaa" pitchFamily="2" charset="0"/>
              </a:rPr>
            </a:br>
            <a:r>
              <a:rPr lang="ru-RU" dirty="0">
                <a:latin typeface="Comfortaa" pitchFamily="2" charset="0"/>
              </a:rPr>
              <a:t>стойност на параметъра за типа</a:t>
            </a:r>
            <a:endParaRPr lang="bg-BG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92127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</TotalTime>
  <Words>688</Words>
  <Application>Microsoft Office PowerPoint</Application>
  <PresentationFormat>Widescreen</PresentationFormat>
  <Paragraphs>113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Comfortaa</vt:lpstr>
      <vt:lpstr>Consolas</vt:lpstr>
      <vt:lpstr>Office Theme</vt:lpstr>
      <vt:lpstr>Шаблонни методи и интерфейси</vt:lpstr>
      <vt:lpstr>Съдържание</vt:lpstr>
      <vt:lpstr>Шаблонни интерфейси</vt:lpstr>
      <vt:lpstr>Шаблонни методи</vt:lpstr>
      <vt:lpstr>Задача: Създател на шаблонен масив</vt:lpstr>
      <vt:lpstr>Решение: Създател на шаблонен масив</vt:lpstr>
      <vt:lpstr>Задача: Универсална везна</vt:lpstr>
      <vt:lpstr>Оператор Default(T)</vt:lpstr>
      <vt:lpstr>Решение: Универсална везна [1/2]</vt:lpstr>
      <vt:lpstr>Решение: Универсална везна [2/2]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13</cp:revision>
  <dcterms:created xsi:type="dcterms:W3CDTF">2022-08-09T09:25:46Z</dcterms:created>
  <dcterms:modified xsi:type="dcterms:W3CDTF">2022-09-14T15:44:50Z</dcterms:modified>
</cp:coreProperties>
</file>