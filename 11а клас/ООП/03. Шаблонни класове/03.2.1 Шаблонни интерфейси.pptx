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2"/>
  </p:notesMasterIdLst>
  <p:sldIdLst>
    <p:sldId id="258" r:id="rId2"/>
    <p:sldId id="648" r:id="rId3"/>
    <p:sldId id="649" r:id="rId4"/>
    <p:sldId id="626" r:id="rId5"/>
    <p:sldId id="669" r:id="rId6"/>
    <p:sldId id="651" r:id="rId7"/>
    <p:sldId id="652" r:id="rId8"/>
    <p:sldId id="653" r:id="rId9"/>
    <p:sldId id="654" r:id="rId10"/>
    <p:sldId id="603" r:id="rId11"/>
    <p:sldId id="655" r:id="rId12"/>
    <p:sldId id="656" r:id="rId13"/>
    <p:sldId id="657" r:id="rId14"/>
    <p:sldId id="658" r:id="rId15"/>
    <p:sldId id="604" r:id="rId16"/>
    <p:sldId id="659" r:id="rId17"/>
    <p:sldId id="660" r:id="rId18"/>
    <p:sldId id="661" r:id="rId19"/>
    <p:sldId id="662" r:id="rId20"/>
    <p:sldId id="608" r:id="rId21"/>
    <p:sldId id="609" r:id="rId22"/>
    <p:sldId id="631" r:id="rId23"/>
    <p:sldId id="663" r:id="rId24"/>
    <p:sldId id="664" r:id="rId25"/>
    <p:sldId id="665" r:id="rId26"/>
    <p:sldId id="666" r:id="rId27"/>
    <p:sldId id="667" r:id="rId28"/>
    <p:sldId id="668" r:id="rId29"/>
    <p:sldId id="486" r:id="rId30"/>
    <p:sldId id="670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648"/>
            <p14:sldId id="649"/>
          </p14:sldIdLst>
        </p14:section>
        <p14:section name="Съдържание" id="{0B0C01F3-1F60-4ADB-AC1E-9589654EAEF3}">
          <p14:sldIdLst>
            <p14:sldId id="626"/>
            <p14:sldId id="669"/>
            <p14:sldId id="651"/>
            <p14:sldId id="652"/>
            <p14:sldId id="653"/>
            <p14:sldId id="654"/>
            <p14:sldId id="603"/>
            <p14:sldId id="655"/>
            <p14:sldId id="656"/>
            <p14:sldId id="657"/>
            <p14:sldId id="658"/>
            <p14:sldId id="604"/>
            <p14:sldId id="659"/>
            <p14:sldId id="660"/>
            <p14:sldId id="661"/>
            <p14:sldId id="662"/>
            <p14:sldId id="608"/>
            <p14:sldId id="609"/>
            <p14:sldId id="631"/>
            <p14:sldId id="663"/>
            <p14:sldId id="664"/>
            <p14:sldId id="665"/>
            <p14:sldId id="666"/>
            <p14:sldId id="667"/>
            <p14:sldId id="668"/>
            <p14:sldId id="486"/>
            <p14:sldId id="670"/>
          </p14:sldIdLst>
        </p14:section>
        <p14:section name="Заключение" id="{9315BEE7-605C-4839-996A-A4EEA70921D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80" d="100"/>
          <a:sy n="80" d="100"/>
        </p:scale>
        <p:origin x="13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F1D2C5E-B6C6-4545-A708-FE0125B933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5410494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*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BE65B3B-E6E2-4525-8F2E-49AC8F612DB9}" type="slidenum">
              <a:rPr lang="en-US"/>
              <a:pPr/>
              <a:t>29</a:t>
            </a:fld>
            <a:r>
              <a:rPr lang="en-US" dirty="0"/>
              <a:t>##</a:t>
            </a:r>
          </a:p>
        </p:txBody>
      </p:sp>
      <p:sp>
        <p:nvSpPr>
          <p:cNvPr id="4352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52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Footer Placeholder">
            <a:extLst>
              <a:ext uri="{FF2B5EF4-FFF2-40B4-BE49-F238E27FC236}">
                <a16:creationId xmlns:a16="http://schemas.microsoft.com/office/drawing/2014/main" id="{6D21BA00-9AFC-4FBD-82AC-440A9902A26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7928897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450613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689946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4226303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13611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2129507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01534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9409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623702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301829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67211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180208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56253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7906882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80002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778700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38196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88819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8.12.2025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9431106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1001985"/>
            <a:ext cx="9774803" cy="2387600"/>
          </a:xfrm>
        </p:spPr>
        <p:txBody>
          <a:bodyPr>
            <a:normAutofit/>
          </a:bodyPr>
          <a:lstStyle/>
          <a:p>
            <a:r>
              <a:rPr lang="ru-RU" sz="6000" b="1" dirty="0">
                <a:latin typeface="Arial" panose="020B0604020202020204" pitchFamily="34" charset="0"/>
                <a:cs typeface="Arial" panose="020B0604020202020204" pitchFamily="34" charset="0"/>
              </a:rPr>
              <a:t>Шаблонни </a:t>
            </a:r>
            <a:r>
              <a:rPr lang="ru-RU" sz="60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sz="6000" b="1" dirty="0">
                <a:latin typeface="Arial" panose="020B0604020202020204" pitchFamily="34" charset="0"/>
                <a:cs typeface="Arial" panose="020B0604020202020204" pitchFamily="34" charset="0"/>
              </a:rPr>
              <a:t>интерфейси</a:t>
            </a:r>
            <a:endParaRPr lang="bg-BG" sz="6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H="1" flipV="1">
            <a:off x="10667999" y="6059772"/>
            <a:ext cx="113969" cy="86585"/>
          </a:xfrm>
        </p:spPr>
        <p:txBody>
          <a:bodyPr>
            <a:normAutofit fontScale="25000" lnSpcReduction="20000"/>
          </a:bodyPr>
          <a:lstStyle/>
          <a:p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9258" y="429211"/>
            <a:ext cx="11704319" cy="67095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2800" b="1" kern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Какво представляват шаблонните класове </a:t>
            </a:r>
            <a:r>
              <a:rPr lang="bg-BG" sz="2800" b="1" kern="18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?</a:t>
            </a:r>
          </a:p>
          <a:p>
            <a:endParaRPr lang="bg-BG" sz="2800" b="1" kern="1800" dirty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bg-BG" sz="2800" b="1" dirty="0">
                <a:latin typeface="Arial" panose="020B0604020202020204" pitchFamily="34" charset="0"/>
                <a:cs typeface="Arial" panose="020B0604020202020204" pitchFamily="34" charset="0"/>
              </a:rPr>
              <a:t>Синтаксис на шаблонни </a:t>
            </a:r>
            <a:r>
              <a:rPr lang="bg-BG" sz="2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класове</a:t>
            </a:r>
          </a:p>
          <a:p>
            <a:endParaRPr lang="bg-BG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sz="4000" b="1" dirty="0"/>
              <a:t>class Box&lt;</a:t>
            </a:r>
            <a:r>
              <a:rPr lang="bg-BG" sz="4000" b="1" dirty="0">
                <a:solidFill>
                  <a:schemeClr val="accent1"/>
                </a:solidFill>
              </a:rPr>
              <a:t>T</a:t>
            </a:r>
            <a:r>
              <a:rPr lang="bg-BG" sz="4000" b="1" dirty="0"/>
              <a:t>&gt; </a:t>
            </a:r>
            <a:endParaRPr lang="en-US" sz="4000" b="1" dirty="0" smtClean="0"/>
          </a:p>
          <a:p>
            <a:r>
              <a:rPr lang="bg-BG" sz="4000" b="1" dirty="0" smtClean="0"/>
              <a:t>{</a:t>
            </a:r>
            <a:endParaRPr lang="bg-BG" sz="4000" dirty="0"/>
          </a:p>
          <a:p>
            <a:r>
              <a:rPr lang="bg-BG" sz="2800" b="1" dirty="0"/>
              <a:t>    </a:t>
            </a:r>
            <a:r>
              <a:rPr lang="bg-BG" sz="2800" b="1" dirty="0">
                <a:solidFill>
                  <a:schemeClr val="accent1"/>
                </a:solidFill>
              </a:rPr>
              <a:t>// T е тип, който ще бъде избран при използването на класа</a:t>
            </a:r>
          </a:p>
          <a:p>
            <a:r>
              <a:rPr lang="bg-BG" sz="4000" b="1" dirty="0"/>
              <a:t>}</a:t>
            </a:r>
            <a:endParaRPr lang="bg-BG" sz="4000" dirty="0"/>
          </a:p>
          <a:p>
            <a:r>
              <a:rPr lang="bg-BG" sz="40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bg-BG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може да бъде:</a:t>
            </a:r>
          </a:p>
          <a:p>
            <a:pPr lvl="0"/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тип на променлива</a:t>
            </a:r>
          </a:p>
          <a:p>
            <a:pPr lvl="0"/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тип на параметър</a:t>
            </a:r>
          </a:p>
          <a:p>
            <a:pPr lvl="0"/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тип на връщаната стойност</a:t>
            </a:r>
          </a:p>
          <a:p>
            <a:pPr lvl="0"/>
            <a:r>
              <a:rPr lang="bg-BG" sz="2800" dirty="0">
                <a:latin typeface="Arial" panose="020B0604020202020204" pitchFamily="34" charset="0"/>
                <a:cs typeface="Arial" panose="020B0604020202020204" pitchFamily="34" charset="0"/>
              </a:rPr>
              <a:t>тип на поле в класа</a:t>
            </a:r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394595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5018" y="1022466"/>
            <a:ext cx="10715105" cy="49892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Шаблонните класове като „форми за сладки</a:t>
            </a:r>
            <a:r>
              <a:rPr lang="bg-BG" sz="3600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“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bg-BG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Представете 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си, че </a:t>
            </a: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правите 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сладки.</a:t>
            </a:r>
            <a:endParaRPr lang="bg-BG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Имате 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форма за сладки – тя определя </a:t>
            </a:r>
            <a:r>
              <a:rPr lang="bg-BG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формата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но не казва какво ще е тестото.</a:t>
            </a:r>
            <a:endParaRPr lang="bg-BG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Може 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 </a:t>
            </a: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 шоколадово 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тесто.</a:t>
            </a:r>
            <a:endParaRPr lang="bg-BG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Може 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 </a:t>
            </a: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 ванилово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  <a:endParaRPr lang="bg-BG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Може </a:t>
            </a:r>
            <a:r>
              <a:rPr lang="bg-BG" sz="32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да </a:t>
            </a:r>
            <a:r>
              <a:rPr lang="bg-BG" sz="32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е джинджифилово...</a:t>
            </a:r>
            <a:endParaRPr lang="bg-BG" sz="3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1428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bg-BG" sz="4400" b="1" kern="18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Какво представляват </a:t>
            </a:r>
            <a:r>
              <a:rPr lang="bg-BG" sz="4400" b="1" dirty="0" smtClean="0">
                <a:latin typeface="Arial" panose="020B0604020202020204" pitchFamily="34" charset="0"/>
                <a:cs typeface="Arial" panose="020B0604020202020204" pitchFamily="34" charset="0"/>
              </a:rPr>
              <a:t>Шаблонни </a:t>
            </a:r>
            <a:r>
              <a:rPr lang="bg-BG" sz="4400" b="1" dirty="0">
                <a:latin typeface="Arial" panose="020B0604020202020204" pitchFamily="34" charset="0"/>
                <a:cs typeface="Arial" panose="020B0604020202020204" pitchFamily="34" charset="0"/>
              </a:rPr>
              <a:t>методи</a:t>
            </a:r>
            <a:endParaRPr lang="en-US" sz="4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tangle 5"/>
          <p:cNvSpPr>
            <a:spLocks noChangeArrowheads="1"/>
          </p:cNvSpPr>
          <p:nvPr/>
        </p:nvSpPr>
        <p:spPr bwMode="auto">
          <a:xfrm>
            <a:off x="1103313" y="2042804"/>
            <a:ext cx="9549517" cy="3970318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public List&lt;</a:t>
            </a:r>
            <a:r>
              <a:rPr lang="en-GB" sz="28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createList(</a:t>
            </a:r>
            <a:r>
              <a:rPr lang="en-GB" sz="28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item, int count) </a:t>
            </a:r>
            <a:endParaRPr lang="en-GB" sz="2800" b="1" noProof="1" smtClean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 smtClean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en-GB" sz="2800" b="1" noProof="1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List&lt;</a:t>
            </a:r>
            <a:r>
              <a:rPr lang="en-GB" sz="28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list = new List&lt;</a:t>
            </a:r>
            <a:r>
              <a:rPr lang="en-GB" sz="28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&gt;();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for (int i = 0; i &lt; count; i++) </a:t>
            </a:r>
            <a:endParaRPr lang="en-GB" sz="2800" b="1" noProof="1" smtClean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 smtClean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en-GB" sz="2800" b="1" noProof="1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list.Add(item);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return list;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US" sz="2800" b="1" noProof="1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103313" y="6202679"/>
            <a:ext cx="152993" cy="45719"/>
          </a:xfrm>
        </p:spPr>
        <p:txBody>
          <a:bodyPr>
            <a:normAutofit fontScale="25000" lnSpcReduction="20000"/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1271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/>
          <p:cNvSpPr txBox="1">
            <a:spLocks/>
          </p:cNvSpPr>
          <p:nvPr/>
        </p:nvSpPr>
        <p:spPr>
          <a:xfrm>
            <a:off x="119270" y="373711"/>
            <a:ext cx="11259612" cy="6233823"/>
          </a:xfrm>
          <a:prstGeom prst="rect">
            <a:avLst/>
          </a:prstGeom>
        </p:spPr>
        <p:txBody>
          <a:bodyPr>
            <a:no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20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8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6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2506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80000"/>
              <a:buFont typeface="Wingdings 3" charset="2"/>
              <a:buChar char=""/>
              <a:defRPr sz="1400" b="0" i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r>
              <a:rPr lang="bg-BG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Може да имат какъв да е вход и </a:t>
            </a:r>
            <a:endParaRPr lang="en-US" sz="4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bg-BG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връщан резултат</a:t>
            </a:r>
            <a:endParaRPr lang="en-US" sz="4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4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sz="4400" dirty="0">
                <a:latin typeface="Arial" panose="020B0604020202020204" pitchFamily="34" charset="0"/>
                <a:cs typeface="Arial" panose="020B0604020202020204" pitchFamily="34" charset="0"/>
              </a:rPr>
              <a:t>Статичните методи също </a:t>
            </a:r>
            <a:r>
              <a:rPr lang="bg-BG" sz="4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могат</a:t>
            </a:r>
            <a:r>
              <a:rPr lang="bg-BG" sz="4400" dirty="0">
                <a:latin typeface="Arial" panose="020B0604020202020204" pitchFamily="34" charset="0"/>
                <a:cs typeface="Arial" panose="020B0604020202020204" pitchFamily="34" charset="0"/>
              </a:rPr>
              <a:t> да бъдат </a:t>
            </a:r>
            <a:r>
              <a:rPr lang="bg-BG" sz="4400" dirty="0" smtClean="0">
                <a:latin typeface="Arial" panose="020B0604020202020204" pitchFamily="34" charset="0"/>
                <a:cs typeface="Arial" panose="020B0604020202020204" pitchFamily="34" charset="0"/>
              </a:rPr>
              <a:t>шаблонни</a:t>
            </a:r>
            <a:endParaRPr lang="en-US" sz="4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bg-BG" sz="4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sz="4400" dirty="0">
                <a:latin typeface="Arial" panose="020B0604020202020204" pitchFamily="34" charset="0"/>
                <a:cs typeface="Arial" panose="020B0604020202020204" pitchFamily="34" charset="0"/>
              </a:rPr>
              <a:t>Конструкторите и свойствата </a:t>
            </a:r>
            <a:r>
              <a:rPr lang="bg-BG" sz="4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не</a:t>
            </a:r>
            <a:r>
              <a:rPr lang="en-US" sz="4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bg-BG" sz="4400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могат</a:t>
            </a:r>
          </a:p>
          <a:p>
            <a:endParaRPr lang="en-US" sz="2400" dirty="0" smtClean="0">
              <a:latin typeface="Comfortaa" pitchFamily="2" charset="0"/>
            </a:endParaRPr>
          </a:p>
          <a:p>
            <a:endParaRPr lang="en-US" sz="2400" dirty="0" smtClean="0">
              <a:latin typeface="Comfortaa" pitchFamily="2" charset="0"/>
            </a:endParaRPr>
          </a:p>
          <a:p>
            <a:endParaRPr lang="en-US" sz="2400" dirty="0" smtClean="0">
              <a:latin typeface="Comfortaa" pitchFamily="2" charset="0"/>
            </a:endParaRPr>
          </a:p>
          <a:p>
            <a:pPr marL="0" indent="0">
              <a:buFont typeface="Wingdings 3" charset="2"/>
              <a:buNone/>
            </a:pPr>
            <a:r>
              <a:rPr lang="bg-BG" sz="2400" dirty="0" smtClean="0">
                <a:latin typeface="Comfortaa" pitchFamily="2" charset="0"/>
              </a:rPr>
              <a:t/>
            </a:r>
            <a:br>
              <a:rPr lang="bg-BG" sz="2400" dirty="0" smtClean="0">
                <a:latin typeface="Comfortaa" pitchFamily="2" charset="0"/>
              </a:rPr>
            </a:br>
            <a:endParaRPr lang="bg-BG" sz="2400" dirty="0" smtClean="0">
              <a:latin typeface="Comfortaa" pitchFamily="2" charset="0"/>
            </a:endParaRPr>
          </a:p>
          <a:p>
            <a:endParaRPr lang="bg-BG" sz="2400" dirty="0" smtClean="0">
              <a:latin typeface="Comfortaa" pitchFamily="2" charset="0"/>
            </a:endParaRPr>
          </a:p>
          <a:p>
            <a:endParaRPr lang="bg-BG" sz="2400" dirty="0" smtClean="0">
              <a:latin typeface="Comfortaa" pitchFamily="2" charset="0"/>
            </a:endParaRPr>
          </a:p>
          <a:p>
            <a:endParaRPr lang="bg-BG" sz="2400" dirty="0" smtClean="0">
              <a:latin typeface="Comfortaa" pitchFamily="2" charset="0"/>
            </a:endParaRPr>
          </a:p>
          <a:p>
            <a:pPr marL="0" indent="0">
              <a:buFont typeface="Wingdings 3" charset="2"/>
              <a:buNone/>
            </a:pPr>
            <a:endParaRPr lang="bg-BG" sz="2400" dirty="0" smtClean="0">
              <a:latin typeface="Comfortaa" pitchFamily="2" charset="0"/>
            </a:endParaRPr>
          </a:p>
          <a:p>
            <a:r>
              <a:rPr lang="bg-BG" sz="2400" dirty="0" smtClean="0">
                <a:latin typeface="Comfortaa" pitchFamily="2" charset="0"/>
              </a:rPr>
              <a:t>Статичните методи също </a:t>
            </a:r>
            <a:r>
              <a:rPr lang="bg-BG" sz="2400" b="1" dirty="0" smtClean="0">
                <a:solidFill>
                  <a:srgbClr val="00B0F0"/>
                </a:solidFill>
                <a:latin typeface="Comfortaa" pitchFamily="2" charset="0"/>
              </a:rPr>
              <a:t>могат</a:t>
            </a:r>
            <a:r>
              <a:rPr lang="bg-BG" sz="2400" dirty="0" smtClean="0">
                <a:latin typeface="Comfortaa" pitchFamily="2" charset="0"/>
              </a:rPr>
              <a:t> да бъдат шаблонни</a:t>
            </a:r>
          </a:p>
          <a:p>
            <a:r>
              <a:rPr lang="bg-BG" sz="2400" dirty="0" smtClean="0">
                <a:latin typeface="Comfortaa" pitchFamily="2" charset="0"/>
              </a:rPr>
              <a:t>Конструкторите и свойствата </a:t>
            </a:r>
            <a:r>
              <a:rPr lang="bg-BG" sz="2400" b="1" dirty="0" smtClean="0">
                <a:solidFill>
                  <a:srgbClr val="00B0F0"/>
                </a:solidFill>
                <a:latin typeface="Comfortaa" pitchFamily="2" charset="0"/>
              </a:rPr>
              <a:t>не</a:t>
            </a:r>
            <a:r>
              <a:rPr lang="en-US" sz="2400" b="1" dirty="0" smtClean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2400" b="1" dirty="0" smtClean="0">
                <a:solidFill>
                  <a:srgbClr val="00B0F0"/>
                </a:solidFill>
                <a:latin typeface="Comfortaa" pitchFamily="2" charset="0"/>
              </a:rPr>
              <a:t>могат</a:t>
            </a:r>
          </a:p>
          <a:p>
            <a:endParaRPr lang="en-US" sz="2400" dirty="0" smtClean="0">
              <a:latin typeface="Comfortaa" pitchFamily="2" charset="0"/>
            </a:endParaRPr>
          </a:p>
          <a:p>
            <a:endParaRPr lang="en-US" sz="2400" dirty="0" smtClean="0">
              <a:latin typeface="Comfortaa" pitchFamily="2" charset="0"/>
            </a:endParaRPr>
          </a:p>
          <a:p>
            <a:endParaRPr lang="en-US" sz="2400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1168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53439" y="79157"/>
            <a:ext cx="10524877" cy="62407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bg-BG" sz="4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Какво е интерфейс?</a:t>
            </a:r>
            <a:endParaRPr lang="bg-BG" sz="4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Интерфейсът е „договор“ – той </a:t>
            </a:r>
            <a:r>
              <a:rPr lang="bg-BG" sz="36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определя какви методи трябва да има един клас</a:t>
            </a: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но </a:t>
            </a:r>
            <a:r>
              <a:rPr lang="bg-BG" sz="3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съдържа реализацията им</a:t>
            </a: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 Класовете, които го имплементират, са длъжни да реализират всички методи.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bg-BG" sz="3600" u="sng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Интерфейсите </a:t>
            </a:r>
            <a:r>
              <a:rPr lang="bg-BG" sz="36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се използват за </a:t>
            </a:r>
            <a:r>
              <a:rPr lang="bg-BG" sz="3600" b="1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описване на общо поведение</a:t>
            </a:r>
            <a:r>
              <a:rPr lang="bg-BG" sz="3600" u="sng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независимо от конкретната реализация.</a:t>
            </a:r>
            <a:endParaRPr lang="bg-BG" sz="3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908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96348" y="642227"/>
            <a:ext cx="9947082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60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Шаблонни интерфейси</a:t>
            </a:r>
          </a:p>
          <a:p>
            <a:endParaRPr lang="bg-BG" sz="6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bg-BG" sz="4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Те </a:t>
            </a:r>
            <a:r>
              <a:rPr lang="bg-BG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ни позволяват да описваме поведение, което може да работи с различни типове данни. </a:t>
            </a:r>
            <a:endParaRPr lang="bg-BG" sz="4000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bg-BG" sz="4000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Това </a:t>
            </a:r>
            <a:r>
              <a:rPr lang="bg-BG" sz="40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прави кода по-гъвкав, преизползваем и лесен за поддръжка.“</a:t>
            </a:r>
            <a:endParaRPr lang="bg-BG" sz="4000" dirty="0"/>
          </a:p>
        </p:txBody>
      </p:sp>
    </p:spTree>
    <p:extLst>
      <p:ext uri="{BB962C8B-B14F-4D97-AF65-F5344CB8AC3E}">
        <p14:creationId xmlns:p14="http://schemas.microsoft.com/office/powerpoint/2010/main" val="662530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084027" y="348236"/>
            <a:ext cx="10079603" cy="5642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Шаблонните интерфейси са </a:t>
            </a:r>
            <a:r>
              <a:rPr lang="bg-BG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подобни на шаблонните класове</a:t>
            </a:r>
            <a:r>
              <a:rPr lang="bg-BG" sz="40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.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Те приемат параметър на тип – &lt;T</a:t>
            </a:r>
            <a:r>
              <a:rPr lang="bg-BG" sz="40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&gt;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Това позволява да дефинираме интерфейси, които работят с различни типове.</a:t>
            </a:r>
            <a:endParaRPr lang="bg-BG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18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16834" y="478576"/>
            <a:ext cx="1121133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4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„Какво означава &lt;T</a:t>
            </a:r>
            <a:r>
              <a:rPr lang="bg-BG" sz="4400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&gt;?“</a:t>
            </a:r>
          </a:p>
          <a:p>
            <a:endParaRPr lang="bg-BG" sz="4400" dirty="0" smtClean="0"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r>
              <a:rPr lang="bg-BG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lang="bg-BG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lang="bg-BG" sz="4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О</a:t>
            </a:r>
            <a:r>
              <a:rPr lang="bg-BG" sz="4400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тговор</a:t>
            </a:r>
            <a:r>
              <a:rPr lang="bg-BG" sz="44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</a:t>
            </a:r>
            <a:r>
              <a:rPr lang="bg-BG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Това е параметър на тип – интерфейсът може да работи с тип int, string, custom клас и т.н.</a:t>
            </a:r>
            <a:endParaRPr lang="bg-BG" sz="4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09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5753" y="574839"/>
            <a:ext cx="10840496" cy="1325563"/>
          </a:xfrm>
        </p:spPr>
        <p:txBody>
          <a:bodyPr>
            <a:normAutofit/>
          </a:bodyPr>
          <a:lstStyle/>
          <a:p>
            <a:pPr algn="ctr"/>
            <a:r>
              <a:rPr lang="bg-BG" sz="4800" b="1" dirty="0">
                <a:latin typeface="Comfortaa" pitchFamily="2" charset="0"/>
              </a:rPr>
              <a:t>Шаблонни интерфейси</a:t>
            </a:r>
            <a:endParaRPr lang="en-US" sz="4800" b="1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5752" y="1712809"/>
            <a:ext cx="10840495" cy="593974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sz="3200" dirty="0">
              <a:latin typeface="Comfortaa" pitchFamily="2" charset="0"/>
            </a:endParaRPr>
          </a:p>
          <a:p>
            <a:pPr marL="0" indent="0">
              <a:buNone/>
            </a:pPr>
            <a:endParaRPr lang="en-US" dirty="0">
              <a:latin typeface="Comfortaa" pitchFamily="2" charset="0"/>
            </a:endParaRPr>
          </a:p>
          <a:p>
            <a:pPr lvl="1"/>
            <a:endParaRPr lang="en-US" dirty="0">
              <a:latin typeface="Comfortaa" pitchFamily="2" charset="0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675750" y="1697811"/>
            <a:ext cx="10840496" cy="255454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interface IBox&lt;</a:t>
            </a:r>
            <a:r>
              <a:rPr lang="en-US" sz="32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</a:t>
            </a:r>
            <a:endParaRPr lang="en-US" sz="3200" b="1" noProof="1" smtClean="0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 smtClean="0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  <a:endParaRPr lang="en-US" sz="3200" b="1" noProof="1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void Add (</a:t>
            </a:r>
            <a:r>
              <a:rPr lang="en-US" sz="32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element);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 …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75753" y="4546159"/>
            <a:ext cx="10840496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class MyList : IBox&lt;</a:t>
            </a:r>
            <a:r>
              <a:rPr lang="en-US" sz="32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MyClass</a:t>
            </a: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{…}</a:t>
            </a: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85801" y="5305153"/>
            <a:ext cx="10840496" cy="584775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class MyList&lt;</a:t>
            </a:r>
            <a:r>
              <a:rPr lang="en-US" sz="32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: IBox&lt;</a:t>
            </a:r>
            <a:r>
              <a:rPr lang="en-US" sz="3200" b="1" noProof="1">
                <a:solidFill>
                  <a:srgbClr val="92D050"/>
                </a:solidFill>
                <a:latin typeface="Consolas" pitchFamily="49" charset="0"/>
                <a:cs typeface="Consolas" pitchFamily="49" charset="0"/>
              </a:rPr>
              <a:t>T</a:t>
            </a:r>
            <a:r>
              <a:rPr lang="en-US" sz="32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&gt; {…}</a:t>
            </a:r>
          </a:p>
        </p:txBody>
      </p:sp>
    </p:spTree>
    <p:extLst>
      <p:ext uri="{BB962C8B-B14F-4D97-AF65-F5344CB8AC3E}">
        <p14:creationId xmlns:p14="http://schemas.microsoft.com/office/powerpoint/2010/main" val="1548965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53337" y="850269"/>
            <a:ext cx="10868103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5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Защо е полезен шаблонният интерфейс?</a:t>
            </a:r>
            <a:endParaRPr lang="bg-BG" sz="5400" dirty="0"/>
          </a:p>
        </p:txBody>
      </p:sp>
      <p:sp>
        <p:nvSpPr>
          <p:cNvPr id="3" name="Rectangle 2"/>
          <p:cNvSpPr/>
          <p:nvPr/>
        </p:nvSpPr>
        <p:spPr>
          <a:xfrm>
            <a:off x="653337" y="2687515"/>
            <a:ext cx="10740882" cy="38111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Може да опише общо поведение за всички типове (напр. списъци, контейнери).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Не ни ограничава да работим само с един тип данни.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Позволява различни реализации, всяка с конкретен тип.</a:t>
            </a:r>
            <a:endParaRPr lang="bg-BG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01792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18052" y="359174"/>
            <a:ext cx="10169718" cy="1146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bg-BG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Шаблонните </a:t>
            </a:r>
            <a:r>
              <a:rPr lang="bg-BG" sz="32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интерфейси правят кода универсален, но същевременно типово безопасен</a:t>
            </a:r>
            <a:r>
              <a:rPr lang="bg-BG" sz="3200" b="1" dirty="0" smtClean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bg-BG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2547069" y="2181269"/>
            <a:ext cx="6096000" cy="428168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MyList&lt;T&gt; : </a:t>
            </a:r>
            <a:r>
              <a:rPr lang="bg-BG" sz="4000" b="1" dirty="0">
                <a:solidFill>
                  <a:schemeClr val="accent1"/>
                </a:solidFill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IBox&lt;T&gt;</a:t>
            </a:r>
            <a:r>
              <a:rPr lang="bg-BG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bg-BG" sz="2400" b="1" dirty="0" smtClean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2400" b="1" dirty="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bg-BG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private List&lt;T&gt; elements = new List&lt;T&gt;();</a:t>
            </a:r>
            <a:endParaRPr lang="bg-BG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bg-BG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void Add(T element) </a:t>
            </a:r>
            <a:endParaRPr lang="bg-BG" sz="2400" b="1" dirty="0" smtClean="0">
              <a:latin typeface="Courier New" panose="02070309020205020404" pitchFamily="49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2400" b="1" dirty="0" smtClean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bg-BG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elements.Add(element);</a:t>
            </a:r>
            <a:endParaRPr lang="bg-BG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2400" b="1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bg-BG" sz="2400" b="1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bg-BG" sz="2400" b="1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bg-BG" sz="2400" b="1" dirty="0"/>
          </a:p>
        </p:txBody>
      </p:sp>
    </p:spTree>
    <p:extLst>
      <p:ext uri="{BB962C8B-B14F-4D97-AF65-F5344CB8AC3E}">
        <p14:creationId xmlns:p14="http://schemas.microsoft.com/office/powerpoint/2010/main" val="23237951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99143" y="2635975"/>
            <a:ext cx="9485907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36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bg-BG" sz="3600" dirty="0" smtClean="0">
                <a:latin typeface="Arial" panose="020B0604020202020204" pitchFamily="34" charset="0"/>
                <a:cs typeface="Arial" panose="020B0604020202020204" pitchFamily="34" charset="0"/>
              </a:rPr>
              <a:t>Box&lt;</a:t>
            </a:r>
            <a:r>
              <a:rPr lang="bg-BG" sz="3600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</a:t>
            </a:r>
            <a:r>
              <a:rPr lang="bg-BG" sz="3600" dirty="0">
                <a:latin typeface="Arial" panose="020B0604020202020204" pitchFamily="34" charset="0"/>
                <a:cs typeface="Arial" panose="020B0604020202020204" pitchFamily="34" charset="0"/>
              </a:rPr>
              <a:t>&gt; numbers = new MyList&lt;int&gt;();</a:t>
            </a:r>
          </a:p>
          <a:p>
            <a:r>
              <a:rPr lang="bg-BG" sz="3600" dirty="0">
                <a:latin typeface="Arial" panose="020B0604020202020204" pitchFamily="34" charset="0"/>
                <a:cs typeface="Arial" panose="020B0604020202020204" pitchFamily="34" charset="0"/>
              </a:rPr>
              <a:t>numbers.Add(10);</a:t>
            </a:r>
          </a:p>
          <a:p>
            <a:r>
              <a:rPr lang="bg-BG" sz="3600" dirty="0">
                <a:latin typeface="Arial" panose="020B0604020202020204" pitchFamily="34" charset="0"/>
                <a:cs typeface="Arial" panose="020B0604020202020204" pitchFamily="34" charset="0"/>
              </a:rPr>
              <a:t>numbers.Add(20);</a:t>
            </a:r>
          </a:p>
          <a:p>
            <a:endParaRPr lang="bg-BG" sz="3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bg-BG" sz="3600" dirty="0">
                <a:latin typeface="Arial" panose="020B0604020202020204" pitchFamily="34" charset="0"/>
                <a:cs typeface="Arial" panose="020B0604020202020204" pitchFamily="34" charset="0"/>
              </a:rPr>
              <a:t>IBox&lt;</a:t>
            </a:r>
            <a:r>
              <a:rPr lang="bg-BG" sz="36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string</a:t>
            </a:r>
            <a:r>
              <a:rPr lang="bg-BG" sz="3600" dirty="0">
                <a:latin typeface="Arial" panose="020B0604020202020204" pitchFamily="34" charset="0"/>
                <a:cs typeface="Arial" panose="020B0604020202020204" pitchFamily="34" charset="0"/>
              </a:rPr>
              <a:t>&gt; words = new MyList&lt;string&gt;();</a:t>
            </a:r>
          </a:p>
          <a:p>
            <a:r>
              <a:rPr lang="bg-BG" sz="3600" dirty="0">
                <a:latin typeface="Arial" panose="020B0604020202020204" pitchFamily="34" charset="0"/>
                <a:cs typeface="Arial" panose="020B0604020202020204" pitchFamily="34" charset="0"/>
              </a:rPr>
              <a:t>words.Add("hello");</a:t>
            </a:r>
          </a:p>
          <a:p>
            <a:r>
              <a:rPr lang="bg-BG" sz="3600" dirty="0">
                <a:latin typeface="Arial" panose="020B0604020202020204" pitchFamily="34" charset="0"/>
                <a:cs typeface="Arial" panose="020B0604020202020204" pitchFamily="34" charset="0"/>
              </a:rPr>
              <a:t>words.Add("world");</a:t>
            </a:r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55659" y="119124"/>
            <a:ext cx="11593002" cy="2339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Универсален контейнер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bg-BG" altLang="bg-BG" sz="3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който</a:t>
            </a: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имплементира интерфейс </a:t>
            </a:r>
            <a:r>
              <a:rPr kumimoji="0" lang="bg-BG" altLang="bg-BG" sz="32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IBox&lt;</a:t>
            </a:r>
            <a:r>
              <a:rPr kumimoji="0" lang="bg-BG" altLang="bg-BG" sz="3200" b="1" i="0" u="sng" strike="noStrike" cap="none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latin typeface="Arial Unicode MS"/>
              </a:rPr>
              <a:t>T</a:t>
            </a:r>
            <a:r>
              <a:rPr kumimoji="0" lang="bg-BG" altLang="bg-BG" sz="3200" b="1" i="0" u="sng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&gt;</a:t>
            </a:r>
            <a:endParaRPr kumimoji="0" lang="bg-BG" altLang="bg-BG" sz="3200" b="1" i="0" u="sng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поддържа добавяне на елементи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bg-BG" altLang="bg-BG" sz="32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съхранява ги във вътрешен списък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1983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27151" y="892045"/>
            <a:ext cx="938783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bg-BG" sz="4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 един интерфейс </a:t>
            </a:r>
            <a:r>
              <a:rPr lang="bg-BG" sz="4400" b="1" dirty="0">
                <a:solidFill>
                  <a:schemeClr val="accent1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IBox&lt;T&gt;</a:t>
            </a:r>
            <a:r>
              <a:rPr lang="bg-BG" sz="4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bg-BG" sz="4400" b="1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създадаваме </a:t>
            </a:r>
            <a:r>
              <a:rPr lang="bg-BG" sz="44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множество различни версии на класа – за числа, текст, наши собствени типове. </a:t>
            </a:r>
            <a:endParaRPr lang="bg-BG" sz="4400" b="1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bg-BG" sz="4400" b="1" dirty="0" smtClean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bg-BG" sz="4400" b="1" u="sng" dirty="0" smtClean="0">
                <a:latin typeface="Times New Roman" panose="02020603050405020304" pitchFamily="18" charset="0"/>
                <a:ea typeface="Times New Roman" panose="02020603050405020304" pitchFamily="18" charset="0"/>
              </a:rPr>
              <a:t>Това </a:t>
            </a:r>
            <a:r>
              <a:rPr lang="bg-BG" sz="4400" b="1" u="sng" dirty="0">
                <a:latin typeface="Times New Roman" panose="02020603050405020304" pitchFamily="18" charset="0"/>
                <a:ea typeface="Times New Roman" panose="02020603050405020304" pitchFamily="18" charset="0"/>
              </a:rPr>
              <a:t>е силата на шаблоните.</a:t>
            </a:r>
            <a:endParaRPr lang="bg-BG" sz="4400" b="1" u="sng" dirty="0"/>
          </a:p>
        </p:txBody>
      </p:sp>
    </p:spTree>
    <p:extLst>
      <p:ext uri="{BB962C8B-B14F-4D97-AF65-F5344CB8AC3E}">
        <p14:creationId xmlns:p14="http://schemas.microsoft.com/office/powerpoint/2010/main" val="12707694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61951" y="846075"/>
            <a:ext cx="9380517" cy="1325563"/>
          </a:xfrm>
        </p:spPr>
        <p:txBody>
          <a:bodyPr/>
          <a:lstStyle/>
          <a:p>
            <a:r>
              <a:rPr lang="bg-BG" dirty="0" smtClean="0">
                <a:latin typeface="Comfortaa" pitchFamily="2" charset="0"/>
              </a:rPr>
              <a:t>Задача 1</a:t>
            </a:r>
            <a:r>
              <a:rPr lang="en-US" dirty="0" smtClean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Създател на шаблонен масив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1951" y="2306575"/>
            <a:ext cx="10515600" cy="3933908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Създайте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ArrayCreator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 един-единствен метод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static T[] create(int length, T item)</a:t>
            </a:r>
          </a:p>
          <a:p>
            <a:r>
              <a:rPr lang="bg-BG" dirty="0">
                <a:latin typeface="Comfortaa" pitchFamily="2" charset="0"/>
              </a:rPr>
              <a:t>Той трябва да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връща масив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 указаната дължина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Всички елементи трябва да бъдат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от типа, подаден като параметър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722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2637" y="220005"/>
            <a:ext cx="11426024" cy="6203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bg-BG" sz="3600" b="1" kern="18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Задача 2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Създайте интерфейс </a:t>
            </a: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IContainer&lt;T&gt;</a:t>
            </a:r>
            <a:r>
              <a:rPr lang="bg-BG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с методи:</a:t>
            </a:r>
            <a:endParaRPr lang="bg-BG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void Insert(T element);</a:t>
            </a:r>
            <a:endParaRPr lang="bg-BG" sz="3200" b="1" dirty="0">
              <a:solidFill>
                <a:schemeClr val="accent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T Get(int index);</a:t>
            </a:r>
            <a:endParaRPr lang="bg-BG" sz="3200" b="1" dirty="0">
              <a:solidFill>
                <a:schemeClr val="accent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 Count();</a:t>
            </a:r>
            <a:endParaRPr lang="bg-BG" sz="3200" b="1" dirty="0">
              <a:solidFill>
                <a:schemeClr val="accent1"/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След това създайте клас </a:t>
            </a: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ArrayContainer&lt;T&gt;</a:t>
            </a:r>
            <a:r>
              <a:rPr lang="bg-BG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, който:</a:t>
            </a:r>
            <a:endParaRPr lang="bg-BG" sz="32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пази елементите в </a:t>
            </a:r>
            <a:r>
              <a:rPr lang="bg-BG" sz="36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масив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реализира методите от интерфейса</a:t>
            </a:r>
            <a:endParaRPr lang="bg-BG" sz="36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36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добавя елементи последователно (подобно на динамичен масив)</a:t>
            </a:r>
            <a:endParaRPr lang="bg-BG" sz="36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7527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3326" y="349102"/>
            <a:ext cx="10845578" cy="5566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bg-BG" sz="4000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НАСОКИ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bg-BG" sz="4000" b="1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Стъпка </a:t>
            </a:r>
            <a:r>
              <a:rPr lang="bg-BG" sz="40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1: Създаваме интерфейса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interface IContainer&lt;T&gt;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{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void Insert(T element);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T Get(int index);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   int Count();</a:t>
            </a:r>
            <a:endParaRPr lang="bg-BG" sz="40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40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}</a:t>
            </a:r>
            <a:endParaRPr lang="bg-BG" sz="40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9992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204376" y="430342"/>
            <a:ext cx="8476089" cy="60705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 ArrayContainer&lt;T&gt; : IContainer&lt;T&gt;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private T[] items;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private int index = 0;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ArrayContainer(int capacity)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items = new T[capacity];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void Insert(T element)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items[index] = element;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index++;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T Get(int index)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items[index];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public int Count()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{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return index;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}</a:t>
            </a:r>
            <a:endParaRPr lang="bg-BG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bg-BG" sz="1400" dirty="0">
                <a:latin typeface="Courier New" panose="02070309020205020404" pitchFamily="49" charset="0"/>
                <a:ea typeface="Times New Roman" panose="02020603050405020304" pitchFamily="18" charset="0"/>
              </a:rPr>
              <a:t>}</a:t>
            </a:r>
            <a:endParaRPr lang="bg-BG" sz="1400" dirty="0"/>
          </a:p>
        </p:txBody>
      </p:sp>
    </p:spTree>
    <p:extLst>
      <p:ext uri="{BB962C8B-B14F-4D97-AF65-F5344CB8AC3E}">
        <p14:creationId xmlns:p14="http://schemas.microsoft.com/office/powerpoint/2010/main" val="25861075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37322" y="400434"/>
            <a:ext cx="10559331" cy="5368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масивът има фиксиран размер → затова в конструктора се подава </a:t>
            </a:r>
            <a:r>
              <a:rPr lang="bg-BG" sz="44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capacity</a:t>
            </a:r>
            <a:r>
              <a:rPr lang="bg-BG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;</a:t>
            </a:r>
            <a:endParaRPr lang="bg-BG" sz="4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index пази броя на добавените елементи;</a:t>
            </a:r>
            <a:endParaRPr lang="bg-BG" sz="4400" dirty="0"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bg-BG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методът </a:t>
            </a:r>
            <a:r>
              <a:rPr lang="bg-BG" sz="44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Count() </a:t>
            </a:r>
            <a:r>
              <a:rPr lang="bg-BG" sz="4400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връща текущия брой елементи, не големината на масива.</a:t>
            </a:r>
            <a:endParaRPr lang="bg-BG" sz="44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2861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8890" y="620444"/>
            <a:ext cx="11113308" cy="1325563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Задача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Универсална везна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890" y="1946007"/>
            <a:ext cx="11113308" cy="3926341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Създайте клас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Scale&lt;T&gt;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който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dirty="0">
                <a:latin typeface="Comfortaa" pitchFamily="2" charset="0"/>
              </a:rPr>
              <a:t>Съдържа два елемента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left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и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right</a:t>
            </a:r>
          </a:p>
          <a:p>
            <a:pPr lvl="1"/>
            <a:r>
              <a:rPr lang="bg-BG" dirty="0">
                <a:latin typeface="Comfortaa" pitchFamily="2" charset="0"/>
              </a:rPr>
              <a:t>Получава елементите чрез своя единствен конструктор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2"/>
            <a:r>
              <a:rPr lang="en-US" dirty="0">
                <a:latin typeface="Comfortaa" pitchFamily="2" charset="0"/>
              </a:rPr>
              <a:t>Scale(T left, T right)</a:t>
            </a:r>
          </a:p>
          <a:p>
            <a:pPr lvl="1"/>
            <a:r>
              <a:rPr lang="bg-BG" dirty="0">
                <a:latin typeface="Comfortaa" pitchFamily="2" charset="0"/>
              </a:rPr>
              <a:t>Има метод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T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en-US" b="1" dirty="0" err="1">
                <a:solidFill>
                  <a:srgbClr val="00B0F0"/>
                </a:solidFill>
                <a:latin typeface="Comfortaa" pitchFamily="2" charset="0"/>
              </a:rPr>
              <a:t>GetHeavier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()</a:t>
            </a:r>
          </a:p>
          <a:p>
            <a:r>
              <a:rPr lang="bg-BG" dirty="0">
                <a:latin typeface="Comfortaa" pitchFamily="2" charset="0"/>
              </a:rPr>
              <a:t>По-големият от двата елемента е по-тежък</a:t>
            </a:r>
            <a:endParaRPr lang="en-US" dirty="0">
              <a:latin typeface="Comfortaa" pitchFamily="2" charset="0"/>
            </a:endParaRPr>
          </a:p>
          <a:p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Проблем</a:t>
            </a:r>
            <a:r>
              <a:rPr lang="bg-BG" b="1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Ако елементите са равни, какво да върне?</a:t>
            </a:r>
          </a:p>
          <a:p>
            <a:pPr lvl="1"/>
            <a:r>
              <a:rPr lang="bg-BG" dirty="0">
                <a:latin typeface="Comfortaa" pitchFamily="2" charset="0"/>
              </a:rPr>
              <a:t>Ако Т е референтен тип, трябва да е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null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 а ако е числов -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0</a:t>
            </a:r>
            <a:endParaRPr lang="en-US" dirty="0">
              <a:solidFill>
                <a:schemeClr val="tx2">
                  <a:lumMod val="75000"/>
                </a:schemeClr>
              </a:solidFill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03665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25916" y="374074"/>
            <a:ext cx="10764296" cy="933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Универсална везна</a:t>
            </a:r>
            <a:r>
              <a:rPr lang="en-US" dirty="0">
                <a:latin typeface="Comfortaa" pitchFamily="2" charset="0"/>
              </a:rPr>
              <a:t> [1/2]</a:t>
            </a: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725916" y="1307835"/>
            <a:ext cx="10840496" cy="5262979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public class Scale&lt;T&gt; where T : IComparable&lt;T&gt;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private T left;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private T right;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endParaRPr lang="en-US" sz="2800" b="1" noProof="1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public Scale(T left, T right)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this.left = left;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this.right = right;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 // TODO: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продължава на следващия слайд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  <a:endParaRPr lang="en-GB" sz="2800" b="1" noProof="1">
              <a:solidFill>
                <a:schemeClr val="tx1"/>
              </a:solidFill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60965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725916" y="1658156"/>
            <a:ext cx="10840496" cy="4308872"/>
          </a:xfrm>
          <a:prstGeom prst="rect">
            <a:avLst/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public T GetHavier()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if (left.CompareTo(right) &gt; 0)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return left;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else if (left.CompareTo(right) &lt; 0)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{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return right;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</a:p>
          <a:p>
            <a:pPr eaLnBrk="0" hangingPunct="0">
              <a:spcAft>
                <a:spcPts val="1200"/>
              </a:spcAft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bg-BG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return default(T);</a:t>
            </a:r>
          </a:p>
          <a:p>
            <a:pPr eaLnBrk="0" hangingPunct="0"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GB" sz="2800" b="1" noProof="1">
                <a:solidFill>
                  <a:schemeClr val="tx1"/>
                </a:solidFill>
                <a:latin typeface="Consolas" pitchFamily="49" charset="0"/>
                <a:cs typeface="Consolas" pitchFamily="49" charset="0"/>
              </a:rPr>
              <a:t>}</a:t>
            </a: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098164E2-F1F0-5F3D-E536-55630945A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16" y="374074"/>
            <a:ext cx="10764296" cy="933762"/>
          </a:xfrm>
        </p:spPr>
        <p:txBody>
          <a:bodyPr/>
          <a:lstStyle/>
          <a:p>
            <a:r>
              <a:rPr lang="bg-BG" dirty="0">
                <a:latin typeface="Comfortaa" pitchFamily="2" charset="0"/>
              </a:rPr>
              <a:t>Решение</a:t>
            </a:r>
            <a:r>
              <a:rPr lang="en-US" dirty="0">
                <a:latin typeface="Comfortaa" pitchFamily="2" charset="0"/>
              </a:rPr>
              <a:t>: </a:t>
            </a:r>
            <a:r>
              <a:rPr lang="bg-BG" dirty="0">
                <a:latin typeface="Comfortaa" pitchFamily="2" charset="0"/>
              </a:rPr>
              <a:t>Универсална везна</a:t>
            </a:r>
            <a:r>
              <a:rPr lang="en-US" dirty="0">
                <a:latin typeface="Comfortaa" pitchFamily="2" charset="0"/>
              </a:rPr>
              <a:t> [2/2]</a:t>
            </a: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D20CBAB5-A724-46CF-B78B-7E1B009A9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22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9020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97565" y="314871"/>
            <a:ext cx="11084118" cy="6001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Какво прави ограничителят where T : class?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а)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Забранява използването на всички класове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б)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Позволява T да бъде само стойностен тип (int, double,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в)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Позволява T да бъде само референтен тип (клас)</a:t>
            </a:r>
            <a:endParaRPr kumimoji="0" lang="bg-BG" altLang="bg-BG" sz="3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6187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3443" y="2828697"/>
            <a:ext cx="1148744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bg-BG" sz="3600" b="1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в)</a:t>
            </a:r>
            <a:r>
              <a:rPr lang="bg-BG" sz="3600" dirty="0"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Позволява T да бъде само референтен тип (клас)</a:t>
            </a:r>
            <a:endParaRPr lang="bg-BG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30034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14894" y="612847"/>
            <a:ext cx="10490662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Кой от следните примери е валиден метод с ограничение за празен конструктор?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а)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where T : struct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б)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where T : new()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в)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where T : class</a:t>
            </a:r>
            <a:endParaRPr kumimoji="0" lang="bg-BG" altLang="bg-BG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39899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450866" y="2745078"/>
            <a:ext cx="7283394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б) </a:t>
            </a:r>
            <a:r>
              <a:rPr kumimoji="0" lang="bg-BG" altLang="bg-BG" sz="400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where T : new()</a:t>
            </a:r>
            <a:r>
              <a:rPr kumimoji="0" lang="bg-BG" altLang="bg-BG" sz="400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58762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755374" y="324948"/>
            <a:ext cx="10074303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Какво ще върне методът Compare&lt;T&gt;(T a, T b) при условие where T : IComparable, когато a.CompareTo(b) връща 0?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bg-BG" altLang="bg-BG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а)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false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б)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true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/>
            </a:r>
            <a:b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r>
              <a:rPr kumimoji="0" lang="bg-BG" altLang="bg-BG" sz="4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в)</a:t>
            </a:r>
            <a:r>
              <a:rPr kumimoji="0" lang="bg-BG" altLang="bg-BG" sz="4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Компилационна грешка</a:t>
            </a:r>
            <a:endParaRPr kumimoji="0" lang="bg-BG" altLang="bg-BG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084357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5120641" y="2911027"/>
            <a:ext cx="3323645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bg-BG" altLang="bg-BG" sz="3600" b="1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б)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true</a:t>
            </a:r>
            <a:r>
              <a:rPr kumimoji="0" lang="bg-BG" altLang="bg-BG" sz="3600" b="0" i="0" u="none" strike="noStrike" cap="none" normalizeH="0" baseline="0" dirty="0" smtClean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136994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1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6604" y="501889"/>
            <a:ext cx="10881851" cy="1110780"/>
          </a:xfrm>
        </p:spPr>
        <p:txBody>
          <a:bodyPr/>
          <a:lstStyle/>
          <a:p>
            <a:pPr algn="ctr"/>
            <a:r>
              <a:rPr lang="bg-BG" dirty="0">
                <a:latin typeface="Comfortaa" pitchFamily="2" charset="0"/>
              </a:rPr>
              <a:t>Обобщение</a:t>
            </a:r>
          </a:p>
        </p:txBody>
      </p:sp>
      <p:sp>
        <p:nvSpPr>
          <p:cNvPr id="434179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600200"/>
            <a:ext cx="10780800" cy="4576348"/>
          </a:xfrm>
        </p:spPr>
        <p:txBody>
          <a:bodyPr>
            <a:noAutofit/>
          </a:bodyPr>
          <a:lstStyle/>
          <a:p>
            <a:pPr lvl="0"/>
            <a:r>
              <a:rPr lang="bg-BG" b="1" dirty="0"/>
              <a:t>Какво е шаблонен интерфейс?</a:t>
            </a:r>
            <a:r>
              <a:rPr lang="bg-BG" dirty="0"/>
              <a:t/>
            </a:r>
            <a:br>
              <a:rPr lang="bg-BG" dirty="0"/>
            </a:br>
            <a:r>
              <a:rPr lang="bg-BG" dirty="0"/>
              <a:t>Интерфейс с параметър на тип </a:t>
            </a:r>
            <a:r>
              <a:rPr lang="bg-BG" sz="3200" b="1" dirty="0">
                <a:solidFill>
                  <a:schemeClr val="accent1"/>
                </a:solidFill>
              </a:rPr>
              <a:t>&lt;T&gt;</a:t>
            </a:r>
            <a:r>
              <a:rPr lang="bg-BG" dirty="0"/>
              <a:t>, който позволява универсална работа с данни.</a:t>
            </a:r>
            <a:endParaRPr lang="bg-BG" sz="1800" dirty="0"/>
          </a:p>
          <a:p>
            <a:pPr lvl="0"/>
            <a:r>
              <a:rPr lang="bg-BG" b="1" dirty="0"/>
              <a:t>Защо е полезен?</a:t>
            </a:r>
            <a:r>
              <a:rPr lang="bg-BG" dirty="0"/>
              <a:t/>
            </a:r>
            <a:br>
              <a:rPr lang="bg-BG" dirty="0"/>
            </a:br>
            <a:r>
              <a:rPr lang="bg-BG" dirty="0"/>
              <a:t>Един интерфейс → много реализации → гъвкав, чист и разширяем код.</a:t>
            </a:r>
            <a:endParaRPr lang="bg-BG" sz="1800" dirty="0"/>
          </a:p>
          <a:p>
            <a:pPr lvl="0"/>
            <a:r>
              <a:rPr lang="bg-BG" b="1" dirty="0"/>
              <a:t>Какво научихме днес?</a:t>
            </a:r>
            <a:endParaRPr lang="bg-BG" sz="1800" dirty="0"/>
          </a:p>
          <a:p>
            <a:pPr lvl="1"/>
            <a:r>
              <a:rPr lang="bg-BG" dirty="0"/>
              <a:t>как се създава шаблонен интерфейс;</a:t>
            </a:r>
            <a:endParaRPr lang="bg-BG" sz="1600" dirty="0"/>
          </a:p>
          <a:p>
            <a:pPr lvl="1"/>
            <a:r>
              <a:rPr lang="bg-BG" dirty="0"/>
              <a:t>как се имплементира;</a:t>
            </a:r>
            <a:endParaRPr lang="bg-BG" sz="1600" dirty="0"/>
          </a:p>
          <a:p>
            <a:pPr lvl="1"/>
            <a:r>
              <a:rPr lang="bg-BG" dirty="0"/>
              <a:t>как да използваме конкретни типове чрез </a:t>
            </a:r>
            <a:r>
              <a:rPr lang="bg-BG" sz="3200" b="1" dirty="0">
                <a:solidFill>
                  <a:schemeClr val="accent1"/>
                </a:solidFill>
              </a:rPr>
              <a:t>&lt;T&gt;</a:t>
            </a:r>
            <a:r>
              <a:rPr lang="bg-BG" dirty="0"/>
              <a:t>;</a:t>
            </a:r>
            <a:endParaRPr lang="bg-BG" sz="1600" dirty="0"/>
          </a:p>
          <a:p>
            <a:pPr lvl="1"/>
            <a:r>
              <a:rPr lang="bg-BG" dirty="0"/>
              <a:t>създадохме </a:t>
            </a:r>
            <a:r>
              <a:rPr lang="bg-BG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интерфейс </a:t>
            </a:r>
            <a:r>
              <a:rPr lang="bg-BG" sz="3200" b="1" dirty="0">
                <a:solidFill>
                  <a:schemeClr val="accent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IContainer&lt;T&gt;</a:t>
            </a:r>
            <a:r>
              <a:rPr lang="bg-BG" sz="3200" b="1" dirty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bg-BG" sz="3200" dirty="0"/>
          </a:p>
        </p:txBody>
      </p:sp>
    </p:spTree>
    <p:extLst>
      <p:ext uri="{BB962C8B-B14F-4D97-AF65-F5344CB8AC3E}">
        <p14:creationId xmlns:p14="http://schemas.microsoft.com/office/powerpoint/2010/main" val="2750921275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83242" y="2250219"/>
            <a:ext cx="70289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bg-BG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715617" y="1680832"/>
            <a:ext cx="10114059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bg-BG" sz="8000" b="1" dirty="0">
                <a:latin typeface="Arial" panose="020B0604020202020204" pitchFamily="34" charset="0"/>
                <a:cs typeface="Arial" panose="020B0604020202020204" pitchFamily="34" charset="0"/>
              </a:rPr>
              <a:t>БЛАГОДАРЯ ЗА</a:t>
            </a:r>
          </a:p>
          <a:p>
            <a:pPr algn="ctr"/>
            <a:endParaRPr lang="bg-BG" sz="8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bg-BG" sz="8000" b="1" dirty="0">
                <a:latin typeface="Arial" panose="020B0604020202020204" pitchFamily="34" charset="0"/>
                <a:cs typeface="Arial" panose="020B0604020202020204" pitchFamily="34" charset="0"/>
              </a:rPr>
              <a:t> ВНИМАНИЕТО!</a:t>
            </a:r>
          </a:p>
        </p:txBody>
      </p:sp>
    </p:spTree>
    <p:extLst>
      <p:ext uri="{BB962C8B-B14F-4D97-AF65-F5344CB8AC3E}">
        <p14:creationId xmlns:p14="http://schemas.microsoft.com/office/powerpoint/2010/main" val="6242333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1416</TotalTime>
  <Words>883</Words>
  <Application>Microsoft Office PowerPoint</Application>
  <PresentationFormat>Widescreen</PresentationFormat>
  <Paragraphs>220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Arial</vt:lpstr>
      <vt:lpstr>Arial Unicode MS</vt:lpstr>
      <vt:lpstr>Calibri</vt:lpstr>
      <vt:lpstr>Century Gothic</vt:lpstr>
      <vt:lpstr>Comfortaa</vt:lpstr>
      <vt:lpstr>Consolas</vt:lpstr>
      <vt:lpstr>Courier New</vt:lpstr>
      <vt:lpstr>Symbol</vt:lpstr>
      <vt:lpstr>Times New Roman</vt:lpstr>
      <vt:lpstr>Wingdings 3</vt:lpstr>
      <vt:lpstr>Ion</vt:lpstr>
      <vt:lpstr>Шаблонни  интерфейси</vt:lpstr>
      <vt:lpstr>PowerPoint Presentation</vt:lpstr>
      <vt:lpstr>PowerPoint Presentation</vt:lpstr>
      <vt:lpstr>Какво представляват Шаблонни методи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Шаблонни интерфейси</vt:lpstr>
      <vt:lpstr>PowerPoint Presentation</vt:lpstr>
      <vt:lpstr>PowerPoint Presentation</vt:lpstr>
      <vt:lpstr>PowerPoint Presentation</vt:lpstr>
      <vt:lpstr>PowerPoint Presentation</vt:lpstr>
      <vt:lpstr>Задача 1: Създател на шаблонен масив</vt:lpstr>
      <vt:lpstr>PowerPoint Presentation</vt:lpstr>
      <vt:lpstr>PowerPoint Presentation</vt:lpstr>
      <vt:lpstr>PowerPoint Presentation</vt:lpstr>
      <vt:lpstr>PowerPoint Presentation</vt:lpstr>
      <vt:lpstr>Задача: Универсална везна</vt:lpstr>
      <vt:lpstr>Решение: Универсална везна [1/2]</vt:lpstr>
      <vt:lpstr>Решение: Универсална везна [2/2]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Neli Nqgolova</cp:lastModifiedBy>
  <cp:revision>56</cp:revision>
  <dcterms:created xsi:type="dcterms:W3CDTF">2022-08-09T09:25:46Z</dcterms:created>
  <dcterms:modified xsi:type="dcterms:W3CDTF">2025-12-08T06:39:57Z</dcterms:modified>
</cp:coreProperties>
</file>