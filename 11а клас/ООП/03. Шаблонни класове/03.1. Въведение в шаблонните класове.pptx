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8" r:id="rId2"/>
    <p:sldId id="643" r:id="rId3"/>
    <p:sldId id="588" r:id="rId4"/>
    <p:sldId id="593" r:id="rId5"/>
    <p:sldId id="594" r:id="rId6"/>
    <p:sldId id="595" r:id="rId7"/>
    <p:sldId id="596" r:id="rId8"/>
    <p:sldId id="597" r:id="rId9"/>
    <p:sldId id="599" r:id="rId10"/>
    <p:sldId id="486" r:id="rId11"/>
    <p:sldId id="5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643"/>
            <p14:sldId id="588"/>
            <p14:sldId id="593"/>
            <p14:sldId id="594"/>
            <p14:sldId id="595"/>
            <p14:sldId id="596"/>
            <p14:sldId id="597"/>
            <p14:sldId id="599"/>
            <p14:sldId id="486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48CC282D-65AC-40DC-BB37-2645FE097C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546435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E8A63E1-DD47-49B5-8B43-70B4273960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54666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7DF148-7EE5-46E7-BFBA-83E1E8AF03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399708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05B00D0-4B63-40C0-8E40-6AA46F8FC8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102698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ED96D18-3F4C-4812-9704-89572305D4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76609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23546E4-6344-406D-86C3-CF9FD0A81C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772205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E65B3B-E6E2-4525-8F2E-49AC8F612DB9}" type="slidenum">
              <a:rPr lang="en-US"/>
              <a:pPr/>
              <a:t>10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83B6DE63-1A6E-46E3-8BDD-18EEEC425F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865981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17.11.2025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Шаблонни класове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Templates</a:t>
            </a:r>
            <a:r>
              <a:rPr lang="bg-BG" dirty="0">
                <a:latin typeface="Comfortaa" pitchFamily="2" charset="0"/>
              </a:rPr>
              <a:t> </a:t>
            </a:r>
            <a:r>
              <a:rPr lang="en-US" dirty="0">
                <a:latin typeface="Comfortaa" pitchFamily="2" charset="0"/>
              </a:rPr>
              <a:t>&amp; Generics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781801" y="762000"/>
            <a:ext cx="10628399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83399" y="1913127"/>
            <a:ext cx="10628399" cy="4142533"/>
          </a:xfrm>
        </p:spPr>
        <p:txBody>
          <a:bodyPr>
            <a:normAutofit/>
          </a:bodyPr>
          <a:lstStyle/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Защо въобще са ни нужни?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Синтаксис на шаблонните класове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Предимства от използването им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Видимост на параметъра за типа</a:t>
            </a:r>
          </a:p>
          <a:p>
            <a:pPr marL="447675" indent="-447675">
              <a:lnSpc>
                <a:spcPct val="11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  <a:cs typeface="Consolas" panose="020B0609020204030204" pitchFamily="49" charset="0"/>
              </a:rPr>
              <a:t>Разгъване на шаблонен клас</a:t>
            </a:r>
            <a:endParaRPr lang="en-US" dirty="0">
              <a:latin typeface="Comfortaa" pitchFamily="2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70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703" y="1374363"/>
            <a:ext cx="10840495" cy="626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Нужен ни е клас, който ще съхранява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само</a:t>
            </a:r>
            <a:r>
              <a:rPr lang="bg-BG" dirty="0">
                <a:latin typeface="Comfortaa" pitchFamily="2" charset="0"/>
              </a:rPr>
              <a:t> низове</a:t>
            </a: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65703" y="449136"/>
            <a:ext cx="10793985" cy="893659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Задача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665704" y="2064128"/>
            <a:ext cx="10840496" cy="403187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ArrayList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strings = new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ArrayList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strings.Add("1");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strings.Add("2");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strings.Add(3);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O</a:t>
            </a:r>
            <a:r>
              <a:rPr lang="bg-BG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К ли е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?!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 e1 = (string) strings.Get(0);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 e2 = (string) strings.Get(2);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 e3 = (String) strings.Get(3);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RTE</a:t>
            </a:r>
          </a:p>
        </p:txBody>
      </p:sp>
    </p:spTree>
    <p:extLst>
      <p:ext uri="{BB962C8B-B14F-4D97-AF65-F5344CB8AC3E}">
        <p14:creationId xmlns:p14="http://schemas.microsoft.com/office/powerpoint/2010/main" val="143158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703" y="1438439"/>
            <a:ext cx="10740545" cy="3715645"/>
          </a:xfrm>
        </p:spPr>
        <p:txBody>
          <a:bodyPr>
            <a:noAutofit/>
          </a:bodyPr>
          <a:lstStyle/>
          <a:p>
            <a:r>
              <a:rPr lang="bg-BG" sz="2400" dirty="0">
                <a:latin typeface="Comfortaa" pitchFamily="2" charset="0"/>
              </a:rPr>
              <a:t>Трябва ни клас, който ще съхранява само низове</a:t>
            </a:r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pPr marL="0" indent="0">
              <a:buNone/>
            </a:pPr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Добавя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проверка на 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типа</a:t>
            </a:r>
            <a:r>
              <a:rPr lang="bg-BG" sz="2400" dirty="0">
                <a:solidFill>
                  <a:srgbClr val="F6D18E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(</a:t>
            </a:r>
            <a:r>
              <a:rPr lang="en-US" sz="2400" dirty="0">
                <a:latin typeface="Comfortaa" pitchFamily="2" charset="0"/>
              </a:rPr>
              <a:t>Type Safety</a:t>
            </a:r>
            <a:r>
              <a:rPr lang="bg-BG" sz="2400" dirty="0">
                <a:latin typeface="Comfortaa" pitchFamily="2" charset="0"/>
              </a:rPr>
              <a:t>) на клиента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Осигурява мощен начин за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повторно използване </a:t>
            </a:r>
            <a:r>
              <a:rPr lang="bg-BG" sz="2400" dirty="0">
                <a:latin typeface="Comfortaa" pitchFamily="2" charset="0"/>
              </a:rPr>
              <a:t>на кода</a:t>
            </a:r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pPr lvl="1"/>
            <a:endParaRPr lang="en-US" sz="20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65704" y="491341"/>
            <a:ext cx="10515600" cy="947098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Шаблонни класове </a:t>
            </a:r>
            <a:r>
              <a:rPr lang="en-US" sz="4000" dirty="0">
                <a:latin typeface="Comfortaa" pitchFamily="2" charset="0"/>
              </a:rPr>
              <a:t>– </a:t>
            </a:r>
            <a:r>
              <a:rPr lang="bg-BG" sz="4000" dirty="0">
                <a:latin typeface="Comfortaa" pitchFamily="2" charset="0"/>
              </a:rPr>
              <a:t>предимства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1010696" y="1978477"/>
            <a:ext cx="10437725" cy="206210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IList&lt;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string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 strings = new List&lt;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string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strings.Add("1");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strings.Add("2");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strings.Add(3);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bg-BG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грешка при компилация</a:t>
            </a:r>
            <a:endParaRPr lang="en-US" sz="3200" b="1" noProof="1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10696" y="5154084"/>
            <a:ext cx="10437725" cy="107721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IList&lt;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 strings = new List&lt;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IList&lt;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Person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 people = new List&lt;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Person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&gt;();</a:t>
            </a:r>
          </a:p>
        </p:txBody>
      </p:sp>
    </p:spTree>
    <p:extLst>
      <p:ext uri="{BB962C8B-B14F-4D97-AF65-F5344CB8AC3E}">
        <p14:creationId xmlns:p14="http://schemas.microsoft.com/office/powerpoint/2010/main" val="1695602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814" y="1552492"/>
            <a:ext cx="10746483" cy="2681061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Дефинира се 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&lt;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Тип</a:t>
            </a:r>
            <a:r>
              <a:rPr lang="bg-BG" b="1" dirty="0">
                <a:solidFill>
                  <a:srgbClr val="F6D18E"/>
                </a:solidFill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1,</a:t>
            </a:r>
            <a:r>
              <a:rPr lang="en-US" b="1" dirty="0">
                <a:solidFill>
                  <a:srgbClr val="F6D18E"/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Тип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2 …</a:t>
            </a:r>
            <a:r>
              <a:rPr lang="en-US" b="1" dirty="0">
                <a:solidFill>
                  <a:srgbClr val="F6D18E"/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</a:t>
            </a:r>
            <a:r>
              <a:rPr lang="bg-BG" b="1" dirty="0">
                <a:solidFill>
                  <a:srgbClr val="F6D18E"/>
                </a:solidFill>
                <a:latin typeface="Comfortaa" pitchFamily="2" charset="0"/>
              </a:rPr>
              <a:t> </a:t>
            </a:r>
            <a:r>
              <a:rPr lang="bg-BG" b="1" dirty="0" err="1">
                <a:solidFill>
                  <a:srgbClr val="00B0F0"/>
                </a:solidFill>
                <a:latin typeface="Comfortaa" pitchFamily="2" charset="0"/>
              </a:rPr>
              <a:t>т.н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.&gt;</a:t>
            </a: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Може да има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множество</a:t>
            </a:r>
            <a:r>
              <a:rPr lang="bg-BG" dirty="0">
                <a:latin typeface="Comfortaa" pitchFamily="2" charset="0"/>
              </a:rPr>
              <a:t> параметри за типове</a:t>
            </a:r>
            <a:endParaRPr lang="en-US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9814" y="481402"/>
            <a:ext cx="10515600" cy="107109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Шаблонни класове – синтаксис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1097801" y="2102783"/>
            <a:ext cx="9993752" cy="138499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List&lt;T&gt;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97801" y="4091346"/>
            <a:ext cx="9993752" cy="138499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Dictionary&lt;TKey, TValue&gt;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0208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13" y="1460664"/>
            <a:ext cx="10069286" cy="540327"/>
          </a:xfrm>
        </p:spPr>
        <p:txBody>
          <a:bodyPr>
            <a:noAutofit/>
          </a:bodyPr>
          <a:lstStyle/>
          <a:p>
            <a:r>
              <a:rPr lang="bg-BG" dirty="0">
                <a:latin typeface="Comfortaa" pitchFamily="2" charset="0"/>
              </a:rPr>
              <a:t>Може да бъде използван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навсякъде</a:t>
            </a:r>
            <a:r>
              <a:rPr lang="bg-BG" dirty="0">
                <a:latin typeface="Comfortaa" pitchFamily="2" charset="0"/>
              </a:rPr>
              <a:t> в класа</a:t>
            </a: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5085" y="546264"/>
            <a:ext cx="10515600" cy="1025710"/>
          </a:xfrm>
        </p:spPr>
        <p:txBody>
          <a:bodyPr>
            <a:normAutofit fontScale="90000"/>
          </a:bodyPr>
          <a:lstStyle/>
          <a:p>
            <a:r>
              <a:rPr lang="bg-BG" dirty="0">
                <a:latin typeface="Comfortaa" pitchFamily="2" charset="0"/>
              </a:rPr>
              <a:t>Видимост на параметъра за типа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915085" y="2128452"/>
            <a:ext cx="9933023" cy="403187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class List&lt;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public Add (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 element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 {…}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public 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Remove () {…}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public </a:t>
            </a:r>
            <a:r>
              <a:rPr lang="en-US" sz="3200" b="1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{ get;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D1C413A8-531E-4514-92E2-64BB975C9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77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0204"/>
            <a:ext cx="10881739" cy="369401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Създайте клас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Box&lt;&gt;</a:t>
            </a:r>
            <a:r>
              <a:rPr lang="bg-BG" dirty="0">
                <a:latin typeface="Comfortaa" pitchFamily="2" charset="0"/>
              </a:rPr>
              <a:t>, който може да съхранява всичко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Добавянето трябва да добавя новото най-отгоре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Премахването да взима най-горния елемент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Трябва да има два публични метода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void Add(element)</a:t>
            </a:r>
          </a:p>
          <a:p>
            <a:pPr lvl="1"/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element Remove()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кутия с</a:t>
            </a:r>
            <a:r>
              <a:rPr lang="en-GB" dirty="0">
                <a:latin typeface="Comfortaa" pitchFamily="2" charset="0"/>
              </a:rPr>
              <a:t> T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145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7517" y="356260"/>
            <a:ext cx="10840495" cy="960051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кутия с</a:t>
            </a:r>
            <a:r>
              <a:rPr lang="en-GB" dirty="0">
                <a:latin typeface="Comfortaa" pitchFamily="2" charset="0"/>
              </a:rPr>
              <a:t> T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17517" y="1464752"/>
            <a:ext cx="10840496" cy="470898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public class Box&lt;T</a:t>
            </a: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TODO: </a:t>
            </a:r>
            <a:r>
              <a:rPr lang="bg-BG" sz="20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Добавете полета и конструктор</a:t>
            </a:r>
            <a:endParaRPr lang="en-US" sz="2000" b="1" noProof="1">
              <a:solidFill>
                <a:srgbClr val="00B0F0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int Count =&gt; this.data.Count;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void Add(T item)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{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this.data.Add(item);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public T Remove()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var rem = this.data.Last();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this.data.RemoveAt(this.data.Count - 1);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return rem;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288024F-DC47-485C-9782-382901BDA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698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734" y="1750064"/>
            <a:ext cx="10170530" cy="6190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Можете да го разширите с конкретен клас</a:t>
            </a: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marL="457200" lvl="1" indent="0">
              <a:buNone/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10734" y="801584"/>
            <a:ext cx="10170531" cy="9484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Разгъване на шаблонен клас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1010735" y="2455023"/>
            <a:ext cx="10170530" cy="156966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BoxOfPickles : Box&lt;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Pickle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10735" y="4304805"/>
            <a:ext cx="10170530" cy="156966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BoxOfPickles jar = new BoxOfPickles();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jar.Add(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new Pickle()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jar.Add(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new Vegetable()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); </a:t>
            </a:r>
            <a:r>
              <a:rPr lang="en-US" sz="3200" b="1" noProof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// Error</a:t>
            </a:r>
          </a:p>
        </p:txBody>
      </p:sp>
    </p:spTree>
    <p:extLst>
      <p:ext uri="{BB962C8B-B14F-4D97-AF65-F5344CB8AC3E}">
        <p14:creationId xmlns:p14="http://schemas.microsoft.com/office/powerpoint/2010/main" val="622686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979746" y="806688"/>
            <a:ext cx="10325197" cy="111078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981342" y="2012868"/>
            <a:ext cx="10323600" cy="39350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Шаблонните класове добавят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проверка на типа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Кодът със шаблонни класове е по-лесен за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повторна употреба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Параметърът за типа </a:t>
            </a:r>
            <a:r>
              <a:rPr lang="bg-BG" dirty="0">
                <a:latin typeface="Comfortaa" pitchFamily="2" charset="0"/>
              </a:rPr>
              <a:t>може да се използва навсякъде в описанието на класа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3639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Words>638</Words>
  <Application>Microsoft Office PowerPoint</Application>
  <PresentationFormat>Widescreen</PresentationFormat>
  <Paragraphs>129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Comfortaa</vt:lpstr>
      <vt:lpstr>Consolas</vt:lpstr>
      <vt:lpstr>Times New Roman</vt:lpstr>
      <vt:lpstr>Office Theme</vt:lpstr>
      <vt:lpstr>Шаблонни класове</vt:lpstr>
      <vt:lpstr>Съдържание</vt:lpstr>
      <vt:lpstr>Задача</vt:lpstr>
      <vt:lpstr>Шаблонни класове – предимства</vt:lpstr>
      <vt:lpstr>Шаблонни класове – синтаксис</vt:lpstr>
      <vt:lpstr>Видимост на параметъра за типа</vt:lpstr>
      <vt:lpstr>Задача: кутия с T</vt:lpstr>
      <vt:lpstr>Решение: кутия с T</vt:lpstr>
      <vt:lpstr>Разгъване на шаблонен клас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11</cp:revision>
  <dcterms:created xsi:type="dcterms:W3CDTF">2022-08-09T09:25:46Z</dcterms:created>
  <dcterms:modified xsi:type="dcterms:W3CDTF">2025-11-17T08:15:17Z</dcterms:modified>
</cp:coreProperties>
</file>