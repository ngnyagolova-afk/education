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9"/>
  </p:notesMasterIdLst>
  <p:sldIdLst>
    <p:sldId id="258" r:id="rId2"/>
    <p:sldId id="571" r:id="rId3"/>
    <p:sldId id="479" r:id="rId4"/>
    <p:sldId id="481" r:id="rId5"/>
    <p:sldId id="482" r:id="rId6"/>
    <p:sldId id="484" r:id="rId7"/>
    <p:sldId id="485" r:id="rId8"/>
    <p:sldId id="486" r:id="rId9"/>
    <p:sldId id="487" r:id="rId10"/>
    <p:sldId id="488" r:id="rId11"/>
    <p:sldId id="490" r:id="rId12"/>
    <p:sldId id="491" r:id="rId13"/>
    <p:sldId id="492" r:id="rId14"/>
    <p:sldId id="493" r:id="rId15"/>
    <p:sldId id="494" r:id="rId16"/>
    <p:sldId id="509" r:id="rId17"/>
    <p:sldId id="5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  <p14:sldId id="571"/>
          </p14:sldIdLst>
        </p14:section>
        <p14:section name="Streams" id="{0B0C01F3-1F60-4ADB-AC1E-9589654EAEF3}">
          <p14:sldIdLst>
            <p14:sldId id="479"/>
            <p14:sldId id="481"/>
            <p14:sldId id="482"/>
          </p14:sldIdLst>
        </p14:section>
        <p14:section name="Readers and Writers" id="{7CCFE344-D172-426A-BEB5-30EA6481ED0D}">
          <p14:sldIdLst>
            <p14:sldId id="484"/>
            <p14:sldId id="485"/>
            <p14:sldId id="486"/>
            <p14:sldId id="487"/>
            <p14:sldId id="488"/>
          </p14:sldIdLst>
        </p14:section>
        <p14:section name="File Stream" id="{7E3385FA-2420-47F9-B207-E0C453FA01A8}">
          <p14:sldIdLst>
            <p14:sldId id="490"/>
            <p14:sldId id="491"/>
            <p14:sldId id="492"/>
            <p14:sldId id="493"/>
            <p14:sldId id="494"/>
          </p14:sldIdLst>
        </p14:section>
        <p14:section name="Заключение" id="{9315BEE7-605C-4839-996A-A4EEA70921D9}">
          <p14:sldIdLst>
            <p14:sldId id="509"/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8A51F5-6E34-4A9B-8787-8C29D4F40D1D}" v="1" dt="2022-08-10T06:34:56.1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790" autoAdjust="0"/>
    <p:restoredTop sz="94660"/>
  </p:normalViewPr>
  <p:slideViewPr>
    <p:cSldViewPr snapToGrid="0">
      <p:cViewPr varScale="1">
        <p:scale>
          <a:sx n="86" d="100"/>
          <a:sy n="86" d="100"/>
        </p:scale>
        <p:origin x="82" y="2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21.9.2022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flaticon.com/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://creativecommons.org/licenses/by-nc-sa/4.0/" TargetMode="External"/><Relationship Id="rId4" Type="http://schemas.openxmlformats.org/officeDocument/2006/relationships/hyperlink" Target="https://softuni.foundation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3CB8708A-8556-42FD-AFB9-1485951BC6C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42727812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/>
              <a:t>Icons by </a:t>
            </a:r>
            <a:r>
              <a:rPr lang="en-US" sz="1600" dirty="0" err="1"/>
              <a:t>Chanut</a:t>
            </a:r>
            <a:r>
              <a:rPr lang="en-US" sz="1600" dirty="0"/>
              <a:t> is Industries / Pixel perfect at </a:t>
            </a:r>
            <a:r>
              <a:rPr lang="en-US" sz="1600" dirty="0">
                <a:hlinkClick r:id="rId3"/>
              </a:rPr>
              <a:t>http://www.flaticon.com/</a:t>
            </a:r>
            <a:r>
              <a:rPr lang="en-US" sz="1600" dirty="0"/>
              <a:t> </a:t>
            </a:r>
          </a:p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marL="0" marR="0" lvl="0" indent="0" algn="r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BA5BD7-F043-4D1B-AA17-CD412FC534DE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121898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20FF9974-2806-444B-A1B9-AD4969D679D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4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5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688022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US" sz="1100" b="0">
                <a:solidFill>
                  <a:schemeClr val="tx1"/>
                </a:solidFill>
              </a:rPr>
              <a:t>*</a:t>
            </a:r>
            <a:endParaRPr lang="en-US" altLang="en-US" sz="1300" b="0" i="0">
              <a:solidFill>
                <a:schemeClr val="tx1"/>
              </a:solidFill>
            </a:endParaRPr>
          </a:p>
        </p:txBody>
      </p:sp>
      <p:sp>
        <p:nvSpPr>
          <p:cNvPr id="3379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</a:pPr>
            <a:fld id="{14C438BC-B483-4D96-BAC5-0F01F18C5756}" type="slidenum">
              <a:rPr lang="en-US" altLang="en-US" sz="1100" b="0">
                <a:solidFill>
                  <a:schemeClr val="tx1"/>
                </a:solidFill>
              </a:rPr>
              <a:pPr>
                <a:lnSpc>
                  <a:spcPct val="100000"/>
                </a:lnSpc>
              </a:pPr>
              <a:t>12</a:t>
            </a:fld>
            <a:r>
              <a:rPr lang="en-US" altLang="en-US" sz="1100" b="0">
                <a:solidFill>
                  <a:schemeClr val="tx1"/>
                </a:solidFill>
              </a:rPr>
              <a:t>##</a:t>
            </a:r>
            <a:endParaRPr lang="en-US" altLang="en-US" sz="1300" b="0" i="0">
              <a:solidFill>
                <a:schemeClr val="tx1"/>
              </a:solidFill>
            </a:endParaRPr>
          </a:p>
        </p:txBody>
      </p:sp>
      <p:sp>
        <p:nvSpPr>
          <p:cNvPr id="3379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bg-BG" alt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D6077346-4AFB-4AA5-976C-FAA7B799BB9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4916136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US" sz="1100" b="0">
                <a:solidFill>
                  <a:schemeClr val="tx1"/>
                </a:solidFill>
              </a:rPr>
              <a:t>*</a:t>
            </a:r>
            <a:endParaRPr lang="en-US" altLang="en-US" sz="1300" b="0" i="0">
              <a:solidFill>
                <a:schemeClr val="tx1"/>
              </a:solidFill>
            </a:endParaRPr>
          </a:p>
        </p:txBody>
      </p:sp>
      <p:sp>
        <p:nvSpPr>
          <p:cNvPr id="3584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</a:pPr>
            <a:fld id="{84BB1A29-A751-48FB-B432-F8C4EFEE1C77}" type="slidenum">
              <a:rPr lang="en-US" altLang="en-US" sz="1100" b="0">
                <a:solidFill>
                  <a:schemeClr val="tx1"/>
                </a:solidFill>
              </a:rPr>
              <a:pPr>
                <a:lnSpc>
                  <a:spcPct val="100000"/>
                </a:lnSpc>
              </a:pPr>
              <a:t>13</a:t>
            </a:fld>
            <a:r>
              <a:rPr lang="en-US" altLang="en-US" sz="1100" b="0">
                <a:solidFill>
                  <a:schemeClr val="tx1"/>
                </a:solidFill>
              </a:rPr>
              <a:t>##</a:t>
            </a:r>
            <a:endParaRPr lang="en-US" altLang="en-US" sz="1300" b="0" i="0">
              <a:solidFill>
                <a:schemeClr val="tx1"/>
              </a:solidFill>
            </a:endParaRPr>
          </a:p>
        </p:txBody>
      </p:sp>
      <p:sp>
        <p:nvSpPr>
          <p:cNvPr id="3584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bg-BG" alt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BC26C6D7-8E97-451C-B0CB-7185E799A89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474747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US" sz="1100" b="0">
                <a:solidFill>
                  <a:schemeClr val="tx1"/>
                </a:solidFill>
              </a:rPr>
              <a:t>*</a:t>
            </a:r>
            <a:endParaRPr lang="en-US" altLang="en-US" sz="1300" b="0" i="0">
              <a:solidFill>
                <a:schemeClr val="tx1"/>
              </a:solidFill>
            </a:endParaRPr>
          </a:p>
        </p:txBody>
      </p:sp>
      <p:sp>
        <p:nvSpPr>
          <p:cNvPr id="3789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</a:pPr>
            <a:fld id="{5B4B4D5A-EB9C-43C1-92C9-80E77CA475E8}" type="slidenum">
              <a:rPr lang="en-US" altLang="en-US" sz="1100" b="0">
                <a:solidFill>
                  <a:schemeClr val="tx1"/>
                </a:solidFill>
              </a:rPr>
              <a:pPr>
                <a:lnSpc>
                  <a:spcPct val="100000"/>
                </a:lnSpc>
              </a:pPr>
              <a:t>14</a:t>
            </a:fld>
            <a:r>
              <a:rPr lang="en-US" altLang="en-US" sz="1100" b="0">
                <a:solidFill>
                  <a:schemeClr val="tx1"/>
                </a:solidFill>
              </a:rPr>
              <a:t>##</a:t>
            </a:r>
            <a:endParaRPr lang="en-US" altLang="en-US" sz="1300" b="0" i="0">
              <a:solidFill>
                <a:schemeClr val="tx1"/>
              </a:solidFill>
            </a:endParaRPr>
          </a:p>
        </p:txBody>
      </p:sp>
      <p:sp>
        <p:nvSpPr>
          <p:cNvPr id="378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bg-BG" alt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F9CD43A1-135B-4FA1-974C-7FF87693358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40187502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en-US" sz="1100" b="0">
                <a:solidFill>
                  <a:schemeClr val="tx1"/>
                </a:solidFill>
              </a:rPr>
              <a:t>*</a:t>
            </a:r>
            <a:endParaRPr lang="en-US" altLang="en-US" sz="1300" b="0" i="0">
              <a:solidFill>
                <a:schemeClr val="tx1"/>
              </a:solidFill>
            </a:endParaRPr>
          </a:p>
        </p:txBody>
      </p:sp>
      <p:sp>
        <p:nvSpPr>
          <p:cNvPr id="3994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1pPr>
            <a:lvl2pPr marL="742950" indent="-28575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2pPr>
            <a:lvl3pPr marL="11430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3pPr>
            <a:lvl4pPr marL="16002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4pPr>
            <a:lvl5pPr marL="2057400" indent="-228600" defTabSz="990600">
              <a:lnSpc>
                <a:spcPct val="85000"/>
              </a:lnSpc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5pPr>
            <a:lvl6pPr marL="25146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29718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34290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3886200" indent="-228600" defTabSz="990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40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</a:pPr>
            <a:fld id="{A4C901C4-D3E0-4DDC-882B-7B0D85070CDC}" type="slidenum">
              <a:rPr lang="en-US" altLang="en-US" sz="1100" b="0">
                <a:solidFill>
                  <a:schemeClr val="tx1"/>
                </a:solidFill>
              </a:rPr>
              <a:pPr>
                <a:lnSpc>
                  <a:spcPct val="100000"/>
                </a:lnSpc>
              </a:pPr>
              <a:t>15</a:t>
            </a:fld>
            <a:r>
              <a:rPr lang="en-US" altLang="en-US" sz="1100" b="0">
                <a:solidFill>
                  <a:schemeClr val="tx1"/>
                </a:solidFill>
              </a:rPr>
              <a:t>##</a:t>
            </a:r>
            <a:endParaRPr lang="en-US" altLang="en-US" sz="1300" b="0" i="0">
              <a:solidFill>
                <a:schemeClr val="tx1"/>
              </a:solidFill>
            </a:endParaRPr>
          </a:p>
        </p:txBody>
      </p:sp>
      <p:sp>
        <p:nvSpPr>
          <p:cNvPr id="3994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bg-BG" altLang="en-US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B1526BD5-72B5-4A3F-B0E8-F09E6346F70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9883691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BE65B3B-E6E2-4525-8F2E-49AC8F612DB9}" type="slidenum">
              <a:rPr lang="en-US"/>
              <a:pPr/>
              <a:t>16</a:t>
            </a:fld>
            <a:r>
              <a:rPr lang="en-US" dirty="0"/>
              <a:t>##</a:t>
            </a:r>
          </a:p>
        </p:txBody>
      </p:sp>
      <p:sp>
        <p:nvSpPr>
          <p:cNvPr id="435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5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2C8DABC5-4DF5-469C-9529-6E52F46AC55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3683281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21.9.2022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21.9.2022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21.9.2022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21.9.2022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21.9.2022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21.9.2022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21.9.2022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21.9.2022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21.9.2022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21.9.2022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21.9.2022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21.9.2022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on.bg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hyperlink" Target="https://creativecommons.org/licenses/by-nc-sa/4.0" TargetMode="External"/><Relationship Id="rId4" Type="http://schemas.openxmlformats.org/officeDocument/2006/relationships/hyperlink" Target="https://www.mon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4336"/>
            <a:ext cx="9144000" cy="2387600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Входно-изходни потоци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04011"/>
            <a:ext cx="9144000" cy="1655762"/>
          </a:xfrm>
        </p:spPr>
        <p:txBody>
          <a:bodyPr/>
          <a:lstStyle/>
          <a:p>
            <a:r>
              <a:rPr lang="en-US" dirty="0">
                <a:latin typeface="Comfortaa" pitchFamily="2" charset="0"/>
              </a:rPr>
              <a:t>Input/Output Streams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957959" y="733260"/>
            <a:ext cx="10515600" cy="1325563"/>
          </a:xfrm>
        </p:spPr>
        <p:txBody>
          <a:bodyPr>
            <a:normAutofit/>
          </a:bodyPr>
          <a:lstStyle/>
          <a:p>
            <a:r>
              <a:rPr lang="bg-BG" b="1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957959" y="2058823"/>
            <a:ext cx="10515600" cy="4217743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00000"/>
              </a:lnSpc>
              <a:spcBef>
                <a:spcPts val="500"/>
              </a:spcBef>
              <a:buFont typeface="+mj-lt"/>
              <a:buAutoNum type="arabicPeriod"/>
            </a:pPr>
            <a:r>
              <a:rPr lang="bg-BG" sz="3200" dirty="0">
                <a:latin typeface="Comfortaa" pitchFamily="2" charset="0"/>
              </a:rPr>
              <a:t>Какво са потоците?</a:t>
            </a:r>
          </a:p>
          <a:p>
            <a:pPr marL="514350" indent="-514350">
              <a:lnSpc>
                <a:spcPct val="100000"/>
              </a:lnSpc>
              <a:spcBef>
                <a:spcPts val="500"/>
              </a:spcBef>
              <a:buFont typeface="+mj-lt"/>
              <a:buAutoNum type="arabicPeriod"/>
            </a:pPr>
            <a:r>
              <a:rPr lang="en-US" sz="3200" dirty="0">
                <a:latin typeface="Comfortaa" pitchFamily="2" charset="0"/>
              </a:rPr>
              <a:t>Reader </a:t>
            </a:r>
            <a:r>
              <a:rPr lang="bg-BG" sz="3200" dirty="0">
                <a:latin typeface="Comfortaa" pitchFamily="2" charset="0"/>
              </a:rPr>
              <a:t>и </a:t>
            </a:r>
            <a:r>
              <a:rPr lang="en-US" sz="3200" dirty="0">
                <a:latin typeface="Comfortaa" pitchFamily="2" charset="0"/>
              </a:rPr>
              <a:t>Writer </a:t>
            </a:r>
            <a:r>
              <a:rPr lang="bg-BG" sz="3200" dirty="0">
                <a:latin typeface="Comfortaa" pitchFamily="2" charset="0"/>
              </a:rPr>
              <a:t>класове</a:t>
            </a:r>
          </a:p>
          <a:p>
            <a:pPr marL="514350" indent="-514350">
              <a:lnSpc>
                <a:spcPct val="100000"/>
              </a:lnSpc>
              <a:spcBef>
                <a:spcPts val="500"/>
              </a:spcBef>
              <a:buFont typeface="+mj-lt"/>
              <a:buAutoNum type="arabicPeriod"/>
            </a:pPr>
            <a:r>
              <a:rPr lang="bg-BG" sz="3200" dirty="0">
                <a:latin typeface="Comfortaa" pitchFamily="2" charset="0"/>
              </a:rPr>
              <a:t>Типове потоци</a:t>
            </a:r>
          </a:p>
          <a:p>
            <a:pPr lvl="1">
              <a:lnSpc>
                <a:spcPct val="100000"/>
              </a:lnSpc>
            </a:pPr>
            <a:r>
              <a:rPr lang="en-US" sz="2800" dirty="0">
                <a:latin typeface="Comfortaa" pitchFamily="2" charset="0"/>
              </a:rPr>
              <a:t>File, Memory, Network </a:t>
            </a:r>
            <a:r>
              <a:rPr lang="bg-BG" sz="2800" dirty="0">
                <a:latin typeface="Comfortaa" pitchFamily="2" charset="0"/>
              </a:rPr>
              <a:t>потоци</a:t>
            </a:r>
          </a:p>
          <a:p>
            <a:pPr lvl="1">
              <a:lnSpc>
                <a:spcPct val="100000"/>
              </a:lnSpc>
            </a:pPr>
            <a:r>
              <a:rPr lang="en-US" sz="2800" dirty="0">
                <a:latin typeface="Comfortaa" pitchFamily="2" charset="0"/>
              </a:rPr>
              <a:t>Crypto, </a:t>
            </a:r>
            <a:r>
              <a:rPr lang="en-US" sz="2800" dirty="0" err="1">
                <a:latin typeface="Comfortaa" pitchFamily="2" charset="0"/>
              </a:rPr>
              <a:t>Gzip</a:t>
            </a:r>
            <a:r>
              <a:rPr lang="en-US" sz="2800" dirty="0">
                <a:latin typeface="Comfortaa" pitchFamily="2" charset="0"/>
              </a:rPr>
              <a:t> </a:t>
            </a:r>
            <a:r>
              <a:rPr lang="bg-BG" sz="2800" dirty="0">
                <a:latin typeface="Comfortaa" pitchFamily="2" charset="0"/>
              </a:rPr>
              <a:t>потоци</a:t>
            </a:r>
          </a:p>
        </p:txBody>
      </p:sp>
    </p:spTree>
    <p:extLst>
      <p:ext uri="{BB962C8B-B14F-4D97-AF65-F5344CB8AC3E}">
        <p14:creationId xmlns:p14="http://schemas.microsoft.com/office/powerpoint/2010/main" val="2385751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0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Потоците се използват за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пренос на информация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Ние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отваряме поток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за да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Прочетем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данни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Запишем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данни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428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>
                <a:latin typeface="Comfortaa" pitchFamily="2" charset="0"/>
              </a:rPr>
              <a:t>Какво е поток</a:t>
            </a:r>
            <a:r>
              <a:rPr lang="en-US" b="1" dirty="0">
                <a:latin typeface="Comfortaa" pitchFamily="2" charset="0"/>
              </a:rPr>
              <a:t>?</a:t>
            </a:r>
            <a:endParaRPr lang="bg-BG" b="1" dirty="0">
              <a:latin typeface="Comfortaa" pitchFamily="2" charset="0"/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2186553" y="4191001"/>
            <a:ext cx="7818897" cy="1668515"/>
            <a:chOff x="2092267" y="3936298"/>
            <a:chExt cx="7818897" cy="1668515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 cstate="print">
              <a:duotone>
                <a:prstClr val="black"/>
                <a:schemeClr val="accent3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92267" y="3958979"/>
              <a:ext cx="1944745" cy="1617820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4" cstate="print">
              <a:duotone>
                <a:prstClr val="black"/>
                <a:schemeClr val="accent3">
                  <a:tint val="45000"/>
                  <a:satMod val="400000"/>
                </a:scheme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49472" y="3936298"/>
              <a:ext cx="1761692" cy="1668515"/>
            </a:xfrm>
            <a:prstGeom prst="rect">
              <a:avLst/>
            </a:prstGeom>
          </p:spPr>
        </p:pic>
        <p:sp>
          <p:nvSpPr>
            <p:cNvPr id="13" name="Text Placeholder 5"/>
            <p:cNvSpPr txBox="1">
              <a:spLocks/>
            </p:cNvSpPr>
            <p:nvPr/>
          </p:nvSpPr>
          <p:spPr>
            <a:xfrm>
              <a:off x="4426084" y="4838769"/>
              <a:ext cx="2978900" cy="718039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vert="horz" wrap="square" lIns="144000" tIns="108000" rIns="144000" bIns="108000" rtlCol="0">
              <a:spAutoFit/>
            </a:bodyPr>
            <a:lstStyle>
              <a:lvl1pPr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2B254"/>
                </a:buClr>
                <a:buSzPct val="100000"/>
                <a:buFont typeface="Wingdings" panose="05000000000000000000" pitchFamily="2" charset="2"/>
                <a:buNone/>
                <a:defRPr lang="en-US" b="1" noProof="1" smtClean="0">
                  <a:solidFill>
                    <a:srgbClr val="FBEED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defRPr>
              </a:lvl1pPr>
              <a:lvl2pPr indent="-231606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§"/>
                <a:defRPr sz="3200" b="0"/>
              </a:lvl2pPr>
              <a:lvl3pPr marL="914240" indent="-231606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F9A1D"/>
                </a:buClr>
                <a:buSzPct val="80000"/>
                <a:buFont typeface="Wingdings" panose="05000000000000000000" pitchFamily="2" charset="2"/>
                <a:buChar char="§"/>
                <a:defRPr sz="3000" b="0"/>
              </a:lvl3pPr>
              <a:lvl4pPr marL="1218987" indent="-231606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D9411"/>
                </a:buClr>
                <a:buSzPct val="80000"/>
                <a:buFont typeface="Wingdings" panose="05000000000000000000" pitchFamily="2" charset="2"/>
                <a:buChar char="§"/>
                <a:defRPr sz="2800" b="0"/>
              </a:lvl4pPr>
              <a:lvl5pPr marL="1523733" indent="-231606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28D10"/>
                </a:buClr>
                <a:buSzPct val="80000"/>
                <a:buFont typeface="Wingdings" panose="05000000000000000000" pitchFamily="2" charset="2"/>
                <a:buChar char="§"/>
                <a:defRPr sz="2600" b="0"/>
              </a:lvl5pPr>
              <a:lvl6pPr marL="1828480" indent="-231606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/>
              </a:lvl6pPr>
              <a:lvl7pPr marL="2133227" indent="-231606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/>
              </a:lvl7pPr>
              <a:lvl8pPr marL="2437972" indent="-231606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baseline="0"/>
              </a:lvl8pPr>
              <a:lvl9pPr marL="2742720" indent="-231606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baseline="0"/>
              </a:lvl9pPr>
            </a:lstStyle>
            <a:p>
              <a:pPr algn="ctr" defTabSz="1218987" fontAlgn="t">
                <a:defRPr/>
              </a:pPr>
              <a:r>
                <a:rPr lang="bg-BG" sz="2800" dirty="0">
                  <a:solidFill>
                    <a:schemeClr val="tx1"/>
                  </a:solidFill>
                  <a:effectLst/>
                  <a:latin typeface="Comfortaa" pitchFamily="2" charset="0"/>
                </a:rPr>
                <a:t>Поток</a:t>
              </a:r>
              <a:endParaRPr lang="bg-BG" sz="3600" b="0" dirty="0">
                <a:solidFill>
                  <a:schemeClr val="tx1"/>
                </a:solidFill>
                <a:effectLst/>
                <a:latin typeface="Comfortaa" pitchFamily="2" charset="0"/>
              </a:endParaRPr>
            </a:p>
          </p:txBody>
        </p:sp>
        <p:sp>
          <p:nvSpPr>
            <p:cNvPr id="2" name="Arrow: Right 1"/>
            <p:cNvSpPr/>
            <p:nvPr/>
          </p:nvSpPr>
          <p:spPr>
            <a:xfrm>
              <a:off x="4358961" y="3936298"/>
              <a:ext cx="3607457" cy="814742"/>
            </a:xfrm>
            <a:prstGeom prst="rightArrow">
              <a:avLst>
                <a:gd name="adj1" fmla="val 78290"/>
                <a:gd name="adj2" fmla="val 67238"/>
              </a:avLst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1218987">
                <a:defRPr/>
              </a:pPr>
              <a:r>
                <a:rPr lang="en-GB" sz="2400" b="1" dirty="0">
                  <a:solidFill>
                    <a:sysClr val="windowText" lastClr="000000"/>
                  </a:solidFill>
                  <a:latin typeface="Comfortaa" pitchFamily="2" charset="0"/>
                </a:rPr>
                <a:t>1100 1001 1001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4029302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05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Потоците</a:t>
            </a:r>
            <a:r>
              <a:rPr lang="bg-BG" dirty="0">
                <a:latin typeface="Comfortaa" pitchFamily="2" charset="0"/>
              </a:rPr>
              <a:t> са създадени за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пренос</a:t>
            </a:r>
            <a:r>
              <a:rPr lang="en-US" dirty="0">
                <a:latin typeface="Comfortaa" pitchFamily="2" charset="0"/>
              </a:rPr>
              <a:t> (</a:t>
            </a:r>
            <a:r>
              <a:rPr lang="bg-BG" dirty="0">
                <a:latin typeface="Comfortaa" pitchFamily="2" charset="0"/>
              </a:rPr>
              <a:t>четене и запис</a:t>
            </a:r>
            <a:r>
              <a:rPr lang="en-US" dirty="0">
                <a:latin typeface="Comfortaa" pitchFamily="2" charset="0"/>
              </a:rPr>
              <a:t>) </a:t>
            </a:r>
            <a:r>
              <a:rPr lang="bg-BG" dirty="0">
                <a:latin typeface="Comfortaa" pitchFamily="2" charset="0"/>
              </a:rPr>
              <a:t>на данни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Потоците са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подредена последователност от байтове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Осигуряват последователен достъп до своите елементи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Има различни типове потоци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за разните типове данни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Достъп до файлове и мрежа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потоци в паметта и други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Потоците трябва да се отворят преди употреба и да се затворят накрая</a:t>
            </a:r>
          </a:p>
        </p:txBody>
      </p:sp>
      <p:sp>
        <p:nvSpPr>
          <p:cNvPr id="429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>
                <a:latin typeface="Comfortaa" pitchFamily="2" charset="0"/>
              </a:rPr>
              <a:t>Основното за потоците</a:t>
            </a:r>
          </a:p>
        </p:txBody>
      </p:sp>
    </p:spTree>
    <p:extLst>
      <p:ext uri="{BB962C8B-B14F-4D97-AF65-F5344CB8AC3E}">
        <p14:creationId xmlns:p14="http://schemas.microsoft.com/office/powerpoint/2010/main" val="1536802321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417818" y="5166924"/>
            <a:ext cx="11410191" cy="1356622"/>
          </a:xfrm>
        </p:spPr>
        <p:txBody>
          <a:bodyPr>
            <a:normAutofit/>
          </a:bodyPr>
          <a:lstStyle/>
          <a:p>
            <a:pPr>
              <a:spcBef>
                <a:spcPts val="2400"/>
              </a:spcBef>
            </a:pPr>
            <a:r>
              <a:rPr lang="en-US" sz="2400" dirty="0">
                <a:latin typeface="Comfortaa" pitchFamily="2" charset="0"/>
              </a:rPr>
              <a:t>Position </a:t>
            </a:r>
            <a:r>
              <a:rPr lang="bg-BG" sz="2400" dirty="0">
                <a:latin typeface="Comfortaa" pitchFamily="2" charset="0"/>
              </a:rPr>
              <a:t>е текущата позиция в потока</a:t>
            </a:r>
            <a:endParaRPr lang="en-US" sz="2400" dirty="0">
              <a:latin typeface="Comfortaa" pitchFamily="2" charset="0"/>
            </a:endParaRPr>
          </a:p>
          <a:p>
            <a:r>
              <a:rPr lang="en-US" sz="2400" dirty="0">
                <a:latin typeface="Comfortaa" pitchFamily="2" charset="0"/>
              </a:rPr>
              <a:t>Buffer </a:t>
            </a:r>
            <a:r>
              <a:rPr lang="bg-BG" sz="2400" dirty="0">
                <a:latin typeface="Comfortaa" pitchFamily="2" charset="0"/>
              </a:rPr>
              <a:t>пази </a:t>
            </a:r>
            <a:r>
              <a:rPr lang="en-US" sz="2400" b="1" dirty="0">
                <a:latin typeface="Comfortaa" pitchFamily="2" charset="0"/>
              </a:rPr>
              <a:t>n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байта от потока от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текущата позиция</a:t>
            </a:r>
            <a:endParaRPr lang="en-US" sz="2400" dirty="0">
              <a:latin typeface="Comfortaa" pitchFamily="2" charset="0"/>
            </a:endParaRPr>
          </a:p>
        </p:txBody>
      </p:sp>
      <p:sp>
        <p:nvSpPr>
          <p:cNvPr id="429058" name="Rectangle 2"/>
          <p:cNvSpPr>
            <a:spLocks noGrp="1" noChangeArrowheads="1"/>
          </p:cNvSpPr>
          <p:nvPr>
            <p:ph type="title"/>
          </p:nvPr>
        </p:nvSpPr>
        <p:spPr>
          <a:xfrm>
            <a:off x="629475" y="263736"/>
            <a:ext cx="10515600" cy="969677"/>
          </a:xfrm>
        </p:spPr>
        <p:txBody>
          <a:bodyPr>
            <a:normAutofit/>
          </a:bodyPr>
          <a:lstStyle/>
          <a:p>
            <a:r>
              <a:rPr lang="bg-BG" sz="4000" b="1" dirty="0">
                <a:latin typeface="Comfortaa" pitchFamily="2" charset="0"/>
              </a:rPr>
              <a:t>Поток пример</a:t>
            </a:r>
          </a:p>
        </p:txBody>
      </p:sp>
      <p:sp>
        <p:nvSpPr>
          <p:cNvPr id="5" name="Rectangle 27"/>
          <p:cNvSpPr>
            <a:spLocks noChangeArrowheads="1"/>
          </p:cNvSpPr>
          <p:nvPr/>
        </p:nvSpPr>
        <p:spPr bwMode="auto">
          <a:xfrm>
            <a:off x="1555750" y="2273947"/>
            <a:ext cx="8686800" cy="1185798"/>
          </a:xfrm>
          <a:prstGeom prst="rect">
            <a:avLst/>
          </a:prstGeom>
          <a:solidFill>
            <a:schemeClr val="bg1">
              <a:alpha val="20000"/>
            </a:schemeClr>
          </a:solidFill>
          <a:ln w="9525" cap="rnd" algn="ctr">
            <a:noFill/>
            <a:prstDash val="sysDot"/>
            <a:round/>
            <a:headEnd/>
            <a:tailEnd/>
          </a:ln>
          <a:effectLst>
            <a:outerShdw dist="17961" dir="2700000" algn="ctr" rotWithShape="0">
              <a:srgbClr val="FFFFFF"/>
            </a:outerShdw>
          </a:effec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1784350" y="2273946"/>
            <a:ext cx="8167800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en-US" sz="2800" b="1" dirty="0">
                <a:latin typeface="Consolas" pitchFamily="49" charset="0"/>
                <a:cs typeface="Consolas" pitchFamily="49" charset="0"/>
              </a:rPr>
              <a:t> F    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i   l</a:t>
            </a:r>
            <a:r>
              <a:rPr lang="en-US" sz="2800" b="1" dirty="0">
                <a:latin typeface="Consolas" pitchFamily="49" charset="0"/>
                <a:cs typeface="Consolas" pitchFamily="49" charset="0"/>
              </a:rPr>
              <a:t>    e    s        a    n   d</a:t>
            </a:r>
            <a:endParaRPr lang="bg-BG" sz="2800" b="1" dirty="0">
              <a:latin typeface="Consolas" pitchFamily="49" charset="0"/>
              <a:cs typeface="Consolas" pitchFamily="49" charset="0"/>
            </a:endParaRPr>
          </a:p>
        </p:txBody>
      </p:sp>
      <p:graphicFrame>
        <p:nvGraphicFramePr>
          <p:cNvPr id="7" name="Group 13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01780142"/>
              </p:ext>
            </p:extLst>
          </p:nvPr>
        </p:nvGraphicFramePr>
        <p:xfrm>
          <a:off x="1828800" y="2810520"/>
          <a:ext cx="8108946" cy="49682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009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9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9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9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9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09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9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099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0099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46</a:t>
                      </a:r>
                      <a:endParaRPr kumimoji="0" lang="en-US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69</a:t>
                      </a:r>
                      <a:endParaRPr kumimoji="0" lang="en-US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6c</a:t>
                      </a:r>
                      <a:endParaRPr kumimoji="0" lang="en-US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65</a:t>
                      </a:r>
                      <a:endParaRPr kumimoji="0" lang="en-US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73</a:t>
                      </a:r>
                      <a:endParaRPr kumimoji="0" lang="en-US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20</a:t>
                      </a:r>
                      <a:endParaRPr kumimoji="0" lang="en-US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61</a:t>
                      </a:r>
                      <a:endParaRPr kumimoji="0" lang="en-US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6e</a:t>
                      </a:r>
                      <a:endParaRPr kumimoji="0" lang="en-US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 anchor="ctr" horzOverflow="overflow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64</a:t>
                      </a:r>
                      <a:endParaRPr kumimoji="0" lang="en-US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 anchor="ctr" horzOverflow="overflow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Left Brace 2"/>
          <p:cNvSpPr/>
          <p:nvPr/>
        </p:nvSpPr>
        <p:spPr>
          <a:xfrm rot="5400000">
            <a:off x="5652752" y="-1958180"/>
            <a:ext cx="430999" cy="8001002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4998523" y="1343642"/>
            <a:ext cx="2057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mfortaa" pitchFamily="2" charset="0"/>
              </a:rPr>
              <a:t>Length = 9</a:t>
            </a:r>
          </a:p>
        </p:txBody>
      </p:sp>
      <p:sp>
        <p:nvSpPr>
          <p:cNvPr id="2" name="Down Arrow 1"/>
          <p:cNvSpPr/>
          <p:nvPr/>
        </p:nvSpPr>
        <p:spPr>
          <a:xfrm rot="10800000">
            <a:off x="2010166" y="3375872"/>
            <a:ext cx="562099" cy="704118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7818" y="3603981"/>
            <a:ext cx="15800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mfortaa" pitchFamily="2" charset="0"/>
              </a:rPr>
              <a:t>Position</a:t>
            </a:r>
          </a:p>
        </p:txBody>
      </p:sp>
      <p:graphicFrame>
        <p:nvGraphicFramePr>
          <p:cNvPr id="12" name="Group 13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91788970"/>
              </p:ext>
            </p:extLst>
          </p:nvPr>
        </p:nvGraphicFramePr>
        <p:xfrm>
          <a:off x="1796616" y="4175875"/>
          <a:ext cx="1620158" cy="49682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10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0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46</a:t>
                      </a:r>
                      <a:endParaRPr kumimoji="0" lang="en-US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69</a:t>
                      </a:r>
                      <a:endParaRPr kumimoji="0" lang="en-US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17818" y="4149479"/>
            <a:ext cx="1378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mfortaa" pitchFamily="2" charset="0"/>
              </a:rPr>
              <a:t>Buffer</a:t>
            </a:r>
          </a:p>
        </p:txBody>
      </p:sp>
      <p:graphicFrame>
        <p:nvGraphicFramePr>
          <p:cNvPr id="18" name="Group 13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34635075"/>
              </p:ext>
            </p:extLst>
          </p:nvPr>
        </p:nvGraphicFramePr>
        <p:xfrm>
          <a:off x="3693642" y="4173816"/>
          <a:ext cx="1620158" cy="49682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10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0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6c</a:t>
                      </a:r>
                      <a:endParaRPr kumimoji="0" lang="en-US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65</a:t>
                      </a:r>
                      <a:endParaRPr kumimoji="0" lang="en-US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Group 13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37430377"/>
              </p:ext>
            </p:extLst>
          </p:nvPr>
        </p:nvGraphicFramePr>
        <p:xfrm>
          <a:off x="5498666" y="4175875"/>
          <a:ext cx="1620158" cy="49682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10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0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73</a:t>
                      </a:r>
                      <a:endParaRPr kumimoji="0" lang="en-US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20</a:t>
                      </a:r>
                      <a:endParaRPr kumimoji="0" lang="en-US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Group 13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41221408"/>
              </p:ext>
            </p:extLst>
          </p:nvPr>
        </p:nvGraphicFramePr>
        <p:xfrm>
          <a:off x="7403666" y="4175875"/>
          <a:ext cx="1620158" cy="49682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10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0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61</a:t>
                      </a:r>
                      <a:endParaRPr kumimoji="0" lang="en-US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6e</a:t>
                      </a:r>
                      <a:endParaRPr kumimoji="0" lang="en-US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Group 13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61554697"/>
              </p:ext>
            </p:extLst>
          </p:nvPr>
        </p:nvGraphicFramePr>
        <p:xfrm>
          <a:off x="9232466" y="4175875"/>
          <a:ext cx="1620158" cy="49682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10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00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64</a:t>
                      </a:r>
                      <a:endParaRPr kumimoji="0" lang="en-US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7916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949" y="1825624"/>
            <a:ext cx="11566566" cy="4397045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altLang="en-US" sz="3200" b="1" dirty="0">
                <a:solidFill>
                  <a:srgbClr val="00B0F0"/>
                </a:solidFill>
                <a:latin typeface="Comfortaa" pitchFamily="2" charset="0"/>
              </a:rPr>
              <a:t>Reader</a:t>
            </a:r>
            <a:r>
              <a:rPr lang="bg-BG" altLang="en-US" sz="3200" dirty="0">
                <a:latin typeface="Comfortaa" pitchFamily="2" charset="0"/>
              </a:rPr>
              <a:t> и </a:t>
            </a:r>
            <a:r>
              <a:rPr lang="en-US" altLang="en-US" sz="3200" b="1" dirty="0">
                <a:solidFill>
                  <a:srgbClr val="00B0F0"/>
                </a:solidFill>
                <a:latin typeface="Comfortaa" pitchFamily="2" charset="0"/>
              </a:rPr>
              <a:t>Writer</a:t>
            </a:r>
            <a:r>
              <a:rPr lang="en-US" altLang="en-US" sz="3200" dirty="0">
                <a:latin typeface="Comfortaa" pitchFamily="2" charset="0"/>
              </a:rPr>
              <a:t> </a:t>
            </a:r>
            <a:r>
              <a:rPr lang="bg-BG" altLang="en-US" sz="3200" dirty="0">
                <a:latin typeface="Comfortaa" pitchFamily="2" charset="0"/>
              </a:rPr>
              <a:t>са класове, улесняващи работата с потоците</a:t>
            </a:r>
            <a:endParaRPr lang="en-US" altLang="en-US" sz="3200" dirty="0">
              <a:latin typeface="Comfortaa" pitchFamily="2" charset="0"/>
            </a:endParaRPr>
          </a:p>
          <a:p>
            <a:r>
              <a:rPr lang="bg-BG" sz="3200" dirty="0">
                <a:latin typeface="Comfortaa" pitchFamily="2" charset="0"/>
              </a:rPr>
              <a:t>Има два типа потоци:</a:t>
            </a:r>
            <a:endParaRPr lang="en-US" sz="3200" dirty="0">
              <a:latin typeface="Comfortaa" pitchFamily="2" charset="0"/>
            </a:endParaRPr>
          </a:p>
          <a:p>
            <a:pPr lvl="1"/>
            <a:r>
              <a:rPr lang="bg-BG" sz="2800" dirty="0">
                <a:latin typeface="Comfortaa" pitchFamily="2" charset="0"/>
              </a:rPr>
              <a:t>Текстово</a:t>
            </a:r>
            <a:r>
              <a:rPr lang="en-US" sz="2800" dirty="0">
                <a:latin typeface="Comfortaa" pitchFamily="2" charset="0"/>
              </a:rPr>
              <a:t> </a:t>
            </a:r>
            <a:r>
              <a:rPr lang="bg-BG" sz="2800" dirty="0">
                <a:latin typeface="Comfortaa" pitchFamily="2" charset="0"/>
              </a:rPr>
              <a:t>четене/запис</a:t>
            </a:r>
            <a:r>
              <a:rPr lang="en-US" sz="2800" dirty="0">
                <a:latin typeface="Comfortaa" pitchFamily="2" charset="0"/>
              </a:rPr>
              <a:t> – </a:t>
            </a:r>
            <a:r>
              <a:rPr lang="en-US" sz="2800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StreamReader</a:t>
            </a:r>
            <a:r>
              <a:rPr lang="en-US" sz="2800" noProof="1">
                <a:latin typeface="Comfortaa" pitchFamily="2" charset="0"/>
              </a:rPr>
              <a:t> / </a:t>
            </a:r>
            <a:r>
              <a:rPr lang="en-US" sz="2800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StreamWriter</a:t>
            </a:r>
          </a:p>
          <a:p>
            <a:pPr lvl="2"/>
            <a:r>
              <a:rPr lang="bg-BG" sz="2400" noProof="1">
                <a:latin typeface="Comfortaa" pitchFamily="2" charset="0"/>
                <a:cs typeface="Consolas" panose="020B0609020204030204" pitchFamily="49" charset="0"/>
              </a:rPr>
              <a:t>Имат методи</a:t>
            </a:r>
            <a:r>
              <a:rPr lang="en-US" sz="2400" noProof="1">
                <a:latin typeface="Comfortaa" pitchFamily="2" charset="0"/>
                <a:cs typeface="Consolas" panose="020B0609020204030204" pitchFamily="49" charset="0"/>
              </a:rPr>
              <a:t> </a:t>
            </a:r>
            <a:r>
              <a:rPr lang="en-US" sz="2400" b="1" noProof="1">
                <a:latin typeface="Comfortaa" pitchFamily="2" charset="0"/>
                <a:cs typeface="Consolas" panose="020B0609020204030204" pitchFamily="49" charset="0"/>
              </a:rPr>
              <a:t>.ReadLine()</a:t>
            </a:r>
            <a:r>
              <a:rPr lang="en-US" sz="2400" noProof="1">
                <a:latin typeface="Comfortaa" pitchFamily="2" charset="0"/>
                <a:cs typeface="Consolas" panose="020B0609020204030204" pitchFamily="49" charset="0"/>
              </a:rPr>
              <a:t>, </a:t>
            </a:r>
            <a:r>
              <a:rPr lang="en-US" sz="2400" b="1" noProof="1">
                <a:latin typeface="Comfortaa" pitchFamily="2" charset="0"/>
                <a:cs typeface="Consolas" panose="020B0609020204030204" pitchFamily="49" charset="0"/>
              </a:rPr>
              <a:t>.WriteLine()</a:t>
            </a:r>
            <a:r>
              <a:rPr lang="en-US" sz="2400" noProof="1">
                <a:latin typeface="Comfortaa" pitchFamily="2" charset="0"/>
                <a:cs typeface="Consolas" panose="020B0609020204030204" pitchFamily="49" charset="0"/>
              </a:rPr>
              <a:t> (</a:t>
            </a:r>
            <a:r>
              <a:rPr lang="bg-BG" sz="2400" noProof="1">
                <a:latin typeface="Comfortaa" pitchFamily="2" charset="0"/>
                <a:cs typeface="Consolas" panose="020B0609020204030204" pitchFamily="49" charset="0"/>
              </a:rPr>
              <a:t>подобно на работата с</a:t>
            </a:r>
            <a:r>
              <a:rPr lang="en-US" sz="2400" noProof="1">
                <a:latin typeface="Comfortaa" pitchFamily="2" charset="0"/>
                <a:cs typeface="Consolas" panose="020B0609020204030204" pitchFamily="49" charset="0"/>
              </a:rPr>
              <a:t> </a:t>
            </a:r>
            <a:r>
              <a:rPr lang="en-US" sz="2400" b="1" noProof="1">
                <a:latin typeface="Comfortaa" pitchFamily="2" charset="0"/>
                <a:cs typeface="Consolas" panose="020B0609020204030204" pitchFamily="49" charset="0"/>
              </a:rPr>
              <a:t>Console.*</a:t>
            </a:r>
            <a:r>
              <a:rPr lang="en-US" sz="2400" noProof="1">
                <a:latin typeface="Comfortaa" pitchFamily="2" charset="0"/>
                <a:cs typeface="Consolas" panose="020B0609020204030204" pitchFamily="49" charset="0"/>
              </a:rPr>
              <a:t>)</a:t>
            </a:r>
          </a:p>
          <a:p>
            <a:pPr lvl="1"/>
            <a:r>
              <a:rPr lang="bg-BG" sz="2800" noProof="1">
                <a:latin typeface="Comfortaa" pitchFamily="2" charset="0"/>
              </a:rPr>
              <a:t>Двоично четене/запис</a:t>
            </a:r>
            <a:r>
              <a:rPr lang="en-US" sz="2800" noProof="1">
                <a:latin typeface="Comfortaa" pitchFamily="2" charset="0"/>
              </a:rPr>
              <a:t> – </a:t>
            </a:r>
            <a:r>
              <a:rPr lang="en-US" sz="2800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BinaryReader</a:t>
            </a:r>
            <a:r>
              <a:rPr lang="en-US" sz="2800" noProof="1">
                <a:latin typeface="Comfortaa" pitchFamily="2" charset="0"/>
              </a:rPr>
              <a:t> / </a:t>
            </a:r>
            <a:r>
              <a:rPr lang="en-US" sz="2800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BinaryWriter</a:t>
            </a:r>
          </a:p>
          <a:p>
            <a:pPr lvl="2"/>
            <a:r>
              <a:rPr lang="bg-BG" sz="2400" noProof="1">
                <a:latin typeface="Comfortaa" pitchFamily="2" charset="0"/>
                <a:cs typeface="Consolas" panose="020B0609020204030204" pitchFamily="49" charset="0"/>
              </a:rPr>
              <a:t>Имат методи за работа с примитивни типове</a:t>
            </a:r>
            <a:r>
              <a:rPr lang="en-US" sz="2400" noProof="1">
                <a:latin typeface="Comfortaa" pitchFamily="2" charset="0"/>
                <a:cs typeface="Consolas" panose="020B0609020204030204" pitchFamily="49" charset="0"/>
              </a:rPr>
              <a:t> –</a:t>
            </a:r>
            <a:r>
              <a:rPr lang="en-US" sz="2400" b="1" noProof="1">
                <a:latin typeface="Comfortaa" pitchFamily="2" charset="0"/>
                <a:cs typeface="Consolas" panose="020B0609020204030204" pitchFamily="49" charset="0"/>
              </a:rPr>
              <a:t> .ReadInt32()</a:t>
            </a:r>
            <a:r>
              <a:rPr lang="en-US" sz="2400" noProof="1">
                <a:latin typeface="Comfortaa" pitchFamily="2" charset="0"/>
                <a:cs typeface="Consolas" panose="020B0609020204030204" pitchFamily="49" charset="0"/>
              </a:rPr>
              <a:t>, </a:t>
            </a:r>
            <a:r>
              <a:rPr lang="en-US" sz="2400" b="1" noProof="1">
                <a:latin typeface="Comfortaa" pitchFamily="2" charset="0"/>
                <a:cs typeface="Consolas" panose="020B0609020204030204" pitchFamily="49" charset="0"/>
              </a:rPr>
              <a:t>.ReadBoolean()</a:t>
            </a:r>
            <a:r>
              <a:rPr lang="en-US" sz="2400" noProof="1">
                <a:latin typeface="Comfortaa" pitchFamily="2" charset="0"/>
                <a:cs typeface="Consolas" panose="020B0609020204030204" pitchFamily="49" charset="0"/>
              </a:rPr>
              <a:t>, </a:t>
            </a:r>
            <a:r>
              <a:rPr lang="en-US" sz="2400" b="1" noProof="1">
                <a:latin typeface="Comfortaa" pitchFamily="2" charset="0"/>
                <a:cs typeface="Consolas" panose="020B0609020204030204" pitchFamily="49" charset="0"/>
              </a:rPr>
              <a:t>WriteChar()</a:t>
            </a:r>
            <a:r>
              <a:rPr lang="bg-BG" sz="2400" noProof="1">
                <a:latin typeface="Comfortaa" pitchFamily="2" charset="0"/>
                <a:cs typeface="Consolas" panose="020B0609020204030204" pitchFamily="49" charset="0"/>
              </a:rPr>
              <a:t> и т.н.</a:t>
            </a:r>
            <a:endParaRPr lang="en-US" sz="2400" noProof="1">
              <a:latin typeface="Comfortaa" pitchFamily="2" charset="0"/>
              <a:cs typeface="Consolas" panose="020B0609020204030204" pitchFamily="49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53192" y="353250"/>
            <a:ext cx="10515600" cy="1325563"/>
          </a:xfrm>
        </p:spPr>
        <p:txBody>
          <a:bodyPr/>
          <a:lstStyle/>
          <a:p>
            <a:r>
              <a:rPr lang="en-US" b="1" noProof="1">
                <a:latin typeface="Comfortaa" pitchFamily="2" charset="0"/>
              </a:rPr>
              <a:t>Reader </a:t>
            </a:r>
            <a:r>
              <a:rPr lang="bg-BG" b="1" noProof="1">
                <a:latin typeface="Comfortaa" pitchFamily="2" charset="0"/>
              </a:rPr>
              <a:t>и</a:t>
            </a:r>
            <a:r>
              <a:rPr lang="en-US" b="1" noProof="1">
                <a:latin typeface="Comfortaa" pitchFamily="2" charset="0"/>
              </a:rPr>
              <a:t> Writer</a:t>
            </a:r>
            <a:r>
              <a:rPr lang="bg-BG" b="1" noProof="1">
                <a:latin typeface="Comfortaa" pitchFamily="2" charset="0"/>
              </a:rPr>
              <a:t> класове</a:t>
            </a:r>
            <a:endParaRPr lang="en-US" b="1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330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470" y="2179783"/>
            <a:ext cx="10633364" cy="994765"/>
          </a:xfrm>
        </p:spPr>
        <p:txBody>
          <a:bodyPr>
            <a:normAutofit/>
          </a:bodyPr>
          <a:lstStyle/>
          <a:p>
            <a:r>
              <a:rPr lang="bg-BG" sz="2400" dirty="0">
                <a:latin typeface="Comfortaa" pitchFamily="2" charset="0"/>
              </a:rPr>
              <a:t>Прочетете цялото съдържание на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en-US" sz="2400" b="1" noProof="1">
                <a:solidFill>
                  <a:srgbClr val="00B0F0"/>
                </a:solidFill>
                <a:latin typeface="Comfortaa" pitchFamily="2" charset="0"/>
              </a:rPr>
              <a:t>Program.cs </a:t>
            </a:r>
            <a:r>
              <a:rPr lang="bg-BG" sz="2400" dirty="0">
                <a:latin typeface="Comfortaa" pitchFamily="2" charset="0"/>
              </a:rPr>
              <a:t>файла</a:t>
            </a:r>
            <a:endParaRPr lang="en-US" sz="2400" dirty="0">
              <a:latin typeface="Comfortaa" pitchFamily="2" charset="0"/>
            </a:endParaRPr>
          </a:p>
          <a:p>
            <a:r>
              <a:rPr lang="bg-BG" sz="2400" dirty="0">
                <a:latin typeface="Comfortaa" pitchFamily="2" charset="0"/>
              </a:rPr>
              <a:t>Отпечатайте го на конзолата с номера на редове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12470" y="738374"/>
            <a:ext cx="10855036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Задача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Четене на файл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8" name="Text Placeholder 5"/>
          <p:cNvSpPr txBox="1">
            <a:spLocks/>
          </p:cNvSpPr>
          <p:nvPr/>
        </p:nvSpPr>
        <p:spPr>
          <a:xfrm>
            <a:off x="812470" y="3406240"/>
            <a:ext cx="5029200" cy="237254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44000" tIns="108000" rIns="144000" bIns="108000" rtlCol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2800" dirty="0">
                <a:solidFill>
                  <a:schemeClr val="bg1"/>
                </a:solidFill>
              </a:rPr>
              <a:t>using System;</a:t>
            </a:r>
          </a:p>
          <a:p>
            <a:r>
              <a:rPr lang="en-US" sz="2800" dirty="0">
                <a:solidFill>
                  <a:schemeClr val="bg1"/>
                </a:solidFill>
              </a:rPr>
              <a:t>using System.IO;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class Program</a:t>
            </a:r>
          </a:p>
          <a:p>
            <a:r>
              <a:rPr lang="en-US" sz="2800" dirty="0">
                <a:solidFill>
                  <a:schemeClr val="bg1"/>
                </a:solidFill>
              </a:rPr>
              <a:t>{</a:t>
            </a:r>
            <a:endParaRPr lang="bg-BG" sz="3200" b="0" dirty="0">
              <a:solidFill>
                <a:schemeClr val="bg1"/>
              </a:solidFill>
              <a:effectLst/>
            </a:endParaRPr>
          </a:p>
        </p:txBody>
      </p:sp>
      <p:sp>
        <p:nvSpPr>
          <p:cNvPr id="9" name="Arrow: Right 8"/>
          <p:cNvSpPr/>
          <p:nvPr/>
        </p:nvSpPr>
        <p:spPr>
          <a:xfrm>
            <a:off x="5841670" y="4287712"/>
            <a:ext cx="685800" cy="609600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sz="2800">
              <a:solidFill>
                <a:schemeClr val="bg1"/>
              </a:solidFill>
            </a:endParaRPr>
          </a:p>
        </p:txBody>
      </p:sp>
      <p:sp>
        <p:nvSpPr>
          <p:cNvPr id="10" name="Text Placeholder 5"/>
          <p:cNvSpPr txBox="1">
            <a:spLocks/>
          </p:cNvSpPr>
          <p:nvPr/>
        </p:nvSpPr>
        <p:spPr>
          <a:xfrm>
            <a:off x="6527470" y="3406240"/>
            <a:ext cx="5029200" cy="237254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44000" tIns="108000" rIns="144000" bIns="108000" rtlCol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pPr fontAlgn="t"/>
            <a:r>
              <a:rPr lang="en-US" sz="2800" dirty="0">
                <a:solidFill>
                  <a:schemeClr val="bg1"/>
                </a:solidFill>
                <a:effectLst/>
              </a:rPr>
              <a:t>Line 1: using System;</a:t>
            </a:r>
          </a:p>
          <a:p>
            <a:pPr fontAlgn="t"/>
            <a:r>
              <a:rPr lang="en-US" sz="2800" dirty="0">
                <a:solidFill>
                  <a:schemeClr val="bg1"/>
                </a:solidFill>
                <a:effectLst/>
              </a:rPr>
              <a:t>Line 2: using System.IO;</a:t>
            </a:r>
          </a:p>
          <a:p>
            <a:pPr fontAlgn="t"/>
            <a:r>
              <a:rPr lang="en-US" sz="2800" dirty="0">
                <a:solidFill>
                  <a:schemeClr val="bg1"/>
                </a:solidFill>
                <a:effectLst/>
              </a:rPr>
              <a:t>Line 3:</a:t>
            </a:r>
          </a:p>
          <a:p>
            <a:pPr fontAlgn="t"/>
            <a:r>
              <a:rPr lang="en-US" sz="2800" dirty="0">
                <a:solidFill>
                  <a:schemeClr val="bg1"/>
                </a:solidFill>
                <a:effectLst/>
              </a:rPr>
              <a:t>Line 4: class Program</a:t>
            </a:r>
          </a:p>
          <a:p>
            <a:pPr fontAlgn="t"/>
            <a:r>
              <a:rPr lang="en-US" sz="2800" dirty="0">
                <a:solidFill>
                  <a:schemeClr val="bg1"/>
                </a:solidFill>
                <a:effectLst/>
              </a:rPr>
              <a:t>Line 5: {</a:t>
            </a:r>
            <a:endParaRPr lang="bg-BG" sz="2800" b="0" dirty="0">
              <a:solidFill>
                <a:schemeClr val="bg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600207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26188" y="163244"/>
            <a:ext cx="11539621" cy="1014565"/>
          </a:xfrm>
        </p:spPr>
        <p:txBody>
          <a:bodyPr/>
          <a:lstStyle/>
          <a:p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Решение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: </a:t>
            </a: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Четене на файл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</p:txBody>
      </p:sp>
      <p:sp>
        <p:nvSpPr>
          <p:cNvPr id="5" name="Text Placeholder 5"/>
          <p:cNvSpPr txBox="1">
            <a:spLocks/>
          </p:cNvSpPr>
          <p:nvPr/>
        </p:nvSpPr>
        <p:spPr>
          <a:xfrm>
            <a:off x="326189" y="1177809"/>
            <a:ext cx="11539622" cy="5388756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44000" tIns="108000" rIns="144000" bIns="108000" rtlCol="0">
            <a:spAutoFit/>
          </a:bodyPr>
          <a:lstStyle>
            <a:lvl1pPr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None/>
              <a:defRPr lang="en-US" b="1" noProof="1" smtClean="0">
                <a:solidFill>
                  <a:srgbClr val="FBEED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defRPr>
            </a:lvl1pPr>
            <a:lvl2pPr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/>
            </a:lvl2pPr>
            <a:lvl3pPr marL="914240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/>
            </a:lvl3pPr>
            <a:lvl4pPr marL="1218987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/>
            </a:lvl4pPr>
            <a:lvl5pPr marL="1523733" indent="-231606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/>
            </a:lvl5pPr>
            <a:lvl6pPr marL="182848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6pPr>
            <a:lvl7pPr marL="2133227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/>
            </a:lvl7pPr>
            <a:lvl8pPr marL="2437972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8pPr>
            <a:lvl9pPr marL="2742720" indent="-2316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baseline="0"/>
            </a:lvl9pPr>
          </a:lstStyle>
          <a:p>
            <a:r>
              <a:rPr lang="en-US" sz="2800" dirty="0">
                <a:solidFill>
                  <a:srgbClr val="00B0F0"/>
                </a:solidFill>
                <a:effectLst/>
              </a:rPr>
              <a:t>StreamReader</a:t>
            </a:r>
            <a:r>
              <a:rPr lang="en-US" sz="2800" noProof="0" dirty="0">
                <a:solidFill>
                  <a:schemeClr val="bg1"/>
                </a:solidFill>
                <a:effectLst/>
              </a:rPr>
              <a:t> reader = new </a:t>
            </a:r>
            <a:r>
              <a:rPr lang="en-US" sz="2800" dirty="0">
                <a:solidFill>
                  <a:srgbClr val="00B0F0"/>
                </a:solidFill>
                <a:effectLst/>
              </a:rPr>
              <a:t>StreamReader("somefile.txt");</a:t>
            </a:r>
          </a:p>
          <a:p>
            <a:r>
              <a:rPr lang="en-US" sz="2800" noProof="0" dirty="0">
                <a:solidFill>
                  <a:schemeClr val="bg1"/>
                </a:solidFill>
                <a:effectLst/>
              </a:rPr>
              <a:t>using (reader)</a:t>
            </a:r>
          </a:p>
          <a:p>
            <a:r>
              <a:rPr lang="en-US" sz="2800" noProof="0" dirty="0">
                <a:solidFill>
                  <a:schemeClr val="bg1"/>
                </a:solidFill>
                <a:effectLst/>
              </a:rPr>
              <a:t>{</a:t>
            </a:r>
          </a:p>
          <a:p>
            <a:r>
              <a:rPr lang="en-US" sz="2800" noProof="0" dirty="0">
                <a:solidFill>
                  <a:schemeClr val="bg1"/>
                </a:solidFill>
                <a:effectLst/>
              </a:rPr>
              <a:t>  </a:t>
            </a:r>
            <a:r>
              <a:rPr lang="en-US" sz="2800" dirty="0">
                <a:solidFill>
                  <a:schemeClr val="bg1"/>
                </a:solidFill>
                <a:effectLst/>
              </a:rPr>
              <a:t>int</a:t>
            </a:r>
            <a:r>
              <a:rPr lang="en-US" sz="2800" noProof="0" dirty="0">
                <a:solidFill>
                  <a:schemeClr val="bg1"/>
                </a:solidFill>
                <a:effectLst/>
              </a:rPr>
              <a:t> </a:t>
            </a:r>
            <a:r>
              <a:rPr lang="en-US" sz="2800" dirty="0">
                <a:solidFill>
                  <a:schemeClr val="bg1"/>
                </a:solidFill>
                <a:effectLst/>
              </a:rPr>
              <a:t>lineNumber</a:t>
            </a:r>
            <a:r>
              <a:rPr lang="en-US" sz="2800" noProof="0" dirty="0">
                <a:solidFill>
                  <a:schemeClr val="bg1"/>
                </a:solidFill>
                <a:effectLst/>
              </a:rPr>
              <a:t> = 0;</a:t>
            </a:r>
          </a:p>
          <a:p>
            <a:r>
              <a:rPr lang="en-US" sz="2800" noProof="0" dirty="0">
                <a:solidFill>
                  <a:schemeClr val="bg1"/>
                </a:solidFill>
                <a:effectLst/>
              </a:rPr>
              <a:t>  string line = </a:t>
            </a:r>
            <a:r>
              <a:rPr lang="en-US" sz="2800" dirty="0">
                <a:solidFill>
                  <a:schemeClr val="bg1"/>
                </a:solidFill>
                <a:effectLst/>
              </a:rPr>
              <a:t>reader.</a:t>
            </a:r>
            <a:r>
              <a:rPr lang="en-US" sz="2800" dirty="0">
                <a:solidFill>
                  <a:srgbClr val="00B0F0"/>
                </a:solidFill>
                <a:effectLst/>
              </a:rPr>
              <a:t>ReadLine</a:t>
            </a:r>
            <a:r>
              <a:rPr lang="en-US" sz="2800" dirty="0">
                <a:solidFill>
                  <a:schemeClr val="bg1"/>
                </a:solidFill>
                <a:effectLst/>
              </a:rPr>
              <a:t>();</a:t>
            </a:r>
          </a:p>
          <a:p>
            <a:r>
              <a:rPr lang="en-US" sz="2800" noProof="0" dirty="0">
                <a:solidFill>
                  <a:schemeClr val="bg1"/>
                </a:solidFill>
                <a:effectLst/>
              </a:rPr>
              <a:t>  while (line != null)</a:t>
            </a:r>
          </a:p>
          <a:p>
            <a:r>
              <a:rPr lang="en-US" sz="2800" noProof="0" dirty="0">
                <a:solidFill>
                  <a:schemeClr val="bg1"/>
                </a:solidFill>
                <a:effectLst/>
              </a:rPr>
              <a:t>  {</a:t>
            </a:r>
          </a:p>
          <a:p>
            <a:r>
              <a:rPr lang="en-US" sz="2800" noProof="0" dirty="0">
                <a:solidFill>
                  <a:schemeClr val="bg1"/>
                </a:solidFill>
                <a:effectLst/>
              </a:rPr>
              <a:t>    </a:t>
            </a:r>
            <a:r>
              <a:rPr lang="en-US" sz="2800" dirty="0" err="1">
                <a:solidFill>
                  <a:schemeClr val="bg1"/>
                </a:solidFill>
                <a:effectLst/>
              </a:rPr>
              <a:t>lineNumber</a:t>
            </a:r>
            <a:r>
              <a:rPr lang="en-US" sz="2800" dirty="0">
                <a:solidFill>
                  <a:schemeClr val="bg1"/>
                </a:solidFill>
                <a:effectLst/>
              </a:rPr>
              <a:t>++</a:t>
            </a:r>
            <a:r>
              <a:rPr lang="en-US" sz="2800" noProof="0" dirty="0">
                <a:solidFill>
                  <a:schemeClr val="bg1"/>
                </a:solidFill>
                <a:effectLst/>
              </a:rPr>
              <a:t>;</a:t>
            </a:r>
          </a:p>
          <a:p>
            <a:r>
              <a:rPr lang="en-US" sz="2800" noProof="0" dirty="0">
                <a:solidFill>
                  <a:schemeClr val="bg1"/>
                </a:solidFill>
                <a:effectLst/>
              </a:rPr>
              <a:t>    </a:t>
            </a:r>
            <a:r>
              <a:rPr lang="en-US" sz="2800" dirty="0" err="1">
                <a:solidFill>
                  <a:schemeClr val="bg1"/>
                </a:solidFill>
                <a:effectLst/>
              </a:rPr>
              <a:t>Console.WriteLine</a:t>
            </a:r>
            <a:r>
              <a:rPr lang="en-US" sz="2800" noProof="0" dirty="0">
                <a:solidFill>
                  <a:schemeClr val="bg1"/>
                </a:solidFill>
                <a:effectLst/>
              </a:rPr>
              <a:t>("Line {0}: {1}", </a:t>
            </a:r>
            <a:r>
              <a:rPr lang="en-US" sz="2800" dirty="0" err="1">
                <a:solidFill>
                  <a:schemeClr val="bg1"/>
                </a:solidFill>
                <a:effectLst/>
              </a:rPr>
              <a:t>lineNumber</a:t>
            </a:r>
            <a:r>
              <a:rPr lang="en-US" sz="2800" noProof="0" dirty="0">
                <a:solidFill>
                  <a:schemeClr val="bg1"/>
                </a:solidFill>
                <a:effectLst/>
              </a:rPr>
              <a:t>, line);</a:t>
            </a:r>
          </a:p>
          <a:p>
            <a:r>
              <a:rPr lang="en-US" sz="2800" noProof="0" dirty="0">
                <a:solidFill>
                  <a:schemeClr val="bg1"/>
                </a:solidFill>
                <a:effectLst/>
              </a:rPr>
              <a:t>    line = </a:t>
            </a:r>
            <a:r>
              <a:rPr lang="en-US" sz="2800" dirty="0">
                <a:solidFill>
                  <a:schemeClr val="bg1"/>
                </a:solidFill>
                <a:effectLst/>
              </a:rPr>
              <a:t>reader.</a:t>
            </a:r>
            <a:r>
              <a:rPr lang="en-US" sz="2800" dirty="0">
                <a:solidFill>
                  <a:srgbClr val="00B0F0"/>
                </a:solidFill>
                <a:effectLst/>
              </a:rPr>
              <a:t>ReadLine</a:t>
            </a:r>
            <a:r>
              <a:rPr lang="en-US" sz="2800" dirty="0">
                <a:solidFill>
                  <a:schemeClr val="bg1"/>
                </a:solidFill>
                <a:effectLst/>
              </a:rPr>
              <a:t>()</a:t>
            </a:r>
            <a:r>
              <a:rPr lang="en-US" sz="2800" noProof="0" dirty="0">
                <a:solidFill>
                  <a:schemeClr val="bg1"/>
                </a:solidFill>
                <a:effectLst/>
              </a:rPr>
              <a:t>;</a:t>
            </a:r>
          </a:p>
          <a:p>
            <a:r>
              <a:rPr lang="en-US" sz="2800" noProof="0" dirty="0">
                <a:solidFill>
                  <a:schemeClr val="bg1"/>
                </a:solidFill>
                <a:effectLst/>
              </a:rPr>
              <a:t>  }</a:t>
            </a:r>
          </a:p>
          <a:p>
            <a:r>
              <a:rPr lang="en-US" sz="2800" noProof="0" dirty="0">
                <a:solidFill>
                  <a:schemeClr val="bg1"/>
                </a:solidFill>
                <a:effectLst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922629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4494" y="2023960"/>
            <a:ext cx="9272633" cy="1740520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Прочетете вашия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</a:rPr>
              <a:t>Program.cs</a:t>
            </a:r>
            <a:r>
              <a:rPr lang="en-US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файл</a:t>
            </a:r>
            <a:r>
              <a:rPr lang="en-US" dirty="0">
                <a:latin typeface="Comfortaa" pitchFamily="2" charset="0"/>
              </a:rPr>
              <a:t> </a:t>
            </a:r>
          </a:p>
          <a:p>
            <a:r>
              <a:rPr lang="bg-BG" dirty="0">
                <a:latin typeface="Comfortaa" pitchFamily="2" charset="0"/>
              </a:rPr>
              <a:t>Обърнете на обратно всеки негов ред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Запишете резултата в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reversed.txt</a:t>
            </a:r>
            <a:endParaRPr lang="bg-BG" b="1" dirty="0">
              <a:solidFill>
                <a:srgbClr val="00B0F0"/>
              </a:solidFill>
              <a:latin typeface="Comfortaa" pitchFamily="2" charset="0"/>
            </a:endParaRPr>
          </a:p>
          <a:p>
            <a:endParaRPr lang="bg-BG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60810" y="650134"/>
            <a:ext cx="10515600" cy="1325563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Задача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Запис във файл</a:t>
            </a:r>
            <a:endParaRPr lang="en-US" dirty="0">
              <a:latin typeface="Comfortaa" pitchFamily="2" charset="0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960810" y="4021735"/>
            <a:ext cx="10029403" cy="1941658"/>
            <a:chOff x="227787" y="4202256"/>
            <a:chExt cx="10475962" cy="1941658"/>
          </a:xfrm>
        </p:grpSpPr>
        <p:sp>
          <p:nvSpPr>
            <p:cNvPr id="17" name="Arrow: Right 16"/>
            <p:cNvSpPr/>
            <p:nvPr/>
          </p:nvSpPr>
          <p:spPr>
            <a:xfrm>
              <a:off x="5129572" y="4868285"/>
              <a:ext cx="685800" cy="609600"/>
            </a:xfrm>
            <a:prstGeom prst="rightArrow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 sz="2800">
                <a:solidFill>
                  <a:schemeClr val="bg1"/>
                </a:solidFill>
              </a:endParaRPr>
            </a:p>
          </p:txBody>
        </p:sp>
        <p:sp>
          <p:nvSpPr>
            <p:cNvPr id="22" name="Text Placeholder 5"/>
            <p:cNvSpPr txBox="1">
              <a:spLocks/>
            </p:cNvSpPr>
            <p:nvPr/>
          </p:nvSpPr>
          <p:spPr>
            <a:xfrm>
              <a:off x="227787" y="4202256"/>
              <a:ext cx="4888378" cy="1941658"/>
            </a:xfrm>
            <a:prstGeom prst="rect">
              <a:avLst/>
            </a:prstGeom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144000" tIns="108000" rIns="144000" bIns="108000" rtlCol="0">
              <a:spAutoFit/>
            </a:bodyPr>
            <a:lstStyle>
              <a:lvl1pPr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2B254"/>
                </a:buClr>
                <a:buSzPct val="100000"/>
                <a:buFont typeface="Wingdings" panose="05000000000000000000" pitchFamily="2" charset="2"/>
                <a:buNone/>
                <a:defRPr lang="en-US" b="1" noProof="1" smtClean="0">
                  <a:solidFill>
                    <a:srgbClr val="FBEED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defRPr>
              </a:lvl1pPr>
              <a:lvl2pPr indent="-231606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§"/>
                <a:defRPr sz="3200" b="0"/>
              </a:lvl2pPr>
              <a:lvl3pPr marL="914240" indent="-231606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F9A1D"/>
                </a:buClr>
                <a:buSzPct val="80000"/>
                <a:buFont typeface="Wingdings" panose="05000000000000000000" pitchFamily="2" charset="2"/>
                <a:buChar char="§"/>
                <a:defRPr sz="3000" b="0"/>
              </a:lvl3pPr>
              <a:lvl4pPr marL="1218987" indent="-231606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D9411"/>
                </a:buClr>
                <a:buSzPct val="80000"/>
                <a:buFont typeface="Wingdings" panose="05000000000000000000" pitchFamily="2" charset="2"/>
                <a:buChar char="§"/>
                <a:defRPr sz="2800" b="0"/>
              </a:lvl4pPr>
              <a:lvl5pPr marL="1523733" indent="-231606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28D10"/>
                </a:buClr>
                <a:buSzPct val="80000"/>
                <a:buFont typeface="Wingdings" panose="05000000000000000000" pitchFamily="2" charset="2"/>
                <a:buChar char="§"/>
                <a:defRPr sz="2600" b="0"/>
              </a:lvl5pPr>
              <a:lvl6pPr marL="1828480" indent="-231606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/>
              </a:lvl6pPr>
              <a:lvl7pPr marL="2133227" indent="-231606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/>
              </a:lvl7pPr>
              <a:lvl8pPr marL="2437972" indent="-231606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baseline="0"/>
              </a:lvl8pPr>
              <a:lvl9pPr marL="2742720" indent="-231606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baseline="0"/>
              </a:lvl9pPr>
            </a:lstStyle>
            <a:p>
              <a:r>
                <a:rPr lang="en-US" sz="2800" dirty="0">
                  <a:solidFill>
                    <a:schemeClr val="bg1"/>
                  </a:solidFill>
                </a:rPr>
                <a:t>using System.IO;</a:t>
              </a:r>
            </a:p>
            <a:p>
              <a:endParaRPr lang="en-US" sz="2800" dirty="0">
                <a:solidFill>
                  <a:schemeClr val="bg1"/>
                </a:solidFill>
              </a:endParaRPr>
            </a:p>
            <a:p>
              <a:r>
                <a:rPr lang="en-US" sz="2800" dirty="0">
                  <a:solidFill>
                    <a:schemeClr val="bg1"/>
                  </a:solidFill>
                </a:rPr>
                <a:t>class Program</a:t>
              </a:r>
            </a:p>
            <a:p>
              <a:r>
                <a:rPr lang="en-US" sz="2800" dirty="0">
                  <a:solidFill>
                    <a:schemeClr val="bg1"/>
                  </a:solidFill>
                </a:rPr>
                <a:t>{</a:t>
              </a:r>
              <a:endParaRPr lang="bg-BG" sz="3200" b="0" dirty="0">
                <a:solidFill>
                  <a:schemeClr val="bg1"/>
                </a:solidFill>
                <a:effectLst/>
              </a:endParaRPr>
            </a:p>
          </p:txBody>
        </p:sp>
        <p:sp>
          <p:nvSpPr>
            <p:cNvPr id="20" name="Text Placeholder 5"/>
            <p:cNvSpPr txBox="1">
              <a:spLocks/>
            </p:cNvSpPr>
            <p:nvPr/>
          </p:nvSpPr>
          <p:spPr>
            <a:xfrm>
              <a:off x="5815371" y="4202256"/>
              <a:ext cx="4888378" cy="1941658"/>
            </a:xfrm>
            <a:prstGeom prst="rect">
              <a:avLst/>
            </a:prstGeom>
            <a:ln/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144000" tIns="108000" rIns="144000" bIns="108000" rtlCol="0">
              <a:spAutoFit/>
            </a:bodyPr>
            <a:lstStyle>
              <a:lvl1pPr inden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2B254"/>
                </a:buClr>
                <a:buSzPct val="100000"/>
                <a:buFont typeface="Wingdings" panose="05000000000000000000" pitchFamily="2" charset="2"/>
                <a:buNone/>
                <a:defRPr lang="en-US" b="1" noProof="1" smtClean="0">
                  <a:solidFill>
                    <a:srgbClr val="FBEED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defRPr>
              </a:lvl1pPr>
              <a:lvl2pPr indent="-231606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Pct val="80000"/>
                <a:buFont typeface="Wingdings" panose="05000000000000000000" pitchFamily="2" charset="2"/>
                <a:buChar char="§"/>
                <a:defRPr sz="3200" b="0"/>
              </a:lvl2pPr>
              <a:lvl3pPr marL="914240" indent="-231606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F9A1D"/>
                </a:buClr>
                <a:buSzPct val="80000"/>
                <a:buFont typeface="Wingdings" panose="05000000000000000000" pitchFamily="2" charset="2"/>
                <a:buChar char="§"/>
                <a:defRPr sz="3000" b="0"/>
              </a:lvl3pPr>
              <a:lvl4pPr marL="1218987" indent="-231606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D9411"/>
                </a:buClr>
                <a:buSzPct val="80000"/>
                <a:buFont typeface="Wingdings" panose="05000000000000000000" pitchFamily="2" charset="2"/>
                <a:buChar char="§"/>
                <a:defRPr sz="2800" b="0"/>
              </a:lvl4pPr>
              <a:lvl5pPr marL="1523733" indent="-231606">
                <a:lnSpc>
                  <a:spcPct val="105000"/>
                </a:lnSpc>
                <a:spcBef>
                  <a:spcPts val="600"/>
                </a:spcBef>
                <a:spcAft>
                  <a:spcPts val="600"/>
                </a:spcAft>
                <a:buClr>
                  <a:srgbClr val="E28D10"/>
                </a:buClr>
                <a:buSzPct val="80000"/>
                <a:buFont typeface="Wingdings" panose="05000000000000000000" pitchFamily="2" charset="2"/>
                <a:buChar char="§"/>
                <a:defRPr sz="2600" b="0"/>
              </a:lvl5pPr>
              <a:lvl6pPr marL="1828480" indent="-231606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/>
              </a:lvl6pPr>
              <a:lvl7pPr marL="2133227" indent="-231606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/>
              </a:lvl7pPr>
              <a:lvl8pPr marL="2437972" indent="-231606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baseline="0"/>
              </a:lvl8pPr>
              <a:lvl9pPr marL="2742720" indent="-231606">
                <a:lnSpc>
                  <a:spcPct val="90000"/>
                </a:lnSpc>
                <a:spcBef>
                  <a:spcPts val="800"/>
                </a:spcBef>
                <a:buClr>
                  <a:schemeClr val="accent1"/>
                </a:buClr>
                <a:buSzPct val="80000"/>
                <a:buFont typeface="Arial" pitchFamily="34" charset="0"/>
                <a:buChar char="•"/>
                <a:defRPr sz="2000" baseline="0"/>
              </a:lvl9pPr>
            </a:lstStyle>
            <a:p>
              <a:pPr fontAlgn="t"/>
              <a:r>
                <a:rPr lang="en-GB" sz="2800" noProof="0" dirty="0">
                  <a:solidFill>
                    <a:schemeClr val="bg1"/>
                  </a:solidFill>
                  <a:effectLst/>
                </a:rPr>
                <a:t>;</a:t>
              </a:r>
              <a:r>
                <a:rPr lang="en-GB" sz="2800" dirty="0" err="1">
                  <a:solidFill>
                    <a:schemeClr val="bg1"/>
                  </a:solidFill>
                  <a:effectLst/>
                </a:rPr>
                <a:t>OI.metsyS</a:t>
              </a:r>
              <a:r>
                <a:rPr lang="en-GB" sz="2800" noProof="0" dirty="0">
                  <a:solidFill>
                    <a:schemeClr val="bg1"/>
                  </a:solidFill>
                  <a:effectLst/>
                </a:rPr>
                <a:t> </a:t>
              </a:r>
              <a:r>
                <a:rPr lang="en-GB" sz="2800" dirty="0" err="1">
                  <a:solidFill>
                    <a:schemeClr val="bg1"/>
                  </a:solidFill>
                  <a:effectLst/>
                </a:rPr>
                <a:t>gnisu</a:t>
              </a:r>
              <a:endParaRPr lang="en-GB" sz="2800" dirty="0">
                <a:solidFill>
                  <a:schemeClr val="bg1"/>
                </a:solidFill>
                <a:effectLst/>
              </a:endParaRPr>
            </a:p>
            <a:p>
              <a:pPr fontAlgn="t"/>
              <a:endParaRPr lang="en-GB" sz="2800" noProof="0" dirty="0">
                <a:solidFill>
                  <a:schemeClr val="bg1"/>
                </a:solidFill>
                <a:effectLst/>
              </a:endParaRPr>
            </a:p>
            <a:p>
              <a:pPr fontAlgn="t"/>
              <a:r>
                <a:rPr lang="en-GB" sz="2800" dirty="0">
                  <a:solidFill>
                    <a:schemeClr val="bg1"/>
                  </a:solidFill>
                  <a:effectLst/>
                </a:rPr>
                <a:t>margorP</a:t>
              </a:r>
              <a:r>
                <a:rPr lang="en-GB" sz="2800" noProof="0" dirty="0">
                  <a:solidFill>
                    <a:schemeClr val="bg1"/>
                  </a:solidFill>
                  <a:effectLst/>
                </a:rPr>
                <a:t> </a:t>
              </a:r>
              <a:r>
                <a:rPr lang="en-GB" sz="2800" dirty="0" err="1">
                  <a:solidFill>
                    <a:schemeClr val="bg1"/>
                  </a:solidFill>
                  <a:effectLst/>
                </a:rPr>
                <a:t>ssalc</a:t>
              </a:r>
              <a:endParaRPr lang="en-GB" sz="2800" dirty="0">
                <a:solidFill>
                  <a:schemeClr val="bg1"/>
                </a:solidFill>
                <a:effectLst/>
              </a:endParaRPr>
            </a:p>
            <a:p>
              <a:pPr fontAlgn="t"/>
              <a:r>
                <a:rPr lang="en-GB" sz="2800" noProof="0" dirty="0">
                  <a:solidFill>
                    <a:schemeClr val="bg1"/>
                  </a:solidFill>
                  <a:effectLst/>
                </a:rPr>
                <a:t>{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995275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00100" y="225631"/>
            <a:ext cx="10782396" cy="691292"/>
          </a:xfrm>
        </p:spPr>
        <p:txBody>
          <a:bodyPr>
            <a:noAutofit/>
          </a:bodyPr>
          <a:lstStyle/>
          <a:p>
            <a:r>
              <a:rPr lang="ru-RU" sz="3200" noProof="1">
                <a:latin typeface="Comfortaa" pitchFamily="2" charset="0"/>
              </a:rPr>
              <a:t>Запис на текста на файл наобратно – пример</a:t>
            </a:r>
            <a:endParaRPr lang="en-US" sz="3200" dirty="0">
              <a:latin typeface="Comfortaa" pitchFamily="2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800100" y="916923"/>
            <a:ext cx="10591800" cy="5576911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using (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 reader = new </a:t>
            </a:r>
            <a:r>
              <a:rPr lang="en-US" sz="2400" b="1" noProof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StreamReader("../../Program.cs"))</a:t>
            </a:r>
          </a:p>
          <a:p>
            <a:pPr>
              <a:lnSpc>
                <a:spcPct val="90000"/>
              </a:lnSpc>
            </a:pP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>
              <a:lnSpc>
                <a:spcPct val="90000"/>
              </a:lnSpc>
            </a:pP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using (var writer = new </a:t>
            </a:r>
            <a:r>
              <a:rPr lang="en-US" sz="2400" b="1" noProof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StreamWriter("../../reversed.txt"))</a:t>
            </a:r>
          </a:p>
          <a:p>
            <a:pPr>
              <a:lnSpc>
                <a:spcPct val="90000"/>
              </a:lnSpc>
            </a:pP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{</a:t>
            </a:r>
          </a:p>
          <a:p>
            <a:pPr>
              <a:lnSpc>
                <a:spcPct val="90000"/>
              </a:lnSpc>
            </a:pP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string line = reader.</a:t>
            </a:r>
            <a:r>
              <a:rPr lang="en-US" sz="2400" b="1" noProof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ReadLine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>
              <a:lnSpc>
                <a:spcPct val="90000"/>
              </a:lnSpc>
            </a:pP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while (line != null)</a:t>
            </a:r>
          </a:p>
          <a:p>
            <a:pPr>
              <a:lnSpc>
                <a:spcPct val="90000"/>
              </a:lnSpc>
            </a:pP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{</a:t>
            </a:r>
          </a:p>
          <a:p>
            <a:pPr>
              <a:lnSpc>
                <a:spcPct val="90000"/>
              </a:lnSpc>
            </a:pPr>
            <a:r>
              <a:rPr lang="nn-NO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for (int i = line.Length - 1; i &gt;= 0; i--)</a:t>
            </a:r>
          </a:p>
          <a:p>
            <a:pPr>
              <a:lnSpc>
                <a:spcPct val="90000"/>
              </a:lnSpc>
            </a:pP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{</a:t>
            </a:r>
          </a:p>
          <a:p>
            <a:pPr>
              <a:lnSpc>
                <a:spcPct val="90000"/>
              </a:lnSpc>
            </a:pP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writer.</a:t>
            </a:r>
            <a:r>
              <a:rPr lang="en-US" sz="2400" b="1" noProof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Write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(line[i]);</a:t>
            </a:r>
          </a:p>
          <a:p>
            <a:pPr>
              <a:lnSpc>
                <a:spcPct val="90000"/>
              </a:lnSpc>
            </a:pPr>
            <a:r>
              <a:rPr lang="en-US" sz="24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}</a:t>
            </a:r>
          </a:p>
          <a:p>
            <a:pPr>
              <a:lnSpc>
                <a:spcPct val="90000"/>
              </a:lnSpc>
            </a:pP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writer.</a:t>
            </a:r>
            <a:r>
              <a:rPr lang="en-US" sz="2400" b="1" noProof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WriteLine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>
              <a:lnSpc>
                <a:spcPct val="90000"/>
              </a:lnSpc>
            </a:pP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line = reader.</a:t>
            </a:r>
            <a:r>
              <a:rPr lang="en-US" sz="2400" b="1" noProof="1">
                <a:solidFill>
                  <a:srgbClr val="00B0F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ReadLine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pPr>
              <a:lnSpc>
                <a:spcPct val="90000"/>
              </a:lnSpc>
            </a:pPr>
            <a:r>
              <a:rPr lang="en-US" sz="2800" b="1" dirty="0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430045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98425"/>
            <a:ext cx="10515600" cy="911225"/>
          </a:xfrm>
        </p:spPr>
        <p:txBody>
          <a:bodyPr/>
          <a:lstStyle/>
          <a:p>
            <a:pPr algn="ctr"/>
            <a:r>
              <a:rPr lang="bg-BG" dirty="0">
                <a:latin typeface="Comfortaa" pitchFamily="2" charset="0"/>
              </a:rPr>
              <a:t>Типове потоци в </a:t>
            </a:r>
            <a:r>
              <a:rPr lang="en-US" dirty="0">
                <a:latin typeface="Comfortaa" pitchFamily="2" charset="0"/>
              </a:rPr>
              <a:t>.NET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1700" y="1028248"/>
            <a:ext cx="7848600" cy="5496754"/>
          </a:xfrm>
          <a:prstGeom prst="roundRect">
            <a:avLst>
              <a:gd name="adj" fmla="val 6868"/>
            </a:avLst>
          </a:prstGeom>
        </p:spPr>
      </p:pic>
    </p:spTree>
    <p:extLst>
      <p:ext uri="{BB962C8B-B14F-4D97-AF65-F5344CB8AC3E}">
        <p14:creationId xmlns:p14="http://schemas.microsoft.com/office/powerpoint/2010/main" val="63073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667" name="Rectangle 3"/>
          <p:cNvSpPr>
            <a:spLocks noGrp="1" noChangeArrowheads="1"/>
          </p:cNvSpPr>
          <p:nvPr>
            <p:ph idx="1"/>
          </p:nvPr>
        </p:nvSpPr>
        <p:spPr>
          <a:xfrm>
            <a:off x="903202" y="1754373"/>
            <a:ext cx="10515601" cy="4093978"/>
          </a:xfrm>
        </p:spPr>
        <p:txBody>
          <a:bodyPr/>
          <a:lstStyle/>
          <a:p>
            <a:pPr>
              <a:lnSpc>
                <a:spcPct val="93000"/>
              </a:lnSpc>
              <a:defRPr/>
            </a:pPr>
            <a:r>
              <a:rPr lang="bg-BG" altLang="en-US" noProof="1">
                <a:latin typeface="Comfortaa" pitchFamily="2" charset="0"/>
              </a:rPr>
              <a:t>Базовият клас за всички потоци е </a:t>
            </a:r>
            <a:r>
              <a:rPr lang="en-US" altLang="en-US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System.IO.Stream</a:t>
            </a:r>
          </a:p>
          <a:p>
            <a:pPr>
              <a:lnSpc>
                <a:spcPct val="93000"/>
              </a:lnSpc>
              <a:defRPr/>
            </a:pPr>
            <a:r>
              <a:rPr lang="bg-BG" altLang="en-US" noProof="1">
                <a:latin typeface="Comfortaa" pitchFamily="2" charset="0"/>
              </a:rPr>
              <a:t>Той има</a:t>
            </a:r>
            <a:r>
              <a:rPr lang="en-US" altLang="en-US" noProof="1">
                <a:latin typeface="Comfortaa" pitchFamily="2" charset="0"/>
              </a:rPr>
              <a:t> </a:t>
            </a:r>
            <a:r>
              <a:rPr lang="bg-BG" altLang="en-US" noProof="1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дефинирани методи</a:t>
            </a:r>
            <a:r>
              <a:rPr lang="en-US" altLang="en-US" noProof="1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altLang="en-US" noProof="1">
                <a:latin typeface="Comfortaa" pitchFamily="2" charset="0"/>
              </a:rPr>
              <a:t>за основните операции с потоци</a:t>
            </a:r>
            <a:endParaRPr lang="en-US" altLang="en-US" noProof="1">
              <a:latin typeface="Comfortaa" pitchFamily="2" charset="0"/>
            </a:endParaRPr>
          </a:p>
          <a:p>
            <a:pPr>
              <a:lnSpc>
                <a:spcPct val="93000"/>
              </a:lnSpc>
              <a:defRPr/>
            </a:pPr>
            <a:r>
              <a:rPr lang="bg-BG" altLang="en-US" noProof="1">
                <a:latin typeface="Comfortaa" pitchFamily="2" charset="0"/>
              </a:rPr>
              <a:t>Някои потоци не поддържат </a:t>
            </a:r>
            <a:r>
              <a:rPr lang="bg-BG" altLang="en-US" noProof="1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четене</a:t>
            </a:r>
            <a:r>
              <a:rPr lang="en-US" altLang="en-US" noProof="1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, </a:t>
            </a:r>
            <a:r>
              <a:rPr lang="bg-BG" altLang="en-US" noProof="1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запис или позициониране</a:t>
            </a:r>
            <a:endParaRPr lang="en-US" alt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  <a:p>
            <a:pPr lvl="1">
              <a:lnSpc>
                <a:spcPct val="93000"/>
              </a:lnSpc>
              <a:defRPr/>
            </a:pPr>
            <a:r>
              <a:rPr lang="bg-BG" altLang="en-US" dirty="0">
                <a:latin typeface="Comfortaa" pitchFamily="2" charset="0"/>
              </a:rPr>
              <a:t>Затова има свойства</a:t>
            </a:r>
            <a:r>
              <a:rPr lang="en-US" altLang="en-US" dirty="0">
                <a:latin typeface="Comfortaa" pitchFamily="2" charset="0"/>
              </a:rPr>
              <a:t> </a:t>
            </a:r>
            <a:r>
              <a:rPr lang="en-US" altLang="en-US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CanRead</a:t>
            </a:r>
            <a:r>
              <a:rPr lang="en-US" altLang="en-US" noProof="1">
                <a:latin typeface="Comfortaa" pitchFamily="2" charset="0"/>
              </a:rPr>
              <a:t>, </a:t>
            </a:r>
            <a:r>
              <a:rPr lang="en-US" altLang="en-US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CanWrite</a:t>
            </a:r>
            <a:r>
              <a:rPr lang="en-US" altLang="en-US" noProof="1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altLang="en-US" noProof="1">
                <a:latin typeface="Comfortaa" pitchFamily="2" charset="0"/>
              </a:rPr>
              <a:t>и</a:t>
            </a:r>
            <a:r>
              <a:rPr lang="en-US" altLang="en-US" noProof="1">
                <a:latin typeface="Comfortaa" pitchFamily="2" charset="0"/>
              </a:rPr>
              <a:t> </a:t>
            </a:r>
            <a:r>
              <a:rPr lang="en-US" altLang="en-US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CanSeek</a:t>
            </a:r>
            <a:endParaRPr lang="en-US" altLang="en-US" noProof="1">
              <a:solidFill>
                <a:srgbClr val="00B0F0"/>
              </a:solidFill>
              <a:latin typeface="Comfortaa" pitchFamily="2" charset="0"/>
            </a:endParaRPr>
          </a:p>
          <a:p>
            <a:pPr lvl="1">
              <a:lnSpc>
                <a:spcPct val="93000"/>
              </a:lnSpc>
              <a:defRPr/>
            </a:pPr>
            <a:r>
              <a:rPr lang="bg-BG" altLang="en-US" noProof="1">
                <a:latin typeface="Comfortaa" pitchFamily="2" charset="0"/>
              </a:rPr>
              <a:t>Потоците, които поддържат позициониране имат свойства</a:t>
            </a:r>
            <a:r>
              <a:rPr lang="en-US" altLang="en-US" noProof="1">
                <a:latin typeface="Comfortaa" pitchFamily="2" charset="0"/>
              </a:rPr>
              <a:t> </a:t>
            </a:r>
            <a:r>
              <a:rPr lang="en-US" altLang="en-US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Position</a:t>
            </a:r>
            <a:r>
              <a:rPr lang="en-US" altLang="en-US" noProof="1">
                <a:latin typeface="Comfortaa" pitchFamily="2" charset="0"/>
              </a:rPr>
              <a:t> </a:t>
            </a:r>
            <a:r>
              <a:rPr lang="bg-BG" altLang="en-US" noProof="1">
                <a:latin typeface="Comfortaa" pitchFamily="2" charset="0"/>
              </a:rPr>
              <a:t>и</a:t>
            </a:r>
            <a:r>
              <a:rPr lang="en-US" altLang="en-US" noProof="1">
                <a:latin typeface="Comfortaa" pitchFamily="2" charset="0"/>
              </a:rPr>
              <a:t> </a:t>
            </a:r>
            <a:r>
              <a:rPr lang="en-US" altLang="en-US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Length</a:t>
            </a:r>
          </a:p>
        </p:txBody>
      </p:sp>
      <p:sp>
        <p:nvSpPr>
          <p:cNvPr id="6256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bg-BG" altLang="en-US" dirty="0">
                <a:latin typeface="Comfortaa" pitchFamily="2" charset="0"/>
              </a:rPr>
              <a:t>Класът </a:t>
            </a:r>
            <a:r>
              <a:rPr lang="en-US" altLang="en-US" noProof="1">
                <a:latin typeface="Comfortaa" pitchFamily="2" charset="0"/>
                <a:cs typeface="Consolas" panose="020B0609020204030204" pitchFamily="49" charset="0"/>
              </a:rPr>
              <a:t>System.IO.Stream</a:t>
            </a:r>
            <a:endParaRPr lang="bg-BG" alt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22390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715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673225"/>
            <a:ext cx="10407650" cy="3269554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altLang="en-US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int Read(byte[] buffer, int offset, int count)</a:t>
            </a:r>
            <a:endParaRPr lang="en-US" altLang="en-US" b="1" dirty="0">
              <a:solidFill>
                <a:srgbClr val="00B0F0"/>
              </a:solidFill>
              <a:latin typeface="Comfortaa" pitchFamily="2" charset="0"/>
              <a:cs typeface="Consolas" panose="020B0609020204030204" pitchFamily="49" charset="0"/>
            </a:endParaRPr>
          </a:p>
          <a:p>
            <a:pPr lvl="1">
              <a:lnSpc>
                <a:spcPct val="90000"/>
              </a:lnSpc>
              <a:defRPr/>
            </a:pPr>
            <a:r>
              <a:rPr lang="bg-BG" altLang="en-US" dirty="0">
                <a:latin typeface="Comfortaa" pitchFamily="2" charset="0"/>
              </a:rPr>
              <a:t>Чете </a:t>
            </a:r>
            <a:r>
              <a:rPr lang="en-US" altLang="en-US" b="1" dirty="0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count</a:t>
            </a:r>
            <a:r>
              <a:rPr lang="bg-BG" altLang="en-US" dirty="0">
                <a:latin typeface="Comfortaa" pitchFamily="2" charset="0"/>
              </a:rPr>
              <a:t> байта от входящия поток</a:t>
            </a:r>
            <a:r>
              <a:rPr lang="en-US" altLang="en-US" dirty="0">
                <a:latin typeface="Comfortaa" pitchFamily="2" charset="0"/>
              </a:rPr>
              <a:t>, </a:t>
            </a:r>
            <a:r>
              <a:rPr lang="bg-BG" altLang="en-US" dirty="0">
                <a:latin typeface="Comfortaa" pitchFamily="2" charset="0"/>
              </a:rPr>
              <a:t>започвайки от дадена</a:t>
            </a:r>
            <a:r>
              <a:rPr lang="en-US" altLang="en-US" dirty="0">
                <a:latin typeface="Comfortaa" pitchFamily="2" charset="0"/>
              </a:rPr>
              <a:t> </a:t>
            </a:r>
            <a:r>
              <a:rPr lang="en-US" altLang="en-US" b="1" dirty="0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offset</a:t>
            </a:r>
            <a:r>
              <a:rPr lang="en-US" altLang="en-US" dirty="0">
                <a:latin typeface="Comfortaa" pitchFamily="2" charset="0"/>
              </a:rPr>
              <a:t> </a:t>
            </a:r>
            <a:r>
              <a:rPr lang="bg-BG" altLang="en-US" dirty="0">
                <a:latin typeface="Comfortaa" pitchFamily="2" charset="0"/>
              </a:rPr>
              <a:t>позиция</a:t>
            </a:r>
            <a:endParaRPr lang="en-US" altLang="en-US" dirty="0">
              <a:latin typeface="Comfortaa" pitchFamily="2" charset="0"/>
            </a:endParaRPr>
          </a:p>
          <a:p>
            <a:pPr lvl="1">
              <a:lnSpc>
                <a:spcPct val="90000"/>
              </a:lnSpc>
              <a:defRPr/>
            </a:pPr>
            <a:r>
              <a:rPr lang="bg-BG" altLang="en-US" dirty="0">
                <a:latin typeface="Comfortaa" pitchFamily="2" charset="0"/>
              </a:rPr>
              <a:t>Връща</a:t>
            </a:r>
            <a:r>
              <a:rPr lang="en-US" altLang="en-US" dirty="0">
                <a:latin typeface="Comfortaa" pitchFamily="2" charset="0"/>
              </a:rPr>
              <a:t> </a:t>
            </a:r>
            <a:r>
              <a:rPr lang="bg-BG" alt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броя прочетени байтове</a:t>
            </a:r>
            <a:r>
              <a:rPr lang="en-US" alt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altLang="en-US" dirty="0">
                <a:latin typeface="Comfortaa" pitchFamily="2" charset="0"/>
              </a:rPr>
              <a:t>или </a:t>
            </a:r>
            <a:r>
              <a:rPr lang="en-US" altLang="en-US" dirty="0">
                <a:latin typeface="Comfortaa" pitchFamily="2" charset="0"/>
              </a:rPr>
              <a:t>0 </a:t>
            </a:r>
            <a:r>
              <a:rPr lang="bg-BG" altLang="en-US" dirty="0">
                <a:latin typeface="Comfortaa" pitchFamily="2" charset="0"/>
              </a:rPr>
              <a:t>ако е достигнат края</a:t>
            </a:r>
          </a:p>
          <a:p>
            <a:pPr lvl="1">
              <a:lnSpc>
                <a:spcPct val="90000"/>
              </a:lnSpc>
              <a:defRPr/>
            </a:pPr>
            <a:r>
              <a:rPr lang="bg-BG" altLang="en-US" dirty="0">
                <a:latin typeface="Comfortaa" pitchFamily="2" charset="0"/>
              </a:rPr>
              <a:t>Може да замръзне за неопределено време докато прочете поне </a:t>
            </a:r>
            <a:r>
              <a:rPr lang="en-US" altLang="en-US" dirty="0">
                <a:latin typeface="Comfortaa" pitchFamily="2" charset="0"/>
              </a:rPr>
              <a:t>1 </a:t>
            </a:r>
            <a:r>
              <a:rPr lang="bg-BG" altLang="en-US" dirty="0">
                <a:latin typeface="Comfortaa" pitchFamily="2" charset="0"/>
              </a:rPr>
              <a:t>байт</a:t>
            </a:r>
          </a:p>
          <a:p>
            <a:pPr lvl="1">
              <a:lnSpc>
                <a:spcPct val="90000"/>
              </a:lnSpc>
              <a:defRPr/>
            </a:pPr>
            <a:r>
              <a:rPr lang="bg-BG" altLang="en-US" dirty="0">
                <a:latin typeface="Comfortaa" pitchFamily="2" charset="0"/>
              </a:rPr>
              <a:t>Може да прочете по-малко от обявения брой байтове</a:t>
            </a:r>
          </a:p>
        </p:txBody>
      </p:sp>
      <p:sp>
        <p:nvSpPr>
          <p:cNvPr id="6277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bg-BG" altLang="en-US" sz="3600" b="1" dirty="0">
                <a:latin typeface="Comfortaa" pitchFamily="2" charset="0"/>
              </a:rPr>
              <a:t>Методи на</a:t>
            </a:r>
            <a:r>
              <a:rPr lang="en-US" altLang="en-US" sz="3600" b="1" dirty="0">
                <a:latin typeface="Comfortaa" pitchFamily="2" charset="0"/>
              </a:rPr>
              <a:t> </a:t>
            </a:r>
            <a:r>
              <a:rPr lang="bg-BG" altLang="en-US" sz="3600" b="1" dirty="0">
                <a:latin typeface="Comfortaa" pitchFamily="2" charset="0"/>
              </a:rPr>
              <a:t>класа </a:t>
            </a:r>
            <a:r>
              <a:rPr lang="en-US" altLang="en-US" sz="3600" b="1" noProof="1">
                <a:latin typeface="Comfortaa" pitchFamily="2" charset="0"/>
                <a:cs typeface="Consolas" panose="020B0609020204030204" pitchFamily="49" charset="0"/>
              </a:rPr>
              <a:t>System.IO.Stream [1/3]</a:t>
            </a:r>
            <a:endParaRPr lang="bg-BG" altLang="en-US" sz="3600" b="1" dirty="0">
              <a:latin typeface="Comfortaa" pitchFamily="2" charset="0"/>
            </a:endParaRPr>
          </a:p>
        </p:txBody>
      </p:sp>
      <p:sp>
        <p:nvSpPr>
          <p:cNvPr id="5" name="Rectangle 27"/>
          <p:cNvSpPr>
            <a:spLocks noChangeArrowheads="1"/>
          </p:cNvSpPr>
          <p:nvPr/>
        </p:nvSpPr>
        <p:spPr bwMode="auto">
          <a:xfrm>
            <a:off x="1555750" y="5095181"/>
            <a:ext cx="8686800" cy="1185798"/>
          </a:xfrm>
          <a:prstGeom prst="rect">
            <a:avLst/>
          </a:prstGeom>
          <a:solidFill>
            <a:schemeClr val="bg1">
              <a:alpha val="20000"/>
            </a:schemeClr>
          </a:solidFill>
          <a:ln w="9525" cap="rnd" algn="ctr">
            <a:noFill/>
            <a:prstDash val="sysDot"/>
            <a:round/>
            <a:headEnd/>
            <a:tailEnd/>
          </a:ln>
          <a:effectLst>
            <a:outerShdw dist="17961" dir="2700000" algn="ctr" rotWithShape="0">
              <a:srgbClr val="FFFFFF"/>
            </a:outerShdw>
          </a:effec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6" name="Text Box 18"/>
          <p:cNvSpPr txBox="1">
            <a:spLocks noChangeArrowheads="1"/>
          </p:cNvSpPr>
          <p:nvPr/>
        </p:nvSpPr>
        <p:spPr bwMode="auto">
          <a:xfrm>
            <a:off x="1784350" y="5095180"/>
            <a:ext cx="8167800" cy="52322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lnSpc>
                <a:spcPct val="100000"/>
              </a:lnSpc>
            </a:pPr>
            <a:r>
              <a:rPr lang="en-US" sz="2800" b="1" dirty="0">
                <a:latin typeface="Consolas" pitchFamily="49" charset="0"/>
                <a:cs typeface="Consolas" pitchFamily="49" charset="0"/>
              </a:rPr>
              <a:t> F    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i   l</a:t>
            </a:r>
            <a:r>
              <a:rPr lang="en-US" sz="2800" b="1" dirty="0">
                <a:latin typeface="Consolas" pitchFamily="49" charset="0"/>
                <a:cs typeface="Consolas" pitchFamily="49" charset="0"/>
              </a:rPr>
              <a:t>    e    s        a    n   d</a:t>
            </a:r>
            <a:endParaRPr lang="bg-BG" sz="2800" b="1" dirty="0">
              <a:latin typeface="Consolas" pitchFamily="49" charset="0"/>
              <a:cs typeface="Consolas" pitchFamily="49" charset="0"/>
            </a:endParaRPr>
          </a:p>
        </p:txBody>
      </p:sp>
      <p:graphicFrame>
        <p:nvGraphicFramePr>
          <p:cNvPr id="7" name="Group 13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09542397"/>
              </p:ext>
            </p:extLst>
          </p:nvPr>
        </p:nvGraphicFramePr>
        <p:xfrm>
          <a:off x="1828800" y="5631754"/>
          <a:ext cx="8108946" cy="49682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009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9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9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9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9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09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9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099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0099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46</a:t>
                      </a:r>
                      <a:endParaRPr kumimoji="0" lang="en-US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69</a:t>
                      </a:r>
                      <a:endParaRPr kumimoji="0" lang="en-US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6c</a:t>
                      </a:r>
                      <a:endParaRPr kumimoji="0" lang="en-US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65</a:t>
                      </a:r>
                      <a:endParaRPr kumimoji="0" lang="en-US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73</a:t>
                      </a:r>
                      <a:endParaRPr kumimoji="0" lang="en-US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20</a:t>
                      </a:r>
                      <a:endParaRPr kumimoji="0" lang="en-US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61</a:t>
                      </a:r>
                      <a:endParaRPr kumimoji="0" lang="en-US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6e</a:t>
                      </a:r>
                      <a:endParaRPr kumimoji="0" lang="en-US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5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8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64</a:t>
                      </a:r>
                      <a:endParaRPr kumimoji="0" lang="en-US" sz="2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nsolas" pitchFamily="49" charset="0"/>
                        <a:ea typeface="+mn-ea"/>
                        <a:cs typeface="Consolas" pitchFamily="49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67312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7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en-US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Write(byte[] buffer, int offset, int count)</a:t>
            </a:r>
            <a:endParaRPr lang="en-US" altLang="en-US" b="1" dirty="0">
              <a:solidFill>
                <a:srgbClr val="00B0F0"/>
              </a:solidFill>
              <a:latin typeface="Comfortaa" pitchFamily="2" charset="0"/>
              <a:cs typeface="Consolas" panose="020B0609020204030204" pitchFamily="49" charset="0"/>
            </a:endParaRPr>
          </a:p>
          <a:p>
            <a:pPr lvl="1">
              <a:defRPr/>
            </a:pPr>
            <a:r>
              <a:rPr lang="bg-BG" altLang="en-US" dirty="0">
                <a:latin typeface="Comfortaa" pitchFamily="2" charset="0"/>
              </a:rPr>
              <a:t>Записва поредица от </a:t>
            </a:r>
            <a:r>
              <a:rPr lang="en-US" altLang="en-US" b="1" dirty="0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count</a:t>
            </a:r>
            <a:r>
              <a:rPr lang="en-US" altLang="en-US" dirty="0">
                <a:latin typeface="Comfortaa" pitchFamily="2" charset="0"/>
              </a:rPr>
              <a:t> </a:t>
            </a:r>
            <a:r>
              <a:rPr lang="bg-BG" altLang="en-US" dirty="0">
                <a:latin typeface="Comfortaa" pitchFamily="2" charset="0"/>
              </a:rPr>
              <a:t>байта в изходящ поток</a:t>
            </a:r>
            <a:r>
              <a:rPr lang="en-US" altLang="en-US" dirty="0">
                <a:latin typeface="Comfortaa" pitchFamily="2" charset="0"/>
              </a:rPr>
              <a:t>, </a:t>
            </a:r>
            <a:r>
              <a:rPr lang="bg-BG" altLang="en-US" dirty="0">
                <a:latin typeface="Comfortaa" pitchFamily="2" charset="0"/>
              </a:rPr>
              <a:t>започвайки от дадена</a:t>
            </a:r>
            <a:r>
              <a:rPr lang="en-US" altLang="en-US" dirty="0">
                <a:latin typeface="Comfortaa" pitchFamily="2" charset="0"/>
              </a:rPr>
              <a:t> </a:t>
            </a:r>
            <a:r>
              <a:rPr lang="en-US" altLang="en-US" b="1" dirty="0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offset</a:t>
            </a:r>
            <a:r>
              <a:rPr lang="en-US" altLang="en-US" dirty="0">
                <a:latin typeface="Comfortaa" pitchFamily="2" charset="0"/>
              </a:rPr>
              <a:t> </a:t>
            </a:r>
            <a:r>
              <a:rPr lang="bg-BG" altLang="en-US" dirty="0">
                <a:latin typeface="Comfortaa" pitchFamily="2" charset="0"/>
              </a:rPr>
              <a:t>позиция</a:t>
            </a:r>
            <a:endParaRPr lang="en-US" altLang="en-US" dirty="0">
              <a:latin typeface="Comfortaa" pitchFamily="2" charset="0"/>
            </a:endParaRPr>
          </a:p>
          <a:p>
            <a:pPr lvl="1">
              <a:defRPr/>
            </a:pPr>
            <a:r>
              <a:rPr lang="bg-BG" altLang="en-US" dirty="0">
                <a:latin typeface="Comfortaa" pitchFamily="2" charset="0"/>
              </a:rPr>
              <a:t>Може да замръзне за неопределено време, докато изпрати всички байтове по назначение</a:t>
            </a:r>
            <a:endParaRPr lang="bg-BG" altLang="en-US" sz="2600" dirty="0">
              <a:latin typeface="Comfortaa" pitchFamily="2" charset="0"/>
            </a:endParaRPr>
          </a:p>
          <a:p>
            <a:pPr>
              <a:defRPr/>
            </a:pPr>
            <a:r>
              <a:rPr lang="en-US" altLang="en-US" b="1" dirty="0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Flush</a:t>
            </a:r>
            <a:r>
              <a:rPr lang="bg-BG" altLang="en-US" b="1" dirty="0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()</a:t>
            </a:r>
            <a:endParaRPr lang="en-US" altLang="en-US" b="1" dirty="0">
              <a:solidFill>
                <a:srgbClr val="00B0F0"/>
              </a:solidFill>
              <a:latin typeface="Comfortaa" pitchFamily="2" charset="0"/>
              <a:cs typeface="Consolas" panose="020B0609020204030204" pitchFamily="49" charset="0"/>
            </a:endParaRPr>
          </a:p>
          <a:p>
            <a:pPr lvl="1">
              <a:defRPr/>
            </a:pPr>
            <a:r>
              <a:rPr lang="bg-BG" altLang="en-US" dirty="0">
                <a:latin typeface="Comfortaa" pitchFamily="2" charset="0"/>
              </a:rPr>
              <a:t>Изпраща вътрешно буферираните данни към тяхното назначение</a:t>
            </a:r>
            <a:r>
              <a:rPr lang="en-US" altLang="en-US" dirty="0">
                <a:latin typeface="Comfortaa" pitchFamily="2" charset="0"/>
              </a:rPr>
              <a:t> (</a:t>
            </a:r>
            <a:r>
              <a:rPr lang="bg-BG" altLang="en-US" dirty="0">
                <a:latin typeface="Comfortaa" pitchFamily="2" charset="0"/>
              </a:rPr>
              <a:t>устройство за съхранение на данни, за вход/изход или друго</a:t>
            </a:r>
            <a:r>
              <a:rPr lang="en-US" altLang="en-US" dirty="0">
                <a:latin typeface="Comfortaa" pitchFamily="2" charset="0"/>
              </a:rPr>
              <a:t>)</a:t>
            </a:r>
            <a:endParaRPr lang="bg-BG" altLang="en-US" dirty="0">
              <a:latin typeface="Comfortaa" pitchFamily="2" charset="0"/>
            </a:endParaRPr>
          </a:p>
        </p:txBody>
      </p:sp>
      <p:sp>
        <p:nvSpPr>
          <p:cNvPr id="62976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782300" cy="13255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bg-BG" altLang="en-US" sz="3600" b="1" dirty="0">
                <a:latin typeface="Comfortaa" pitchFamily="2" charset="0"/>
              </a:rPr>
              <a:t>Методи на</a:t>
            </a:r>
            <a:r>
              <a:rPr lang="en-US" altLang="en-US" sz="3600" b="1" dirty="0">
                <a:latin typeface="Comfortaa" pitchFamily="2" charset="0"/>
              </a:rPr>
              <a:t> </a:t>
            </a:r>
            <a:r>
              <a:rPr lang="bg-BG" altLang="en-US" sz="3600" b="1" dirty="0">
                <a:latin typeface="Comfortaa" pitchFamily="2" charset="0"/>
              </a:rPr>
              <a:t>класа </a:t>
            </a:r>
            <a:r>
              <a:rPr lang="en-US" altLang="en-US" sz="3600" b="1" noProof="1">
                <a:latin typeface="Comfortaa" pitchFamily="2" charset="0"/>
                <a:cs typeface="Consolas" panose="020B0609020204030204" pitchFamily="49" charset="0"/>
              </a:rPr>
              <a:t>System.IO.Stream [2/3]</a:t>
            </a:r>
            <a:endParaRPr lang="bg-BG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0253008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8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ct val="45000"/>
              </a:spcBef>
              <a:defRPr/>
            </a:pPr>
            <a:r>
              <a:rPr lang="en-US" altLang="en-US" b="1" dirty="0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Close</a:t>
            </a:r>
            <a:r>
              <a:rPr lang="bg-BG" altLang="en-US" b="1" dirty="0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()</a:t>
            </a:r>
            <a:r>
              <a:rPr lang="bg-BG" altLang="en-US" dirty="0">
                <a:solidFill>
                  <a:srgbClr val="00B0F0"/>
                </a:solidFill>
                <a:latin typeface="Comfortaa" pitchFamily="2" charset="0"/>
              </a:rPr>
              <a:t> </a:t>
            </a:r>
            <a:endParaRPr lang="en-US" altLang="en-US" dirty="0">
              <a:solidFill>
                <a:srgbClr val="00B0F0"/>
              </a:solidFill>
              <a:latin typeface="Comfortaa" pitchFamily="2" charset="0"/>
            </a:endParaRPr>
          </a:p>
          <a:p>
            <a:pPr lvl="1">
              <a:defRPr/>
            </a:pPr>
            <a:r>
              <a:rPr lang="bg-BG" altLang="en-US" dirty="0">
                <a:latin typeface="Comfortaa" pitchFamily="2" charset="0"/>
              </a:rPr>
              <a:t>Извиква </a:t>
            </a:r>
            <a:r>
              <a:rPr lang="en-US" altLang="en-US" b="1" dirty="0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Flush</a:t>
            </a:r>
            <a:r>
              <a:rPr lang="bg-BG" altLang="en-US" b="1" dirty="0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()</a:t>
            </a:r>
            <a:endParaRPr lang="en-US" altLang="en-US" b="1" dirty="0">
              <a:solidFill>
                <a:srgbClr val="00B0F0"/>
              </a:solidFill>
              <a:latin typeface="Comfortaa" pitchFamily="2" charset="0"/>
              <a:cs typeface="Consolas" panose="020B0609020204030204" pitchFamily="49" charset="0"/>
            </a:endParaRPr>
          </a:p>
          <a:p>
            <a:pPr lvl="1">
              <a:defRPr/>
            </a:pPr>
            <a:r>
              <a:rPr lang="bg-BG" altLang="en-US" dirty="0">
                <a:latin typeface="Comfortaa" pitchFamily="2" charset="0"/>
              </a:rPr>
              <a:t>Прекъсва връзката към устройството</a:t>
            </a:r>
            <a:endParaRPr lang="en-US" altLang="en-US" dirty="0">
              <a:latin typeface="Comfortaa" pitchFamily="2" charset="0"/>
            </a:endParaRPr>
          </a:p>
          <a:p>
            <a:pPr lvl="1">
              <a:defRPr/>
            </a:pPr>
            <a:r>
              <a:rPr lang="bg-BG" altLang="en-US" dirty="0">
                <a:latin typeface="Comfortaa" pitchFamily="2" charset="0"/>
              </a:rPr>
              <a:t>Освобождава заетите ресурси</a:t>
            </a:r>
          </a:p>
          <a:p>
            <a:pPr>
              <a:spcBef>
                <a:spcPct val="45000"/>
              </a:spcBef>
              <a:defRPr/>
            </a:pPr>
            <a:r>
              <a:rPr lang="en-US" altLang="en-US" b="1" dirty="0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Seek</a:t>
            </a:r>
            <a:r>
              <a:rPr lang="bg-BG" altLang="en-US" b="1" dirty="0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(</a:t>
            </a:r>
            <a:r>
              <a:rPr lang="en-US" altLang="en-US" b="1" dirty="0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offset</a:t>
            </a:r>
            <a:r>
              <a:rPr lang="bg-BG" altLang="en-US" b="1" dirty="0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, </a:t>
            </a:r>
            <a:r>
              <a:rPr lang="en-US" altLang="en-US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SeekOrigin</a:t>
            </a:r>
            <a:r>
              <a:rPr lang="bg-BG" altLang="en-US" b="1" dirty="0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)</a:t>
            </a:r>
            <a:r>
              <a:rPr lang="bg-BG" altLang="en-US" dirty="0">
                <a:latin typeface="Comfortaa" pitchFamily="2" charset="0"/>
              </a:rPr>
              <a:t> премества позицията </a:t>
            </a:r>
            <a:r>
              <a:rPr lang="en-US" altLang="en-US" dirty="0">
                <a:latin typeface="Comfortaa" pitchFamily="2" charset="0"/>
              </a:rPr>
              <a:t>(</a:t>
            </a:r>
            <a:r>
              <a:rPr lang="bg-BG" altLang="en-US" dirty="0">
                <a:latin typeface="Comfortaa" pitchFamily="2" charset="0"/>
              </a:rPr>
              <a:t>ако това се поддържа като операция</a:t>
            </a:r>
            <a:r>
              <a:rPr lang="en-US" altLang="en-US" dirty="0">
                <a:latin typeface="Comfortaa" pitchFamily="2" charset="0"/>
              </a:rPr>
              <a:t>) </a:t>
            </a:r>
            <a:r>
              <a:rPr lang="bg-BG" altLang="en-US" dirty="0">
                <a:latin typeface="Comfortaa" pitchFamily="2" charset="0"/>
              </a:rPr>
              <a:t>с определено отместване спрямо началото, края или текущата позиция</a:t>
            </a:r>
            <a:endParaRPr lang="en-US" altLang="en-US" dirty="0">
              <a:latin typeface="Comfortaa" pitchFamily="2" charset="0"/>
            </a:endParaRPr>
          </a:p>
        </p:txBody>
      </p:sp>
      <p:sp>
        <p:nvSpPr>
          <p:cNvPr id="6318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bg-BG" altLang="en-US" sz="3600" b="1" dirty="0">
                <a:latin typeface="Comfortaa" pitchFamily="2" charset="0"/>
              </a:rPr>
              <a:t>Методи на</a:t>
            </a:r>
            <a:r>
              <a:rPr lang="en-US" altLang="en-US" sz="3600" b="1" dirty="0">
                <a:latin typeface="Comfortaa" pitchFamily="2" charset="0"/>
              </a:rPr>
              <a:t> </a:t>
            </a:r>
            <a:r>
              <a:rPr lang="bg-BG" altLang="en-US" sz="3600" b="1" dirty="0">
                <a:latin typeface="Comfortaa" pitchFamily="2" charset="0"/>
              </a:rPr>
              <a:t>класа </a:t>
            </a:r>
            <a:r>
              <a:rPr lang="en-US" altLang="en-US" sz="3600" b="1" noProof="1">
                <a:latin typeface="Comfortaa" pitchFamily="2" charset="0"/>
                <a:cs typeface="Consolas" panose="020B0609020204030204" pitchFamily="49" charset="0"/>
              </a:rPr>
              <a:t>System.IO.Stream [3/3]</a:t>
            </a:r>
            <a:endParaRPr lang="bg-BG" altLang="en-US" sz="3600" dirty="0"/>
          </a:p>
        </p:txBody>
      </p:sp>
    </p:spTree>
    <p:extLst>
      <p:ext uri="{BB962C8B-B14F-4D97-AF65-F5344CB8AC3E}">
        <p14:creationId xmlns:p14="http://schemas.microsoft.com/office/powerpoint/2010/main" val="8579126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>
                <a:latin typeface="Comfortaa" pitchFamily="2" charset="0"/>
              </a:rPr>
              <a:t>Обобщение</a:t>
            </a:r>
          </a:p>
        </p:txBody>
      </p:sp>
      <p:sp>
        <p:nvSpPr>
          <p:cNvPr id="43417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00000"/>
              </a:lnSpc>
            </a:pPr>
            <a:r>
              <a:rPr lang="bg-BG" sz="3200" dirty="0">
                <a:latin typeface="Comfortaa" pitchFamily="2" charset="0"/>
              </a:rPr>
              <a:t>Потоците са подредени</a:t>
            </a:r>
            <a:r>
              <a:rPr lang="en-US" sz="3200" dirty="0">
                <a:latin typeface="Comfortaa" pitchFamily="2" charset="0"/>
              </a:rPr>
              <a:t> </a:t>
            </a:r>
            <a:r>
              <a:rPr lang="bg-BG" sz="3200" dirty="0">
                <a:latin typeface="Comfortaa" pitchFamily="2" charset="0"/>
              </a:rPr>
              <a:t>поредици от байтове</a:t>
            </a:r>
            <a:endParaRPr lang="en-US" sz="32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3000" noProof="1">
                <a:latin typeface="Comfortaa" pitchFamily="2" charset="0"/>
              </a:rPr>
              <a:t>Използват се за входно/изходни механизми</a:t>
            </a:r>
            <a:endParaRPr lang="en-US" sz="3000" noProof="1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3000" noProof="1">
                <a:latin typeface="Comfortaa" pitchFamily="2" charset="0"/>
              </a:rPr>
              <a:t>Могат да са за четене, за запис или и за двете</a:t>
            </a:r>
            <a:endParaRPr lang="en-US" sz="3000" noProof="1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3000" noProof="1">
                <a:latin typeface="Comfortaa" pitchFamily="2" charset="0"/>
              </a:rPr>
              <a:t>Може да са с различна природа</a:t>
            </a:r>
            <a:r>
              <a:rPr lang="en-US" sz="3000" noProof="1">
                <a:latin typeface="Comfortaa" pitchFamily="2" charset="0"/>
              </a:rPr>
              <a:t> – </a:t>
            </a:r>
            <a:r>
              <a:rPr lang="bg-BG" sz="3000" noProof="1">
                <a:latin typeface="Comfortaa" pitchFamily="2" charset="0"/>
              </a:rPr>
              <a:t>файл, мрежа, памет,</a:t>
            </a:r>
            <a:br>
              <a:rPr lang="bg-BG" sz="3000" noProof="1">
                <a:latin typeface="Comfortaa" pitchFamily="2" charset="0"/>
              </a:rPr>
            </a:br>
            <a:r>
              <a:rPr lang="bg-BG" sz="3000" noProof="1">
                <a:latin typeface="Comfortaa" pitchFamily="2" charset="0"/>
              </a:rPr>
              <a:t>устройство и т.н.</a:t>
            </a:r>
            <a:endParaRPr lang="en-US" sz="3000" noProof="1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en-US" sz="3200" b="1" noProof="1">
                <a:solidFill>
                  <a:srgbClr val="00B0F0"/>
                </a:solidFill>
                <a:latin typeface="Comfortaa" pitchFamily="2" charset="0"/>
              </a:rPr>
              <a:t>Reader</a:t>
            </a:r>
            <a:r>
              <a:rPr lang="en-US" sz="3200" noProof="1">
                <a:latin typeface="Comfortaa" pitchFamily="2" charset="0"/>
              </a:rPr>
              <a:t> </a:t>
            </a:r>
            <a:r>
              <a:rPr lang="bg-BG" sz="3200" noProof="1">
                <a:latin typeface="Comfortaa" pitchFamily="2" charset="0"/>
              </a:rPr>
              <a:t>и</a:t>
            </a:r>
            <a:r>
              <a:rPr lang="en-US" sz="3200" noProof="1">
                <a:latin typeface="Comfortaa" pitchFamily="2" charset="0"/>
              </a:rPr>
              <a:t> </a:t>
            </a:r>
            <a:r>
              <a:rPr lang="en-US" sz="3200" b="1" noProof="1">
                <a:solidFill>
                  <a:srgbClr val="00B0F0"/>
                </a:solidFill>
                <a:latin typeface="Comfortaa" pitchFamily="2" charset="0"/>
              </a:rPr>
              <a:t>Writer</a:t>
            </a:r>
            <a:r>
              <a:rPr lang="en-US" sz="3200" noProof="1">
                <a:latin typeface="Comfortaa" pitchFamily="2" charset="0"/>
              </a:rPr>
              <a:t> </a:t>
            </a:r>
            <a:r>
              <a:rPr lang="bg-BG" sz="3200" noProof="1">
                <a:latin typeface="Comfortaa" pitchFamily="2" charset="0"/>
              </a:rPr>
              <a:t>класовете улесняват работата с потоците чрез предоставяне на допълнителна функционалност</a:t>
            </a:r>
            <a:r>
              <a:rPr lang="en-US" sz="3200" noProof="1">
                <a:latin typeface="Comfortaa" pitchFamily="2" charset="0"/>
              </a:rPr>
              <a:t> (</a:t>
            </a:r>
            <a:r>
              <a:rPr lang="bg-BG" sz="3200" noProof="1">
                <a:latin typeface="Comfortaa" pitchFamily="2" charset="0"/>
              </a:rPr>
              <a:t>например четене на цели редове</a:t>
            </a:r>
            <a:r>
              <a:rPr lang="en-US" sz="3200" noProof="1">
                <a:latin typeface="Comfortaa" pitchFamily="2" charset="0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bg-BG" sz="3200" noProof="1">
                <a:latin typeface="Comfortaa" pitchFamily="2" charset="0"/>
              </a:rPr>
              <a:t>Винаги затваряйте потоците чрез </a:t>
            </a:r>
            <a:r>
              <a:rPr lang="en-US" sz="3200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using(…) </a:t>
            </a:r>
            <a:r>
              <a:rPr lang="bg-BG" sz="3200" noProof="1">
                <a:latin typeface="Comfortaa" pitchFamily="2" charset="0"/>
                <a:cs typeface="Consolas" panose="020B0609020204030204" pitchFamily="49" charset="0"/>
              </a:rPr>
              <a:t>или</a:t>
            </a:r>
            <a:r>
              <a:rPr lang="en-US" sz="3200" noProof="1">
                <a:latin typeface="Comfortaa" pitchFamily="2" charset="0"/>
                <a:cs typeface="Consolas" panose="020B0609020204030204" pitchFamily="49" charset="0"/>
              </a:rPr>
              <a:t> </a:t>
            </a:r>
            <a:r>
              <a:rPr lang="en-US" sz="3200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try-finally</a:t>
            </a:r>
          </a:p>
          <a:p>
            <a:pPr lvl="1">
              <a:lnSpc>
                <a:spcPct val="100000"/>
              </a:lnSpc>
            </a:pPr>
            <a:endParaRPr lang="en-US" noProof="1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7453941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105</TotalTime>
  <Words>1129</Words>
  <Application>Microsoft Office PowerPoint</Application>
  <PresentationFormat>Widescreen</PresentationFormat>
  <Paragraphs>188</Paragraphs>
  <Slides>17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Comfortaa</vt:lpstr>
      <vt:lpstr>Consolas</vt:lpstr>
      <vt:lpstr>Wingdings</vt:lpstr>
      <vt:lpstr>Office Theme</vt:lpstr>
      <vt:lpstr>Входно-изходни потоци</vt:lpstr>
      <vt:lpstr>Съдържание</vt:lpstr>
      <vt:lpstr>Какво е поток?</vt:lpstr>
      <vt:lpstr>Основното за потоците</vt:lpstr>
      <vt:lpstr>Поток пример</vt:lpstr>
      <vt:lpstr>Reader и Writer класове</vt:lpstr>
      <vt:lpstr>Задача: Четене на файл</vt:lpstr>
      <vt:lpstr>Решение: Четене на файл</vt:lpstr>
      <vt:lpstr>Задача: Запис във файл</vt:lpstr>
      <vt:lpstr>Запис на текста на файл наобратно – пример</vt:lpstr>
      <vt:lpstr>Типове потоци в .NET</vt:lpstr>
      <vt:lpstr>Класът System.IO.Stream</vt:lpstr>
      <vt:lpstr>Методи на класа System.IO.Stream [1/3]</vt:lpstr>
      <vt:lpstr>Методи на класа System.IO.Stream [2/3]</vt:lpstr>
      <vt:lpstr>Методи на класа System.IO.Stream [3/3]</vt:lpstr>
      <vt:lpstr>Обобщение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Димитър Минчев</cp:lastModifiedBy>
  <cp:revision>11</cp:revision>
  <dcterms:created xsi:type="dcterms:W3CDTF">2022-08-09T09:25:46Z</dcterms:created>
  <dcterms:modified xsi:type="dcterms:W3CDTF">2022-09-21T07:44:58Z</dcterms:modified>
</cp:coreProperties>
</file>