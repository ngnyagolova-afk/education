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5"/>
  </p:notesMasterIdLst>
  <p:sldIdLst>
    <p:sldId id="258" r:id="rId2"/>
    <p:sldId id="571" r:id="rId3"/>
    <p:sldId id="496" r:id="rId4"/>
    <p:sldId id="497" r:id="rId5"/>
    <p:sldId id="498" r:id="rId6"/>
    <p:sldId id="499" r:id="rId7"/>
    <p:sldId id="501" r:id="rId8"/>
    <p:sldId id="503" r:id="rId9"/>
    <p:sldId id="504" r:id="rId10"/>
    <p:sldId id="505" r:id="rId11"/>
    <p:sldId id="506" r:id="rId12"/>
    <p:sldId id="509" r:id="rId13"/>
    <p:sldId id="5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FileStream" id="{0B0C01F3-1F60-4ADB-AC1E-9589654EAEF3}">
          <p14:sldIdLst>
            <p14:sldId id="496"/>
            <p14:sldId id="497"/>
            <p14:sldId id="498"/>
            <p14:sldId id="499"/>
          </p14:sldIdLst>
        </p14:section>
        <p14:section name="MemoryStream" id="{30B22A62-E692-4159-AA2C-3174D455728E}">
          <p14:sldIdLst>
            <p14:sldId id="501"/>
          </p14:sldIdLst>
        </p14:section>
        <p14:section name="NetworkStream" id="{0348F269-B105-4D58-B357-8012E597DF29}">
          <p14:sldIdLst>
            <p14:sldId id="503"/>
            <p14:sldId id="504"/>
            <p14:sldId id="505"/>
            <p14:sldId id="506"/>
          </p14:sldIdLst>
        </p14:section>
        <p14:section name="Заключение" id="{9315BEE7-605C-4839-996A-A4EEA70921D9}">
          <p14:sldIdLst>
            <p14:sldId id="509"/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36" autoAdjust="0"/>
    <p:restoredTop sz="94660"/>
  </p:normalViewPr>
  <p:slideViewPr>
    <p:cSldViewPr snapToGrid="0">
      <p:cViewPr varScale="1">
        <p:scale>
          <a:sx n="86" d="100"/>
          <a:sy n="86" d="100"/>
        </p:scale>
        <p:origin x="55" y="2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21.9.2022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sz="1100" b="0">
                <a:solidFill>
                  <a:schemeClr val="tx1"/>
                </a:solidFill>
              </a:rPr>
              <a:t>*</a:t>
            </a:r>
            <a:endParaRPr lang="en-US" altLang="en-US" sz="1300" b="0" i="0">
              <a:solidFill>
                <a:schemeClr val="tx1"/>
              </a:solidFill>
            </a:endParaRPr>
          </a:p>
        </p:txBody>
      </p:sp>
      <p:sp>
        <p:nvSpPr>
          <p:cNvPr id="481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fld id="{59A74144-3914-4EC5-91EF-42442D1E30EA}" type="slidenum">
              <a:rPr lang="en-US" altLang="en-US" sz="1100" b="0">
                <a:solidFill>
                  <a:schemeClr val="tx1"/>
                </a:solidFill>
              </a:rPr>
              <a:pPr>
                <a:lnSpc>
                  <a:spcPct val="100000"/>
                </a:lnSpc>
              </a:pPr>
              <a:t>3</a:t>
            </a:fld>
            <a:r>
              <a:rPr lang="en-US" altLang="en-US" sz="1100" b="0">
                <a:solidFill>
                  <a:schemeClr val="tx1"/>
                </a:solidFill>
              </a:rPr>
              <a:t>##</a:t>
            </a:r>
            <a:endParaRPr lang="en-US" altLang="en-US" sz="1300" b="0" i="0">
              <a:solidFill>
                <a:schemeClr val="tx1"/>
              </a:solidFill>
            </a:endParaRPr>
          </a:p>
        </p:txBody>
      </p:sp>
      <p:sp>
        <p:nvSpPr>
          <p:cNvPr id="481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bg-BG" alt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317F3880-114D-408C-BEF7-252BA71F261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469673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sz="1100" b="0">
                <a:solidFill>
                  <a:schemeClr val="tx1"/>
                </a:solidFill>
              </a:rPr>
              <a:t>*</a:t>
            </a:r>
            <a:endParaRPr lang="en-US" altLang="en-US" sz="1300" b="0" i="0">
              <a:solidFill>
                <a:schemeClr val="tx1"/>
              </a:solidFill>
            </a:endParaRPr>
          </a:p>
        </p:txBody>
      </p:sp>
      <p:sp>
        <p:nvSpPr>
          <p:cNvPr id="501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fld id="{A79B22FF-16EC-44CB-A298-E47E41D67125}" type="slidenum">
              <a:rPr lang="en-US" altLang="en-US" sz="1100" b="0">
                <a:solidFill>
                  <a:schemeClr val="tx1"/>
                </a:solidFill>
              </a:rPr>
              <a:pPr>
                <a:lnSpc>
                  <a:spcPct val="100000"/>
                </a:lnSpc>
              </a:pPr>
              <a:t>4</a:t>
            </a:fld>
            <a:r>
              <a:rPr lang="en-US" altLang="en-US" sz="1100" b="0">
                <a:solidFill>
                  <a:schemeClr val="tx1"/>
                </a:solidFill>
              </a:rPr>
              <a:t>##</a:t>
            </a:r>
            <a:endParaRPr lang="en-US" altLang="en-US" sz="1300" b="0" i="0">
              <a:solidFill>
                <a:schemeClr val="tx1"/>
              </a:solidFill>
            </a:endParaRPr>
          </a:p>
        </p:txBody>
      </p:sp>
      <p:sp>
        <p:nvSpPr>
          <p:cNvPr id="501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bg-BG" alt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6387F7D6-FEFE-47AC-857D-EB360774C44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647473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sz="1100" b="0">
                <a:solidFill>
                  <a:schemeClr val="tx1"/>
                </a:solidFill>
              </a:rPr>
              <a:t>*</a:t>
            </a:r>
            <a:endParaRPr lang="en-US" altLang="en-US" sz="1300" b="0" i="0">
              <a:solidFill>
                <a:schemeClr val="tx1"/>
              </a:solidFill>
            </a:endParaRPr>
          </a:p>
        </p:txBody>
      </p:sp>
      <p:sp>
        <p:nvSpPr>
          <p:cNvPr id="481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fld id="{59A74144-3914-4EC5-91EF-42442D1E30EA}" type="slidenum">
              <a:rPr lang="en-US" altLang="en-US" sz="1100" b="0">
                <a:solidFill>
                  <a:schemeClr val="tx1"/>
                </a:solidFill>
              </a:rPr>
              <a:pPr>
                <a:lnSpc>
                  <a:spcPct val="100000"/>
                </a:lnSpc>
              </a:pPr>
              <a:t>5</a:t>
            </a:fld>
            <a:r>
              <a:rPr lang="en-US" altLang="en-US" sz="1100" b="0">
                <a:solidFill>
                  <a:schemeClr val="tx1"/>
                </a:solidFill>
              </a:rPr>
              <a:t>##</a:t>
            </a:r>
            <a:endParaRPr lang="en-US" altLang="en-US" sz="1300" b="0" i="0">
              <a:solidFill>
                <a:schemeClr val="tx1"/>
              </a:solidFill>
            </a:endParaRPr>
          </a:p>
        </p:txBody>
      </p:sp>
      <p:sp>
        <p:nvSpPr>
          <p:cNvPr id="481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bg-BG" alt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19AE7DAA-A846-4564-9553-1531AFEAE89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723218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sz="1100" b="0">
                <a:solidFill>
                  <a:schemeClr val="tx1"/>
                </a:solidFill>
              </a:rPr>
              <a:t>*</a:t>
            </a:r>
            <a:endParaRPr lang="en-US" altLang="en-US" sz="1300" b="0" i="0">
              <a:solidFill>
                <a:schemeClr val="tx1"/>
              </a:solidFill>
            </a:endParaRPr>
          </a:p>
        </p:txBody>
      </p:sp>
      <p:sp>
        <p:nvSpPr>
          <p:cNvPr id="481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fld id="{59A74144-3914-4EC5-91EF-42442D1E30EA}" type="slidenum">
              <a:rPr lang="en-US" altLang="en-US" sz="1100" b="0">
                <a:solidFill>
                  <a:schemeClr val="tx1"/>
                </a:solidFill>
              </a:rPr>
              <a:pPr>
                <a:lnSpc>
                  <a:spcPct val="100000"/>
                </a:lnSpc>
              </a:pPr>
              <a:t>6</a:t>
            </a:fld>
            <a:r>
              <a:rPr lang="en-US" altLang="en-US" sz="1100" b="0">
                <a:solidFill>
                  <a:schemeClr val="tx1"/>
                </a:solidFill>
              </a:rPr>
              <a:t>##</a:t>
            </a:r>
            <a:endParaRPr lang="en-US" altLang="en-US" sz="1300" b="0" i="0">
              <a:solidFill>
                <a:schemeClr val="tx1"/>
              </a:solidFill>
            </a:endParaRPr>
          </a:p>
        </p:txBody>
      </p:sp>
      <p:sp>
        <p:nvSpPr>
          <p:cNvPr id="481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bg-BG" alt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068B0CF1-22D7-4FD8-81FB-EB98C8DFC9D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971548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sz="1100" b="0">
                <a:solidFill>
                  <a:schemeClr val="tx1"/>
                </a:solidFill>
              </a:rPr>
              <a:t>*</a:t>
            </a:r>
            <a:endParaRPr lang="en-US" altLang="en-US" sz="1300" b="0" i="0">
              <a:solidFill>
                <a:schemeClr val="tx1"/>
              </a:solidFill>
            </a:endParaRPr>
          </a:p>
        </p:txBody>
      </p:sp>
      <p:sp>
        <p:nvSpPr>
          <p:cNvPr id="481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fld id="{59A74144-3914-4EC5-91EF-42442D1E30EA}" type="slidenum">
              <a:rPr lang="en-US" altLang="en-US" sz="1100" b="0">
                <a:solidFill>
                  <a:schemeClr val="tx1"/>
                </a:solidFill>
              </a:rPr>
              <a:pPr>
                <a:lnSpc>
                  <a:spcPct val="100000"/>
                </a:lnSpc>
              </a:pPr>
              <a:t>7</a:t>
            </a:fld>
            <a:r>
              <a:rPr lang="en-US" altLang="en-US" sz="1100" b="0">
                <a:solidFill>
                  <a:schemeClr val="tx1"/>
                </a:solidFill>
              </a:rPr>
              <a:t>##</a:t>
            </a:r>
            <a:endParaRPr lang="en-US" altLang="en-US" sz="1300" b="0" i="0">
              <a:solidFill>
                <a:schemeClr val="tx1"/>
              </a:solidFill>
            </a:endParaRPr>
          </a:p>
        </p:txBody>
      </p:sp>
      <p:sp>
        <p:nvSpPr>
          <p:cNvPr id="481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bg-BG" alt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B4B2A4F2-74A6-413C-9D69-BAAD59426A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80005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sz="1100" b="0">
                <a:solidFill>
                  <a:schemeClr val="tx1"/>
                </a:solidFill>
              </a:rPr>
              <a:t>*</a:t>
            </a:r>
            <a:endParaRPr lang="en-US" altLang="en-US" sz="1300" b="0" i="0">
              <a:solidFill>
                <a:schemeClr val="tx1"/>
              </a:solidFill>
            </a:endParaRPr>
          </a:p>
        </p:txBody>
      </p:sp>
      <p:sp>
        <p:nvSpPr>
          <p:cNvPr id="440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fld id="{1B52E359-A968-4DA7-A672-6E58BAD27202}" type="slidenum">
              <a:rPr lang="en-US" altLang="en-US" sz="1100" b="0">
                <a:solidFill>
                  <a:schemeClr val="tx1"/>
                </a:solidFill>
              </a:rPr>
              <a:pPr>
                <a:lnSpc>
                  <a:spcPct val="100000"/>
                </a:lnSpc>
              </a:pPr>
              <a:t>9</a:t>
            </a:fld>
            <a:r>
              <a:rPr lang="en-US" altLang="en-US" sz="1100" b="0">
                <a:solidFill>
                  <a:schemeClr val="tx1"/>
                </a:solidFill>
              </a:rPr>
              <a:t>##</a:t>
            </a:r>
            <a:endParaRPr lang="en-US" altLang="en-US" sz="1300" b="0" i="0">
              <a:solidFill>
                <a:schemeClr val="tx1"/>
              </a:solidFill>
            </a:endParaRPr>
          </a:p>
        </p:txBody>
      </p:sp>
      <p:sp>
        <p:nvSpPr>
          <p:cNvPr id="440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bg-BG" alt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D1790E1B-3A8A-407D-A5F0-C978E52F6C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174370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sz="1100" b="0">
                <a:solidFill>
                  <a:schemeClr val="tx1"/>
                </a:solidFill>
              </a:rPr>
              <a:t>*</a:t>
            </a:r>
            <a:endParaRPr lang="en-US" altLang="en-US" sz="1300" b="0" i="0">
              <a:solidFill>
                <a:schemeClr val="tx1"/>
              </a:solidFill>
            </a:endParaRPr>
          </a:p>
        </p:txBody>
      </p:sp>
      <p:sp>
        <p:nvSpPr>
          <p:cNvPr id="460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fld id="{23847C15-1145-47B4-A15C-6D570ACD8A92}" type="slidenum">
              <a:rPr lang="en-US" altLang="en-US" sz="1100" b="0">
                <a:solidFill>
                  <a:schemeClr val="tx1"/>
                </a:solidFill>
              </a:rPr>
              <a:pPr>
                <a:lnSpc>
                  <a:spcPct val="100000"/>
                </a:lnSpc>
              </a:pPr>
              <a:t>10</a:t>
            </a:fld>
            <a:r>
              <a:rPr lang="en-US" altLang="en-US" sz="1100" b="0">
                <a:solidFill>
                  <a:schemeClr val="tx1"/>
                </a:solidFill>
              </a:rPr>
              <a:t>##</a:t>
            </a:r>
            <a:endParaRPr lang="en-US" altLang="en-US" sz="1300" b="0" i="0">
              <a:solidFill>
                <a:schemeClr val="tx1"/>
              </a:solidFill>
            </a:endParaRPr>
          </a:p>
        </p:txBody>
      </p:sp>
      <p:sp>
        <p:nvSpPr>
          <p:cNvPr id="460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bg-BG" alt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C788EB7D-EE8E-410F-8D76-5C779223CEE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8238616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E65B3B-E6E2-4525-8F2E-49AC8F612DB9}" type="slidenum">
              <a:rPr lang="en-US"/>
              <a:pPr/>
              <a:t>12</a:t>
            </a:fld>
            <a:r>
              <a:rPr lang="en-US" dirty="0"/>
              <a:t>##</a:t>
            </a:r>
          </a:p>
        </p:txBody>
      </p:sp>
      <p:sp>
        <p:nvSpPr>
          <p:cNvPr id="435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5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EE035FCE-5C42-4678-9100-12F91A5E66B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171767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21.9.2022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21.9.2022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21.9.2022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21.9.2022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Стандартни потоци в .</a:t>
            </a:r>
            <a:r>
              <a:rPr lang="en-US" dirty="0">
                <a:latin typeface="Comfortaa" pitchFamily="2" charset="0"/>
              </a:rPr>
              <a:t>NET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Streams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3200" dirty="0" err="1">
                <a:latin typeface="Comfortaa" pitchFamily="2" charset="0"/>
              </a:rPr>
              <a:t>FileStream</a:t>
            </a:r>
            <a:r>
              <a:rPr lang="en-US" sz="3200" dirty="0">
                <a:latin typeface="Comfortaa" pitchFamily="2" charset="0"/>
              </a:rPr>
              <a:t> 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3200" dirty="0" err="1">
                <a:latin typeface="Comfortaa" pitchFamily="2" charset="0"/>
              </a:rPr>
              <a:t>MemoryStream</a:t>
            </a:r>
            <a:endParaRPr lang="en-US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3200" dirty="0" err="1">
                <a:latin typeface="Comfortaa" pitchFamily="2" charset="0"/>
              </a:rPr>
              <a:t>NetworkStream</a:t>
            </a:r>
            <a:endParaRPr lang="en-US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bg-BG" sz="3200" dirty="0">
                <a:latin typeface="Comfortaa" pitchFamily="2" charset="0"/>
              </a:rPr>
              <a:t>Буферирани потоци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bg-BG" sz="3200" dirty="0">
                <a:latin typeface="Comfortaa" pitchFamily="2" charset="0"/>
              </a:rPr>
              <a:t>Други потоци (</a:t>
            </a:r>
            <a:r>
              <a:rPr lang="en-US" sz="3200" dirty="0">
                <a:latin typeface="Comfortaa" pitchFamily="2" charset="0"/>
              </a:rPr>
              <a:t>Crypto, </a:t>
            </a:r>
            <a:r>
              <a:rPr lang="en-US" sz="3200" dirty="0" err="1">
                <a:latin typeface="Comfortaa" pitchFamily="2" charset="0"/>
              </a:rPr>
              <a:t>Gzip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и др.)</a:t>
            </a: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bg-BG" altLang="en-US" b="1" noProof="1">
                <a:latin typeface="Comfortaa" pitchFamily="2" charset="0"/>
              </a:rPr>
              <a:t>Класът </a:t>
            </a:r>
            <a:r>
              <a:rPr lang="en-US" altLang="en-US" b="1" noProof="1">
                <a:latin typeface="Comfortaa" pitchFamily="2" charset="0"/>
                <a:cs typeface="Consolas" panose="020B0609020204030204" pitchFamily="49" charset="0"/>
              </a:rPr>
              <a:t>FileStream [1/2]</a:t>
            </a:r>
            <a:endParaRPr lang="en-US" altLang="en-US" b="1" noProof="1">
              <a:latin typeface="Comfortaa" pitchFamily="2" charset="0"/>
            </a:endParaRPr>
          </a:p>
        </p:txBody>
      </p:sp>
      <p:sp>
        <p:nvSpPr>
          <p:cNvPr id="640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bg-BG" altLang="en-US" dirty="0">
                <a:latin typeface="Comfortaa" pitchFamily="2" charset="0"/>
              </a:rPr>
              <a:t>Наследява класът </a:t>
            </a:r>
            <a:r>
              <a:rPr lang="en-US" altLang="en-US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Stream</a:t>
            </a:r>
            <a:r>
              <a:rPr lang="en-US" altLang="en-US" dirty="0">
                <a:latin typeface="Comfortaa" pitchFamily="2" charset="0"/>
              </a:rPr>
              <a:t> </a:t>
            </a:r>
            <a:r>
              <a:rPr lang="bg-BG" altLang="en-US" dirty="0">
                <a:latin typeface="Comfortaa" pitchFamily="2" charset="0"/>
              </a:rPr>
              <a:t>и</a:t>
            </a:r>
            <a:r>
              <a:rPr lang="en-US" altLang="en-US" dirty="0">
                <a:latin typeface="Comfortaa" pitchFamily="2" charset="0"/>
              </a:rPr>
              <a:t> </a:t>
            </a:r>
            <a:r>
              <a:rPr lang="bg-BG" altLang="en-US" dirty="0">
                <a:latin typeface="Comfortaa" pitchFamily="2" charset="0"/>
              </a:rPr>
              <a:t>поддържа всичките му методи</a:t>
            </a:r>
            <a:r>
              <a:rPr lang="en-US" altLang="en-US" dirty="0">
                <a:latin typeface="Comfortaa" pitchFamily="2" charset="0"/>
              </a:rPr>
              <a:t> </a:t>
            </a:r>
            <a:r>
              <a:rPr lang="bg-BG" altLang="en-US" dirty="0">
                <a:latin typeface="Comfortaa" pitchFamily="2" charset="0"/>
              </a:rPr>
              <a:t>и свойства</a:t>
            </a:r>
          </a:p>
          <a:p>
            <a:pPr lvl="1">
              <a:lnSpc>
                <a:spcPct val="90000"/>
              </a:lnSpc>
              <a:defRPr/>
            </a:pPr>
            <a:r>
              <a:rPr lang="bg-BG" altLang="en-US" dirty="0">
                <a:latin typeface="Comfortaa" pitchFamily="2" charset="0"/>
              </a:rPr>
              <a:t>Поддържа четене, запис, позициониране и т.н.</a:t>
            </a:r>
          </a:p>
          <a:p>
            <a:pPr>
              <a:lnSpc>
                <a:spcPct val="90000"/>
              </a:lnSpc>
              <a:defRPr/>
            </a:pPr>
            <a:r>
              <a:rPr lang="bg-BG" altLang="en-US" dirty="0">
                <a:latin typeface="Comfortaa" pitchFamily="2" charset="0"/>
              </a:rPr>
              <a:t>Конструкторът има параметри за:</a:t>
            </a:r>
          </a:p>
          <a:p>
            <a:pPr lvl="1">
              <a:lnSpc>
                <a:spcPct val="90000"/>
              </a:lnSpc>
              <a:defRPr/>
            </a:pPr>
            <a:r>
              <a:rPr lang="bg-BG" altLang="en-US" dirty="0">
                <a:latin typeface="Comfortaa" pitchFamily="2" charset="0"/>
              </a:rPr>
              <a:t>Името на файла</a:t>
            </a:r>
            <a:endParaRPr lang="en-US" altLang="en-US" dirty="0">
              <a:latin typeface="Comfortaa" pitchFamily="2" charset="0"/>
            </a:endParaRPr>
          </a:p>
          <a:p>
            <a:pPr lvl="1">
              <a:lnSpc>
                <a:spcPct val="90000"/>
              </a:lnSpc>
              <a:defRPr/>
            </a:pPr>
            <a:r>
              <a:rPr lang="bg-BG" altLang="en-US" dirty="0">
                <a:latin typeface="Comfortaa" pitchFamily="2" charset="0"/>
              </a:rPr>
              <a:t>Режимът на отваряне на файла</a:t>
            </a:r>
          </a:p>
          <a:p>
            <a:pPr lvl="1">
              <a:lnSpc>
                <a:spcPct val="90000"/>
              </a:lnSpc>
              <a:defRPr/>
            </a:pPr>
            <a:r>
              <a:rPr lang="bg-BG" altLang="en-US" dirty="0">
                <a:latin typeface="Comfortaa" pitchFamily="2" charset="0"/>
              </a:rPr>
              <a:t>Режимът на достъп до файла</a:t>
            </a:r>
          </a:p>
          <a:p>
            <a:pPr lvl="1">
              <a:lnSpc>
                <a:spcPct val="90000"/>
              </a:lnSpc>
              <a:defRPr/>
            </a:pPr>
            <a:r>
              <a:rPr lang="bg-BG" altLang="en-US" dirty="0">
                <a:latin typeface="Comfortaa" pitchFamily="2" charset="0"/>
              </a:rPr>
              <a:t>Дали файлът е заключен или се позволява едновременен достъп до него и от други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2598573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051" name="Rectangle 3"/>
          <p:cNvSpPr>
            <a:spLocks noGrp="1" noChangeArrowheads="1"/>
          </p:cNvSpPr>
          <p:nvPr>
            <p:ph idx="1"/>
          </p:nvPr>
        </p:nvSpPr>
        <p:spPr>
          <a:xfrm>
            <a:off x="760021" y="3259776"/>
            <a:ext cx="10515600" cy="3178444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spcBef>
                <a:spcPct val="30000"/>
              </a:spcBef>
              <a:defRPr/>
            </a:pPr>
            <a:r>
              <a:rPr lang="en-US" alt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FileMode</a:t>
            </a:r>
            <a:r>
              <a:rPr lang="en-US" altLang="en-US" noProof="1">
                <a:latin typeface="Comfortaa" pitchFamily="2" charset="0"/>
              </a:rPr>
              <a:t> – </a:t>
            </a:r>
            <a:r>
              <a:rPr lang="bg-BG" altLang="en-US" dirty="0">
                <a:latin typeface="Comfortaa" pitchFamily="2" charset="0"/>
              </a:rPr>
              <a:t>режим на отваряне </a:t>
            </a:r>
            <a:endParaRPr lang="en-US" altLang="en-US" noProof="1">
              <a:latin typeface="Comfortaa" pitchFamily="2" charset="0"/>
            </a:endParaRPr>
          </a:p>
          <a:p>
            <a:pPr lvl="1">
              <a:lnSpc>
                <a:spcPct val="80000"/>
              </a:lnSpc>
              <a:spcBef>
                <a:spcPct val="30000"/>
              </a:spcBef>
              <a:defRPr/>
            </a:pPr>
            <a:r>
              <a:rPr lang="en-US" altLang="en-US" b="1" noProof="1">
                <a:latin typeface="Comfortaa" pitchFamily="2" charset="0"/>
                <a:cs typeface="Consolas" panose="020B0609020204030204" pitchFamily="49" charset="0"/>
              </a:rPr>
              <a:t>Open</a:t>
            </a:r>
            <a:r>
              <a:rPr lang="en-US" altLang="en-US" noProof="1">
                <a:latin typeface="Comfortaa" pitchFamily="2" charset="0"/>
              </a:rPr>
              <a:t>, </a:t>
            </a:r>
            <a:r>
              <a:rPr lang="en-US" altLang="en-US" b="1" noProof="1">
                <a:latin typeface="Comfortaa" pitchFamily="2" charset="0"/>
                <a:cs typeface="Consolas" panose="020B0609020204030204" pitchFamily="49" charset="0"/>
              </a:rPr>
              <a:t>Append</a:t>
            </a:r>
            <a:r>
              <a:rPr lang="en-US" altLang="en-US" noProof="1">
                <a:latin typeface="Comfortaa" pitchFamily="2" charset="0"/>
              </a:rPr>
              <a:t>, </a:t>
            </a:r>
            <a:r>
              <a:rPr lang="en-US" altLang="en-US" b="1" noProof="1">
                <a:latin typeface="Comfortaa" pitchFamily="2" charset="0"/>
                <a:cs typeface="Consolas" panose="020B0609020204030204" pitchFamily="49" charset="0"/>
              </a:rPr>
              <a:t>Create</a:t>
            </a:r>
            <a:r>
              <a:rPr lang="en-US" altLang="en-US" noProof="1">
                <a:latin typeface="Comfortaa" pitchFamily="2" charset="0"/>
              </a:rPr>
              <a:t>, </a:t>
            </a:r>
            <a:r>
              <a:rPr lang="en-US" altLang="en-US" b="1" noProof="1">
                <a:latin typeface="Comfortaa" pitchFamily="2" charset="0"/>
                <a:cs typeface="Consolas" panose="020B0609020204030204" pitchFamily="49" charset="0"/>
              </a:rPr>
              <a:t>CreateNew</a:t>
            </a:r>
            <a:r>
              <a:rPr lang="en-US" altLang="en-US" noProof="1">
                <a:latin typeface="Comfortaa" pitchFamily="2" charset="0"/>
              </a:rPr>
              <a:t>, </a:t>
            </a:r>
            <a:r>
              <a:rPr lang="en-US" altLang="en-US" b="1" noProof="1">
                <a:latin typeface="Comfortaa" pitchFamily="2" charset="0"/>
                <a:cs typeface="Consolas" panose="020B0609020204030204" pitchFamily="49" charset="0"/>
              </a:rPr>
              <a:t>OpenOrCreate</a:t>
            </a:r>
            <a:r>
              <a:rPr lang="en-US" altLang="en-US" noProof="1">
                <a:latin typeface="Comfortaa" pitchFamily="2" charset="0"/>
              </a:rPr>
              <a:t>,</a:t>
            </a:r>
            <a:r>
              <a:rPr lang="en-US" altLang="en-US" b="1" noProof="1">
                <a:latin typeface="Comfortaa" pitchFamily="2" charset="0"/>
                <a:cs typeface="Consolas" panose="020B0609020204030204" pitchFamily="49" charset="0"/>
              </a:rPr>
              <a:t>Truncate</a:t>
            </a:r>
          </a:p>
          <a:p>
            <a:pPr>
              <a:lnSpc>
                <a:spcPct val="80000"/>
              </a:lnSpc>
              <a:spcBef>
                <a:spcPct val="30000"/>
              </a:spcBef>
              <a:defRPr/>
            </a:pPr>
            <a:r>
              <a:rPr lang="en-US" alt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FileAccess</a:t>
            </a:r>
            <a:r>
              <a:rPr lang="en-US" altLang="en-US" noProof="1">
                <a:latin typeface="Comfortaa" pitchFamily="2" charset="0"/>
              </a:rPr>
              <a:t> – </a:t>
            </a:r>
            <a:r>
              <a:rPr lang="bg-BG" altLang="en-US" dirty="0">
                <a:latin typeface="Comfortaa" pitchFamily="2" charset="0"/>
              </a:rPr>
              <a:t>режим на опериране с файла</a:t>
            </a:r>
            <a:endParaRPr lang="en-US" altLang="en-US" noProof="1">
              <a:latin typeface="Comfortaa" pitchFamily="2" charset="0"/>
            </a:endParaRPr>
          </a:p>
          <a:p>
            <a:pPr lvl="1">
              <a:lnSpc>
                <a:spcPct val="80000"/>
              </a:lnSpc>
              <a:spcBef>
                <a:spcPct val="30000"/>
              </a:spcBef>
              <a:defRPr/>
            </a:pPr>
            <a:r>
              <a:rPr lang="en-US" altLang="en-US" b="1" noProof="1">
                <a:latin typeface="Comfortaa" pitchFamily="2" charset="0"/>
                <a:cs typeface="Consolas" panose="020B0609020204030204" pitchFamily="49" charset="0"/>
              </a:rPr>
              <a:t>Read</a:t>
            </a:r>
            <a:r>
              <a:rPr lang="en-US" altLang="en-US" noProof="1">
                <a:latin typeface="Comfortaa" pitchFamily="2" charset="0"/>
              </a:rPr>
              <a:t>, </a:t>
            </a:r>
            <a:r>
              <a:rPr lang="en-US" altLang="en-US" b="1" noProof="1">
                <a:latin typeface="Comfortaa" pitchFamily="2" charset="0"/>
                <a:cs typeface="Consolas" panose="020B0609020204030204" pitchFamily="49" charset="0"/>
              </a:rPr>
              <a:t>Write</a:t>
            </a:r>
            <a:r>
              <a:rPr lang="en-US" altLang="en-US" noProof="1">
                <a:latin typeface="Comfortaa" pitchFamily="2" charset="0"/>
              </a:rPr>
              <a:t>, </a:t>
            </a:r>
            <a:r>
              <a:rPr lang="en-US" altLang="en-US" b="1" noProof="1">
                <a:latin typeface="Comfortaa" pitchFamily="2" charset="0"/>
                <a:cs typeface="Consolas" panose="020B0609020204030204" pitchFamily="49" charset="0"/>
              </a:rPr>
              <a:t>ReadWrite</a:t>
            </a:r>
          </a:p>
          <a:p>
            <a:pPr>
              <a:lnSpc>
                <a:spcPct val="80000"/>
              </a:lnSpc>
              <a:spcBef>
                <a:spcPct val="30000"/>
              </a:spcBef>
              <a:defRPr/>
            </a:pPr>
            <a:r>
              <a:rPr lang="en-US" alt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FileShare</a:t>
            </a:r>
            <a:r>
              <a:rPr lang="en-US" altLang="en-US" noProof="1">
                <a:latin typeface="Comfortaa" pitchFamily="2" charset="0"/>
              </a:rPr>
              <a:t> – </a:t>
            </a:r>
            <a:r>
              <a:rPr lang="bg-BG" altLang="en-US" noProof="1">
                <a:latin typeface="Comfortaa" pitchFamily="2" charset="0"/>
              </a:rPr>
              <a:t>права за достъп за другите потребители докато файлът е отворен</a:t>
            </a:r>
            <a:endParaRPr lang="en-US" altLang="en-US" noProof="1">
              <a:latin typeface="Comfortaa" pitchFamily="2" charset="0"/>
            </a:endParaRPr>
          </a:p>
          <a:p>
            <a:pPr lvl="1">
              <a:lnSpc>
                <a:spcPct val="80000"/>
              </a:lnSpc>
              <a:spcBef>
                <a:spcPct val="30000"/>
              </a:spcBef>
              <a:defRPr/>
            </a:pPr>
            <a:r>
              <a:rPr lang="en-US" altLang="en-US" b="1" noProof="1">
                <a:latin typeface="Comfortaa" pitchFamily="2" charset="0"/>
                <a:cs typeface="Consolas" panose="020B0609020204030204" pitchFamily="49" charset="0"/>
              </a:rPr>
              <a:t>None</a:t>
            </a:r>
            <a:r>
              <a:rPr lang="en-US" altLang="en-US" noProof="1">
                <a:latin typeface="Comfortaa" pitchFamily="2" charset="0"/>
              </a:rPr>
              <a:t>, </a:t>
            </a:r>
            <a:r>
              <a:rPr lang="en-US" altLang="en-US" b="1" noProof="1">
                <a:latin typeface="Comfortaa" pitchFamily="2" charset="0"/>
                <a:cs typeface="Consolas" panose="020B0609020204030204" pitchFamily="49" charset="0"/>
              </a:rPr>
              <a:t>Read</a:t>
            </a:r>
            <a:r>
              <a:rPr lang="en-US" altLang="en-US" noProof="1">
                <a:latin typeface="Comfortaa" pitchFamily="2" charset="0"/>
              </a:rPr>
              <a:t>, </a:t>
            </a:r>
            <a:r>
              <a:rPr lang="en-US" altLang="en-US" b="1" noProof="1">
                <a:latin typeface="Comfortaa" pitchFamily="2" charset="0"/>
                <a:cs typeface="Consolas" panose="020B0609020204030204" pitchFamily="49" charset="0"/>
              </a:rPr>
              <a:t>Write</a:t>
            </a:r>
            <a:r>
              <a:rPr lang="en-US" altLang="en-US" noProof="1">
                <a:latin typeface="Comfortaa" pitchFamily="2" charset="0"/>
              </a:rPr>
              <a:t>, </a:t>
            </a:r>
            <a:r>
              <a:rPr lang="en-US" altLang="en-US" b="1" noProof="1">
                <a:latin typeface="Comfortaa" pitchFamily="2" charset="0"/>
                <a:cs typeface="Consolas" panose="020B0609020204030204" pitchFamily="49" charset="0"/>
              </a:rPr>
              <a:t>ReadWrite</a:t>
            </a:r>
          </a:p>
        </p:txBody>
      </p:sp>
      <p:sp>
        <p:nvSpPr>
          <p:cNvPr id="642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bg-BG" altLang="en-US" b="1" noProof="1">
                <a:latin typeface="Comfortaa" pitchFamily="2" charset="0"/>
              </a:rPr>
              <a:t>Класът </a:t>
            </a:r>
            <a:r>
              <a:rPr lang="en-US" altLang="en-US" b="1" noProof="1">
                <a:latin typeface="Comfortaa" pitchFamily="2" charset="0"/>
                <a:cs typeface="Consolas" panose="020B0609020204030204" pitchFamily="49" charset="0"/>
              </a:rPr>
              <a:t>FileStream [2/2]</a:t>
            </a:r>
            <a:endParaRPr lang="bg-BG" altLang="en-US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905493" y="1613395"/>
            <a:ext cx="10370128" cy="61863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US" alt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FileStream fs = new FileStream(string fileName, FileMode </a:t>
            </a:r>
          </a:p>
          <a:p>
            <a:pPr>
              <a:lnSpc>
                <a:spcPct val="95000"/>
              </a:lnSpc>
              <a:defRPr/>
            </a:pPr>
            <a:r>
              <a:rPr lang="en-US" alt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    [,FileAccess</a:t>
            </a:r>
            <a:r>
              <a:rPr lang="en-US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[, File</a:t>
            </a:r>
            <a:r>
              <a:rPr lang="en-US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Share</a:t>
            </a:r>
            <a:r>
              <a:rPr lang="en-US" alt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alt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5" name="AutoShape 23"/>
          <p:cNvSpPr>
            <a:spLocks noChangeArrowheads="1"/>
          </p:cNvSpPr>
          <p:nvPr/>
        </p:nvSpPr>
        <p:spPr bwMode="auto">
          <a:xfrm>
            <a:off x="7086600" y="2084164"/>
            <a:ext cx="3844636" cy="1012172"/>
          </a:xfrm>
          <a:prstGeom prst="wedgeRoundRectCallout">
            <a:avLst>
              <a:gd name="adj1" fmla="val -91722"/>
              <a:gd name="adj2" fmla="val -50630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tIns="72000" bIns="72000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dirty="0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Опционални параметри</a:t>
            </a:r>
          </a:p>
        </p:txBody>
      </p:sp>
    </p:spTree>
    <p:extLst>
      <p:ext uri="{BB962C8B-B14F-4D97-AF65-F5344CB8AC3E}">
        <p14:creationId xmlns:p14="http://schemas.microsoft.com/office/powerpoint/2010/main" val="423762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</p:txBody>
      </p:sp>
      <p:sp>
        <p:nvSpPr>
          <p:cNvPr id="640002" name="Rectangle 2"/>
          <p:cNvSpPr>
            <a:spLocks noGrp="1" noChangeArrowheads="1"/>
          </p:cNvSpPr>
          <p:nvPr>
            <p:ph type="title"/>
          </p:nvPr>
        </p:nvSpPr>
        <p:spPr>
          <a:xfrm>
            <a:off x="733368" y="231648"/>
            <a:ext cx="10620432" cy="919472"/>
          </a:xfrm>
        </p:spPr>
        <p:txBody>
          <a:bodyPr/>
          <a:lstStyle/>
          <a:p>
            <a:pPr>
              <a:defRPr/>
            </a:pPr>
            <a:r>
              <a:rPr lang="bg-BG" altLang="en-US" sz="3600" b="1" dirty="0">
                <a:latin typeface="Comfortaa" pitchFamily="2" charset="0"/>
              </a:rPr>
              <a:t>Запис на текст във файл </a:t>
            </a:r>
            <a:r>
              <a:rPr lang="en-US" altLang="en-US" sz="3600" b="1" dirty="0">
                <a:latin typeface="Comfortaa" pitchFamily="2" charset="0"/>
              </a:rPr>
              <a:t>– </a:t>
            </a:r>
            <a:r>
              <a:rPr lang="bg-BG" altLang="en-US" sz="3600" b="1" dirty="0">
                <a:latin typeface="Comfortaa" pitchFamily="2" charset="0"/>
              </a:rPr>
              <a:t>пример</a:t>
            </a:r>
            <a:endParaRPr lang="en-US" altLang="en-US" sz="3600" b="1" noProof="1">
              <a:latin typeface="Comfortaa" pitchFamily="2" charset="0"/>
              <a:cs typeface="Consolas" panose="020B0609020204030204" pitchFamily="49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733368" y="1151119"/>
            <a:ext cx="10722088" cy="526297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string text = "</a:t>
            </a:r>
            <a:r>
              <a:rPr lang="bg-BG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Кирилица";</a:t>
            </a:r>
          </a:p>
          <a:p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var fileStream = new </a:t>
            </a:r>
            <a:r>
              <a:rPr lang="en-US" sz="28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("../../log.txt", </a:t>
            </a:r>
          </a:p>
          <a:p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  FileMode.Create);</a:t>
            </a:r>
          </a:p>
          <a:p>
            <a:r>
              <a:rPr lang="en-US" sz="2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try</a:t>
            </a:r>
          </a:p>
          <a:p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US" sz="28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    byte[] bytes = </a:t>
            </a:r>
            <a:r>
              <a:rPr lang="en-US" sz="28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Encoding.UTF8.GetBytes(text);</a:t>
            </a:r>
          </a:p>
          <a:p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    fileStream.Write(bytes, 0, bytes.Length);</a:t>
            </a:r>
          </a:p>
          <a:p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sz="28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finally</a:t>
            </a:r>
          </a:p>
          <a:p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fileStream.Close();</a:t>
            </a:r>
          </a:p>
          <a:p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28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AutoShape 23"/>
          <p:cNvSpPr>
            <a:spLocks noChangeArrowheads="1"/>
          </p:cNvSpPr>
          <p:nvPr/>
        </p:nvSpPr>
        <p:spPr bwMode="auto">
          <a:xfrm>
            <a:off x="2133600" y="2216025"/>
            <a:ext cx="5029200" cy="977198"/>
          </a:xfrm>
          <a:prstGeom prst="wedgeRoundRectCallout">
            <a:avLst>
              <a:gd name="adj1" fmla="val -64328"/>
              <a:gd name="adj2" fmla="val 4005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tIns="72000" bIns="72000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anose="020B0609020204030204" pitchFamily="49" charset="0"/>
              </a:rPr>
              <a:t>try</a:t>
            </a:r>
            <a:r>
              <a:rPr lang="en-US" sz="2000" noProof="1">
                <a:solidFill>
                  <a:schemeClr val="bg1"/>
                </a:solidFill>
                <a:latin typeface="Comfortaa" pitchFamily="2" charset="0"/>
              </a:rPr>
              <a:t>-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anose="020B0609020204030204" pitchFamily="49" charset="0"/>
              </a:rPr>
              <a:t>finally</a:t>
            </a:r>
            <a:r>
              <a:rPr lang="en-US" sz="2000" noProof="1">
                <a:solidFill>
                  <a:schemeClr val="bg1"/>
                </a:solidFill>
                <a:latin typeface="Comfortaa" pitchFamily="2" charset="0"/>
              </a:rPr>
              <a:t> </a:t>
            </a:r>
            <a:r>
              <a:rPr lang="bg-BG" sz="2000" noProof="1">
                <a:solidFill>
                  <a:schemeClr val="bg1"/>
                </a:solidFill>
                <a:latin typeface="Comfortaa" pitchFamily="2" charset="0"/>
              </a:rPr>
              <a:t>гарантира, че потокът винаги ще се затвори</a:t>
            </a:r>
            <a:endParaRPr lang="bg-BG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7" name="AutoShape 23"/>
          <p:cNvSpPr>
            <a:spLocks noChangeArrowheads="1"/>
          </p:cNvSpPr>
          <p:nvPr/>
        </p:nvSpPr>
        <p:spPr bwMode="auto">
          <a:xfrm>
            <a:off x="6092824" y="4488585"/>
            <a:ext cx="5029200" cy="1182431"/>
          </a:xfrm>
          <a:prstGeom prst="wedgeRoundRectCallout">
            <a:avLst>
              <a:gd name="adj1" fmla="val -14190"/>
              <a:gd name="adj2" fmla="val -100443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tIns="72000" bIns="72000">
            <a:spAutoFit/>
          </a:bodyPr>
          <a:lstStyle/>
          <a:p>
            <a:pPr algn="ctr"/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anose="020B0609020204030204" pitchFamily="49" charset="0"/>
              </a:rPr>
              <a:t>Encoding.UTF8.GetBytes()</a:t>
            </a:r>
            <a:r>
              <a:rPr lang="en-US" sz="2000" noProof="1">
                <a:solidFill>
                  <a:schemeClr val="bg1"/>
                </a:solidFill>
                <a:latin typeface="Comfortaa" pitchFamily="2" charset="0"/>
              </a:rPr>
              <a:t> </a:t>
            </a:r>
            <a:r>
              <a:rPr lang="bg-BG" sz="2000" noProof="1">
                <a:solidFill>
                  <a:schemeClr val="bg1"/>
                </a:solidFill>
                <a:latin typeface="Comfortaa" pitchFamily="2" charset="0"/>
              </a:rPr>
              <a:t>връща прилежащите байтове за символите в текста</a:t>
            </a:r>
            <a:endParaRPr lang="en-US" sz="2000" noProof="1">
              <a:solidFill>
                <a:schemeClr val="bg1"/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2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bg-BG" altLang="en-US" dirty="0">
                <a:latin typeface="Comfortaa" pitchFamily="2" charset="0"/>
              </a:rPr>
              <a:t>Копиране на файл</a:t>
            </a:r>
            <a:r>
              <a:rPr lang="en-US" altLang="en-US" dirty="0">
                <a:latin typeface="Comfortaa" pitchFamily="2" charset="0"/>
              </a:rPr>
              <a:t> – </a:t>
            </a:r>
            <a:r>
              <a:rPr lang="bg-BG" altLang="en-US" dirty="0">
                <a:latin typeface="Comfortaa" pitchFamily="2" charset="0"/>
              </a:rPr>
              <a:t>пример</a:t>
            </a:r>
            <a:endParaRPr lang="en-US" altLang="en-US" noProof="1">
              <a:latin typeface="Comfortaa" pitchFamily="2" charset="0"/>
              <a:cs typeface="Consolas" panose="020B0609020204030204" pitchFamily="49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838200" y="1761469"/>
            <a:ext cx="10395857" cy="375487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using (var source = new FileStream(SheepImagePath, FileMode.Open))</a:t>
            </a:r>
          </a:p>
          <a:p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using (var destination = new FileStream(DestinationPath, FileMode.Create))</a:t>
            </a:r>
          </a:p>
          <a:p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      while (true)</a:t>
            </a:r>
          </a:p>
          <a:p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     {</a:t>
            </a:r>
          </a:p>
          <a:p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        int readBytes = source.Read(buffer, 0, buffer.Length);</a:t>
            </a:r>
          </a:p>
          <a:p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        if (readBytes == 0)</a:t>
            </a:r>
          </a:p>
          <a:p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          break;</a:t>
            </a:r>
          </a:p>
          <a:p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        destination.Write(buffer, 0, readBytes);</a:t>
            </a:r>
          </a:p>
          <a:p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     }</a:t>
            </a:r>
          </a:p>
          <a:p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AutoShape 23"/>
          <p:cNvSpPr>
            <a:spLocks noChangeArrowheads="1"/>
          </p:cNvSpPr>
          <p:nvPr/>
        </p:nvSpPr>
        <p:spPr bwMode="auto">
          <a:xfrm>
            <a:off x="3593276" y="5172705"/>
            <a:ext cx="5485410" cy="1012172"/>
          </a:xfrm>
          <a:prstGeom prst="wedgeRoundRectCallout">
            <a:avLst>
              <a:gd name="adj1" fmla="val -90731"/>
              <a:gd name="adj2" fmla="val -63458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tIns="72000" bIns="72000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fortaa" pitchFamily="2" charset="0"/>
                <a:cs typeface="Consolas" panose="020B0609020204030204" pitchFamily="49" charset="0"/>
              </a:rPr>
              <a:t>using </a:t>
            </a:r>
            <a:r>
              <a:rPr lang="bg-BG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fortaa" pitchFamily="2" charset="0"/>
                <a:cs typeface="Consolas" pitchFamily="49" charset="0"/>
              </a:rPr>
              <a:t>автоматично затваря потока</a:t>
            </a:r>
          </a:p>
        </p:txBody>
      </p:sp>
    </p:spTree>
    <p:extLst>
      <p:ext uri="{BB962C8B-B14F-4D97-AF65-F5344CB8AC3E}">
        <p14:creationId xmlns:p14="http://schemas.microsoft.com/office/powerpoint/2010/main" val="262077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00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65126"/>
            <a:ext cx="10624457" cy="77510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bg-BG" altLang="en-US" sz="4000" dirty="0">
                <a:latin typeface="Comfortaa" pitchFamily="2" charset="0"/>
              </a:rPr>
              <a:t>Четене на низ в паметта</a:t>
            </a:r>
            <a:r>
              <a:rPr lang="en-US" altLang="en-US" sz="4000" dirty="0">
                <a:latin typeface="Comfortaa" pitchFamily="2" charset="0"/>
              </a:rPr>
              <a:t> – </a:t>
            </a:r>
            <a:r>
              <a:rPr lang="bg-BG" altLang="en-US" sz="4000" dirty="0">
                <a:latin typeface="Comfortaa" pitchFamily="2" charset="0"/>
              </a:rPr>
              <a:t>пример</a:t>
            </a:r>
            <a:endParaRPr lang="en-US" altLang="en-US" sz="4000" noProof="1">
              <a:latin typeface="Comfortaa" pitchFamily="2" charset="0"/>
              <a:cs typeface="Consolas" panose="020B0609020204030204" pitchFamily="49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609600" y="1140233"/>
            <a:ext cx="10544232" cy="526297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 text = "</a:t>
            </a:r>
            <a:r>
              <a:rPr lang="en-US" sz="2800" b="1" noProof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In-memory text.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";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byte[] bytes = </a:t>
            </a:r>
            <a:r>
              <a:rPr lang="en-US" sz="2800" b="1" noProof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Encoding.UTF8.GetBytes(</a:t>
            </a:r>
            <a:r>
              <a:rPr lang="en-US" sz="2800" b="1" noProof="1">
                <a:solidFill>
                  <a:srgbClr val="00B0F0"/>
                </a:solidFill>
                <a:latin typeface="Consolas" panose="020B0609020204030204" pitchFamily="49" charset="0"/>
              </a:rPr>
              <a:t>text</a:t>
            </a:r>
            <a:r>
              <a:rPr lang="en-US" sz="2800" b="1" noProof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 (var memoryStream = new </a:t>
            </a:r>
            <a:r>
              <a:rPr lang="en-US" sz="2800" b="1" noProof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MemoryStream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(bytes))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while (true)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 readByte = memoryStream.</a:t>
            </a:r>
            <a:r>
              <a:rPr lang="en-US" sz="2800" b="1" noProof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ReadByte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if (readByte == -1)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break; 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Console.</a:t>
            </a:r>
            <a:r>
              <a:rPr lang="en-US" sz="2800" b="1" noProof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WriteLine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((char) readByte);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530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64177" y="308240"/>
            <a:ext cx="11338955" cy="902212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Прост уеб сървър</a:t>
            </a:r>
            <a:r>
              <a:rPr lang="en-US" dirty="0">
                <a:latin typeface="Comfortaa" pitchFamily="2" charset="0"/>
              </a:rPr>
              <a:t> – </a:t>
            </a:r>
            <a:r>
              <a:rPr lang="bg-BG" dirty="0">
                <a:latin typeface="Comfortaa" pitchFamily="2" charset="0"/>
              </a:rPr>
              <a:t>пример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64177" y="1391276"/>
            <a:ext cx="11463646" cy="507831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var tcpListener = new </a:t>
            </a:r>
            <a:r>
              <a:rPr lang="en-US" sz="2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TcpListener(IPAddress.Any, PortNumber);</a:t>
            </a:r>
          </a:p>
          <a:p>
            <a:pPr>
              <a:lnSpc>
                <a:spcPct val="90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tcpListener.</a:t>
            </a:r>
            <a:r>
              <a:rPr lang="en-US" sz="2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Start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pPr>
              <a:lnSpc>
                <a:spcPct val="90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Console.WriteLine("Listening on port {0}...", PortNumber);</a:t>
            </a:r>
          </a:p>
          <a:p>
            <a:pPr>
              <a:lnSpc>
                <a:spcPct val="90000"/>
              </a:lnSpc>
            </a:pPr>
            <a:endParaRPr lang="en-US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 (true)</a:t>
            </a:r>
          </a:p>
          <a:p>
            <a:pPr>
              <a:lnSpc>
                <a:spcPct val="90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using (</a:t>
            </a:r>
            <a:r>
              <a:rPr lang="en-US" sz="2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NetworkStream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stream = tcpListener.</a:t>
            </a:r>
            <a:r>
              <a:rPr lang="en-US" sz="2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AcceptTcpClient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().</a:t>
            </a:r>
            <a:r>
              <a:rPr lang="en-US" sz="2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GetStream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())</a:t>
            </a:r>
          </a:p>
          <a:p>
            <a:pPr>
              <a:lnSpc>
                <a:spcPct val="90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{</a:t>
            </a:r>
          </a:p>
          <a:p>
            <a:pPr>
              <a:lnSpc>
                <a:spcPct val="90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byte[] request = new byte[4096];</a:t>
            </a:r>
          </a:p>
          <a:p>
            <a:pPr>
              <a:lnSpc>
                <a:spcPct val="90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stream.</a:t>
            </a:r>
            <a:r>
              <a:rPr lang="en-US" sz="2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Read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(request, 0, 4096);</a:t>
            </a:r>
          </a:p>
          <a:p>
            <a:pPr>
              <a:lnSpc>
                <a:spcPct val="90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Console.WriteLine(</a:t>
            </a:r>
            <a:r>
              <a:rPr lang="en-US" sz="2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Encoding.UTF8.GetString(request)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);</a:t>
            </a:r>
          </a:p>
          <a:p>
            <a:pPr>
              <a:lnSpc>
                <a:spcPct val="90000"/>
              </a:lnSpc>
            </a:pPr>
            <a:endParaRPr lang="en-US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string html = string.Format("{0}{1}{2}{3} - {4}{2}{1}{0}", </a:t>
            </a:r>
          </a:p>
          <a:p>
            <a:pPr>
              <a:lnSpc>
                <a:spcPct val="90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"&lt;html&gt;", "&lt;body&gt;", "&lt;h1&gt;", "Welcome to my awesome site!", DateTime.Now);</a:t>
            </a:r>
          </a:p>
          <a:p>
            <a:pPr>
              <a:lnSpc>
                <a:spcPct val="90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byte[] htmlBytes = Encoding.UTF8.GetBytes(html);</a:t>
            </a:r>
          </a:p>
          <a:p>
            <a:pPr>
              <a:lnSpc>
                <a:spcPct val="90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stream.</a:t>
            </a:r>
            <a:r>
              <a:rPr lang="en-US" sz="2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Write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2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htmlBytes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, 0, </a:t>
            </a:r>
            <a:r>
              <a:rPr lang="en-US" sz="2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htmlBytes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.</a:t>
            </a:r>
            <a:r>
              <a:rPr lang="en-US" sz="2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Length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);</a:t>
            </a:r>
          </a:p>
          <a:p>
            <a:pPr>
              <a:lnSpc>
                <a:spcPct val="90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}</a:t>
            </a:r>
          </a:p>
          <a:p>
            <a:pPr>
              <a:lnSpc>
                <a:spcPct val="90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AutoShape 23"/>
          <p:cNvSpPr>
            <a:spLocks noChangeArrowheads="1"/>
          </p:cNvSpPr>
          <p:nvPr/>
        </p:nvSpPr>
        <p:spPr bwMode="auto">
          <a:xfrm>
            <a:off x="8385903" y="2317023"/>
            <a:ext cx="3326599" cy="565880"/>
          </a:xfrm>
          <a:prstGeom prst="wedgeRoundRectCallout">
            <a:avLst>
              <a:gd name="adj1" fmla="val -14408"/>
              <a:gd name="adj2" fmla="val 81899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tIns="72000" bIns="72000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dirty="0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Получава потока</a:t>
            </a:r>
          </a:p>
        </p:txBody>
      </p:sp>
      <p:sp>
        <p:nvSpPr>
          <p:cNvPr id="7" name="AutoShape 23"/>
          <p:cNvSpPr>
            <a:spLocks noChangeArrowheads="1"/>
          </p:cNvSpPr>
          <p:nvPr/>
        </p:nvSpPr>
        <p:spPr bwMode="auto">
          <a:xfrm>
            <a:off x="8728010" y="3808649"/>
            <a:ext cx="2642386" cy="551550"/>
          </a:xfrm>
          <a:prstGeom prst="wedgeRoundRectCallout">
            <a:avLst>
              <a:gd name="adj1" fmla="val -59829"/>
              <a:gd name="adj2" fmla="val 44678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tIns="72000" bIns="72000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dirty="0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Чете заявката</a:t>
            </a:r>
          </a:p>
        </p:txBody>
      </p:sp>
      <p:sp>
        <p:nvSpPr>
          <p:cNvPr id="8" name="AutoShape 23"/>
          <p:cNvSpPr>
            <a:spLocks noChangeArrowheads="1"/>
          </p:cNvSpPr>
          <p:nvPr/>
        </p:nvSpPr>
        <p:spPr bwMode="auto">
          <a:xfrm>
            <a:off x="7975630" y="5737215"/>
            <a:ext cx="3326599" cy="551550"/>
          </a:xfrm>
          <a:prstGeom prst="wedgeRoundRectCallout">
            <a:avLst>
              <a:gd name="adj1" fmla="val -69829"/>
              <a:gd name="adj2" fmla="val -51985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tIns="72000" bIns="72000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dirty="0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Записва отговора</a:t>
            </a:r>
          </a:p>
        </p:txBody>
      </p:sp>
    </p:spTree>
    <p:extLst>
      <p:ext uri="{BB962C8B-B14F-4D97-AF65-F5344CB8AC3E}">
        <p14:creationId xmlns:p14="http://schemas.microsoft.com/office/powerpoint/2010/main" val="2931205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bg-BG" altLang="en-US" b="1" dirty="0">
                <a:latin typeface="Comfortaa" pitchFamily="2" charset="0"/>
              </a:rPr>
              <a:t>Буферирани потоци</a:t>
            </a:r>
            <a:r>
              <a:rPr lang="en-US" altLang="en-US" b="1" dirty="0">
                <a:latin typeface="Comfortaa" pitchFamily="2" charset="0"/>
              </a:rPr>
              <a:t> [1/2]</a:t>
            </a:r>
            <a:endParaRPr lang="bg-BG" altLang="en-US" b="1" dirty="0">
              <a:latin typeface="Comfortaa" pitchFamily="2" charset="0"/>
            </a:endParaRPr>
          </a:p>
        </p:txBody>
      </p:sp>
      <p:sp>
        <p:nvSpPr>
          <p:cNvPr id="635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90688"/>
            <a:ext cx="10069599" cy="4119377"/>
          </a:xfrm>
        </p:spPr>
        <p:txBody>
          <a:bodyPr/>
          <a:lstStyle/>
          <a:p>
            <a:pPr>
              <a:defRPr/>
            </a:pPr>
            <a:r>
              <a:rPr lang="bg-BG" altLang="en-US" dirty="0">
                <a:latin typeface="Comfortaa" pitchFamily="2" charset="0"/>
              </a:rPr>
              <a:t>Буферират данните и ефективно увеличават производителността</a:t>
            </a:r>
            <a:endParaRPr lang="en-US" altLang="en-US" dirty="0">
              <a:latin typeface="Comfortaa" pitchFamily="2" charset="0"/>
            </a:endParaRPr>
          </a:p>
          <a:p>
            <a:pPr>
              <a:defRPr/>
            </a:pPr>
            <a:r>
              <a:rPr lang="bg-BG" altLang="en-US" dirty="0">
                <a:latin typeface="Comfortaa" pitchFamily="2" charset="0"/>
              </a:rPr>
              <a:t>Заявка за прочитане на дори 1 байт води до прочитане на още килобайти в аванс</a:t>
            </a:r>
            <a:endParaRPr lang="en-US" altLang="en-US" dirty="0">
              <a:latin typeface="Comfortaa" pitchFamily="2" charset="0"/>
            </a:endParaRPr>
          </a:p>
          <a:p>
            <a:pPr lvl="1">
              <a:defRPr/>
            </a:pPr>
            <a:r>
              <a:rPr lang="bg-BG" altLang="en-US" dirty="0">
                <a:latin typeface="Comfortaa" pitchFamily="2" charset="0"/>
              </a:rPr>
              <a:t>Потокът ги пази във вътрешен буфер</a:t>
            </a:r>
          </a:p>
          <a:p>
            <a:pPr>
              <a:defRPr/>
            </a:pPr>
            <a:r>
              <a:rPr lang="bg-BG" altLang="en-US" dirty="0">
                <a:latin typeface="Comfortaa" pitchFamily="2" charset="0"/>
              </a:rPr>
              <a:t>Следващото четене</a:t>
            </a:r>
            <a:r>
              <a:rPr lang="en-US" altLang="en-US" dirty="0">
                <a:latin typeface="Comfortaa" pitchFamily="2" charset="0"/>
              </a:rPr>
              <a:t> </a:t>
            </a:r>
            <a:r>
              <a:rPr lang="bg-BG" altLang="en-US" dirty="0">
                <a:latin typeface="Comfortaa" pitchFamily="2" charset="0"/>
              </a:rPr>
              <a:t>връща данни</a:t>
            </a:r>
            <a:r>
              <a:rPr lang="en-US" altLang="en-US" dirty="0">
                <a:latin typeface="Comfortaa" pitchFamily="2" charset="0"/>
              </a:rPr>
              <a:t> </a:t>
            </a:r>
            <a:r>
              <a:rPr lang="bg-BG" altLang="en-US" dirty="0">
                <a:latin typeface="Comfortaa" pitchFamily="2" charset="0"/>
              </a:rPr>
              <a:t>от</a:t>
            </a:r>
            <a:r>
              <a:rPr lang="en-US" altLang="en-US" dirty="0">
                <a:latin typeface="Comfortaa" pitchFamily="2" charset="0"/>
              </a:rPr>
              <a:t> </a:t>
            </a:r>
            <a:r>
              <a:rPr lang="bg-BG" altLang="en-US" dirty="0">
                <a:latin typeface="Comfortaa" pitchFamily="2" charset="0"/>
              </a:rPr>
              <a:t>вътрешния буфер</a:t>
            </a:r>
            <a:r>
              <a:rPr lang="en-US" altLang="en-US" dirty="0">
                <a:latin typeface="Comfortaa" pitchFamily="2" charset="0"/>
              </a:rPr>
              <a:t> 	</a:t>
            </a:r>
          </a:p>
          <a:p>
            <a:pPr lvl="1">
              <a:defRPr/>
            </a:pPr>
            <a:r>
              <a:rPr lang="bg-BG" altLang="en-US" dirty="0">
                <a:latin typeface="Comfortaa" pitchFamily="2" charset="0"/>
              </a:rPr>
              <a:t>Много бърза операция</a:t>
            </a:r>
          </a:p>
        </p:txBody>
      </p:sp>
    </p:spTree>
    <p:extLst>
      <p:ext uri="{BB962C8B-B14F-4D97-AF65-F5344CB8AC3E}">
        <p14:creationId xmlns:p14="http://schemas.microsoft.com/office/powerpoint/2010/main" val="747928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45000"/>
              </a:spcBef>
              <a:defRPr/>
            </a:pPr>
            <a:r>
              <a:rPr lang="bg-BG" altLang="en-US" dirty="0">
                <a:latin typeface="Comfortaa" pitchFamily="2" charset="0"/>
              </a:rPr>
              <a:t>Записаните данни се съхраняват във вътрешния буфер</a:t>
            </a:r>
            <a:endParaRPr lang="en-US" altLang="en-US" dirty="0">
              <a:latin typeface="Comfortaa" pitchFamily="2" charset="0"/>
            </a:endParaRPr>
          </a:p>
          <a:p>
            <a:pPr lvl="1">
              <a:spcBef>
                <a:spcPct val="45000"/>
              </a:spcBef>
              <a:defRPr/>
            </a:pPr>
            <a:r>
              <a:rPr lang="bg-BG" altLang="en-US" dirty="0">
                <a:latin typeface="Comfortaa" pitchFamily="2" charset="0"/>
              </a:rPr>
              <a:t>Това е много бърза операция</a:t>
            </a:r>
            <a:endParaRPr lang="en-US" altLang="en-US" dirty="0">
              <a:latin typeface="Comfortaa" pitchFamily="2" charset="0"/>
            </a:endParaRPr>
          </a:p>
          <a:p>
            <a:pPr>
              <a:spcBef>
                <a:spcPct val="45000"/>
              </a:spcBef>
              <a:defRPr/>
            </a:pPr>
            <a:r>
              <a:rPr lang="bg-BG" altLang="en-US" dirty="0">
                <a:latin typeface="Comfortaa" pitchFamily="2" charset="0"/>
              </a:rPr>
              <a:t>Когато буферът</a:t>
            </a:r>
            <a:r>
              <a:rPr lang="en-US" altLang="en-US" dirty="0">
                <a:latin typeface="Comfortaa" pitchFamily="2" charset="0"/>
              </a:rPr>
              <a:t> </a:t>
            </a:r>
            <a:r>
              <a:rPr lang="bg-BG" altLang="en-US" dirty="0">
                <a:latin typeface="Comfortaa" pitchFamily="2" charset="0"/>
              </a:rPr>
              <a:t>се препълни</a:t>
            </a:r>
            <a:r>
              <a:rPr lang="en-US" altLang="en-US" dirty="0">
                <a:latin typeface="Comfortaa" pitchFamily="2" charset="0"/>
              </a:rPr>
              <a:t>:</a:t>
            </a:r>
          </a:p>
          <a:p>
            <a:pPr lvl="1">
              <a:spcBef>
                <a:spcPct val="45000"/>
              </a:spcBef>
              <a:defRPr/>
            </a:pPr>
            <a:r>
              <a:rPr lang="bg-BG" altLang="en-US" dirty="0">
                <a:latin typeface="Comfortaa" pitchFamily="2" charset="0"/>
                <a:cs typeface="Consolas" panose="020B0609020204030204" pitchFamily="49" charset="0"/>
              </a:rPr>
              <a:t>Се</a:t>
            </a:r>
            <a:r>
              <a:rPr lang="en-US" altLang="en-US" dirty="0">
                <a:latin typeface="Comfortaa" pitchFamily="2" charset="0"/>
                <a:cs typeface="Consolas" panose="020B0609020204030204" pitchFamily="49" charset="0"/>
              </a:rPr>
              <a:t> </a:t>
            </a:r>
            <a:r>
              <a:rPr lang="bg-BG" altLang="en-US" dirty="0">
                <a:latin typeface="Comfortaa" pitchFamily="2" charset="0"/>
                <a:cs typeface="Consolas" panose="020B0609020204030204" pitchFamily="49" charset="0"/>
              </a:rPr>
              <a:t>извиква </a:t>
            </a:r>
            <a:r>
              <a:rPr lang="en-US" altLang="en-US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Flush</a:t>
            </a:r>
            <a:r>
              <a:rPr lang="bg-BG" altLang="en-US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()</a:t>
            </a:r>
            <a:endParaRPr lang="en-US" altLang="en-US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spcBef>
                <a:spcPct val="45000"/>
              </a:spcBef>
              <a:defRPr/>
            </a:pPr>
            <a:r>
              <a:rPr lang="bg-BG" altLang="en-US" dirty="0">
                <a:latin typeface="Comfortaa" pitchFamily="2" charset="0"/>
              </a:rPr>
              <a:t>Данните се изпращат по назначение</a:t>
            </a:r>
          </a:p>
          <a:p>
            <a:pPr>
              <a:spcBef>
                <a:spcPct val="45000"/>
              </a:spcBef>
              <a:defRPr/>
            </a:pPr>
            <a:r>
              <a:rPr lang="bg-BG" altLang="en-US" dirty="0">
                <a:latin typeface="Comfortaa" pitchFamily="2" charset="0"/>
              </a:rPr>
              <a:t>В .NET се използва класът</a:t>
            </a:r>
            <a:r>
              <a:rPr lang="en-US" altLang="en-US" dirty="0">
                <a:latin typeface="Comfortaa" pitchFamily="2" charset="0"/>
              </a:rPr>
              <a:t> </a:t>
            </a:r>
            <a:r>
              <a:rPr lang="en-US" alt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System.IO.BufferedStream</a:t>
            </a:r>
            <a:endParaRPr lang="en-US" altLang="en-US" noProof="1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bg-BG" altLang="en-US" b="1" dirty="0">
                <a:latin typeface="Comfortaa" pitchFamily="2" charset="0"/>
              </a:rPr>
              <a:t>Буферирани потоци</a:t>
            </a:r>
            <a:r>
              <a:rPr lang="en-US" altLang="en-US" b="1" dirty="0">
                <a:latin typeface="Comfortaa" pitchFamily="2" charset="0"/>
              </a:rPr>
              <a:t> [2/2]</a:t>
            </a:r>
            <a:endParaRPr lang="bg-BG" altLang="en-US" dirty="0"/>
          </a:p>
        </p:txBody>
      </p:sp>
    </p:spTree>
    <p:extLst>
      <p:ext uri="{BB962C8B-B14F-4D97-AF65-F5344CB8AC3E}">
        <p14:creationId xmlns:p14="http://schemas.microsoft.com/office/powerpoint/2010/main" val="2648622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mfortaa" pitchFamily="2" charset="0"/>
              </a:rPr>
              <a:t>.NET </a:t>
            </a:r>
            <a:r>
              <a:rPr lang="bg-BG" dirty="0">
                <a:latin typeface="Comfortaa" pitchFamily="2" charset="0"/>
              </a:rPr>
              <a:t>поддържа специални потоци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noProof="1">
                <a:latin typeface="Comfortaa" pitchFamily="2" charset="0"/>
              </a:rPr>
              <a:t>Те работят като обичайните, но предоставят още функции</a:t>
            </a:r>
            <a:endParaRPr lang="en-US" noProof="1">
              <a:latin typeface="Comfortaa" pitchFamily="2" charset="0"/>
            </a:endParaRPr>
          </a:p>
          <a:p>
            <a:pPr lvl="2"/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CryptoStream</a:t>
            </a:r>
            <a:r>
              <a:rPr lang="en-US" noProof="1">
                <a:latin typeface="Comfortaa" pitchFamily="2" charset="0"/>
                <a:cs typeface="Consolas" panose="020B0609020204030204" pitchFamily="49" charset="0"/>
              </a:rPr>
              <a:t> </a:t>
            </a:r>
            <a:r>
              <a:rPr lang="bg-BG" noProof="1">
                <a:latin typeface="Comfortaa" pitchFamily="2" charset="0"/>
                <a:cs typeface="Consolas" panose="020B0609020204030204" pitchFamily="49" charset="0"/>
              </a:rPr>
              <a:t>криптира при запис и декриптира при четене</a:t>
            </a:r>
            <a:endParaRPr lang="en-US" noProof="1">
              <a:latin typeface="Comfortaa" pitchFamily="2" charset="0"/>
              <a:cs typeface="Consolas" panose="020B0609020204030204" pitchFamily="49" charset="0"/>
            </a:endParaRPr>
          </a:p>
          <a:p>
            <a:pPr lvl="2"/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GzipStream</a:t>
            </a:r>
            <a:r>
              <a:rPr lang="en-US" noProof="1">
                <a:latin typeface="Comfortaa" pitchFamily="2" charset="0"/>
                <a:cs typeface="Consolas" panose="020B0609020204030204" pitchFamily="49" charset="0"/>
              </a:rPr>
              <a:t> </a:t>
            </a:r>
            <a:r>
              <a:rPr lang="bg-BG" noProof="1">
                <a:latin typeface="Comfortaa" pitchFamily="2" charset="0"/>
                <a:cs typeface="Consolas" panose="020B0609020204030204" pitchFamily="49" charset="0"/>
              </a:rPr>
              <a:t>компресира и разкомпресира данните</a:t>
            </a:r>
            <a:endParaRPr lang="en-US" noProof="1">
              <a:latin typeface="Comfortaa" pitchFamily="2" charset="0"/>
              <a:cs typeface="Consolas" panose="020B0609020204030204" pitchFamily="49" charset="0"/>
            </a:endParaRPr>
          </a:p>
          <a:p>
            <a:pPr lvl="2"/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PipedStream</a:t>
            </a:r>
            <a:r>
              <a:rPr lang="en-US" noProof="1">
                <a:latin typeface="Comfortaa" pitchFamily="2" charset="0"/>
                <a:cs typeface="Consolas" panose="020B0609020204030204" pitchFamily="49" charset="0"/>
              </a:rPr>
              <a:t> </a:t>
            </a:r>
            <a:r>
              <a:rPr lang="bg-BG" noProof="1">
                <a:latin typeface="Comfortaa" pitchFamily="2" charset="0"/>
                <a:cs typeface="Consolas" panose="020B0609020204030204" pitchFamily="49" charset="0"/>
              </a:rPr>
              <a:t>е за четене/запис на данни през няколко процеса</a:t>
            </a:r>
            <a:endParaRPr lang="en-US" noProof="1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>
                <a:latin typeface="Comfortaa" pitchFamily="2" charset="0"/>
              </a:rPr>
              <a:t>Други потоци</a:t>
            </a:r>
            <a:endParaRPr lang="en-US" b="1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1669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>
                <a:latin typeface="Comfortaa" pitchFamily="2" charset="0"/>
              </a:rPr>
              <a:t>Обобщение</a:t>
            </a:r>
          </a:p>
        </p:txBody>
      </p:sp>
      <p:sp>
        <p:nvSpPr>
          <p:cNvPr id="4341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00000"/>
              </a:lnSpc>
            </a:pPr>
            <a:r>
              <a:rPr lang="en-US" sz="3200" b="1" dirty="0" err="1">
                <a:solidFill>
                  <a:srgbClr val="00B0F0"/>
                </a:solidFill>
                <a:latin typeface="Comfortaa" pitchFamily="2" charset="0"/>
              </a:rPr>
              <a:t>FileStream</a:t>
            </a:r>
            <a:r>
              <a:rPr lang="bg-BG" sz="32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позволява четене и запис във файлове</a:t>
            </a:r>
            <a:endParaRPr lang="en-US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en-US" sz="3200" b="1" dirty="0" err="1">
                <a:solidFill>
                  <a:srgbClr val="00B0F0"/>
                </a:solidFill>
                <a:latin typeface="Comfortaa" pitchFamily="2" charset="0"/>
              </a:rPr>
              <a:t>MemoryStream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е за четене и запис в паметта</a:t>
            </a:r>
            <a:endParaRPr lang="en-US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en-US" sz="3200" b="1" dirty="0" err="1">
                <a:solidFill>
                  <a:srgbClr val="00B0F0"/>
                </a:solidFill>
                <a:latin typeface="Comfortaa" pitchFamily="2" charset="0"/>
              </a:rPr>
              <a:t>NetworkStream</a:t>
            </a:r>
            <a:r>
              <a:rPr lang="bg-BG" sz="32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служи за мрежова </a:t>
            </a:r>
            <a:br>
              <a:rPr lang="bg-BG" sz="3200" dirty="0">
                <a:latin typeface="Comfortaa" pitchFamily="2" charset="0"/>
              </a:rPr>
            </a:br>
            <a:r>
              <a:rPr lang="bg-BG" sz="3200" dirty="0">
                <a:latin typeface="Comfortaa" pitchFamily="2" charset="0"/>
              </a:rPr>
              <a:t>комуникация</a:t>
            </a:r>
            <a:endParaRPr lang="en-US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3200" dirty="0">
                <a:latin typeface="Comfortaa" pitchFamily="2" charset="0"/>
              </a:rPr>
              <a:t>Буферираните потоци подобряват </a:t>
            </a:r>
            <a:br>
              <a:rPr lang="bg-BG" sz="3200" dirty="0">
                <a:latin typeface="Comfortaa" pitchFamily="2" charset="0"/>
              </a:rPr>
            </a:br>
            <a:r>
              <a:rPr lang="bg-BG" sz="3200" dirty="0">
                <a:latin typeface="Comfortaa" pitchFamily="2" charset="0"/>
              </a:rPr>
              <a:t>производителността при четене и запис</a:t>
            </a:r>
          </a:p>
          <a:p>
            <a:pPr>
              <a:lnSpc>
                <a:spcPct val="100000"/>
              </a:lnSpc>
            </a:pPr>
            <a:r>
              <a:rPr lang="bg-BG" sz="3200" dirty="0">
                <a:latin typeface="Comfortaa" pitchFamily="2" charset="0"/>
              </a:rPr>
              <a:t>Другите видове потоци (</a:t>
            </a:r>
            <a:r>
              <a:rPr lang="en-US" sz="3200" dirty="0">
                <a:latin typeface="Comfortaa" pitchFamily="2" charset="0"/>
              </a:rPr>
              <a:t>Crypto, </a:t>
            </a:r>
            <a:r>
              <a:rPr lang="en-US" sz="3200" dirty="0" err="1">
                <a:latin typeface="Comfortaa" pitchFamily="2" charset="0"/>
              </a:rPr>
              <a:t>Gzip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и др.)</a:t>
            </a:r>
            <a:br>
              <a:rPr lang="bg-BG" sz="3200" dirty="0">
                <a:latin typeface="Comfortaa" pitchFamily="2" charset="0"/>
              </a:rPr>
            </a:br>
            <a:r>
              <a:rPr lang="bg-BG" sz="3200" dirty="0">
                <a:latin typeface="Comfortaa" pitchFamily="2" charset="0"/>
              </a:rPr>
              <a:t>добавят допълнителна функционалност:</a:t>
            </a:r>
            <a:br>
              <a:rPr lang="bg-BG" sz="3200" dirty="0">
                <a:latin typeface="Comfortaa" pitchFamily="2" charset="0"/>
              </a:rPr>
            </a:br>
            <a:r>
              <a:rPr lang="bg-BG" sz="3200" dirty="0">
                <a:latin typeface="Comfortaa" pitchFamily="2" charset="0"/>
              </a:rPr>
              <a:t>криптиране, компресия, комуникация между процеси и т.н.</a:t>
            </a:r>
          </a:p>
          <a:p>
            <a:pPr lvl="1">
              <a:lnSpc>
                <a:spcPct val="100000"/>
              </a:lnSpc>
            </a:pPr>
            <a:endParaRPr lang="en-US" noProof="1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62498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</TotalTime>
  <Words>1082</Words>
  <Application>Microsoft Office PowerPoint</Application>
  <PresentationFormat>Widescreen</PresentationFormat>
  <Paragraphs>165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Comfortaa</vt:lpstr>
      <vt:lpstr>Consolas</vt:lpstr>
      <vt:lpstr>Office Theme</vt:lpstr>
      <vt:lpstr>Стандартни потоци в .NET</vt:lpstr>
      <vt:lpstr>Съдържание</vt:lpstr>
      <vt:lpstr>Класът FileStream [1/2]</vt:lpstr>
      <vt:lpstr>Класът FileStream [2/2]</vt:lpstr>
      <vt:lpstr>Запис на текст във файл – пример</vt:lpstr>
      <vt:lpstr>Копиране на файл – пример</vt:lpstr>
      <vt:lpstr>Четене на низ в паметта – пример</vt:lpstr>
      <vt:lpstr>Прост уеб сървър – пример</vt:lpstr>
      <vt:lpstr>Буферирани потоци [1/2]</vt:lpstr>
      <vt:lpstr>Буферирани потоци [2/2]</vt:lpstr>
      <vt:lpstr>Други потоци</vt:lpstr>
      <vt:lpstr>Обобщение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11</cp:revision>
  <dcterms:created xsi:type="dcterms:W3CDTF">2022-08-09T09:25:46Z</dcterms:created>
  <dcterms:modified xsi:type="dcterms:W3CDTF">2022-09-21T08:01:05Z</dcterms:modified>
</cp:coreProperties>
</file>