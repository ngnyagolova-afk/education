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8" r:id="rId2"/>
    <p:sldId id="579" r:id="rId3"/>
    <p:sldId id="555" r:id="rId4"/>
    <p:sldId id="556" r:id="rId5"/>
    <p:sldId id="560" r:id="rId6"/>
    <p:sldId id="563" r:id="rId7"/>
    <p:sldId id="483" r:id="rId8"/>
    <p:sldId id="562" r:id="rId9"/>
    <p:sldId id="561" r:id="rId10"/>
    <p:sldId id="569" r:id="rId11"/>
    <p:sldId id="568" r:id="rId12"/>
    <p:sldId id="570" r:id="rId13"/>
    <p:sldId id="571" r:id="rId14"/>
    <p:sldId id="572" r:id="rId15"/>
    <p:sldId id="573" r:id="rId16"/>
    <p:sldId id="42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9"/>
            <p14:sldId id="555"/>
            <p14:sldId id="556"/>
            <p14:sldId id="560"/>
            <p14:sldId id="563"/>
            <p14:sldId id="483"/>
            <p14:sldId id="562"/>
            <p14:sldId id="561"/>
            <p14:sldId id="569"/>
            <p14:sldId id="568"/>
            <p14:sldId id="570"/>
            <p14:sldId id="571"/>
            <p14:sldId id="572"/>
            <p14:sldId id="573"/>
            <p14:sldId id="421"/>
          </p14:sldIdLst>
        </p14:section>
        <p14:section name="Заключение" id="{9315BEE7-605C-4839-996A-A4EEA70921D9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softuni.foundation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954EEAF-01AB-4D60-A91D-FD7F4A97BB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79880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106363"/>
            <a:ext cx="6096000" cy="3429000"/>
          </a:xfrm>
        </p:spPr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534601"/>
            <a:ext cx="6096000" cy="521339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80999" y="4572000"/>
            <a:ext cx="6096001" cy="1205308"/>
            <a:chOff x="1713308" y="2659062"/>
            <a:chExt cx="8444047" cy="1496216"/>
          </a:xfrm>
        </p:grpSpPr>
        <p:sp>
          <p:nvSpPr>
            <p:cNvPr id="9" name="AutoShape 4"/>
            <p:cNvSpPr>
              <a:spLocks noChangeArrowheads="1"/>
            </p:cNvSpPr>
            <p:nvPr/>
          </p:nvSpPr>
          <p:spPr bwMode="auto">
            <a:xfrm>
              <a:off x="3398482" y="3048000"/>
              <a:ext cx="6758873" cy="1107278"/>
            </a:xfrm>
            <a:prstGeom prst="cloudCallout">
              <a:avLst>
                <a:gd name="adj1" fmla="val -54852"/>
                <a:gd name="adj2" fmla="val -61472"/>
              </a:avLst>
            </a:prstGeom>
            <a:solidFill>
              <a:srgbClr val="B5DBE5">
                <a:alpha val="14902"/>
              </a:srgbClr>
            </a:solidFill>
            <a:ln w="25400" algn="ctr">
              <a:solidFill>
                <a:schemeClr val="accent5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defRPr/>
              </a:pPr>
              <a:r>
                <a:rPr lang="en-US" sz="2800" b="1" noProof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"</a:t>
              </a:r>
              <a:r>
                <a:rPr lang="en-US" sz="2800" b="1" noProof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Relevant" to what?</a:t>
              </a:r>
            </a:p>
          </p:txBody>
        </p:sp>
        <p:pic>
          <p:nvPicPr>
            <p:cNvPr id="10" name="Picture 4" descr="C:\Trash\questionman.png"/>
            <p:cNvPicPr>
              <a:picLocks noChangeAspect="1" noChangeArrowheads="1"/>
            </p:cNvPicPr>
            <p:nvPr/>
          </p:nvPicPr>
          <p:blipFill>
            <a:blip r:embed="rId3" cstate="email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3308" y="2659062"/>
              <a:ext cx="1117310" cy="1496216"/>
            </a:xfrm>
            <a:prstGeom prst="rect">
              <a:avLst/>
            </a:prstGeom>
            <a:noFill/>
          </p:spPr>
        </p:pic>
      </p:grp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205DE6AD-804D-475F-9000-76DDE8C372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4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5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8047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AB3E4C-0A4B-4D96-9E77-E2BF4F8F28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9944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 err="1">
                <a:latin typeface="Comfortaa" pitchFamily="2" charset="0"/>
              </a:rPr>
              <a:t>Итератори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Iterators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1328" y="792637"/>
            <a:ext cx="10140536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69835" y="2159764"/>
            <a:ext cx="10092029" cy="301239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Базови шаблони за дизайн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Design Patterns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Iterator </a:t>
            </a: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шаблон</a:t>
            </a:r>
            <a:endParaRPr lang="en-US" b="1" noProof="1">
              <a:solidFill>
                <a:srgbClr val="00B0F0"/>
              </a:solidFill>
              <a:latin typeface="Comfortaa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 err="1">
                <a:latin typeface="Comfortaa" pitchFamily="2" charset="0"/>
              </a:rPr>
              <a:t>Итератори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IEnumerable&lt;T&gt; </a:t>
            </a:r>
            <a:r>
              <a:rPr lang="bg-BG" noProof="1">
                <a:latin typeface="Comfortaa" pitchFamily="2" charset="0"/>
              </a:rPr>
              <a:t>интерфейс</a:t>
            </a:r>
            <a:endParaRPr lang="en-US" noProof="1"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yield return</a:t>
            </a:r>
            <a:endParaRPr lang="bg-BG" b="1" noProof="1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params</a:t>
            </a:r>
          </a:p>
        </p:txBody>
      </p:sp>
    </p:spTree>
    <p:extLst>
      <p:ext uri="{BB962C8B-B14F-4D97-AF65-F5344CB8AC3E}">
        <p14:creationId xmlns:p14="http://schemas.microsoft.com/office/powerpoint/2010/main" val="2774744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4846-92C6-4421-98FF-FC9F2C20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3664"/>
            <a:ext cx="10515600" cy="4351338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Общовалидни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повторяеми решения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на обичайни проблеми в софтуерния дизайн</a:t>
            </a:r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Предоставят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тествани</a:t>
            </a:r>
            <a:r>
              <a:rPr lang="bg-BG" sz="3200" dirty="0">
                <a:latin typeface="Comfortaa" pitchFamily="2" charset="0"/>
              </a:rPr>
              <a:t> и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доказани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в разработката модели</a:t>
            </a:r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Подпомагат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четливостта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на кода за разработчици, вече запознати с тези шаблони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E421AB-9F90-4E01-B69B-0D1FA9A8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15" y="756515"/>
            <a:ext cx="10553797" cy="1110780"/>
          </a:xfrm>
        </p:spPr>
        <p:txBody>
          <a:bodyPr>
            <a:normAutofit fontScale="90000"/>
          </a:bodyPr>
          <a:lstStyle/>
          <a:p>
            <a:r>
              <a:rPr lang="bg-BG" b="1" dirty="0">
                <a:latin typeface="Comfortaa" pitchFamily="2" charset="0"/>
              </a:rPr>
              <a:t>Шаблони в проектирането </a:t>
            </a:r>
            <a:br>
              <a:rPr lang="en-US" b="1" dirty="0">
                <a:latin typeface="Comfortaa" pitchFamily="2" charset="0"/>
              </a:rPr>
            </a:br>
            <a:r>
              <a:rPr lang="bg-BG" b="1" dirty="0">
                <a:latin typeface="Comfortaa" pitchFamily="2" charset="0"/>
              </a:rPr>
              <a:t>(</a:t>
            </a:r>
            <a:r>
              <a:rPr lang="en-US" b="1" dirty="0">
                <a:latin typeface="Comfortaa" pitchFamily="2" charset="0"/>
              </a:rPr>
              <a:t>Design Patterns</a:t>
            </a:r>
            <a:r>
              <a:rPr lang="bg-BG" b="1" dirty="0">
                <a:latin typeface="Comfortaa" pitchFamily="2" charset="0"/>
              </a:rPr>
              <a:t>)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30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F693E5-7758-4498-BE22-E86E493A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48" y="74292"/>
            <a:ext cx="11019363" cy="811144"/>
          </a:xfrm>
        </p:spPr>
        <p:txBody>
          <a:bodyPr/>
          <a:lstStyle/>
          <a:p>
            <a:pPr algn="ctr"/>
            <a:r>
              <a:rPr lang="bg-BG" dirty="0"/>
              <a:t>Шаблон </a:t>
            </a:r>
            <a:r>
              <a:rPr lang="en-US" dirty="0"/>
              <a:t>Iterator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BC84FFFA-0D26-4E71-92D2-E67554D9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020" y="1050190"/>
            <a:ext cx="4040604" cy="609600"/>
          </a:xfrm>
          <a:prstGeom prst="round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anose="020B0609020204030204" pitchFamily="49" charset="0"/>
              </a:rPr>
              <a:t>Client</a:t>
            </a:r>
          </a:p>
        </p:txBody>
      </p:sp>
      <p:sp>
        <p:nvSpPr>
          <p:cNvPr id="10" name="Up Arrow 72">
            <a:extLst>
              <a:ext uri="{FF2B5EF4-FFF2-40B4-BE49-F238E27FC236}">
                <a16:creationId xmlns:a16="http://schemas.microsoft.com/office/drawing/2014/main" id="{B3F90F75-515B-4748-893B-F097715234A8}"/>
              </a:ext>
            </a:extLst>
          </p:cNvPr>
          <p:cNvSpPr/>
          <p:nvPr/>
        </p:nvSpPr>
        <p:spPr>
          <a:xfrm rot="10800000">
            <a:off x="3101016" y="1659790"/>
            <a:ext cx="367806" cy="498635"/>
          </a:xfrm>
          <a:prstGeom prst="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46C69509-EC4F-4F8A-B1C0-4B5E55CE9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43" y="2158426"/>
            <a:ext cx="4054256" cy="1984422"/>
          </a:xfrm>
          <a:prstGeom prst="round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anose="020B0609020204030204" pitchFamily="49" charset="0"/>
              </a:rPr>
              <a:t>TraversalAbstraction</a:t>
            </a:r>
          </a:p>
          <a:p>
            <a:pPr algn="ctr">
              <a:lnSpc>
                <a:spcPct val="95000"/>
              </a:lnSpc>
              <a:defRPr/>
            </a:pPr>
            <a:endParaRPr lang="en-US" b="1" noProof="1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defRPr/>
            </a:pPr>
            <a:r>
              <a:rPr lang="en-US" b="1" noProof="1">
                <a:latin typeface="Consolas" panose="020B0609020204030204" pitchFamily="49" charset="0"/>
              </a:rPr>
              <a:t>+ first() </a:t>
            </a:r>
          </a:p>
          <a:p>
            <a:pPr>
              <a:lnSpc>
                <a:spcPct val="95000"/>
              </a:lnSpc>
              <a:defRPr/>
            </a:pPr>
            <a:r>
              <a:rPr lang="en-US" b="1" noProof="1">
                <a:latin typeface="Consolas" panose="020B0609020204030204" pitchFamily="49" charset="0"/>
              </a:rPr>
              <a:t>+ next()  </a:t>
            </a:r>
          </a:p>
          <a:p>
            <a:pPr>
              <a:lnSpc>
                <a:spcPct val="95000"/>
              </a:lnSpc>
              <a:defRPr/>
            </a:pPr>
            <a:r>
              <a:rPr lang="en-US" b="1" noProof="1">
                <a:latin typeface="Consolas" panose="020B0609020204030204" pitchFamily="49" charset="0"/>
              </a:rPr>
              <a:t>+ isDone()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1D73476F-C41E-48C6-890B-CF380DFEF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82" y="952731"/>
            <a:ext cx="5162926" cy="1654020"/>
          </a:xfrm>
          <a:prstGeom prst="round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Collection</a:t>
            </a:r>
          </a:p>
          <a:p>
            <a:pPr algn="ctr">
              <a:lnSpc>
                <a:spcPct val="95000"/>
              </a:lnSpc>
              <a:defRPr/>
            </a:pPr>
            <a:endParaRPr lang="en-US" b="1" noProof="1">
              <a:latin typeface="Consolas" pitchFamily="49" charset="0"/>
            </a:endParaRPr>
          </a:p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+ createTraversalObject() : </a:t>
            </a:r>
          </a:p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TraversalAbstraction</a:t>
            </a: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20F37F23-EBE2-4367-ADC3-B65324F0E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82" y="3177789"/>
            <a:ext cx="5162926" cy="1339534"/>
          </a:xfrm>
          <a:prstGeom prst="round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Concrete Collection</a:t>
            </a:r>
          </a:p>
          <a:p>
            <a:pPr algn="ctr">
              <a:lnSpc>
                <a:spcPct val="95000"/>
              </a:lnSpc>
              <a:defRPr/>
            </a:pPr>
            <a:endParaRPr lang="en-US" b="1" noProof="1">
              <a:latin typeface="Consolas" pitchFamily="49" charset="0"/>
            </a:endParaRPr>
          </a:p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+ createTraversalObject()</a:t>
            </a:r>
          </a:p>
        </p:txBody>
      </p:sp>
      <p:sp>
        <p:nvSpPr>
          <p:cNvPr id="14" name="Up Arrow 72">
            <a:extLst>
              <a:ext uri="{FF2B5EF4-FFF2-40B4-BE49-F238E27FC236}">
                <a16:creationId xmlns:a16="http://schemas.microsoft.com/office/drawing/2014/main" id="{BC508C2A-1C5E-40E7-81FA-732914A570AA}"/>
              </a:ext>
            </a:extLst>
          </p:cNvPr>
          <p:cNvSpPr/>
          <p:nvPr/>
        </p:nvSpPr>
        <p:spPr>
          <a:xfrm>
            <a:off x="8638042" y="2606751"/>
            <a:ext cx="367806" cy="571038"/>
          </a:xfrm>
          <a:prstGeom prst="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5" name="Up Arrow 72">
            <a:extLst>
              <a:ext uri="{FF2B5EF4-FFF2-40B4-BE49-F238E27FC236}">
                <a16:creationId xmlns:a16="http://schemas.microsoft.com/office/drawing/2014/main" id="{09326116-7BCF-4C99-ACA6-08938E3A029B}"/>
              </a:ext>
            </a:extLst>
          </p:cNvPr>
          <p:cNvSpPr/>
          <p:nvPr/>
        </p:nvSpPr>
        <p:spPr>
          <a:xfrm rot="5400000">
            <a:off x="5627650" y="946037"/>
            <a:ext cx="367806" cy="857858"/>
          </a:xfrm>
          <a:prstGeom prst="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/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CDBB398E-5930-44AF-91CC-E96EDAAC3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790" y="4621507"/>
            <a:ext cx="4054256" cy="1984422"/>
          </a:xfrm>
          <a:prstGeom prst="round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Concrete Traversal</a:t>
            </a:r>
          </a:p>
          <a:p>
            <a:pPr algn="ctr">
              <a:lnSpc>
                <a:spcPct val="95000"/>
              </a:lnSpc>
              <a:defRPr/>
            </a:pPr>
            <a:endParaRPr lang="en-US" b="1" noProof="1">
              <a:latin typeface="Consolas" pitchFamily="49" charset="0"/>
            </a:endParaRPr>
          </a:p>
          <a:p>
            <a:pPr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+ first() </a:t>
            </a:r>
          </a:p>
          <a:p>
            <a:pPr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+ next()  </a:t>
            </a:r>
          </a:p>
          <a:p>
            <a:pPr>
              <a:lnSpc>
                <a:spcPct val="95000"/>
              </a:lnSpc>
              <a:defRPr/>
            </a:pPr>
            <a:r>
              <a:rPr lang="en-US" b="1" noProof="1">
                <a:latin typeface="Consolas" pitchFamily="49" charset="0"/>
              </a:rPr>
              <a:t>+ isDone()</a:t>
            </a:r>
          </a:p>
        </p:txBody>
      </p:sp>
      <p:sp>
        <p:nvSpPr>
          <p:cNvPr id="17" name="Bent Arrow 5">
            <a:extLst>
              <a:ext uri="{FF2B5EF4-FFF2-40B4-BE49-F238E27FC236}">
                <a16:creationId xmlns:a16="http://schemas.microsoft.com/office/drawing/2014/main" id="{D863A276-16E6-4308-B6A8-8D681140831D}"/>
              </a:ext>
            </a:extLst>
          </p:cNvPr>
          <p:cNvSpPr/>
          <p:nvPr/>
        </p:nvSpPr>
        <p:spPr>
          <a:xfrm rot="10800000">
            <a:off x="5312045" y="4486205"/>
            <a:ext cx="3606322" cy="1339535"/>
          </a:xfrm>
          <a:prstGeom prst="bentArrow">
            <a:avLst>
              <a:gd name="adj1" fmla="val 14696"/>
              <a:gd name="adj2" fmla="val 16310"/>
              <a:gd name="adj3" fmla="val 19515"/>
              <a:gd name="adj4" fmla="val 454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8" name="Up Arrow 72">
            <a:extLst>
              <a:ext uri="{FF2B5EF4-FFF2-40B4-BE49-F238E27FC236}">
                <a16:creationId xmlns:a16="http://schemas.microsoft.com/office/drawing/2014/main" id="{7BAA1D8D-965D-4847-A6EF-59D3127F66BB}"/>
              </a:ext>
            </a:extLst>
          </p:cNvPr>
          <p:cNvSpPr/>
          <p:nvPr/>
        </p:nvSpPr>
        <p:spPr>
          <a:xfrm rot="10800000">
            <a:off x="3101016" y="4142847"/>
            <a:ext cx="367806" cy="478660"/>
          </a:xfrm>
          <a:prstGeom prst="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269339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0CF80-B7EE-4F1A-9D73-1677A160E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Основен</a:t>
            </a:r>
            <a:r>
              <a:rPr lang="bg-BG" sz="36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интерфейс в</a:t>
            </a:r>
            <a:r>
              <a:rPr lang="en-US" sz="3600" dirty="0">
                <a:latin typeface="Comfortaa" pitchFamily="2" charset="0"/>
              </a:rPr>
              <a:t> .NET, </a:t>
            </a:r>
            <a:r>
              <a:rPr lang="bg-BG" sz="3600" dirty="0">
                <a:latin typeface="Comfortaa" pitchFamily="2" charset="0"/>
              </a:rPr>
              <a:t>позволяващ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просто обхождане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на колекция</a:t>
            </a:r>
            <a:endParaRPr lang="en-US" sz="3600" dirty="0">
              <a:latin typeface="Comfortaa" pitchFamily="2" charset="0"/>
            </a:endParaRPr>
          </a:p>
          <a:p>
            <a:r>
              <a:rPr lang="bg-BG" sz="3600" dirty="0">
                <a:latin typeface="Comfortaa" pitchFamily="2" charset="0"/>
              </a:rPr>
              <a:t>Съдържа един-единствен метод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GetEnumerator</a:t>
            </a:r>
            <a:r>
              <a:rPr lang="bg-BG" sz="36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en-US" sz="3600" dirty="0">
                <a:latin typeface="Comfortaa" pitchFamily="2" charset="0"/>
              </a:rPr>
              <a:t>, </a:t>
            </a:r>
            <a:r>
              <a:rPr lang="bg-BG" sz="3600" dirty="0">
                <a:latin typeface="Comfortaa" pitchFamily="2" charset="0"/>
              </a:rPr>
              <a:t>който връща един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IEnumerator&lt;T&gt;</a:t>
            </a:r>
            <a:endParaRPr lang="en-US" sz="3600" dirty="0">
              <a:latin typeface="Comfortaa" pitchFamily="2" charset="0"/>
            </a:endParaRPr>
          </a:p>
          <a:p>
            <a:r>
              <a:rPr lang="bg-BG" sz="3600" dirty="0">
                <a:latin typeface="Comfortaa" pitchFamily="2" charset="0"/>
              </a:rPr>
              <a:t>Клас, реализиращ 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</a:rPr>
              <a:t>IEnumerable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&lt;T&gt;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може да бъде използван за обхождане с цикъла </a:t>
            </a:r>
            <a:r>
              <a:rPr lang="en-US" sz="3600" b="1" noProof="1">
                <a:solidFill>
                  <a:srgbClr val="00B0F0"/>
                </a:solidFill>
                <a:latin typeface="Comfortaa" pitchFamily="2" charset="0"/>
              </a:rPr>
              <a:t>foreach</a:t>
            </a:r>
            <a:endParaRPr lang="en-US" sz="36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F91823-4D66-41DE-BC0A-08BE76B2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Comfortaa" pitchFamily="2" charset="0"/>
              </a:rPr>
              <a:t>IEnumerable&lt;T&gt;</a:t>
            </a:r>
          </a:p>
        </p:txBody>
      </p:sp>
    </p:spTree>
    <p:extLst>
      <p:ext uri="{BB962C8B-B14F-4D97-AF65-F5344CB8AC3E}">
        <p14:creationId xmlns:p14="http://schemas.microsoft.com/office/powerpoint/2010/main" val="280847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Comfortaa" pitchFamily="2" charset="0"/>
              </a:rPr>
              <a:t>IEnumerable&lt;T&gt; </a:t>
            </a:r>
            <a:r>
              <a:rPr lang="ru-RU" noProof="1">
                <a:latin typeface="Comfortaa" pitchFamily="2" charset="0"/>
              </a:rPr>
              <a:t>пример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38200" y="1867395"/>
            <a:ext cx="10667423" cy="418576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IEnumerable&lt;T&gt;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: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IEnumerable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IEnumerator&lt;T&gt; GetEnumerator();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Non-generic version (compatible with the legacy .NET 1.1)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IEnumerable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IEnumerator GetEnumerator();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46560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 anchorCtr="0"/>
          <a:lstStyle/>
          <a:p>
            <a:pPr>
              <a:lnSpc>
                <a:spcPts val="4000"/>
              </a:lnSpc>
              <a:defRPr/>
            </a:pPr>
            <a:r>
              <a:rPr lang="en-US" dirty="0">
                <a:latin typeface="Comfortaa" pitchFamily="2" charset="0"/>
              </a:rPr>
              <a:t>IEnumerator&lt;T&gt;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9844ED-CBD8-43FD-9545-800CB7B9C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96" y="1524002"/>
            <a:ext cx="10608607" cy="4793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Предоставя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последователно</a:t>
            </a:r>
            <a:r>
              <a:rPr lang="en-US" dirty="0">
                <a:latin typeface="Comfortaa" pitchFamily="2" charset="0"/>
              </a:rPr>
              <a:t>,</a:t>
            </a:r>
            <a:r>
              <a:rPr lang="bg-BG" dirty="0">
                <a:latin typeface="Comfortaa" pitchFamily="2" charset="0"/>
              </a:rPr>
              <a:t> еднопосочно обхождане на колекция от произволен тип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rgbClr val="00B0F0"/>
                </a:solidFill>
                <a:latin typeface="Comfortaa" pitchFamily="2" charset="0"/>
              </a:rPr>
              <a:t>MoveNext</a:t>
            </a:r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</a:rPr>
              <a:t>– </a:t>
            </a:r>
            <a:r>
              <a:rPr lang="bg-BG" sz="2800" dirty="0">
                <a:latin typeface="Comfortaa" pitchFamily="2" charset="0"/>
              </a:rPr>
              <a:t>премества </a:t>
            </a:r>
            <a:r>
              <a:rPr lang="bg-BG" sz="2800" dirty="0" err="1">
                <a:latin typeface="Comfortaa" pitchFamily="2" charset="0"/>
              </a:rPr>
              <a:t>итератора</a:t>
            </a:r>
            <a:r>
              <a:rPr lang="bg-BG" sz="2800" dirty="0">
                <a:latin typeface="Comfortaa" pitchFamily="2" charset="0"/>
              </a:rPr>
              <a:t> към следващия елемент в колекцията</a:t>
            </a:r>
            <a:r>
              <a:rPr lang="en-US" sz="2800" dirty="0">
                <a:latin typeface="Comfortaa" pitchFamily="2" charset="0"/>
              </a:rPr>
              <a:t>. 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Reset()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</a:rPr>
              <a:t>– </a:t>
            </a:r>
            <a:r>
              <a:rPr lang="bg-BG" sz="2800" dirty="0">
                <a:latin typeface="Comfortaa" pitchFamily="2" charset="0"/>
              </a:rPr>
              <a:t>връща </a:t>
            </a:r>
            <a:r>
              <a:rPr lang="bg-BG" sz="2800" dirty="0" err="1">
                <a:latin typeface="Comfortaa" pitchFamily="2" charset="0"/>
              </a:rPr>
              <a:t>итератора</a:t>
            </a:r>
            <a:r>
              <a:rPr lang="bg-BG" sz="2800" dirty="0">
                <a:latin typeface="Comfortaa" pitchFamily="2" charset="0"/>
              </a:rPr>
              <a:t> на началната му позиция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Свойства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Current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</a:rPr>
              <a:t>– </a:t>
            </a:r>
            <a:r>
              <a:rPr lang="bg-BG" sz="2800" dirty="0">
                <a:latin typeface="Comfortaa" pitchFamily="2" charset="0"/>
              </a:rPr>
              <a:t>връща елемента от колекцията, който е на текущата позиция на </a:t>
            </a:r>
            <a:r>
              <a:rPr lang="bg-BG" sz="2800" dirty="0" err="1">
                <a:latin typeface="Comfortaa" pitchFamily="2" charset="0"/>
              </a:rPr>
              <a:t>итератора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3802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8635" y="344384"/>
            <a:ext cx="10354730" cy="790825"/>
          </a:xfrm>
        </p:spPr>
        <p:txBody>
          <a:bodyPr/>
          <a:lstStyle/>
          <a:p>
            <a:r>
              <a:rPr lang="en-US" noProof="1">
                <a:latin typeface="Comfortaa" pitchFamily="2" charset="0"/>
              </a:rPr>
              <a:t>IEnumerator&lt;T&gt; </a:t>
            </a:r>
            <a:r>
              <a:rPr lang="ru-RU" noProof="1">
                <a:latin typeface="Comfortaa" pitchFamily="2" charset="0"/>
              </a:rPr>
              <a:t>пример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918635" y="1135209"/>
            <a:ext cx="10354730" cy="50813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IEnumerator&lt;T&gt;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: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IEnumerator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bool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MoveNext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void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Reset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Current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 get;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5000"/>
              </a:lnSpc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IEnumerator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bool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MoveNext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void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Reset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object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Current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 get;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7202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53569-321B-4DF5-8AAC-1EFA9BC05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081" y="1819688"/>
            <a:ext cx="10433577" cy="1327274"/>
          </a:xfrm>
        </p:spPr>
        <p:txBody>
          <a:bodyPr>
            <a:normAutofit fontScale="77500" lnSpcReduction="20000"/>
          </a:bodyPr>
          <a:lstStyle/>
          <a:p>
            <a:r>
              <a:rPr lang="bg-BG" sz="3200" dirty="0">
                <a:latin typeface="Comfortaa" pitchFamily="2" charset="0"/>
              </a:rPr>
              <a:t>Указва, че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методът</a:t>
            </a:r>
            <a:r>
              <a:rPr lang="bg-BG" sz="3200" dirty="0">
                <a:latin typeface="Comfortaa" pitchFamily="2" charset="0"/>
              </a:rPr>
              <a:t>, в който се появява,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е </a:t>
            </a:r>
            <a:r>
              <a:rPr lang="bg-BG" sz="3200" b="1" dirty="0" err="1">
                <a:solidFill>
                  <a:srgbClr val="00B0F0"/>
                </a:solidFill>
                <a:latin typeface="Comfortaa" pitchFamily="2" charset="0"/>
              </a:rPr>
              <a:t>итератор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Опростява реализацията на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IEnumerator&lt;T&gt;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Връща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един елемент</a:t>
            </a:r>
            <a:r>
              <a:rPr lang="en-US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за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всяко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повторение на цикъла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DA6C12-80E0-4BCC-9376-187857D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081" y="745135"/>
            <a:ext cx="10515600" cy="1006475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Yield Return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28882F1-F890-44D8-B259-9B8AF9A2A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928" y="3215040"/>
            <a:ext cx="9723244" cy="26776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readonly List&lt;Book&gt; books;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IEnumerator&lt;Book&gt; GetEnumerator()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i = 0; i &lt; this.books.Count; i++)    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yield return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this.books[i];    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573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F28B-A1C4-44F4-A741-9C62DC87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362" y="1260970"/>
            <a:ext cx="10299197" cy="2125479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Приема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променлив брой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параметри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Само една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params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команда е допустима в декларацията на метод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Трябва винаги да е последна</a:t>
            </a:r>
            <a:endParaRPr lang="en-US" dirty="0">
              <a:latin typeface="Comfortaa" pitchFamily="2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BC0DD6-7F4C-46E1-BB09-C6CEDE21D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362" y="396999"/>
            <a:ext cx="9772666" cy="863971"/>
          </a:xfrm>
        </p:spPr>
        <p:txBody>
          <a:bodyPr/>
          <a:lstStyle/>
          <a:p>
            <a:r>
              <a:rPr lang="en-US" noProof="1">
                <a:latin typeface="Comfortaa" pitchFamily="2" charset="0"/>
              </a:rPr>
              <a:t>Params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B22EF9-84CF-4221-9AFF-C04EBC8DB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38" y="3297707"/>
            <a:ext cx="10354730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PrintNames("Pesho", "Stamat", "Jivko", "Stavri");</a:t>
            </a:r>
          </a:p>
          <a:p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PrintNames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params string[]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names)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foreach(var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name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in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names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   Console.WriteLine(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name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026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CE26DB-2BFE-442D-814E-6C8763065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2508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GB" dirty="0">
                <a:latin typeface="Comfortaa" pitchFamily="2" charset="0"/>
              </a:rPr>
              <a:t> </a:t>
            </a:r>
            <a:r>
              <a:rPr lang="en-GB" b="1" dirty="0">
                <a:solidFill>
                  <a:srgbClr val="00B0F0"/>
                </a:solidFill>
                <a:latin typeface="Comfortaa" pitchFamily="2" charset="0"/>
              </a:rPr>
              <a:t>Library</a:t>
            </a:r>
            <a:r>
              <a:rPr lang="bg-BG" dirty="0">
                <a:latin typeface="Comfortaa" pitchFamily="2" charset="0"/>
              </a:rPr>
              <a:t>, който трябва да съдържа колекция от книги и реализирайте </a:t>
            </a:r>
            <a:r>
              <a:rPr lang="en-GB" b="1" dirty="0" err="1">
                <a:solidFill>
                  <a:srgbClr val="00B0F0"/>
                </a:solidFill>
                <a:latin typeface="Comfortaa" pitchFamily="2" charset="0"/>
              </a:rPr>
              <a:t>IEnumerable</a:t>
            </a:r>
            <a:r>
              <a:rPr lang="en-GB" b="1" dirty="0">
                <a:solidFill>
                  <a:srgbClr val="00B0F0"/>
                </a:solidFill>
                <a:latin typeface="Comfortaa" pitchFamily="2" charset="0"/>
              </a:rPr>
              <a:t>&lt;Book&gt;</a:t>
            </a:r>
            <a:r>
              <a:rPr lang="en-GB" b="1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интерфейса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C072F7-FEF3-413A-B39F-5CBB4294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008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 err="1">
                <a:latin typeface="Comfortaa" pitchFamily="2" charset="0"/>
              </a:rPr>
              <a:t>итератор</a:t>
            </a:r>
            <a:r>
              <a:rPr lang="bg-BG" dirty="0">
                <a:latin typeface="Comfortaa" pitchFamily="2" charset="0"/>
              </a:rPr>
              <a:t> за библиотека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AA06D1-251E-4CA2-851D-961B34859C05}"/>
              </a:ext>
            </a:extLst>
          </p:cNvPr>
          <p:cNvGrpSpPr/>
          <p:nvPr/>
        </p:nvGrpSpPr>
        <p:grpSpPr>
          <a:xfrm>
            <a:off x="1135083" y="3654047"/>
            <a:ext cx="4800600" cy="1936970"/>
            <a:chOff x="5226904" y="1466399"/>
            <a:chExt cx="3124200" cy="1936970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CF8DB04B-6035-434B-86B1-183A4FA1C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904" y="1466399"/>
              <a:ext cx="3124200" cy="6096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Book</a:t>
              </a:r>
              <a:endParaRPr lang="en-US" b="1" noProof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C31E141B-AC43-426F-BFCF-98AB540DF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904" y="2090812"/>
              <a:ext cx="3124200" cy="13125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+ Title: 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+ Year: 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+ Authors: List&lt;string&gt;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800" b="1" noProof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3DB51E-40EB-4D33-AF75-40367F7498DA}"/>
              </a:ext>
            </a:extLst>
          </p:cNvPr>
          <p:cNvGrpSpPr/>
          <p:nvPr/>
        </p:nvGrpSpPr>
        <p:grpSpPr>
          <a:xfrm>
            <a:off x="6392883" y="3654047"/>
            <a:ext cx="4495800" cy="1528673"/>
            <a:chOff x="5226904" y="1466400"/>
            <a:chExt cx="3124200" cy="1528673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C5A46C42-C95C-451E-A18D-457D86DEE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904" y="1466400"/>
              <a:ext cx="3124200" cy="9190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&lt;&lt;IEnumarable&lt;Book&gt;&gt;&gt;</a:t>
              </a:r>
            </a:p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Library</a:t>
              </a:r>
              <a:endParaRPr lang="en-US" b="1" noProof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15DC6CC2-B98D-401B-9CD6-F8771244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904" y="2396471"/>
              <a:ext cx="3124200" cy="5986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- books: List&lt;Book&gt;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617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1121F-A5EB-4BAA-81D3-FDA4B3710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951" y="1825625"/>
            <a:ext cx="9998034" cy="6998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Вътре в класа</a:t>
            </a:r>
            <a:r>
              <a:rPr lang="en-US" sz="2400" dirty="0">
                <a:latin typeface="Comfortaa" pitchFamily="2" charset="0"/>
              </a:rPr>
              <a:t> Library </a:t>
            </a:r>
            <a:r>
              <a:rPr lang="bg-BG" sz="2400" dirty="0">
                <a:latin typeface="Comfortaa" pitchFamily="2" charset="0"/>
              </a:rPr>
              <a:t>създайте вложен клас </a:t>
            </a:r>
            <a:r>
              <a:rPr lang="en-US" sz="2400" noProof="1">
                <a:latin typeface="Comfortaa" pitchFamily="2" charset="0"/>
              </a:rPr>
              <a:t>LibraryIterator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който реализира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IEnumerator&lt;Book&gt;</a:t>
            </a: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492E61-A2C1-4267-A3F5-8FF94DAEB331}"/>
              </a:ext>
            </a:extLst>
          </p:cNvPr>
          <p:cNvGrpSpPr/>
          <p:nvPr/>
        </p:nvGrpSpPr>
        <p:grpSpPr>
          <a:xfrm>
            <a:off x="3337461" y="2682834"/>
            <a:ext cx="5410200" cy="3705602"/>
            <a:chOff x="7770812" y="1876139"/>
            <a:chExt cx="3124200" cy="34931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B1A1F8-512F-45C5-A537-D74E821C2AED}"/>
                </a:ext>
              </a:extLst>
            </p:cNvPr>
            <p:cNvGrpSpPr/>
            <p:nvPr/>
          </p:nvGrpSpPr>
          <p:grpSpPr>
            <a:xfrm>
              <a:off x="7770812" y="1876139"/>
              <a:ext cx="3124200" cy="2286000"/>
              <a:chOff x="5226904" y="1466400"/>
              <a:chExt cx="3124200" cy="2286000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284351F8-10D9-44DB-9A98-ECC8982FC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6904" y="1466400"/>
                <a:ext cx="3124200" cy="919072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108000" tIns="108000" rIns="108000" bIns="108000">
                <a:noAutofit/>
              </a:bodyPr>
              <a:lstStyle/>
              <a:p>
                <a:pPr algn="ctr" eaLnBrk="0" hangingPunct="0">
                  <a:lnSpc>
                    <a:spcPts val="3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&lt;&lt;IEnumerator&lt;Book&gt;&gt;&gt;</a:t>
                </a:r>
              </a:p>
              <a:p>
                <a:pPr algn="ctr" eaLnBrk="0" hangingPunct="0">
                  <a:lnSpc>
                    <a:spcPts val="3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LibraryIterator</a:t>
                </a:r>
                <a:endParaRPr lang="en-US" b="1" noProof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45DEBF26-97A0-4BE4-98DE-919777B28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6904" y="2396469"/>
                <a:ext cx="3124200" cy="1355931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108000" tIns="108000" rIns="108000" bIns="108000">
                <a:noAutofit/>
              </a:bodyPr>
              <a:lstStyle/>
              <a:p>
                <a:pPr eaLnBrk="0" hangingPunct="0">
                  <a:lnSpc>
                    <a:spcPts val="3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-currentIndex: int</a:t>
                </a:r>
              </a:p>
              <a:p>
                <a:pPr eaLnBrk="0" hangingPunct="0">
                  <a:lnSpc>
                    <a:spcPts val="3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-books: List&lt;Book&gt;</a:t>
                </a:r>
              </a:p>
              <a:p>
                <a:pPr eaLnBrk="0" hangingPunct="0">
                  <a:lnSpc>
                    <a:spcPts val="3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 Current: Book</a:t>
                </a:r>
              </a:p>
            </p:txBody>
          </p:sp>
        </p:grp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CC501D6-6195-4404-8C6F-193632947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0812" y="4162139"/>
              <a:ext cx="3124200" cy="120710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+Reset(): 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+MoveNext(): bool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+Dispose(): 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800" b="1" noProof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9BC1AC1F-0730-06DE-163C-5BC269C2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951" y="398606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 err="1">
                <a:latin typeface="Comfortaa" pitchFamily="2" charset="0"/>
              </a:rPr>
              <a:t>итератор</a:t>
            </a:r>
            <a:r>
              <a:rPr lang="bg-BG" dirty="0">
                <a:latin typeface="Comfortaa" pitchFamily="2" charset="0"/>
              </a:rPr>
              <a:t> за библиотека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1231081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FE8B12-A7BE-4911-8CD1-56FA5A1F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01881"/>
            <a:ext cx="11387221" cy="868973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Решение</a:t>
            </a:r>
            <a:r>
              <a:rPr lang="en-US" sz="4000" dirty="0">
                <a:latin typeface="Comfortaa" pitchFamily="2" charset="0"/>
              </a:rPr>
              <a:t>: </a:t>
            </a:r>
            <a:r>
              <a:rPr lang="bg-BG" sz="4000" dirty="0" err="1">
                <a:latin typeface="Comfortaa" pitchFamily="2" charset="0"/>
              </a:rPr>
              <a:t>итератор</a:t>
            </a:r>
            <a:r>
              <a:rPr lang="bg-BG" sz="4000" dirty="0">
                <a:latin typeface="Comfortaa" pitchFamily="2" charset="0"/>
              </a:rPr>
              <a:t> за библиотека</a:t>
            </a:r>
            <a:r>
              <a:rPr lang="en-US" sz="4000" dirty="0">
                <a:latin typeface="Comfortaa" pitchFamily="2" charset="0"/>
              </a:rPr>
              <a:t> [1/3]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0962F6-1D7E-48ED-8A24-C98D875AC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9" y="1153982"/>
            <a:ext cx="11387222" cy="52537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Book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bg-BG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Book(string title,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year,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params string[]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authors)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this.Title = title;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this.Year = year;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this.Authors = authors;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  <a:br>
              <a:rPr lang="bg-BG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endParaRPr lang="en-US" sz="2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Title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 get; private set; }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Year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 get; private set; }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IReadOnlyList&lt;string&gt; </a:t>
            </a:r>
            <a:r>
              <a:rPr lang="en-US" sz="26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Authors</a:t>
            </a:r>
            <a:r>
              <a:rPr lang="en-US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 get; private set;}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2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4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20962F6-1D7E-48ED-8A24-C98D875AC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8" y="990600"/>
            <a:ext cx="10572113" cy="56938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26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Library : IEnumerable&lt;Book&gt;</a:t>
            </a:r>
          </a:p>
          <a:p>
            <a:r>
              <a:rPr lang="en-US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private List&lt;Book&gt; </a:t>
            </a:r>
            <a:r>
              <a:rPr lang="en-US" sz="26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books</a:t>
            </a:r>
            <a:r>
              <a:rPr lang="en-US" sz="26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6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Library(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params Book[] books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6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this.books = new List&lt;Book&gt;(books);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    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</a:t>
            </a:r>
            <a:r>
              <a:rPr lang="en-US" sz="26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IEnumerator&lt;Book&gt;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GetEnumerator()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</a:t>
            </a:r>
            <a:r>
              <a:rPr lang="en-US" sz="26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new LibraryIterator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(this.books);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IEnumerator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IEnumerable.GetEnumerator() </a:t>
            </a:r>
          </a:p>
          <a:p>
            <a:r>
              <a:rPr lang="en-US" sz="26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=&gt; this.GetEnumerator();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FBBEB8F-EABC-E765-4F9C-A86F3CDE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01881"/>
            <a:ext cx="11387221" cy="868973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Решение</a:t>
            </a:r>
            <a:r>
              <a:rPr lang="en-US" sz="4000" dirty="0">
                <a:latin typeface="Comfortaa" pitchFamily="2" charset="0"/>
              </a:rPr>
              <a:t>: </a:t>
            </a:r>
            <a:r>
              <a:rPr lang="bg-BG" sz="4000" dirty="0" err="1">
                <a:latin typeface="Comfortaa" pitchFamily="2" charset="0"/>
              </a:rPr>
              <a:t>итератор</a:t>
            </a:r>
            <a:r>
              <a:rPr lang="bg-BG" sz="4000" dirty="0">
                <a:latin typeface="Comfortaa" pitchFamily="2" charset="0"/>
              </a:rPr>
              <a:t> за библиотека</a:t>
            </a:r>
            <a:r>
              <a:rPr lang="en-US" sz="40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261091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20962F6-1D7E-48ED-8A24-C98D875AC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04" y="1255906"/>
            <a:ext cx="10773394" cy="470898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nsolas" pitchFamily="49" charset="0"/>
              </a:rPr>
              <a:t>private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</a:rPr>
              <a:t> class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LibraryIterator : IEnumerator&lt;Book&gt;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private readonly List&lt;Book&gt;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books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private int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currentIndex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public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LibraryIterator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(IEnumerable&lt;Book&gt; books)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    this.Reset();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    this.books = new List&lt;Book&gt;(books);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public void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Dispose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()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{}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public bool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MoveNext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() =&gt; ++this.currentIndex &lt; this.books.Count;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public void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Reset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() =&gt; this.currentIndex = -1;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public Book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</a:rPr>
              <a:t>Current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=&gt; this.books[this.currentIndex];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   object IEnumerator.Current =&gt; this.Current;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2D354D5-88F7-FBCD-5551-789EC9B4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01881"/>
            <a:ext cx="11387221" cy="868973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Решение</a:t>
            </a:r>
            <a:r>
              <a:rPr lang="en-US" sz="4000" dirty="0">
                <a:latin typeface="Comfortaa" pitchFamily="2" charset="0"/>
              </a:rPr>
              <a:t>: </a:t>
            </a:r>
            <a:r>
              <a:rPr lang="bg-BG" sz="4000" dirty="0" err="1">
                <a:latin typeface="Comfortaa" pitchFamily="2" charset="0"/>
              </a:rPr>
              <a:t>итератор</a:t>
            </a:r>
            <a:r>
              <a:rPr lang="bg-BG" sz="4000" dirty="0">
                <a:latin typeface="Comfortaa" pitchFamily="2" charset="0"/>
              </a:rPr>
              <a:t> за библиотека</a:t>
            </a:r>
            <a:r>
              <a:rPr lang="en-US" sz="40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161151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199" y="1690688"/>
            <a:ext cx="10573987" cy="4514169"/>
          </a:xfrm>
        </p:spPr>
        <p:txBody>
          <a:bodyPr>
            <a:noAutofit/>
          </a:bodyPr>
          <a:lstStyle/>
          <a:p>
            <a:r>
              <a:rPr lang="bg-BG" b="1" dirty="0" err="1">
                <a:latin typeface="Comfortaa" pitchFamily="2" charset="0"/>
              </a:rPr>
              <a:t>Итератори</a:t>
            </a:r>
            <a:endParaRPr lang="en-US" b="1" dirty="0">
              <a:latin typeface="Comfortaa" pitchFamily="2" charset="0"/>
            </a:endParaRPr>
          </a:p>
          <a:p>
            <a:pPr lvl="1"/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IEnumerable&lt;T&gt;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интерфейса позволява</a:t>
            </a:r>
            <a:br>
              <a:rPr lang="bg-BG" sz="2800" dirty="0">
                <a:latin typeface="Comfortaa" pitchFamily="2" charset="0"/>
              </a:rPr>
            </a:b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просто обхождане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на колекция с цикъл </a:t>
            </a:r>
            <a:br>
              <a:rPr lang="en-US" sz="2800" dirty="0">
                <a:latin typeface="Comfortaa" pitchFamily="2" charset="0"/>
              </a:rPr>
            </a:br>
            <a:r>
              <a:rPr lang="en-US" sz="2800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foreach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en-US" sz="2800" b="1" dirty="0" err="1">
                <a:solidFill>
                  <a:srgbClr val="00B0F0"/>
                </a:solidFill>
                <a:latin typeface="Comfortaa" pitchFamily="2" charset="0"/>
              </a:rPr>
              <a:t>IEnumerator</a:t>
            </a:r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&lt;T&gt;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интерфейс</a:t>
            </a:r>
            <a:r>
              <a:rPr lang="en-US" sz="2800" dirty="0">
                <a:latin typeface="Comfortaa" pitchFamily="2" charset="0"/>
              </a:rPr>
              <a:t>a </a:t>
            </a:r>
            <a:r>
              <a:rPr lang="bg-BG" sz="2800" dirty="0">
                <a:latin typeface="Comfortaa" pitchFamily="2" charset="0"/>
              </a:rPr>
              <a:t>предоставя</a:t>
            </a:r>
            <a:br>
              <a:rPr lang="bg-BG" sz="2800" dirty="0">
                <a:latin typeface="Comfortaa" pitchFamily="2" charset="0"/>
              </a:rPr>
            </a:br>
            <a:r>
              <a:rPr lang="bg-BG" sz="2800" dirty="0">
                <a:latin typeface="Comfortaa" pitchFamily="2" charset="0"/>
              </a:rPr>
              <a:t>методите за обхождане на колекцията</a:t>
            </a:r>
            <a:endParaRPr lang="en-US" sz="2800" dirty="0">
              <a:latin typeface="Comfortaa" pitchFamily="2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yield return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връща отделния елемент от колекцията</a:t>
            </a:r>
            <a:endParaRPr lang="en-US" dirty="0">
              <a:latin typeface="Comfortaa" pitchFamily="2" charset="0"/>
            </a:endParaRPr>
          </a:p>
          <a:p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Params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приема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променлив брой параметри</a:t>
            </a:r>
            <a:endParaRPr lang="en-US" dirty="0">
              <a:latin typeface="Comfortaa" pitchFamily="2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026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12846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1036</Words>
  <Application>Microsoft Office PowerPoint</Application>
  <PresentationFormat>Widescreen</PresentationFormat>
  <Paragraphs>176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Comfortaa</vt:lpstr>
      <vt:lpstr>Consolas</vt:lpstr>
      <vt:lpstr>Office Theme</vt:lpstr>
      <vt:lpstr>Итератори</vt:lpstr>
      <vt:lpstr>Съдържание</vt:lpstr>
      <vt:lpstr>Шаблони в проектирането  (Design Patterns)</vt:lpstr>
      <vt:lpstr>Шаблон Iterator</vt:lpstr>
      <vt:lpstr>IEnumerable&lt;T&gt;</vt:lpstr>
      <vt:lpstr>IEnumerable&lt;T&gt; пример</vt:lpstr>
      <vt:lpstr>IEnumerator&lt;T&gt;</vt:lpstr>
      <vt:lpstr>IEnumerator&lt;T&gt; пример</vt:lpstr>
      <vt:lpstr>Yield Return</vt:lpstr>
      <vt:lpstr>Params</vt:lpstr>
      <vt:lpstr>Задача: итератор за библиотека [1/2]</vt:lpstr>
      <vt:lpstr>Задача: итератор за библиотека [2/2]</vt:lpstr>
      <vt:lpstr>Решение: итератор за библиотека [1/3]</vt:lpstr>
      <vt:lpstr>Решение: итератор за библиотека [2/3]</vt:lpstr>
      <vt:lpstr>Решение: итератор за библиотека [3/3]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13</cp:revision>
  <dcterms:created xsi:type="dcterms:W3CDTF">2022-08-09T09:25:46Z</dcterms:created>
  <dcterms:modified xsi:type="dcterms:W3CDTF">2022-09-14T15:34:26Z</dcterms:modified>
</cp:coreProperties>
</file>