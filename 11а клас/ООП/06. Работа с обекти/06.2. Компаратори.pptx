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6"/>
  </p:notesMasterIdLst>
  <p:sldIdLst>
    <p:sldId id="258" r:id="rId2"/>
    <p:sldId id="579" r:id="rId3"/>
    <p:sldId id="546" r:id="rId4"/>
    <p:sldId id="543" r:id="rId5"/>
    <p:sldId id="544" r:id="rId6"/>
    <p:sldId id="553" r:id="rId7"/>
    <p:sldId id="566" r:id="rId8"/>
    <p:sldId id="554" r:id="rId9"/>
    <p:sldId id="574" r:id="rId10"/>
    <p:sldId id="575" r:id="rId11"/>
    <p:sldId id="576" r:id="rId12"/>
    <p:sldId id="577" r:id="rId13"/>
    <p:sldId id="421" r:id="rId14"/>
    <p:sldId id="57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</p14:sldIdLst>
        </p14:section>
        <p14:section name="Съдържание" id="{0B0C01F3-1F60-4ADB-AC1E-9589654EAEF3}">
          <p14:sldIdLst>
            <p14:sldId id="579"/>
            <p14:sldId id="546"/>
            <p14:sldId id="543"/>
            <p14:sldId id="544"/>
            <p14:sldId id="553"/>
            <p14:sldId id="566"/>
            <p14:sldId id="554"/>
            <p14:sldId id="574"/>
            <p14:sldId id="575"/>
            <p14:sldId id="576"/>
            <p14:sldId id="577"/>
            <p14:sldId id="421"/>
          </p14:sldIdLst>
        </p14:section>
        <p14:section name="Заключение" id="{9315BEE7-605C-4839-996A-A4EEA70921D9}">
          <p14:sldIdLst>
            <p14:sldId id="5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8A51F5-6E34-4A9B-8787-8C29D4F40D1D}" v="1" dt="2022-08-10T06:34:56.1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>
      <p:cViewPr varScale="1">
        <p:scale>
          <a:sx n="92" d="100"/>
          <a:sy n="92" d="100"/>
        </p:scale>
        <p:origin x="5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F3CDD876-690F-43E2-86F6-1812B212B7E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9145655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27A7BB09-5F2D-4028-8CDD-D63A8D397BB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4590685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CompareTo</a:t>
            </a:r>
            <a:r>
              <a:rPr lang="en-US" dirty="0"/>
              <a:t>(T)</a:t>
            </a:r>
            <a:r>
              <a:rPr lang="en-US" baseline="0" dirty="0"/>
              <a:t> method returns:</a:t>
            </a:r>
          </a:p>
          <a:p>
            <a:pPr>
              <a:lnSpc>
                <a:spcPct val="110000"/>
              </a:lnSpc>
            </a:pPr>
            <a:r>
              <a:rPr lang="en-US" dirty="0"/>
              <a:t>Number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 0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dirty="0"/>
              <a:t>– if the passed object is bigger than </a:t>
            </a:r>
            <a:r>
              <a:rPr lang="en-US" b="1" dirty="0">
                <a:ln w="500">
                  <a:noFill/>
                </a:ln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this</a:t>
            </a:r>
            <a:r>
              <a:rPr lang="bg-BG" dirty="0"/>
              <a:t> </a:t>
            </a:r>
            <a:r>
              <a:rPr lang="en-US" dirty="0"/>
              <a:t>object</a:t>
            </a:r>
          </a:p>
          <a:p>
            <a:pPr>
              <a:lnSpc>
                <a:spcPct val="110000"/>
              </a:lnSpc>
            </a:pPr>
            <a:r>
              <a:rPr lang="en-US" dirty="0"/>
              <a:t>Number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 0</a:t>
            </a:r>
            <a:r>
              <a:rPr lang="en-US" dirty="0"/>
              <a:t> – if the passed object is equal to </a:t>
            </a:r>
            <a:r>
              <a:rPr lang="en-US" b="1" dirty="0">
                <a:ln w="500">
                  <a:noFill/>
                </a:ln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this</a:t>
            </a:r>
            <a:r>
              <a:rPr lang="bg-BG" dirty="0"/>
              <a:t> </a:t>
            </a:r>
            <a:r>
              <a:rPr lang="en-US" dirty="0"/>
              <a:t>object</a:t>
            </a:r>
            <a:endParaRPr lang="bg-BG" dirty="0"/>
          </a:p>
          <a:p>
            <a:pPr>
              <a:lnSpc>
                <a:spcPct val="110000"/>
              </a:lnSpc>
            </a:pPr>
            <a:r>
              <a:rPr lang="en-US" dirty="0"/>
              <a:t>Number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 0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dirty="0"/>
              <a:t>– if the passed object is smaller than </a:t>
            </a:r>
            <a:r>
              <a:rPr lang="en-US" b="1" dirty="0">
                <a:ln w="500">
                  <a:noFill/>
                </a:ln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this</a:t>
            </a:r>
            <a:r>
              <a:rPr lang="bg-BG" dirty="0"/>
              <a:t> </a:t>
            </a:r>
            <a:r>
              <a:rPr lang="en-US" dirty="0"/>
              <a:t>object</a:t>
            </a:r>
            <a:endParaRPr lang="bg-BG" dirty="0"/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4F6EA-423E-42DF-9292-215E7D886C4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33E5127-0787-42EA-986C-B9F7520D4A5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2578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197528CF-8138-4A25-BEE4-084E1CA8D9A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9641889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D7B1263B-0BE1-49D5-A49A-5DD92D2410D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9680329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426B553-B545-4A84-B955-55BB7339FEE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509425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on.bg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hyperlink" Target="https://creativecommons.org/licenses/by-nc-sa/4.0" TargetMode="External"/><Relationship Id="rId4" Type="http://schemas.openxmlformats.org/officeDocument/2006/relationships/hyperlink" Target="https://www.mon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/>
          <a:lstStyle/>
          <a:p>
            <a:r>
              <a:rPr lang="bg-BG" dirty="0" err="1">
                <a:latin typeface="Comfortaa" pitchFamily="2" charset="0"/>
              </a:rPr>
              <a:t>Компаратори</a:t>
            </a:r>
            <a:endParaRPr lang="bg-BG" dirty="0">
              <a:latin typeface="Comfortaa" pitchFamily="2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en-US" dirty="0">
                <a:latin typeface="Comfortaa" pitchFamily="2" charset="0"/>
              </a:rPr>
              <a:t>Comparators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1010392" y="768886"/>
            <a:ext cx="10515600" cy="1325563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Съдържание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010392" y="2122592"/>
            <a:ext cx="10032654" cy="349928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bg-BG" sz="3200" noProof="1">
                <a:latin typeface="Comfortaa" pitchFamily="2" charset="0"/>
              </a:rPr>
              <a:t>Интерфейс</a:t>
            </a:r>
            <a:r>
              <a:rPr lang="bg-BG" sz="3200" noProof="1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en-US" sz="3200" b="1" noProof="1">
                <a:solidFill>
                  <a:srgbClr val="00B0F0"/>
                </a:solidFill>
                <a:latin typeface="Comfortaa" pitchFamily="2" charset="0"/>
              </a:rPr>
              <a:t>IComparable&lt;T&gt;</a:t>
            </a:r>
          </a:p>
          <a:p>
            <a:pPr marL="514350" indent="-514350">
              <a:buFont typeface="+mj-lt"/>
              <a:buAutoNum type="arabicPeriod"/>
            </a:pPr>
            <a:r>
              <a:rPr lang="bg-BG" sz="3200" noProof="1">
                <a:latin typeface="Comfortaa" pitchFamily="2" charset="0"/>
              </a:rPr>
              <a:t>Интерфейс </a:t>
            </a:r>
            <a:r>
              <a:rPr lang="en-US" sz="3200" b="1" noProof="1">
                <a:solidFill>
                  <a:srgbClr val="00B0F0"/>
                </a:solidFill>
                <a:latin typeface="Comfortaa" pitchFamily="2" charset="0"/>
              </a:rPr>
              <a:t>IComparer&lt;T&gt;</a:t>
            </a:r>
          </a:p>
        </p:txBody>
      </p:sp>
    </p:spTree>
    <p:extLst>
      <p:ext uri="{BB962C8B-B14F-4D97-AF65-F5344CB8AC3E}">
        <p14:creationId xmlns:p14="http://schemas.microsoft.com/office/powerpoint/2010/main" val="879901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42965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Comfortaa" pitchFamily="2" charset="0"/>
              </a:rPr>
              <a:t>IComparable&lt;T&gt;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B813D74-E5D6-4AD9-8A44-B5B9F048C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2965" y="1733014"/>
            <a:ext cx="10093203" cy="4578722"/>
          </a:xfrm>
        </p:spPr>
        <p:txBody>
          <a:bodyPr>
            <a:normAutofit/>
          </a:bodyPr>
          <a:lstStyle/>
          <a:p>
            <a:r>
              <a:rPr lang="bg-BG" sz="3200" dirty="0">
                <a:latin typeface="Comfortaa" pitchFamily="2" charset="0"/>
              </a:rPr>
              <a:t>Да се чете като</a:t>
            </a:r>
            <a:r>
              <a:rPr lang="en-US" sz="3200" dirty="0">
                <a:latin typeface="Comfortaa" pitchFamily="2" charset="0"/>
              </a:rPr>
              <a:t> 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“</a:t>
            </a:r>
            <a:r>
              <a:rPr lang="bg-BG" sz="3200" dirty="0">
                <a:solidFill>
                  <a:srgbClr val="00B0F0"/>
                </a:solidFill>
                <a:latin typeface="Comfortaa" pitchFamily="2" charset="0"/>
              </a:rPr>
              <a:t>Аз съм нещо сравнимо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”</a:t>
            </a:r>
          </a:p>
          <a:p>
            <a:r>
              <a:rPr lang="bg-BG" sz="3200" dirty="0">
                <a:latin typeface="Comfortaa" pitchFamily="2" charset="0"/>
              </a:rPr>
              <a:t>Предоставя метод за</a:t>
            </a:r>
            <a:r>
              <a:rPr lang="en-US" sz="3200" dirty="0">
                <a:latin typeface="Comfortaa" pitchFamily="2" charset="0"/>
              </a:rPr>
              <a:t> </a:t>
            </a:r>
            <a:r>
              <a:rPr lang="bg-BG" sz="3200" dirty="0">
                <a:solidFill>
                  <a:srgbClr val="00B0F0"/>
                </a:solidFill>
                <a:latin typeface="Comfortaa" pitchFamily="2" charset="0"/>
              </a:rPr>
              <a:t>сравняване на два обекта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sz="3200" dirty="0">
                <a:latin typeface="Comfortaa" pitchFamily="2" charset="0"/>
              </a:rPr>
              <a:t>от дадения тип</a:t>
            </a:r>
            <a:r>
              <a:rPr lang="en-US" sz="3200" dirty="0">
                <a:latin typeface="Comfortaa" pitchFamily="2" charset="0"/>
              </a:rPr>
              <a:t> – </a:t>
            </a:r>
            <a:r>
              <a:rPr lang="en-US" sz="3200" noProof="1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CompareTo()</a:t>
            </a:r>
          </a:p>
          <a:p>
            <a:r>
              <a:rPr lang="bg-BG" sz="3200" dirty="0">
                <a:latin typeface="Comfortaa" pitchFamily="2" charset="0"/>
              </a:rPr>
              <a:t>Указва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sz="3200" dirty="0">
                <a:solidFill>
                  <a:srgbClr val="00B0F0"/>
                </a:solidFill>
                <a:latin typeface="Comfortaa" pitchFamily="2" charset="0"/>
              </a:rPr>
              <a:t>подразбиращия се ред на сортиране</a:t>
            </a:r>
            <a:r>
              <a:rPr lang="en-US" sz="3200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sz="3200" dirty="0">
                <a:latin typeface="Comfortaa" pitchFamily="2" charset="0"/>
              </a:rPr>
              <a:t>за дадения тип обекти</a:t>
            </a:r>
            <a:endParaRPr lang="en-US" sz="3200" dirty="0">
              <a:latin typeface="Comfortaa" pitchFamily="2" charset="0"/>
            </a:endParaRPr>
          </a:p>
          <a:p>
            <a:r>
              <a:rPr lang="bg-BG" sz="3200" dirty="0">
                <a:solidFill>
                  <a:srgbClr val="00B0F0"/>
                </a:solidFill>
                <a:latin typeface="Comfortaa" pitchFamily="2" charset="0"/>
              </a:rPr>
              <a:t>Засяга</a:t>
            </a:r>
            <a:r>
              <a:rPr lang="bg-BG" sz="32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sz="3200" dirty="0">
                <a:latin typeface="Comfortaa" pitchFamily="2" charset="0"/>
              </a:rPr>
              <a:t>оригиналния клас</a:t>
            </a:r>
            <a:endParaRPr lang="en-US" sz="32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7463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123" y="365126"/>
            <a:ext cx="11060758" cy="961914"/>
          </a:xfrm>
        </p:spPr>
        <p:txBody>
          <a:bodyPr>
            <a:normAutofit/>
          </a:bodyPr>
          <a:lstStyle/>
          <a:p>
            <a:pPr algn="ctr"/>
            <a:r>
              <a:rPr lang="bg-BG" sz="3200" b="1" noProof="1">
                <a:latin typeface="Comfortaa" pitchFamily="2" charset="0"/>
              </a:rPr>
              <a:t>Резултат, връщан от метода </a:t>
            </a:r>
            <a:r>
              <a:rPr lang="en-US" sz="3200" b="1" noProof="1">
                <a:latin typeface="Comfortaa" pitchFamily="2" charset="0"/>
              </a:rPr>
              <a:t>CompareTo(</a:t>
            </a:r>
            <a:r>
              <a:rPr lang="en-US" sz="3200" b="1" dirty="0">
                <a:latin typeface="Comfortaa" pitchFamily="2" charset="0"/>
              </a:rPr>
              <a:t>T)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123" y="2685857"/>
            <a:ext cx="1917646" cy="191764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213" y="1528222"/>
            <a:ext cx="3167959" cy="316795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7539" y="2195889"/>
            <a:ext cx="2407614" cy="240761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7422" y="2201597"/>
            <a:ext cx="2422502" cy="242250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5773" y="1419716"/>
            <a:ext cx="3100810" cy="310081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40889" y="5073281"/>
            <a:ext cx="19436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Consolas" panose="020B0609020204030204" pitchFamily="49" charset="0"/>
              </a:rPr>
              <a:t>&lt;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67422" y="5073281"/>
            <a:ext cx="1905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Consolas" panose="020B0609020204030204" pitchFamily="49" charset="0"/>
              </a:rPr>
              <a:t>=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1600" y="5073281"/>
            <a:ext cx="1905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Consolas" panose="020B0609020204030204" pitchFamily="49" charset="0"/>
              </a:rPr>
              <a:t>&gt; 0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0061" y="2578165"/>
            <a:ext cx="1938242" cy="1938242"/>
          </a:xfrm>
          <a:prstGeom prst="rect">
            <a:avLst/>
          </a:prstGeom>
        </p:spPr>
      </p:pic>
      <p:cxnSp>
        <p:nvCxnSpPr>
          <p:cNvPr id="16" name="Straight Connector 15"/>
          <p:cNvCxnSpPr/>
          <p:nvPr/>
        </p:nvCxnSpPr>
        <p:spPr>
          <a:xfrm flipH="1">
            <a:off x="4237539" y="1419717"/>
            <a:ext cx="44914" cy="46692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8077200" y="1419717"/>
            <a:ext cx="0" cy="46692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444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6504" y="235586"/>
            <a:ext cx="10515600" cy="823304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IComparable</a:t>
            </a:r>
            <a:r>
              <a:rPr lang="en-US" dirty="0">
                <a:latin typeface="Comfortaa" pitchFamily="2" charset="0"/>
              </a:rPr>
              <a:t>&lt;T&gt; </a:t>
            </a:r>
            <a:r>
              <a:rPr lang="bg-BG" dirty="0">
                <a:latin typeface="Comfortaa" pitchFamily="2" charset="0"/>
              </a:rPr>
              <a:t>пример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82946" name="Rectangle 2"/>
          <p:cNvSpPr>
            <a:spLocks noChangeArrowheads="1"/>
          </p:cNvSpPr>
          <p:nvPr/>
        </p:nvSpPr>
        <p:spPr bwMode="auto">
          <a:xfrm>
            <a:off x="756504" y="1058890"/>
            <a:ext cx="10572113" cy="546611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class Point : </a:t>
            </a:r>
            <a:r>
              <a:rPr lang="en-US" sz="24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IComparable&lt;Point&gt;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int X { get; set; }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int Y { get; set; }</a:t>
            </a:r>
          </a:p>
          <a:p>
            <a:pPr eaLnBrk="0" hangingPunct="0">
              <a:lnSpc>
                <a:spcPct val="95000"/>
              </a:lnSpc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int </a:t>
            </a:r>
            <a:r>
              <a:rPr lang="en-US" sz="24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CompareTo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(Point otherPoint)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if (this.X != otherPoint.X)        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return (this.X - otherPoint.X);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</a:t>
            </a:r>
          </a:p>
          <a:p>
            <a:pPr eaLnBrk="0" hangingPunct="0">
              <a:lnSpc>
                <a:spcPct val="95000"/>
              </a:lnSpc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if (this.Y != otherPoint.Y)        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return (this.Y - otherPoint);        </a:t>
            </a:r>
          </a:p>
          <a:p>
            <a:pPr eaLnBrk="0" hangingPunct="0">
              <a:lnSpc>
                <a:spcPct val="95000"/>
              </a:lnSpc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return 0;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  <a:endParaRPr lang="bg-BG" sz="24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1056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10021" y="659080"/>
            <a:ext cx="10771958" cy="1184869"/>
          </a:xfrm>
        </p:spPr>
        <p:txBody>
          <a:bodyPr/>
          <a:lstStyle/>
          <a:p>
            <a:r>
              <a:rPr lang="en-US" dirty="0" err="1">
                <a:latin typeface="Comfortaa" pitchFamily="2" charset="0"/>
              </a:rPr>
              <a:t>IComparable</a:t>
            </a:r>
            <a:r>
              <a:rPr lang="en-US" dirty="0">
                <a:latin typeface="Comfortaa" pitchFamily="2" charset="0"/>
              </a:rPr>
              <a:t>&lt;T&gt; </a:t>
            </a:r>
            <a:r>
              <a:rPr lang="ru-RU" dirty="0">
                <a:latin typeface="Comfortaa" pitchFamily="2" charset="0"/>
              </a:rPr>
              <a:t>пример 2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703522" y="1843950"/>
            <a:ext cx="10778457" cy="430271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class Cat : </a:t>
            </a:r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IComparable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&lt;Cat&gt;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string Name { get; set; }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endParaRPr lang="en-US" sz="32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int </a:t>
            </a:r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CompareTo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(Cat other)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return this.Name.</a:t>
            </a:r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CompareTo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(other.Name);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  <a:endParaRPr lang="bg-BG" sz="32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831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8A424-13D1-42D0-8765-7D75923BB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sz="3200" dirty="0">
                <a:latin typeface="Comfortaa" pitchFamily="2" charset="0"/>
              </a:rPr>
              <a:t>Да се чете</a:t>
            </a:r>
            <a:r>
              <a:rPr lang="en-US" sz="3200" dirty="0">
                <a:latin typeface="Comfortaa" pitchFamily="2" charset="0"/>
              </a:rPr>
              <a:t> 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“</a:t>
            </a:r>
            <a:r>
              <a:rPr lang="bg-BG" sz="3200" b="1" dirty="0">
                <a:solidFill>
                  <a:srgbClr val="00B0F0"/>
                </a:solidFill>
                <a:latin typeface="Comfortaa" pitchFamily="2" charset="0"/>
              </a:rPr>
              <a:t>Аз сравнявам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”</a:t>
            </a:r>
          </a:p>
          <a:p>
            <a:r>
              <a:rPr lang="bg-BG" sz="3200" dirty="0">
                <a:latin typeface="Comfortaa" pitchFamily="2" charset="0"/>
              </a:rPr>
              <a:t>Предоставя начин за </a:t>
            </a:r>
            <a:r>
              <a:rPr lang="bg-BG" sz="3200" b="1" dirty="0">
                <a:solidFill>
                  <a:srgbClr val="00B0F0"/>
                </a:solidFill>
                <a:latin typeface="Comfortaa" pitchFamily="2" charset="0"/>
              </a:rPr>
              <a:t>настройване</a:t>
            </a:r>
            <a:r>
              <a:rPr lang="en-US" sz="3200" dirty="0">
                <a:latin typeface="Comfortaa" pitchFamily="2" charset="0"/>
              </a:rPr>
              <a:t> </a:t>
            </a:r>
            <a:r>
              <a:rPr lang="bg-BG" sz="3200" dirty="0">
                <a:latin typeface="Comfortaa" pitchFamily="2" charset="0"/>
              </a:rPr>
              <a:t>на</a:t>
            </a:r>
            <a:r>
              <a:rPr lang="en-US" sz="3200" dirty="0">
                <a:latin typeface="Comfortaa" pitchFamily="2" charset="0"/>
              </a:rPr>
              <a:t> </a:t>
            </a:r>
            <a:r>
              <a:rPr lang="bg-BG" sz="3200" b="1" dirty="0">
                <a:solidFill>
                  <a:srgbClr val="00B0F0"/>
                </a:solidFill>
                <a:latin typeface="Comfortaa" pitchFamily="2" charset="0"/>
              </a:rPr>
              <a:t>реда</a:t>
            </a:r>
            <a:r>
              <a:rPr lang="bg-BG" sz="32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на </a:t>
            </a:r>
            <a:r>
              <a:rPr lang="bg-BG" sz="3200" b="1" dirty="0">
                <a:solidFill>
                  <a:srgbClr val="00B0F0"/>
                </a:solidFill>
                <a:latin typeface="Comfortaa" pitchFamily="2" charset="0"/>
              </a:rPr>
              <a:t>сортиране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sz="3200" dirty="0">
                <a:latin typeface="Comfortaa" pitchFamily="2" charset="0"/>
              </a:rPr>
              <a:t>на</a:t>
            </a:r>
            <a:r>
              <a:rPr lang="en-US" sz="3200" dirty="0">
                <a:latin typeface="Comfortaa" pitchFamily="2" charset="0"/>
              </a:rPr>
              <a:t> </a:t>
            </a:r>
            <a:r>
              <a:rPr lang="bg-BG" sz="3200" b="1" dirty="0">
                <a:solidFill>
                  <a:srgbClr val="00B0F0"/>
                </a:solidFill>
                <a:latin typeface="Comfortaa" pitchFamily="2" charset="0"/>
              </a:rPr>
              <a:t>колекция</a:t>
            </a:r>
          </a:p>
          <a:p>
            <a:r>
              <a:rPr lang="bg-BG" sz="3200" dirty="0">
                <a:latin typeface="Comfortaa" pitchFamily="2" charset="0"/>
              </a:rPr>
              <a:t>Дефинира </a:t>
            </a:r>
            <a:r>
              <a:rPr lang="bg-BG" sz="3200" b="1" dirty="0">
                <a:solidFill>
                  <a:srgbClr val="00B0F0"/>
                </a:solidFill>
                <a:latin typeface="Comfortaa" pitchFamily="2" charset="0"/>
              </a:rPr>
              <a:t>метод</a:t>
            </a:r>
            <a:r>
              <a:rPr lang="bg-BG" sz="3200" dirty="0">
                <a:latin typeface="Comfortaa" pitchFamily="2" charset="0"/>
              </a:rPr>
              <a:t>, който даденият тип реализира, за да</a:t>
            </a:r>
            <a:r>
              <a:rPr lang="en-US" sz="3200" dirty="0">
                <a:latin typeface="Comfortaa" pitchFamily="2" charset="0"/>
              </a:rPr>
              <a:t> </a:t>
            </a:r>
            <a:r>
              <a:rPr lang="bg-BG" sz="3200" b="1" dirty="0">
                <a:solidFill>
                  <a:srgbClr val="00B0F0"/>
                </a:solidFill>
                <a:latin typeface="Comfortaa" pitchFamily="2" charset="0"/>
              </a:rPr>
              <a:t>сравни два обекта</a:t>
            </a:r>
            <a:endParaRPr lang="en-US" sz="3200" b="1" dirty="0">
              <a:solidFill>
                <a:srgbClr val="00B0F0"/>
              </a:solidFill>
              <a:latin typeface="Comfortaa" pitchFamily="2" charset="0"/>
            </a:endParaRPr>
          </a:p>
          <a:p>
            <a:r>
              <a:rPr lang="bg-BG" sz="3200" b="1" dirty="0">
                <a:solidFill>
                  <a:srgbClr val="00B0F0"/>
                </a:solidFill>
                <a:latin typeface="Comfortaa" pitchFamily="2" charset="0"/>
              </a:rPr>
              <a:t>Не</a:t>
            </a:r>
            <a:r>
              <a:rPr lang="bg-BG" sz="3200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sz="3200" b="1" dirty="0">
                <a:solidFill>
                  <a:srgbClr val="00B0F0"/>
                </a:solidFill>
                <a:latin typeface="Comfortaa" pitchFamily="2" charset="0"/>
              </a:rPr>
              <a:t>засяга</a:t>
            </a:r>
            <a:r>
              <a:rPr lang="en-US" sz="3200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sz="3200" dirty="0">
                <a:latin typeface="Comfortaa" pitchFamily="2" charset="0"/>
              </a:rPr>
              <a:t>оригиналния клас</a:t>
            </a:r>
            <a:endParaRPr lang="en-US" sz="3200" dirty="0">
              <a:latin typeface="Comfortaa" pitchFamily="2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F28D005-CEF6-4584-9F23-2AF2E97FD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mfortaa" pitchFamily="2" charset="0"/>
              </a:rPr>
              <a:t>IComparer&lt;T&gt;</a:t>
            </a:r>
          </a:p>
        </p:txBody>
      </p:sp>
    </p:spTree>
    <p:extLst>
      <p:ext uri="{BB962C8B-B14F-4D97-AF65-F5344CB8AC3E}">
        <p14:creationId xmlns:p14="http://schemas.microsoft.com/office/powerpoint/2010/main" val="1148759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omfortaa" pitchFamily="2" charset="0"/>
              </a:rPr>
              <a:t>IComparer</a:t>
            </a:r>
            <a:r>
              <a:rPr lang="en-US" dirty="0">
                <a:latin typeface="Comfortaa" pitchFamily="2" charset="0"/>
              </a:rPr>
              <a:t>&lt;T&gt; </a:t>
            </a:r>
            <a:r>
              <a:rPr lang="ru-RU" dirty="0">
                <a:latin typeface="Comfortaa" pitchFamily="2" charset="0"/>
              </a:rPr>
              <a:t>пример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822504" y="1690688"/>
            <a:ext cx="10438464" cy="336707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class CatComparer : </a:t>
            </a:r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IComparer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&lt;Cat&gt;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int </a:t>
            </a:r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Compare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(Cat x, Cat y)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return x.Name.</a:t>
            </a:r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CompareTo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(y.Name);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812125" y="5216937"/>
            <a:ext cx="10438464" cy="911019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IComparer&lt;Cat&gt; comparer = new 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CatComparer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();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SortedSet&lt;Cat&gt; catsByName = new SortedSet(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comparer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);</a:t>
            </a:r>
            <a:endParaRPr lang="bg-BG" sz="28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141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53A771F-EF81-480E-B9E2-1AEDD83FA3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bg-BG" dirty="0">
                <a:latin typeface="Comfortaa" pitchFamily="2" charset="0"/>
              </a:rPr>
              <a:t>Реализирайте интерфейса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IComparable&lt;Book&gt;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за съществуващия клас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Book</a:t>
            </a:r>
            <a:r>
              <a:rPr lang="en-US" dirty="0">
                <a:latin typeface="Comfortaa" pitchFamily="2" charset="0"/>
              </a:rPr>
              <a:t>. </a:t>
            </a:r>
            <a:endParaRPr lang="bg-BG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Първо ги сортирайте по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нарастващ хронологичен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ред</a:t>
            </a:r>
            <a:r>
              <a:rPr lang="en-US" dirty="0">
                <a:latin typeface="Comfortaa" pitchFamily="2" charset="0"/>
              </a:rPr>
              <a:t> (</a:t>
            </a:r>
            <a:r>
              <a:rPr lang="bg-BG" dirty="0">
                <a:latin typeface="Comfortaa" pitchFamily="2" charset="0"/>
              </a:rPr>
              <a:t>по година</a:t>
            </a:r>
            <a:r>
              <a:rPr lang="en-US" dirty="0">
                <a:latin typeface="Comfortaa" pitchFamily="2" charset="0"/>
              </a:rPr>
              <a:t>)</a:t>
            </a:r>
          </a:p>
          <a:p>
            <a:pPr lvl="1"/>
            <a:r>
              <a:rPr lang="bg-BG" dirty="0">
                <a:latin typeface="Comfortaa" pitchFamily="2" charset="0"/>
              </a:rPr>
              <a:t>Ако две книги са в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една година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bg-BG" dirty="0">
                <a:latin typeface="Comfortaa" pitchFamily="2" charset="0"/>
              </a:rPr>
              <a:t>сортирайте ги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в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азбучен ред</a:t>
            </a:r>
          </a:p>
          <a:p>
            <a:r>
              <a:rPr lang="bg-BG" dirty="0">
                <a:latin typeface="Comfortaa" pitchFamily="2" charset="0"/>
              </a:rPr>
              <a:t>Предефинирайте метода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</a:rPr>
              <a:t>ToString</a:t>
            </a:r>
            <a:r>
              <a:rPr lang="en-US" noProof="1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() </a:t>
            </a:r>
            <a:r>
              <a:rPr lang="bg-BG" noProof="1">
                <a:latin typeface="Comfortaa" pitchFamily="2" charset="0"/>
              </a:rPr>
              <a:t>за вашия клас </a:t>
            </a:r>
            <a:r>
              <a:rPr lang="en-US" dirty="0">
                <a:latin typeface="Comfortaa" pitchFamily="2" charset="0"/>
              </a:rPr>
              <a:t>Book class</a:t>
            </a:r>
            <a:r>
              <a:rPr lang="bg-BG" dirty="0">
                <a:latin typeface="Comfortaa" pitchFamily="2" charset="0"/>
              </a:rPr>
              <a:t>, така че да връща низ във формат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/>
            <a:r>
              <a:rPr lang="en-US" dirty="0">
                <a:latin typeface="Comfortaa" pitchFamily="2" charset="0"/>
              </a:rPr>
              <a:t>{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title</a:t>
            </a:r>
            <a:r>
              <a:rPr lang="en-US" dirty="0">
                <a:latin typeface="Comfortaa" pitchFamily="2" charset="0"/>
              </a:rPr>
              <a:t>} - {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year</a:t>
            </a:r>
            <a:r>
              <a:rPr lang="en-US" dirty="0">
                <a:latin typeface="Comfortaa" pitchFamily="2" charset="0"/>
              </a:rPr>
              <a:t>}</a:t>
            </a:r>
          </a:p>
          <a:p>
            <a:r>
              <a:rPr lang="bg-BG" dirty="0">
                <a:latin typeface="Comfortaa" pitchFamily="2" charset="0"/>
              </a:rPr>
              <a:t>Променете вашия клас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Library</a:t>
            </a:r>
            <a:r>
              <a:rPr lang="bg-BG" dirty="0">
                <a:latin typeface="Comfortaa" pitchFamily="2" charset="0"/>
              </a:rPr>
              <a:t>, така че да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съхранява книгите</a:t>
            </a:r>
            <a:r>
              <a:rPr lang="en-US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в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правилната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подредба</a:t>
            </a:r>
            <a:endParaRPr lang="en-US" dirty="0">
              <a:latin typeface="Comfortaa" pitchFamily="2" charset="0"/>
            </a:endParaRPr>
          </a:p>
          <a:p>
            <a:pPr lvl="1"/>
            <a:endParaRPr lang="en-US" dirty="0">
              <a:latin typeface="Comfortaa" pitchFamily="2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A9AC700-771B-4178-80DE-3582F8DFE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Задача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Сравнима книга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9499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46CECC-A3DC-43BB-A178-36CAF9B21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861" y="270123"/>
            <a:ext cx="11150868" cy="984310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Решение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Сравнима книга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4303FF6-EABA-44A1-832F-6DCADCA81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861" y="1254432"/>
            <a:ext cx="11152456" cy="5219891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800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class Book : </a:t>
            </a:r>
            <a:r>
              <a:rPr lang="en-US" sz="2800" b="1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IComparable&lt;Book&gt; 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800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2800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int 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CompareTo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(Book other)</a:t>
            </a:r>
          </a:p>
          <a:p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int 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result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= this.Year.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CompareTo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(other.Year);</a:t>
            </a:r>
          </a:p>
          <a:p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if (result == 0)</a:t>
            </a:r>
          </a:p>
          <a:p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{</a:t>
            </a:r>
          </a:p>
          <a:p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result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= this.Title.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CompareTo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(other.Title);</a:t>
            </a:r>
          </a:p>
          <a:p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}</a:t>
            </a:r>
          </a:p>
          <a:p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return 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result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;</a:t>
            </a:r>
          </a:p>
          <a:p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411045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109A3-B872-4367-9467-7C7CD471F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Създайте клас</a:t>
            </a:r>
            <a:r>
              <a:rPr lang="en-US" noProof="1">
                <a:latin typeface="Comfortaa" pitchFamily="2" charset="0"/>
              </a:rPr>
              <a:t>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</a:rPr>
              <a:t>BookComparator</a:t>
            </a:r>
            <a:r>
              <a:rPr lang="bg-BG" noProof="1">
                <a:latin typeface="Comfortaa" pitchFamily="2" charset="0"/>
              </a:rPr>
              <a:t>, който трябва да реализира интерфейса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</a:rPr>
              <a:t>IComparer&lt;Book&gt;</a:t>
            </a:r>
          </a:p>
          <a:p>
            <a:r>
              <a:rPr lang="en-US" b="1" noProof="1">
                <a:solidFill>
                  <a:srgbClr val="00B0F0"/>
                </a:solidFill>
                <a:latin typeface="Comfortaa" pitchFamily="2" charset="0"/>
              </a:rPr>
              <a:t>BookComparator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трябва да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сравнява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две книги по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/>
            <a:r>
              <a:rPr lang="bg-BG" dirty="0">
                <a:latin typeface="Comfortaa" pitchFamily="2" charset="0"/>
              </a:rPr>
              <a:t>Заглавието на книгата</a:t>
            </a:r>
            <a:r>
              <a:rPr lang="en-US" dirty="0">
                <a:latin typeface="Comfortaa" pitchFamily="2" charset="0"/>
              </a:rPr>
              <a:t> –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в азбучен ред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Година на публикуване на книгата</a:t>
            </a:r>
            <a:r>
              <a:rPr lang="en-US" dirty="0">
                <a:latin typeface="Comfortaa" pitchFamily="2" charset="0"/>
              </a:rPr>
              <a:t> –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от най-нови към най-стари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Променете вашия клас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Library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още веднъж, така че да реализира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новото сортиране</a:t>
            </a:r>
            <a:endParaRPr lang="en-US" dirty="0">
              <a:latin typeface="Comfortaa" pitchFamily="2" charset="0"/>
            </a:endParaRPr>
          </a:p>
          <a:p>
            <a:pPr marL="0" indent="0">
              <a:buNone/>
            </a:pP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C5DB930-3F15-4D1C-B7D6-A202463EA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Задача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Сравняващият книги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CE0A0819-227A-4170-BFE7-1F8F129635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11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6868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3B3FCB-1024-4C04-9C59-58494C4F8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871" y="282162"/>
            <a:ext cx="11152456" cy="825442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Решение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Сравняващият книги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86FC3E8-7415-4EB8-9276-2BCFF71A1B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458" y="1107603"/>
            <a:ext cx="11152456" cy="5262979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c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lass BookComparator : 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IComparer&lt;Book&gt;</a:t>
            </a:r>
          </a:p>
          <a:p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int 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Compare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Book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x, 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Book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y)</a:t>
            </a:r>
          </a:p>
          <a:p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int 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result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= x.Title.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CompareTo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(y.Title);</a:t>
            </a:r>
          </a:p>
          <a:p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if (result == 0)</a:t>
            </a:r>
          </a:p>
          <a:p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{</a:t>
            </a:r>
          </a:p>
          <a:p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result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= y.Year.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CompareTo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(x.Year);</a:t>
            </a:r>
          </a:p>
          <a:p>
            <a:r>
              <a:rPr lang="en-US" sz="2800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}</a:t>
            </a:r>
          </a:p>
          <a:p>
            <a:r>
              <a:rPr lang="en-US" sz="2800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return </a:t>
            </a:r>
            <a:r>
              <a:rPr lang="en-US" sz="2800" b="1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result</a:t>
            </a:r>
            <a:r>
              <a:rPr lang="en-US" sz="2800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;</a:t>
            </a:r>
          </a:p>
          <a:p>
            <a:r>
              <a:rPr lang="en-US" sz="2800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r>
              <a:rPr lang="en-US" sz="2800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  <a:endParaRPr lang="en-US" sz="28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4658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900579" y="2011321"/>
            <a:ext cx="10167223" cy="3944153"/>
          </a:xfrm>
        </p:spPr>
        <p:txBody>
          <a:bodyPr>
            <a:noAutofit/>
          </a:bodyPr>
          <a:lstStyle/>
          <a:p>
            <a:r>
              <a:rPr lang="bg-BG" b="1" dirty="0">
                <a:latin typeface="Comfortaa" pitchFamily="2" charset="0"/>
              </a:rPr>
              <a:t>Интерфейсът</a:t>
            </a:r>
            <a:r>
              <a:rPr lang="bg-BG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Comfortaa" pitchFamily="2" charset="0"/>
              </a:rPr>
              <a:t>IComparable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&lt;T&gt;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казва</a:t>
            </a:r>
            <a:br>
              <a:rPr lang="bg-BG" dirty="0">
                <a:latin typeface="Comfortaa" pitchFamily="2" charset="0"/>
              </a:rPr>
            </a:br>
            <a:r>
              <a:rPr lang="bg-BG" dirty="0">
                <a:latin typeface="Comfortaa" pitchFamily="2" charset="0"/>
              </a:rPr>
              <a:t>„Аз съм нещо сравнимо“ и дава</a:t>
            </a:r>
            <a:br>
              <a:rPr lang="bg-BG" dirty="0">
                <a:latin typeface="Comfortaa" pitchFamily="2" charset="0"/>
              </a:rPr>
            </a:br>
            <a:r>
              <a:rPr lang="bg-BG" dirty="0">
                <a:latin typeface="Comfortaa" pitchFamily="2" charset="0"/>
              </a:rPr>
              <a:t>метод за сравняване на два обекта</a:t>
            </a:r>
          </a:p>
          <a:p>
            <a:r>
              <a:rPr lang="bg-BG" b="1" dirty="0">
                <a:latin typeface="Comfortaa" pitchFamily="2" charset="0"/>
              </a:rPr>
              <a:t>Интерфейсът </a:t>
            </a:r>
            <a:r>
              <a:rPr lang="en-US" b="1" dirty="0" err="1">
                <a:solidFill>
                  <a:srgbClr val="00B0F0"/>
                </a:solidFill>
                <a:latin typeface="Comfortaa" pitchFamily="2" charset="0"/>
              </a:rPr>
              <a:t>IComparer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&lt;T&gt; </a:t>
            </a:r>
            <a:r>
              <a:rPr lang="bg-BG" dirty="0">
                <a:latin typeface="Comfortaa" pitchFamily="2" charset="0"/>
              </a:rPr>
              <a:t>твърди</a:t>
            </a:r>
            <a:br>
              <a:rPr lang="bg-BG" dirty="0">
                <a:latin typeface="Comfortaa" pitchFamily="2" charset="0"/>
              </a:rPr>
            </a:br>
            <a:r>
              <a:rPr lang="bg-BG" dirty="0">
                <a:latin typeface="Comfortaa" pitchFamily="2" charset="0"/>
              </a:rPr>
              <a:t>„Аз мога да  сравнявам“ и предоставя </a:t>
            </a:r>
            <a:br>
              <a:rPr lang="bg-BG" dirty="0">
                <a:latin typeface="Comfortaa" pitchFamily="2" charset="0"/>
              </a:rPr>
            </a:br>
            <a:r>
              <a:rPr lang="bg-BG" dirty="0">
                <a:latin typeface="Comfortaa" pitchFamily="2" charset="0"/>
              </a:rPr>
              <a:t>начин за  промяна на реда на сортиране на колекция</a:t>
            </a:r>
            <a:br>
              <a:rPr lang="bg-BG" dirty="0">
                <a:latin typeface="Comfortaa" pitchFamily="2" charset="0"/>
              </a:rPr>
            </a:br>
            <a:endParaRPr lang="en-US" dirty="0">
              <a:latin typeface="Comfortaa" pitchFamily="2" charset="0"/>
            </a:endParaRPr>
          </a:p>
          <a:p>
            <a:pPr lvl="1"/>
            <a:endParaRPr lang="en-US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685759"/>
            <a:ext cx="10515600" cy="1325563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Обобщение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16405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2" name="Logo CC-BY-NC-SA">
            <a:hlinkClick r:id="rId5"/>
            <a:extLst>
              <a:ext uri="{FF2B5EF4-FFF2-40B4-BE49-F238E27FC236}">
                <a16:creationId xmlns:a16="http://schemas.microsoft.com/office/drawing/2014/main" id="{39F87C09-7AAD-A59F-33F5-8BECE165C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447" y="2650021"/>
            <a:ext cx="4017104" cy="14408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BEA407-2EEF-D82D-ADB6-D20902F79FA2}"/>
              </a:ext>
            </a:extLst>
          </p:cNvPr>
          <p:cNvSpPr txBox="1"/>
          <p:nvPr/>
        </p:nvSpPr>
        <p:spPr>
          <a:xfrm>
            <a:off x="262246" y="5452243"/>
            <a:ext cx="116675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1800" dirty="0">
                <a:latin typeface="Comfortaa" pitchFamily="2" charset="0"/>
              </a:rPr>
              <a:t>Документът е разработен за нуждите на Национална програма "Обучение за ИТ умения и кариера" на Министерството на образованието и науката (МОН)</a:t>
            </a:r>
            <a:r>
              <a:rPr lang="en-US" sz="1800" dirty="0">
                <a:latin typeface="Comfortaa" pitchFamily="2" charset="0"/>
              </a:rPr>
              <a:t> </a:t>
            </a:r>
            <a:r>
              <a:rPr lang="bg-BG" sz="1800" dirty="0">
                <a:latin typeface="Comfortaa" pitchFamily="2" charset="0"/>
              </a:rPr>
              <a:t>и се разпространява под свободен лиценз CC-BY-NC-SA (</a:t>
            </a:r>
            <a:r>
              <a:rPr lang="bg-BG" sz="1800" dirty="0" err="1">
                <a:latin typeface="Comfortaa" pitchFamily="2" charset="0"/>
              </a:rPr>
              <a:t>Creative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Commons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Attribution-Non-Commercial-Share-Alike</a:t>
            </a:r>
            <a:r>
              <a:rPr lang="bg-BG" sz="1800" dirty="0">
                <a:latin typeface="Comfortaa" pitchFamily="2" charset="0"/>
              </a:rPr>
              <a:t> 4.0 International).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41344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97</TotalTime>
  <Words>915</Words>
  <Application>Microsoft Office PowerPoint</Application>
  <PresentationFormat>Widescreen</PresentationFormat>
  <Paragraphs>128</Paragraphs>
  <Slides>14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Comfortaa</vt:lpstr>
      <vt:lpstr>Consolas</vt:lpstr>
      <vt:lpstr>Office Theme</vt:lpstr>
      <vt:lpstr>Компаратори</vt:lpstr>
      <vt:lpstr>Съдържание</vt:lpstr>
      <vt:lpstr>IComparable&lt;T&gt;</vt:lpstr>
      <vt:lpstr>Резултат, връщан от метода CompareTo(T)</vt:lpstr>
      <vt:lpstr>IComparable&lt;T&gt; пример</vt:lpstr>
      <vt:lpstr>IComparable&lt;T&gt; пример 2</vt:lpstr>
      <vt:lpstr>IComparer&lt;T&gt;</vt:lpstr>
      <vt:lpstr>IComparer&lt;T&gt; пример</vt:lpstr>
      <vt:lpstr>Задача: Сравнима книга</vt:lpstr>
      <vt:lpstr>Решение: Сравнима книга</vt:lpstr>
      <vt:lpstr>Задача: Сравняващият книги</vt:lpstr>
      <vt:lpstr>Решение: Сравняващият книги</vt:lpstr>
      <vt:lpstr>Обобщение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Димитър Минчев</cp:lastModifiedBy>
  <cp:revision>11</cp:revision>
  <dcterms:created xsi:type="dcterms:W3CDTF">2022-08-09T09:25:46Z</dcterms:created>
  <dcterms:modified xsi:type="dcterms:W3CDTF">2022-09-14T16:01:59Z</dcterms:modified>
</cp:coreProperties>
</file>