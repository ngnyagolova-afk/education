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8" r:id="rId2"/>
    <p:sldId id="580" r:id="rId3"/>
    <p:sldId id="559" r:id="rId4"/>
    <p:sldId id="560" r:id="rId5"/>
    <p:sldId id="562" r:id="rId6"/>
    <p:sldId id="561" r:id="rId7"/>
    <p:sldId id="557" r:id="rId8"/>
    <p:sldId id="565" r:id="rId9"/>
    <p:sldId id="566" r:id="rId10"/>
    <p:sldId id="529" r:id="rId11"/>
    <p:sldId id="568" r:id="rId12"/>
    <p:sldId id="524" r:id="rId13"/>
    <p:sldId id="525" r:id="rId14"/>
    <p:sldId id="528" r:id="rId15"/>
    <p:sldId id="570" r:id="rId16"/>
    <p:sldId id="581" r:id="rId17"/>
    <p:sldId id="533" r:id="rId18"/>
    <p:sldId id="573" r:id="rId19"/>
    <p:sldId id="574" r:id="rId20"/>
    <p:sldId id="582" r:id="rId21"/>
    <p:sldId id="5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80"/>
          </p14:sldIdLst>
        </p14:section>
        <p14:section name="Reflection" id="{0B0C01F3-1F60-4ADB-AC1E-9589654EAEF3}">
          <p14:sldIdLst>
            <p14:sldId id="559"/>
            <p14:sldId id="560"/>
            <p14:sldId id="562"/>
            <p14:sldId id="561"/>
          </p14:sldIdLst>
        </p14:section>
        <p14:section name="Reflection API" id="{876D31AC-F464-4373-A37A-362267525723}">
          <p14:sldIdLst>
            <p14:sldId id="557"/>
            <p14:sldId id="565"/>
            <p14:sldId id="566"/>
            <p14:sldId id="529"/>
          </p14:sldIdLst>
        </p14:section>
        <p14:section name="Fields" id="{78554D14-5628-4A97-8E37-C66E64EE5D0B}">
          <p14:sldIdLst>
            <p14:sldId id="568"/>
            <p14:sldId id="524"/>
            <p14:sldId id="525"/>
            <p14:sldId id="528"/>
          </p14:sldIdLst>
        </p14:section>
        <p14:section name="Constructors" id="{470313B5-C081-4351-9CAE-BCA020841C3A}">
          <p14:sldIdLst>
            <p14:sldId id="570"/>
            <p14:sldId id="581"/>
            <p14:sldId id="533"/>
          </p14:sldIdLst>
        </p14:section>
        <p14:section name="Methods" id="{366A995A-826D-465B-909B-299C56FAFD48}">
          <p14:sldIdLst>
            <p14:sldId id="573"/>
            <p14:sldId id="574"/>
          </p14:sldIdLst>
        </p14:section>
        <p14:section name="Заключение" id="{9315BEE7-605C-4839-996A-A4EEA70921D9}">
          <p14:sldIdLst>
            <p14:sldId id="582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0" autoAdjust="0"/>
    <p:restoredTop sz="94660"/>
  </p:normalViewPr>
  <p:slideViewPr>
    <p:cSldViewPr snapToGrid="0">
      <p:cViewPr varScale="1">
        <p:scale>
          <a:sx n="89" d="100"/>
          <a:sy n="89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system.reflection(v=vs.110).aspx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softuni.foundation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B951A9C-B4CA-46EF-8920-C1F96EF014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008500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root of the 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System.Reflection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functionality and is the primary way to access metadata. Use the members of</a:t>
            </a:r>
            <a:r>
              <a:rPr lang="en-GB" sz="16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ype to get information about a type declaration, about the members of a type (such as the constructors, methods, fields, properties, and events of a class), as well as the module and the assembly in which the class is deployed.</a:t>
            </a:r>
          </a:p>
          <a:p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describes data types. It stores type information in a variable, property or field. The Type class represents the program's metadata, which is a description of its structure but not the instructions that are executed.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0EF7F1B-F9FF-4EA5-BE56-F65B7BCEAF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4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5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5677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25D0B24-9362-441B-8BE4-F9000AFD00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4769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A93BC98-E79E-4CA1-886E-ADDB23D549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50279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https://msdn.microsoft.com/en-us/library/wccyzw83(v=vs.110).aspx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66647A2-EC78-4823-9DAC-D92AE6AF9E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77197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11DAF31-5B43-4287-8E65-79D9019C1C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9255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F0767CB-A6F9-45DE-B086-281CE82B94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51263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3A05BB3-8B64-44AD-BC88-FB718DEC3C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27441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IsPrivate</a:t>
            </a:r>
            <a:r>
              <a: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check if field is </a:t>
            </a:r>
            <a:endParaRPr lang="en-US" sz="16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E644FC7-513E-438B-B329-04B02C015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90679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F789B7C-7512-4B76-B346-12C413DDE0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65744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7421A7A-2BB3-467A-82F2-476821382D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1378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 .Invoke method takes an</a:t>
            </a:r>
            <a:r>
              <a: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array of objects and</a:t>
            </a:r>
            <a:r>
              <a:rPr lang="en-US" sz="16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must supply exactly one parameter per argument in the constructor you are invoking. In this case it was a constructor taking a s</a:t>
            </a:r>
            <a:r>
              <a:rPr lang="en-US" dirty="0"/>
              <a:t>tring</a:t>
            </a:r>
            <a:r>
              <a:rPr lang="en-US" sz="16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so one s</a:t>
            </a:r>
            <a:r>
              <a:rPr lang="en-US" dirty="0"/>
              <a:t>tring</a:t>
            </a:r>
            <a:r>
              <a:rPr lang="en-US" sz="16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must be supplied.</a:t>
            </a:r>
            <a:endParaRPr lang="en-US" sz="1600" b="0" i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B2AB0FA-11AC-4BEA-A344-F7BC5436AD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2450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5A380D8-82D5-4563-973D-A781899EC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44258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6636655-2739-440D-AB6E-D50FDD2800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52280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C5BAF00-4935-4C55-B5E0-EAEDC7A87F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49721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Отражение на типове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Reflection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5078" y="739198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7648" y="2123680"/>
            <a:ext cx="9795147" cy="368929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Какво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Защо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Къде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Кога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mfortaa" pitchFamily="2" charset="0"/>
              </a:rPr>
              <a:t>Reflection API</a:t>
            </a:r>
          </a:p>
          <a:p>
            <a:pPr marL="819096" lvl="1" indent="-514350"/>
            <a:r>
              <a:rPr lang="bg-BG" dirty="0">
                <a:latin typeface="Comfortaa" pitchFamily="2" charset="0"/>
              </a:rPr>
              <a:t>Клас </a:t>
            </a:r>
            <a:r>
              <a:rPr lang="en-US" dirty="0">
                <a:latin typeface="Comfortaa" pitchFamily="2" charset="0"/>
              </a:rPr>
              <a:t>Type</a:t>
            </a:r>
          </a:p>
          <a:p>
            <a:pPr marL="819096" lvl="1" indent="-514350"/>
            <a:r>
              <a:rPr lang="bg-BG" dirty="0">
                <a:latin typeface="Comfortaa" pitchFamily="2" charset="0"/>
              </a:rPr>
              <a:t>Отражение на полета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Отражение на конструктори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Отражение на методи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06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4"/>
            <a:ext cx="6245431" cy="450986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defRPr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Техника на програмиране</a:t>
            </a:r>
            <a:r>
              <a:rPr lang="bg-BG" dirty="0">
                <a:latin typeface="Comfortaa" pitchFamily="2" charset="0"/>
              </a:rPr>
              <a:t>, при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която компютърни програми мога да третират други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програми като свои данни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defRPr/>
            </a:pPr>
            <a:r>
              <a:rPr lang="bg-BG" dirty="0">
                <a:latin typeface="Comfortaa" pitchFamily="2" charset="0"/>
              </a:rPr>
              <a:t>Програмите може да са проектирани да</a:t>
            </a:r>
            <a:r>
              <a:rPr lang="en-US" dirty="0">
                <a:latin typeface="Comfortaa" pitchFamily="2" charset="0"/>
              </a:rPr>
              <a:t>: </a:t>
            </a:r>
          </a:p>
          <a:p>
            <a:pPr lvl="1">
              <a:lnSpc>
                <a:spcPct val="100000"/>
              </a:lnSpc>
              <a:defRPr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Четат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Генерират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</a:p>
          <a:p>
            <a:pPr lvl="1">
              <a:lnSpc>
                <a:spcPct val="100000"/>
              </a:lnSpc>
              <a:defRPr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Анализират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</a:p>
          <a:p>
            <a:pPr lvl="1">
              <a:lnSpc>
                <a:spcPct val="100000"/>
              </a:lnSpc>
              <a:defRPr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Трансформират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</a:p>
          <a:p>
            <a:pPr>
              <a:lnSpc>
                <a:spcPct val="100000"/>
              </a:lnSpc>
              <a:defRPr/>
            </a:pPr>
            <a:r>
              <a:rPr lang="bg-BG" dirty="0">
                <a:latin typeface="Comfortaa" pitchFamily="2" charset="0"/>
              </a:rPr>
              <a:t>Променяйки се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 движение</a:t>
            </a:r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 anchorCtr="0"/>
          <a:lstStyle/>
          <a:p>
            <a:r>
              <a:rPr lang="bg-BG" sz="4000" dirty="0">
                <a:latin typeface="Comfortaa" pitchFamily="2" charset="0"/>
              </a:rPr>
              <a:t>Какво е </a:t>
            </a:r>
            <a:r>
              <a:rPr lang="bg-BG" sz="4000" dirty="0" err="1">
                <a:latin typeface="Comfortaa" pitchFamily="2" charset="0"/>
              </a:rPr>
              <a:t>Метапрограмиране</a:t>
            </a:r>
            <a:r>
              <a:rPr lang="en-GB" dirty="0">
                <a:latin typeface="Comfortaa" pitchFamily="2" charset="0"/>
              </a:rPr>
              <a:t>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961" y="2171639"/>
            <a:ext cx="4706862" cy="353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434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526269"/>
            <a:ext cx="10515600" cy="381515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dirty="0">
                <a:latin typeface="Comfortaa" pitchFamily="2" charset="0"/>
              </a:rPr>
              <a:t>Способността на програмен език да бъде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свой собствен метаезик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dirty="0">
                <a:latin typeface="Comfortaa" pitchFamily="2" charset="0"/>
              </a:rPr>
              <a:t>Програмите може да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проверява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информация за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себе си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57010"/>
            <a:ext cx="10515600" cy="1325563"/>
          </a:xfrm>
          <a:prstGeom prst="rect">
            <a:avLst/>
          </a:prstGeom>
        </p:spPr>
        <p:txBody>
          <a:bodyPr anchor="ctr" anchorCtr="0"/>
          <a:lstStyle/>
          <a:p>
            <a:r>
              <a:rPr lang="bg-BG" sz="4000" dirty="0">
                <a:latin typeface="Comfortaa" pitchFamily="2" charset="0"/>
              </a:rPr>
              <a:t>Какво е "отражение на типовете"</a:t>
            </a:r>
            <a:r>
              <a:rPr lang="en-US" sz="4000" dirty="0">
                <a:latin typeface="Comfortaa" pitchFamily="2" charset="0"/>
              </a:rPr>
              <a:t> </a:t>
            </a:r>
            <a:r>
              <a:rPr lang="bg-BG" sz="4000" dirty="0">
                <a:latin typeface="Comfortaa" pitchFamily="2" charset="0"/>
              </a:rPr>
              <a:t>(</a:t>
            </a:r>
            <a:r>
              <a:rPr lang="en-GB" dirty="0">
                <a:latin typeface="Comfortaa" pitchFamily="2" charset="0"/>
              </a:rPr>
              <a:t>Reflection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GB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803026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66305"/>
            <a:ext cx="10515600" cy="411065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dirty="0">
                <a:latin typeface="Comfortaa" pitchFamily="2" charset="0"/>
              </a:rPr>
              <a:t>Кодът става</a:t>
            </a:r>
            <a:r>
              <a:rPr lang="en-GB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по-разширяем</a:t>
            </a:r>
            <a:endParaRPr lang="en-GB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Намалява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значително дължината на кода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dirty="0">
                <a:latin typeface="Comfortaa" pitchFamily="2" charset="0"/>
              </a:rPr>
              <a:t>По-лесна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поддръжка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Тестване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bg-BG" sz="3200" dirty="0">
                <a:latin typeface="Comfortaa" pitchFamily="2" charset="0"/>
              </a:rPr>
              <a:t>Инструменти за</a:t>
            </a:r>
            <a:r>
              <a:rPr lang="en-GB" sz="3200" dirty="0">
                <a:latin typeface="Comfortaa" pitchFamily="2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програмисти</a:t>
            </a:r>
            <a:endParaRPr lang="en-GB" sz="32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 anchorCtr="0"/>
          <a:lstStyle/>
          <a:p>
            <a:r>
              <a:rPr lang="bg-BG" sz="4000" dirty="0">
                <a:latin typeface="Comfortaa" pitchFamily="2" charset="0"/>
              </a:rPr>
              <a:t>Защо и къде да ползваме отражението</a:t>
            </a:r>
            <a:r>
              <a:rPr lang="en-GB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780825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bg-BG" dirty="0">
                <a:latin typeface="Comfortaa" pitchFamily="2" charset="0"/>
              </a:rPr>
              <a:t>Ако 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възможно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 се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извърши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дадена операция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без </a:t>
            </a:r>
            <a:r>
              <a:rPr lang="bg-BG" dirty="0">
                <a:latin typeface="Comfortaa" pitchFamily="2" charset="0"/>
              </a:rPr>
              <a:t>използването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отражение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се препоръчва то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да се избягва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bg-BG" dirty="0">
                <a:latin typeface="Comfortaa" pitchFamily="2" charset="0"/>
              </a:rPr>
              <a:t>Негативи на отражението</a:t>
            </a:r>
            <a:endParaRPr lang="en-GB" dirty="0">
              <a:latin typeface="Comfortaa" pitchFamily="2" charset="0"/>
            </a:endParaRPr>
          </a:p>
          <a:p>
            <a:pPr marL="457200" lvl="2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Бързодействието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страда</a:t>
            </a:r>
            <a:endParaRPr lang="en-GB" dirty="0">
              <a:latin typeface="Comfortaa" pitchFamily="2" charset="0"/>
            </a:endParaRPr>
          </a:p>
          <a:p>
            <a:pPr marL="457200" lvl="2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bg-BG" dirty="0">
                <a:latin typeface="Comfortaa" pitchFamily="2" charset="0"/>
              </a:rPr>
              <a:t>Ограничения в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сигурността</a:t>
            </a:r>
            <a:endParaRPr lang="en-GB" b="1" dirty="0">
              <a:solidFill>
                <a:srgbClr val="00B0F0"/>
              </a:solidFill>
              <a:latin typeface="Comfortaa" pitchFamily="2" charset="0"/>
            </a:endParaRPr>
          </a:p>
          <a:p>
            <a:pPr marL="457200" lvl="2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bg-BG" dirty="0">
                <a:latin typeface="Comfortaa" pitchFamily="2" charset="0"/>
              </a:rPr>
              <a:t>Излагане на</a:t>
            </a:r>
            <a:r>
              <a:rPr lang="en-GB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вътрешната структура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 anchorCtr="0"/>
          <a:lstStyle/>
          <a:p>
            <a:r>
              <a:rPr lang="bg-BG" sz="4000" dirty="0">
                <a:latin typeface="Comfortaa" pitchFamily="2" charset="0"/>
              </a:rPr>
              <a:t>Кога да се ползва отражението</a:t>
            </a:r>
            <a:r>
              <a:rPr lang="en-GB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708814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92A40-9C75-4303-A37D-8E33DB39E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Основен начин за достъп до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метаданните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Извлича се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 време на компилиране, ако е ясно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името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Извлича се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 време на изпълнение</a:t>
            </a:r>
            <a:r>
              <a:rPr lang="bg-BG" dirty="0">
                <a:latin typeface="Comfortaa" pitchFamily="2" charset="0"/>
              </a:rPr>
              <a:t>, ако името</a:t>
            </a:r>
            <a:r>
              <a:rPr lang="en-US" dirty="0">
                <a:latin typeface="Comfortaa" pitchFamily="2" charset="0"/>
              </a:rPr>
              <a:t> e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неизвестно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8039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 </a:t>
            </a:r>
            <a:r>
              <a:rPr lang="en-US" dirty="0">
                <a:latin typeface="Comfortaa" pitchFamily="2" charset="0"/>
              </a:rPr>
              <a:t>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7BC01-D329-49DB-8122-8451C46F8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150" y="2785844"/>
            <a:ext cx="9847025" cy="54014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 myType =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typeof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(ClassName);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89F81-9C34-402B-8E3B-4221F5F0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149" y="4793904"/>
            <a:ext cx="9847025" cy="54014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 myType =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Type.GetType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("Namespace.ClassName")</a:t>
            </a:r>
          </a:p>
        </p:txBody>
      </p:sp>
      <p:sp>
        <p:nvSpPr>
          <p:cNvPr id="11" name="AutoShape 20">
            <a:extLst>
              <a:ext uri="{FF2B5EF4-FFF2-40B4-BE49-F238E27FC236}">
                <a16:creationId xmlns:a16="http://schemas.microsoft.com/office/drawing/2014/main" id="{76740F2C-59A0-493A-930B-A3844E45F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149" y="5599217"/>
            <a:ext cx="9847025" cy="577746"/>
          </a:xfrm>
          <a:prstGeom prst="wedgeRoundRectCallout">
            <a:avLst>
              <a:gd name="adj1" fmla="val 35181"/>
              <a:gd name="adj2" fmla="val -89752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dirty="0">
                <a:latin typeface="Comfortaa" pitchFamily="2" charset="0"/>
              </a:rPr>
              <a:t>Трябва ви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напълно определено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fully qualified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име на класа като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низ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58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925566" y="1954148"/>
            <a:ext cx="10412664" cy="335556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Предоставя  името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класа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Напълно определеното име </a:t>
            </a:r>
            <a:r>
              <a:rPr lang="en-GB" dirty="0">
                <a:latin typeface="Comfortaa" pitchFamily="2" charset="0"/>
              </a:rPr>
              <a:t>-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Type.FullName</a:t>
            </a:r>
            <a:endParaRPr lang="en-US" noProof="1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Името на класа без името на пакета</a:t>
            </a:r>
            <a:r>
              <a:rPr lang="en-US" dirty="0">
                <a:latin typeface="Comfortaa" pitchFamily="2" charset="0"/>
              </a:rPr>
              <a:t> - </a:t>
            </a: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itchFamily="49" charset="0"/>
              </a:rPr>
              <a:t>Type.Name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29557" y="855621"/>
            <a:ext cx="9275482" cy="1056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 </a:t>
            </a:r>
            <a:r>
              <a:rPr lang="en-GB" dirty="0">
                <a:latin typeface="Comfortaa" pitchFamily="2" charset="0"/>
              </a:rPr>
              <a:t>Name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942851" y="3136612"/>
            <a:ext cx="10306297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full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Name = typeOf(SomeClass).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FullName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42851" y="4724937"/>
            <a:ext cx="10306297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simpleName = typeOf(SomeClass).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Name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773199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79704" y="1739322"/>
            <a:ext cx="10085855" cy="429571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основния клас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интерфейсите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spcBef>
                <a:spcPts val="1800"/>
              </a:spcBef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Връща</a:t>
            </a:r>
            <a:r>
              <a:rPr lang="bg-BG" dirty="0">
                <a:latin typeface="Comfortaa" pitchFamily="2" charset="0"/>
              </a:rPr>
              <a:t> само интерфейсите,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изрично декларирани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 имплементирани от дадения клас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79704" y="499237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Основен клас и интерфейси</a:t>
            </a:r>
            <a:endParaRPr lang="en-GB" dirty="0">
              <a:latin typeface="Comforta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ED3296-05C3-4F52-B578-BED9275BA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315" y="2460745"/>
            <a:ext cx="10515601" cy="6041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 baseType = testClass.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BaseType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7D70F5-E8D2-41A1-9D43-B72357257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314" y="4119066"/>
            <a:ext cx="10515601" cy="6041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[]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interfaces = testClass.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GetInterfaces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3972895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59C73F-C8BB-443C-A303-99A93AA26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810" y="1656854"/>
            <a:ext cx="10971602" cy="1242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CreateInstance</a:t>
            </a:r>
            <a:r>
              <a:rPr lang="en-US" sz="2400" dirty="0">
                <a:latin typeface="Comfortaa" pitchFamily="2" charset="0"/>
              </a:rPr>
              <a:t> – </a:t>
            </a:r>
            <a:r>
              <a:rPr lang="bg-BG" sz="2400" dirty="0">
                <a:latin typeface="Comfortaa" pitchFamily="2" charset="0"/>
              </a:rPr>
              <a:t>създава екземпляр от класа чрез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извикване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 конструктора, който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най-добре пасва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 указаните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параметри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.</a:t>
            </a: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94810" y="510639"/>
            <a:ext cx="10515600" cy="1146214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ts val="4000"/>
              </a:lnSpc>
              <a:defRPr/>
            </a:pPr>
            <a:r>
              <a:rPr lang="bg-BG" dirty="0">
                <a:latin typeface="Comfortaa" pitchFamily="2" charset="0"/>
              </a:rPr>
              <a:t>Нова инстанция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94810" y="3286954"/>
            <a:ext cx="10971602" cy="285001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 sbType =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Type.GetType("System.Text.StringBuilder");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StringBuilder sbInstance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(StringBuilder)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Activator.CreateInstance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(sbType);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StringBuilder sbInstCapacity = (StringBuilder)Activator</a:t>
            </a:r>
          </a:p>
          <a:p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.CreateInstance(sbType,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new object[] {10}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2CE1C7E-1157-4CF9-AE6D-61A5E0228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1243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35668" y="1678222"/>
            <a:ext cx="10833199" cy="251584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публичните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полета</a:t>
            </a:r>
            <a:endParaRPr lang="en-US" dirty="0">
              <a:latin typeface="Comfortaa" pitchFamily="2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3000"/>
              </a:spcBef>
            </a:pPr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всички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полета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5668" y="771882"/>
            <a:ext cx="10515600" cy="85612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Отражение на полета</a:t>
            </a:r>
            <a:endParaRPr lang="en-GB" dirty="0">
              <a:latin typeface="Comfortaa" pitchFamily="2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63533" y="2285442"/>
            <a:ext cx="10744200" cy="10772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FieldInfo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field = 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GetField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("name");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FieldInfo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[]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publicFields = 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GetFields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06492" y="4194070"/>
            <a:ext cx="10701242" cy="17173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FieldInfo[] allFields = type.GetFields(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BindingFlags.Static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|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BindingFlags.Instance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|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BindingFlags.Public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|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BindingFlags.NonPublic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46692127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74540-A6C4-4DE2-AA17-BFE4A38E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600"/>
            <a:ext cx="10515600" cy="1041400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Получаване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името и типа </a:t>
            </a:r>
            <a:r>
              <a:rPr lang="bg-BG" dirty="0">
                <a:latin typeface="Comfortaa" pitchFamily="2" charset="0"/>
              </a:rPr>
              <a:t>на полето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304924"/>
            <a:ext cx="10515600" cy="1325563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ts val="4000"/>
              </a:lnSpc>
              <a:defRPr/>
            </a:pPr>
            <a:r>
              <a:rPr lang="bg-BG" dirty="0">
                <a:latin typeface="Comfortaa" pitchFamily="2" charset="0"/>
              </a:rPr>
              <a:t>Тип и име на полето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31971" y="3225800"/>
            <a:ext cx="10328057" cy="16875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FieldInfo field = 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GetField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("fieldName");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fieldName = 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Name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 fieldType = 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FieldType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2920700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2320" y="365125"/>
            <a:ext cx="11381939" cy="1006475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ts val="4000"/>
              </a:lnSpc>
              <a:defRPr/>
            </a:pPr>
            <a:r>
              <a:rPr lang="bg-BG" dirty="0">
                <a:latin typeface="Comfortaa" pitchFamily="2" charset="0"/>
              </a:rPr>
              <a:t>Промяна на поле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2320" y="1371600"/>
            <a:ext cx="11381939" cy="4967514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Type testType = typeof(Test);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 testInstance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(Test) Activator.CreateInstance(testType);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FieldInfo field = testType.GetField("testInt");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field.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SetValue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(testInstance, 5);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fieldValue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(int) field.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GetValue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(testInstance);</a:t>
            </a:r>
          </a:p>
        </p:txBody>
      </p:sp>
      <p:sp>
        <p:nvSpPr>
          <p:cNvPr id="8" name="AutoShape 20"/>
          <p:cNvSpPr>
            <a:spLocks noChangeArrowheads="1"/>
          </p:cNvSpPr>
          <p:nvPr/>
        </p:nvSpPr>
        <p:spPr bwMode="auto">
          <a:xfrm>
            <a:off x="3429000" y="3747523"/>
            <a:ext cx="8150138" cy="838200"/>
          </a:xfrm>
          <a:prstGeom prst="wedgeRoundRectCallout">
            <a:avLst>
              <a:gd name="adj1" fmla="val -59931"/>
              <a:gd name="adj2" fmla="val 58837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b="1" dirty="0">
                <a:solidFill>
                  <a:schemeClr val="bg1"/>
                </a:solidFill>
                <a:latin typeface="Comfortaa" pitchFamily="2" charset="0"/>
              </a:rPr>
              <a:t>Внимание</a:t>
            </a:r>
            <a:r>
              <a:rPr lang="en-US" b="1" dirty="0">
                <a:solidFill>
                  <a:schemeClr val="bg1"/>
                </a:solidFill>
                <a:latin typeface="Comfortaa" pitchFamily="2" charset="0"/>
              </a:rPr>
              <a:t>: </a:t>
            </a:r>
            <a:r>
              <a:rPr lang="bg-BG" b="1" dirty="0">
                <a:solidFill>
                  <a:schemeClr val="bg1"/>
                </a:solidFill>
                <a:latin typeface="Comfortaa" pitchFamily="2" charset="0"/>
              </a:rPr>
              <a:t>използвайте много внимателно,</a:t>
            </a:r>
            <a:r>
              <a:rPr lang="en-US" b="1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chemeClr val="bg1"/>
                </a:solidFill>
                <a:latin typeface="Comfortaa" pitchFamily="2" charset="0"/>
              </a:rPr>
              <a:t>тъй като може да промените вътрешното състояние на обекта</a:t>
            </a:r>
            <a:r>
              <a:rPr lang="en-US" b="1" dirty="0">
                <a:solidFill>
                  <a:schemeClr val="bg1"/>
                </a:solidFill>
                <a:latin typeface="Comfortaa" pitchFamily="2" charset="0"/>
              </a:rPr>
              <a:t>!</a:t>
            </a:r>
            <a:endParaRPr lang="bg-BG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B9C5A3D-01F6-4196-895A-05294357F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7729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8079A9-6DC1-4DBE-8156-36152B06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68" y="1727435"/>
            <a:ext cx="10948770" cy="1126230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Всеки модификатор 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флаг (1 бит)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който е вярно / невярно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Проверка 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модификаторите за достъп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член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 класа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48468" y="589142"/>
            <a:ext cx="10515600" cy="1076997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ts val="4000"/>
              </a:lnSpc>
              <a:defRPr/>
            </a:pPr>
            <a:r>
              <a:rPr lang="bg-BG" dirty="0">
                <a:latin typeface="Comfortaa" pitchFamily="2" charset="0"/>
              </a:rPr>
              <a:t>Модификатори на достъпа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48469" y="2853665"/>
            <a:ext cx="10339124" cy="334245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IsPrivate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// </a:t>
            </a: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частен</a:t>
            </a:r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IsPublic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// </a:t>
            </a: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публичен</a:t>
            </a:r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IsNonPublic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// </a:t>
            </a: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не е публичен</a:t>
            </a:r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IsFamily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// </a:t>
            </a: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защитен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(protected)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field.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IsAssembly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</a:t>
            </a: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вътрешен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(internal)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и т.н.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973366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742900" y="1174994"/>
            <a:ext cx="10210066" cy="270043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конструкторите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всички нестатични конструктори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11703"/>
            <a:ext cx="10515600" cy="963292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Отражение на конструкторите</a:t>
            </a:r>
            <a:r>
              <a:rPr lang="en-US" sz="4000" dirty="0">
                <a:latin typeface="Comfortaa" pitchFamily="2" charset="0"/>
              </a:rPr>
              <a:t> [1/2]</a:t>
            </a:r>
            <a:endParaRPr lang="en-GB" sz="4000" dirty="0">
              <a:latin typeface="Comfortaa" pitchFamily="2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68755" y="1735355"/>
            <a:ext cx="10285045" cy="11757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ConstructorInfo[] publicCtors =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      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GetConstructors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57227" y="3767289"/>
            <a:ext cx="10196573" cy="280076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ConstructorInfo[] allNonStaticCtors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type.GetConstructors(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		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BindingFlags.Instance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|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		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BindingFlags.Public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|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		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BindingFlags.NonPublic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1680015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9542" y="1807097"/>
            <a:ext cx="10326667" cy="2979696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Достъп до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отделен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конструктор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Получаване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типа на параметрите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D085E5-85F3-4E55-8ED1-88289301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22" y="2482270"/>
            <a:ext cx="10482049" cy="10141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ConstructorInfo constructor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type.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GetConstructor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(new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Type[]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parametersType);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DC443-F7C6-440E-AF50-9CBD1717F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751" y="4699853"/>
            <a:ext cx="10482049" cy="54014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Type[] parameterTypes = constructor.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GetParameters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D043C9-D832-2828-0741-2286EB9EA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11703"/>
            <a:ext cx="10515600" cy="963292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Отражение на конструкторите</a:t>
            </a:r>
            <a:r>
              <a:rPr lang="en-US" sz="4000" dirty="0">
                <a:latin typeface="Comfortaa" pitchFamily="2" charset="0"/>
              </a:rPr>
              <a:t> [2/2]</a:t>
            </a:r>
            <a:endParaRPr lang="en-GB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2090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E1BDC9-A93C-4C12-BCA0-63A6CB7B8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81" y="1969949"/>
            <a:ext cx="10948770" cy="59651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Създаване на нови обекти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 помощта на конструктор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62781" y="538197"/>
            <a:ext cx="10515600" cy="1325563"/>
          </a:xfrm>
          <a:prstGeom prst="rect">
            <a:avLst/>
          </a:prstGeom>
        </p:spPr>
        <p:txBody>
          <a:bodyPr anchor="ctr" anchorCtr="0"/>
          <a:lstStyle/>
          <a:p>
            <a:r>
              <a:rPr lang="bg-BG" dirty="0">
                <a:latin typeface="Comfortaa" pitchFamily="2" charset="0"/>
              </a:rPr>
              <a:t>Създаване на нови обекти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62781" y="2819072"/>
            <a:ext cx="10948770" cy="104028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StringBuilder builder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(StringBuilder)constructor.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Invoke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(new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object[]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params);</a:t>
            </a:r>
          </a:p>
        </p:txBody>
      </p:sp>
      <p:sp>
        <p:nvSpPr>
          <p:cNvPr id="6" name="AutoShape 20"/>
          <p:cNvSpPr>
            <a:spLocks noChangeArrowheads="1"/>
          </p:cNvSpPr>
          <p:nvPr/>
        </p:nvSpPr>
        <p:spPr bwMode="auto">
          <a:xfrm>
            <a:off x="4301976" y="4213757"/>
            <a:ext cx="5556974" cy="2277880"/>
          </a:xfrm>
          <a:prstGeom prst="wedgeRoundRectCallout">
            <a:avLst>
              <a:gd name="adj1" fmla="val 34058"/>
              <a:gd name="adj2" fmla="val -68445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Предоставя параметри-обекти за </a:t>
            </a:r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всеки параметър</a:t>
            </a:r>
            <a:r>
              <a:rPr lang="en-US" sz="2400" b="1" dirty="0">
                <a:solidFill>
                  <a:schemeClr val="tx1"/>
                </a:solidFill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в конструктора, който извикваме</a:t>
            </a:r>
            <a:endParaRPr lang="bg-BG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0614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98138" y="1518661"/>
            <a:ext cx="11542799" cy="2567336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Предоставя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публичните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методи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Достъп до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отделен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метод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3337" y="274954"/>
            <a:ext cx="10492364" cy="100031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Отражение на методи</a:t>
            </a:r>
            <a:endParaRPr lang="en-GB" dirty="0">
              <a:latin typeface="Comfortaa" pitchFamily="2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63337" y="2128485"/>
            <a:ext cx="11277600" cy="6041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MethodInfo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[]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publicMethods = sbType.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GetMethods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3337" y="4001056"/>
            <a:ext cx="11277600" cy="225908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MethodInfo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 appendMethod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		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sbType.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GetMethod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("Append");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MethodInfo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 overload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Method = sbType.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GetMethod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 			    "Append", new</a:t>
            </a:r>
            <a:r>
              <a:rPr lang="en-US" sz="3200" b="1" dirty="0">
                <a:solidFill>
                  <a:schemeClr val="bg1"/>
                </a:solidFill>
                <a:latin typeface="Consolas" pitchFamily="49" charset="0"/>
              </a:rPr>
              <a:t> []{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typeof</a:t>
            </a:r>
            <a:r>
              <a:rPr lang="en-US" sz="3200" b="1" dirty="0">
                <a:solidFill>
                  <a:schemeClr val="bg1"/>
                </a:solidFill>
                <a:latin typeface="Consolas" pitchFamily="49" charset="0"/>
              </a:rPr>
              <a:t>(string)}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472236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28603" y="1285458"/>
            <a:ext cx="10938212" cy="3263479"/>
          </a:xfrm>
        </p:spPr>
        <p:txBody>
          <a:bodyPr>
            <a:normAutofit/>
          </a:bodyPr>
          <a:lstStyle/>
          <a:p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Достъп до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параметрите на метод и връщания тип данни</a:t>
            </a:r>
          </a:p>
          <a:p>
            <a:endParaRPr lang="bg-BG" sz="2400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bg-BG" sz="2400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Извиква методи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03" y="431771"/>
            <a:ext cx="10938214" cy="721969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Извикване на метод</a:t>
            </a:r>
            <a:endParaRPr lang="en-GB" dirty="0">
              <a:latin typeface="Comfortaa" pitchFamily="2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28601" y="1874547"/>
            <a:ext cx="10934797" cy="17173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ParameterInfo[] appendParameters =  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			  appendMethod.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GetParameters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Type returnType = appendMethod.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ReturnType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5184" y="4389377"/>
            <a:ext cx="10938214" cy="11757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appendMethod.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Invoke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        builder, new object[] { "hi!“ });</a:t>
            </a:r>
          </a:p>
        </p:txBody>
      </p:sp>
      <p:sp>
        <p:nvSpPr>
          <p:cNvPr id="8" name="AutoShape 20">
            <a:extLst>
              <a:ext uri="{FF2B5EF4-FFF2-40B4-BE49-F238E27FC236}">
                <a16:creationId xmlns:a16="http://schemas.microsoft.com/office/drawing/2014/main" id="{0EF063E3-FB5D-4047-9CD3-209524E5E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399" y="5759478"/>
            <a:ext cx="4419600" cy="709251"/>
          </a:xfrm>
          <a:prstGeom prst="wedgeRoundRectCallout">
            <a:avLst>
              <a:gd name="adj1" fmla="val 41188"/>
              <a:gd name="adj2" fmla="val -88253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sz="2000" dirty="0">
                <a:latin typeface="Comfortaa" pitchFamily="2" charset="0"/>
              </a:rPr>
              <a:t>Екземпляр на обекта-цел</a:t>
            </a:r>
            <a:endParaRPr lang="bg-BG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</a:endParaRPr>
          </a:p>
        </p:txBody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2904EB97-F50B-4F8B-91C2-BBB48E5D8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199" y="3964591"/>
            <a:ext cx="3886200" cy="789939"/>
          </a:xfrm>
          <a:prstGeom prst="wedgeRoundRectCallout">
            <a:avLst>
              <a:gd name="adj1" fmla="val 1913"/>
              <a:gd name="adj2" fmla="val 69988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sz="2000" dirty="0">
                <a:latin typeface="Comfortaa" pitchFamily="2" charset="0"/>
              </a:rPr>
              <a:t>Параметри на метода</a:t>
            </a:r>
            <a:endParaRPr lang="bg-BG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89420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40718" y="3175821"/>
            <a:ext cx="9729564" cy="1325563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bg-BG" sz="3600" dirty="0">
                <a:latin typeface="Comfortaa" pitchFamily="2" charset="0"/>
              </a:rPr>
              <a:t>Какви са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ползите и негативите на използването на отражения</a:t>
            </a:r>
            <a:r>
              <a:rPr lang="en-US" sz="3600" dirty="0">
                <a:latin typeface="Comfortaa" pitchFamily="2" charset="0"/>
              </a:rPr>
              <a:t>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0718" y="1850258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Обобщение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582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1448</Words>
  <Application>Microsoft Office PowerPoint</Application>
  <PresentationFormat>Widescreen</PresentationFormat>
  <Paragraphs>218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Comfortaa</vt:lpstr>
      <vt:lpstr>Consolas</vt:lpstr>
      <vt:lpstr>Office Theme</vt:lpstr>
      <vt:lpstr>Отражение на типове</vt:lpstr>
      <vt:lpstr>Съдържание</vt:lpstr>
      <vt:lpstr>Какво е Метапрограмиране?</vt:lpstr>
      <vt:lpstr>Какво е "отражение на типовете" (Reflection)?</vt:lpstr>
      <vt:lpstr>Защо и къде да ползваме отражението?</vt:lpstr>
      <vt:lpstr>Кога да се ползва отражението?</vt:lpstr>
      <vt:lpstr>Клас Type</vt:lpstr>
      <vt:lpstr>Клас Name</vt:lpstr>
      <vt:lpstr>Основен клас и интерфейси</vt:lpstr>
      <vt:lpstr>Нова инстанция</vt:lpstr>
      <vt:lpstr>Отражение на полета</vt:lpstr>
      <vt:lpstr>Тип и име на полето</vt:lpstr>
      <vt:lpstr>Промяна на поле</vt:lpstr>
      <vt:lpstr>Модификатори на достъпа</vt:lpstr>
      <vt:lpstr>Отражение на конструкторите [1/2]</vt:lpstr>
      <vt:lpstr>Отражение на конструкторите [2/2]</vt:lpstr>
      <vt:lpstr>Създаване на нови обекти</vt:lpstr>
      <vt:lpstr>Отражение на методи</vt:lpstr>
      <vt:lpstr>Извикване на метод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13</cp:revision>
  <dcterms:created xsi:type="dcterms:W3CDTF">2022-08-09T09:25:46Z</dcterms:created>
  <dcterms:modified xsi:type="dcterms:W3CDTF">2022-09-14T16:36:52Z</dcterms:modified>
</cp:coreProperties>
</file>