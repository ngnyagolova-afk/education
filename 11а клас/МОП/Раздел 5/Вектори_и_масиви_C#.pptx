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ЗАГЛАВЕН СЛАЙД</a:t>
            </a:r>
          </a:p>
          <a:p>
            <a:r>
              <a:t>Цел на урока: Учениците да разберат как математическият вектор се реализира като масив в C# и защо тази връзка е фундаментална за програмирането.</a:t>
            </a:r>
          </a:p>
          <a:p/>
          <a:p>
            <a:r>
              <a:t>Въвеждащ въпрос към класа: "Спомняте ли си от миналия час — какво е вектор? Как ще го 'запишем' в компютъра?"</a:t>
            </a:r>
          </a:p>
          <a:p>
            <a:r>
              <a:t>Изчакайте отговори, после преминете към слайд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ПРЕГОВОР — Какво е вектор?</a:t>
            </a:r>
          </a:p>
          <a:p/>
          <a:p>
            <a:r>
              <a:t>Теория за презентатора:</a:t>
            </a:r>
          </a:p>
          <a:p>
            <a:r>
              <a:t>Векторът е математически обект, определен от ПОСОКА и ДЪЛЖИНА (за разлика от точката, която има само позиция, и скалара, който е само число).</a:t>
            </a:r>
          </a:p>
          <a:p/>
          <a:p>
            <a:r>
              <a:t>Ключови понятия:</a:t>
            </a:r>
          </a:p>
          <a:p>
            <a:r>
              <a:t>- Координати: в 2D — (x, y), в 3D — (x, y, z)</a:t>
            </a:r>
          </a:p>
          <a:p>
            <a:r>
              <a:t>- Модул (дължина): |ā| = √(x² + y²) за 2D</a:t>
            </a:r>
          </a:p>
          <a:p>
            <a:r>
              <a:t>- Нулев вектор: всички координати са 0</a:t>
            </a:r>
          </a:p>
          <a:p>
            <a:r>
              <a:t>- Верзор: единичен вектор, показва само посоката</a:t>
            </a:r>
          </a:p>
          <a:p/>
          <a:p>
            <a:r>
              <a:t>Пример за клас: "Ако вятърът духа на изток с 5 м/с, векторът на вятъра е (5, 0). Ако духа на североизток — (3.5, 3.5)."</a:t>
            </a:r>
          </a:p>
          <a:p/>
          <a:p>
            <a:r>
              <a:t>Въпрос: "Как ще съхраним вектора (3, -1, 5) в C#?" → водете към следващия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СВОЙСТВА НА ВЕКТОРИТЕ</a:t>
            </a:r>
          </a:p>
          <a:p/>
          <a:p>
            <a:r>
              <a:t>Теория за презентатора:</a:t>
            </a:r>
          </a:p>
          <a:p>
            <a:r>
              <a:t>Тези свойства са МАТЕМАТИЧЕСКАТА ОСНОВА на всичко, което ще правим в C#.</a:t>
            </a:r>
          </a:p>
          <a:p/>
          <a:p>
            <a:r>
              <a:t>Важни случаи за скаларното произведение:</a:t>
            </a:r>
          </a:p>
          <a:p>
            <a:r>
              <a:t>- ā·b̄ = 0  →  векторите са ПЕРПЕНДИКУЛЯРНИ</a:t>
            </a:r>
          </a:p>
          <a:p>
            <a:r>
              <a:t>- ā·b̄ &gt; 0  →  ъгълът между тях е остър (&lt; 90°)</a:t>
            </a:r>
          </a:p>
          <a:p>
            <a:r>
              <a:t>- ā·b̄ &lt; 0  →  ъгълът между тях е тъп (&gt; 90°)</a:t>
            </a:r>
          </a:p>
          <a:p/>
          <a:p>
            <a:r>
              <a:t>Пример:</a:t>
            </a:r>
          </a:p>
          <a:p>
            <a:r>
              <a:t>ā = (1, 0),  b̄ = (0, 1)  →  ā·b̄ = 1·0 + 0·1 = 0  →  перпендикулярни (90°) ✔</a:t>
            </a:r>
          </a:p>
          <a:p/>
          <a:p>
            <a:r>
              <a:t>Модул: ā = (3, 4)  →  |ā| = √(9+16) = √25 = 5</a:t>
            </a:r>
          </a:p>
          <a:p/>
          <a:p>
            <a:r>
              <a:t>Свържете с C# в следващия слайд: "Всяко от тези действия ще се превърне в for цикъл!".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ГОЛЯМАТА ИДЕЯ</a:t>
            </a:r>
          </a:p>
          <a:p/>
          <a:p>
            <a:r>
              <a:t>Теория за презентатора:</a:t>
            </a:r>
          </a:p>
          <a:p>
            <a:r>
              <a:t>Това е ЦЕНТРАЛНАТА ИДЕЯ на урока — векторът от математиката и масивът в програмирането са едно и също нещо, просто записани по различен начин.</a:t>
            </a:r>
          </a:p>
          <a:p/>
          <a:p>
            <a:r>
              <a:t>Математиката използва индексиране от 1: x₁, x₂, x₃</a:t>
            </a:r>
          </a:p>
          <a:p>
            <a:r>
              <a:t>C# използва индексиране от 0: a[0], a[1], a[2]</a:t>
            </a:r>
          </a:p>
          <a:p>
            <a:r>
              <a:t>→ Това е важна разлика! Напомнете го.</a:t>
            </a:r>
          </a:p>
          <a:p/>
          <a:p>
            <a:r>
              <a:t>Пример за обяснение:</a:t>
            </a:r>
          </a:p>
          <a:p>
            <a:r>
              <a:t>"Векторът ā = (3, -1, 5) е тридimensионен — има 3 координати.</a:t>
            </a:r>
          </a:p>
          <a:p>
            <a:r>
              <a:t>В C# го пишем: double[] a = { 3, -1, 5 };</a:t>
            </a:r>
          </a:p>
          <a:p>
            <a:r>
              <a:t>a[0] = 3   (това е x-координатата)</a:t>
            </a:r>
          </a:p>
          <a:p>
            <a:r>
              <a:t>a[1] = -1  (това е y-координатата)</a:t>
            </a:r>
          </a:p>
          <a:p>
            <a:r>
              <a:t>a[2] = 5   (това е z-координатата)"</a:t>
            </a:r>
          </a:p>
          <a:p/>
          <a:p>
            <a:r>
              <a:t>Въпрос към класа: "Ако имаме 10-мерен вектор, как ще го декларираме в C#?"</a:t>
            </a:r>
          </a:p>
          <a:p>
            <a:r>
              <a:t>Отговор: double[] a = new double[10];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ТАБЛИЦА С ПАРАЛЕЛИ</a:t>
            </a:r>
          </a:p>
          <a:p/>
          <a:p>
            <a:r>
              <a:t>Използвайте тази таблица като справочник — можете да се върнете към нея по всяко време на урока.</a:t>
            </a:r>
          </a:p>
          <a:p/>
          <a:p>
            <a:r>
              <a:t>Важни акценти:</a:t>
            </a:r>
          </a:p>
          <a:p>
            <a:r>
              <a:t>1. Индексиране от 0: В математиката x₁ е първата координата, в C# a[0] е първият елемент.</a:t>
            </a:r>
          </a:p>
          <a:p>
            <a:r>
              <a:t>2. for цикълът е универсалният инструмент за операции с вектори.</a:t>
            </a:r>
          </a:p>
          <a:p>
            <a:r>
              <a:t>3. Скаларното произведение дава ЧИСЛО (не вектор!) — това е честа грешка при учениците.</a:t>
            </a:r>
          </a:p>
          <a:p/>
          <a:p>
            <a:r>
              <a:t>Пример за скаларно произведение:</a:t>
            </a:r>
          </a:p>
          <a:p>
            <a:r>
              <a:t>ā = (1, 2, 3),  b̄ = (4, 5, 6)</a:t>
            </a:r>
          </a:p>
          <a:p>
            <a:r>
              <a:t>ā·b̄ = 1·4 + 2·5 + 3·6 = 4 + 10 + 18 = 32</a:t>
            </a:r>
          </a:p>
          <a:p/>
          <a:p>
            <a:r>
              <a:t>Пример за модул:</a:t>
            </a:r>
          </a:p>
          <a:p>
            <a:r>
              <a:t>ā = (3, 4)  →  |ā| = √(9+16) =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C# КОД: СЪБИРАНЕ И УМНОЖЕНИЕ</a:t>
            </a:r>
          </a:p>
          <a:p/>
          <a:p>
            <a:r>
              <a:t>Теория за презентатора:</a:t>
            </a:r>
          </a:p>
          <a:p>
            <a:r>
              <a:t>И двете операции следват един и същ МОДЕЛ:</a:t>
            </a:r>
          </a:p>
          <a:p>
            <a:r>
              <a:t>1. Създаваме нов масив с размера на входните</a:t>
            </a:r>
          </a:p>
          <a:p>
            <a:r>
              <a:t>2. Обхождаме с for цикъл всеки индекс</a:t>
            </a:r>
          </a:p>
          <a:p>
            <a:r>
              <a:t>3. Прилагаме операцията елемент по елемент</a:t>
            </a:r>
          </a:p>
          <a:p>
            <a:r>
              <a:t>4. Връщаме резултата</a:t>
            </a:r>
          </a:p>
          <a:p/>
          <a:p>
            <a:r>
              <a:t>ВАЖНО — типична грешка на учениците:</a:t>
            </a:r>
          </a:p>
          <a:p>
            <a:r>
              <a:t>double[] c = a;  // ГРЕШНО! c и a сочат към един и същ масив!</a:t>
            </a:r>
          </a:p>
          <a:p>
            <a:r>
              <a:t>double[] c = new double[a.Length];  // ПРАВИЛНО!</a:t>
            </a:r>
          </a:p>
          <a:p/>
          <a:p>
            <a:r>
              <a:t>Демонстрация на дъската:</a:t>
            </a:r>
          </a:p>
          <a:p>
            <a:r>
              <a:t>ā = (1, 2, 3)   b̄ = (4, 5, 6)</a:t>
            </a:r>
          </a:p>
          <a:p>
            <a:r>
              <a:t>i=0: c[0] = a[0]+b[0] = 1+4 = 5</a:t>
            </a:r>
          </a:p>
          <a:p>
            <a:r>
              <a:t>i=1: c[1] = a[1]+b[1] = 2+5 = 7</a:t>
            </a:r>
          </a:p>
          <a:p>
            <a:r>
              <a:t>i=2: c[2] = a[2]+b[2] = 3+6 = 9</a:t>
            </a:r>
          </a:p>
          <a:p>
            <a:r>
              <a:t>Резултат: c = (5, 7, 9) ✔</a:t>
            </a:r>
          </a:p>
          <a:p/>
          <a:p>
            <a:r>
              <a:t>Scale(a, 2): умножаваме всеки елемент по 2 → (2, 4, 6)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МОДУЛ И СКАЛАРНО ПРОИЗВЕДЕНИЕ</a:t>
            </a:r>
          </a:p>
          <a:p/>
          <a:p>
            <a:r>
              <a:t>Теория за презентатора:</a:t>
            </a:r>
          </a:p>
          <a:p>
            <a:r>
              <a:t>Модулът (Magnitude) дава ДЪЛЖИНАТА на вектора:</a:t>
            </a:r>
          </a:p>
          <a:p>
            <a:r>
              <a:t>|ā| = √(x₁² + x₂² + ... + xₙ²)</a:t>
            </a:r>
          </a:p>
          <a:p>
            <a:r>
              <a:t>Това е просто Питагоровата теорема в n-мерно пространство!</a:t>
            </a:r>
          </a:p>
          <a:p/>
          <a:p>
            <a:r>
              <a:t>Скаларното произведение (Dot Product):</a:t>
            </a:r>
          </a:p>
          <a:p>
            <a:r>
              <a:t>ā·b̄ = x₁y₁ + x₂y₂ + ... + xₙyₙ</a:t>
            </a:r>
          </a:p>
          <a:p/>
          <a:p>
            <a:r>
              <a:t>Критично важно приложение:</a:t>
            </a:r>
          </a:p>
          <a:p>
            <a:r>
              <a:t>Ако DotProduct(a, b) == 0, то a ⊥ b (перпендикулярни)</a:t>
            </a:r>
          </a:p>
          <a:p>
            <a:r>
              <a:t>→ Това се използва НАВСЯКЪДЕ в графиката и физиката на игрите!</a:t>
            </a:r>
          </a:p>
          <a:p/>
          <a:p>
            <a:r>
              <a:t>Пример:</a:t>
            </a:r>
          </a:p>
          <a:p>
            <a:r>
              <a:t>ā = (3, 4, 0):  Magnitude = √(9+16+0) = √25 = 5</a:t>
            </a:r>
          </a:p>
          <a:p>
            <a:r>
              <a:t>ā = (1, 0, 0),  b̄ = (0, 1, 0):  DotProduct = 0  →  оси x и y са ⊥</a:t>
            </a:r>
          </a:p>
          <a:p/>
          <a:p>
            <a:r>
              <a:t>Въпрос: "Как да проверим дали два вектора са перпендикулярни?"</a:t>
            </a:r>
          </a:p>
          <a:p>
            <a:r>
              <a:t>Отговор: DotProduct(a, b) == 0 (или Math.Abs(...) &lt; 0.0001 за реални числа)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НОРМАЛИЗИРАНЕ</a:t>
            </a:r>
          </a:p>
          <a:p/>
          <a:p>
            <a:r>
              <a:t>Теория за презентатора:</a:t>
            </a:r>
          </a:p>
          <a:p>
            <a:r>
              <a:t>Нормализирането (normalization) превръща вектора в единичен вектор (верзор):</a:t>
            </a:r>
          </a:p>
          <a:p>
            <a:r>
              <a:t>â = ā / |ā|</a:t>
            </a:r>
          </a:p>
          <a:p/>
          <a:p>
            <a:r>
              <a:t>Резултатът:</a:t>
            </a:r>
          </a:p>
          <a:p>
            <a:r>
              <a:t>- Има СЪЩАТА ПОСОКА като оригиналния вектор</a:t>
            </a:r>
          </a:p>
          <a:p>
            <a:r>
              <a:t>- Има ДЪЛЖИНА = 1</a:t>
            </a:r>
          </a:p>
          <a:p/>
          <a:p>
            <a:r>
              <a:t>Пример:</a:t>
            </a:r>
          </a:p>
          <a:p>
            <a:r>
              <a:t>ā = (3, 4, 0)</a:t>
            </a:r>
          </a:p>
          <a:p>
            <a:r>
              <a:t>|ā| = 5</a:t>
            </a:r>
          </a:p>
          <a:p>
            <a:r>
              <a:t>â = (3/5, 4/5, 0) = (0.6, 0.8, 0)</a:t>
            </a:r>
          </a:p>
          <a:p>
            <a:r>
              <a:t>|â| = √(0.36 + 0.64 + 0) = √1 = 1 ✔</a:t>
            </a:r>
          </a:p>
          <a:p/>
          <a:p>
            <a:r>
              <a:t>Реално приложение (Unity):</a:t>
            </a:r>
          </a:p>
          <a:p>
            <a:r>
              <a:t>В игрите, когато движим персонаж:</a:t>
            </a:r>
          </a:p>
          <a:p>
            <a:r>
              <a:t>Vector3 dir = new Vector3(dx, 0, dz).normalized;</a:t>
            </a:r>
          </a:p>
          <a:p>
            <a:r>
              <a:t>transform.position += dir * speed * Time.deltaTime;</a:t>
            </a:r>
          </a:p>
          <a:p>
            <a:r>
              <a:t>Без нормализиране, движението по диагонал е по-бързо (√2 пъти)!</a:t>
            </a:r>
          </a:p>
          <a:p/>
          <a:p>
            <a:r>
              <a:t>Грешка: Никога не нормализирайте нулевия вектор (деление на нула)!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ЗАЩО УЧИМ ВЕКТОРИ?</a:t>
            </a:r>
          </a:p>
          <a:p/>
          <a:p>
            <a:r>
              <a:t>Цел на слайда: Мотивация! Учениците трябва да разберат, че това НЕ е абстрактна математика.</a:t>
            </a:r>
          </a:p>
          <a:p/>
          <a:p>
            <a:r>
              <a:t>Разкажете историята с ChatGPT (много впечатлява!):</a:t>
            </a:r>
          </a:p>
          <a:p>
            <a:r>
              <a:t>"ChatGPT представя всяка дума като вектор от 1536 числа. Когато GPT 'разбира' текст, той всъщност извършва операции с вектори — ТОЧНО КАТО ТЕ ПРАВЯТ ДНЕС!</a:t>
            </a:r>
          </a:p>
          <a:p>
            <a:r>
              <a:t>Сходството между думи се изчислява с... скаларно произведение!"</a:t>
            </a:r>
          </a:p>
          <a:p/>
          <a:p>
            <a:r>
              <a:t>За Unity:</a:t>
            </a:r>
          </a:p>
          <a:p>
            <a:r>
              <a:t>"Ако искате да правите игри с Unity — 90% от кода работи с Vector2 и Vector3. Всичко, което учите днес, е директно приложимо."</a:t>
            </a:r>
          </a:p>
          <a:p/>
          <a:p>
            <a:r>
              <a:t>За Netflix/Spotify:</a:t>
            </a:r>
          </a:p>
          <a:p>
            <a:r>
              <a:t>"Когато Spotify ви препоръчва песен, той изчислява скаларното произведение между вектора на вашите предпочитания и векторите на песните."</a:t>
            </a:r>
          </a:p>
          <a:p/>
          <a:p>
            <a:r>
              <a:t>Въпрос: "Кой от тези примери ви е най-интересен?"</a:t>
            </a:r>
          </a:p>
          <a:p>
            <a:r>
              <a:t>→ Нека учениците споделят.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UNITY + C# — Vector3</a:t>
            </a:r>
          </a:p>
          <a:p/>
          <a:p>
            <a:r>
              <a:t>Теория за презентатора:</a:t>
            </a:r>
          </a:p>
          <a:p>
            <a:r>
              <a:t>Unity е безплатен game engine, използван от МНОГО компании. C# е основният му език. Vector3 е вградена структура, която е точно 3D вектор.</a:t>
            </a:r>
          </a:p>
          <a:p/>
          <a:p>
            <a:r>
              <a:t>Обяснение на кода:</a:t>
            </a:r>
          </a:p>
          <a:p>
            <a:r>
              <a:t>1. Input.GetAxis("Horizontal") → стойност -1 до 1 (клавиши A/D или стрелки)</a:t>
            </a:r>
          </a:p>
          <a:p>
            <a:r>
              <a:t>2. dir = нов вектор (вляво/вдясно, нагоре/надолу, напред/назад)</a:t>
            </a:r>
          </a:p>
          <a:p>
            <a:r>
              <a:t>3. dir.normalized → единичен вектор (без него движението по диагонал е по-бързо!)</a:t>
            </a:r>
          </a:p>
          <a:p>
            <a:r>
              <a:t>4. transform.position += dir * speed * Time.deltaTime</a:t>
            </a:r>
          </a:p>
          <a:p>
            <a:r>
              <a:t>   → позицията се мести в посоката на вектора</a:t>
            </a:r>
          </a:p>
          <a:p>
            <a:r>
              <a:t>   → Time.deltaTime гарантира еднаква скорост на всички компютри</a:t>
            </a:r>
          </a:p>
          <a:p/>
          <a:p>
            <a:r>
              <a:t>Връзка с урока:</a:t>
            </a:r>
          </a:p>
          <a:p>
            <a:r>
              <a:t>transform.position е Vector3 = (x, y, z) = double[3]</a:t>
            </a:r>
          </a:p>
          <a:p>
            <a:r>
              <a:t>dir.magnitude е точно Magnitude() функцията от предния слайд!</a:t>
            </a:r>
          </a:p>
          <a:p>
            <a:r>
              <a:t>dir.normalized е точно Normalize() функцията от предния слайд!</a:t>
            </a:r>
          </a:p>
          <a:p/>
          <a:p>
            <a:r>
              <a:t>Кажете: "Кодът, който написахте в C# Console App, е ИДЕНТИЧЕН с кода в Unity!".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ДИГИТАЛНИ ИГРИ И РЕСУРСИ</a:t>
            </a:r>
          </a:p>
          <a:p/>
          <a:p>
            <a:r>
              <a:t>Препоръки за ползване в клас:</a:t>
            </a:r>
          </a:p>
          <a:p/>
          <a:p>
            <a:r>
              <a:t>GeoGebra (СИЛНО препоръчително!):</a:t>
            </a:r>
          </a:p>
          <a:p>
            <a:r>
              <a:t>- Отидете на geogebra.org/classic</a:t>
            </a:r>
          </a:p>
          <a:p>
            <a:r>
              <a:t>- Нарисувайте два вектора, покажете тяхната сума графично</a:t>
            </a:r>
          </a:p>
          <a:p>
            <a:r>
              <a:t>- Пресметнете скаларното произведение и покажете геометричния смисъл</a:t>
            </a:r>
          </a:p>
          <a:p>
            <a:r>
              <a:t>- Безплатно, работи в браузъра, без регистрация</a:t>
            </a:r>
          </a:p>
          <a:p/>
          <a:p>
            <a:r>
              <a:t>Kahoot в клас:</a:t>
            </a:r>
          </a:p>
          <a:p>
            <a:r>
              <a:t>- Създайте 5-6 въпроса за следващия час (10 минути)</a:t>
            </a:r>
          </a:p>
          <a:p>
            <a:r>
              <a:t>- Или намерете готова викторина по "vectors"</a:t>
            </a:r>
          </a:p>
          <a:p>
            <a:r>
              <a:t>- Учениците играят с телефоните си</a:t>
            </a:r>
          </a:p>
          <a:p/>
          <a:p>
            <a:r>
              <a:t>Unity Learn:</a:t>
            </a:r>
          </a:p>
          <a:p>
            <a:r>
              <a:t>- Препоръчайте за домашна работа</a:t>
            </a:r>
          </a:p>
          <a:p>
            <a:r>
              <a:t>- "Create with Code" е безплатен и с награди (сертификат!)</a:t>
            </a:r>
          </a:p>
          <a:p>
            <a:r>
              <a:t>- Учениците, интересуващи се от игри, ще го харесат</a:t>
            </a:r>
          </a:p>
          <a:p/>
          <a:p>
            <a:r>
              <a:t>Khan Academy:</a:t>
            </a:r>
          </a:p>
          <a:p>
            <a:r>
              <a:t>- Има СТРАХОТНИ видеа по линейна алгебра</a:t>
            </a:r>
          </a:p>
          <a:p>
            <a:r>
              <a:t>- Препоръчайте за допълнително изучаване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УПРАЖНЕНИЕ — ОПИСАНИЕ</a:t>
            </a:r>
          </a:p>
          <a:p/>
          <a:p>
            <a:r>
              <a:t>Организация:</a:t>
            </a:r>
          </a:p>
          <a:p>
            <a:r>
              <a:t>- Индивидуална работа: 10-12 минути</a:t>
            </a:r>
          </a:p>
          <a:p>
            <a:r>
              <a:t>- После: преглед на решенията заедно</a:t>
            </a:r>
          </a:p>
          <a:p/>
          <a:p>
            <a:r>
              <a:t>Насоки ако учениците заседнат:</a:t>
            </a:r>
          </a:p>
          <a:p>
            <a:r>
              <a:t>"Имате нужда от 4 метода — Add(), DotProduct(), Magnitude() — вече ги написахте заедно! Просто ги извикайте от VectorInfo."</a:t>
            </a:r>
          </a:p>
          <a:p/>
          <a:p>
            <a:r>
              <a:t>Проверка на перпендикулярност:</a:t>
            </a:r>
          </a:p>
          <a:p>
            <a:r>
              <a:t>bool isPerp = Math.Abs(DotProduct(a, b)) &lt; 0.0001;</a:t>
            </a:r>
          </a:p>
          <a:p>
            <a:r>
              <a:t>(Не == 0, защото реалните числа имат грешка при закръгление!)</a:t>
            </a:r>
          </a:p>
          <a:p/>
          <a:p>
            <a:r>
              <a:t>Разширена задача (за бързите):</a:t>
            </a:r>
          </a:p>
          <a:p>
            <a:r>
              <a:t>Добавете метод Angle(a, b), който изчислява ъгъла между двата вектора:</a:t>
            </a:r>
          </a:p>
          <a:p>
            <a:r>
              <a:t>double angle = Math.Acos(DotProduct(a,b) / (Magnitude(a) * Magnitude(b)));</a:t>
            </a:r>
          </a:p>
          <a:p>
            <a:r>
              <a:t>double degrees = angle * 180 / Math.PI;</a:t>
            </a:r>
          </a:p>
          <a:p/>
          <a:p>
            <a:r>
              <a:t>Очакван изход за тест данните:</a:t>
            </a:r>
          </a:p>
          <a:p>
            <a:r>
              <a:t>Сума: [-1, 7, 0]</a:t>
            </a:r>
          </a:p>
          <a:p>
            <a:r>
              <a:t>Скаларно произведение: 0</a:t>
            </a:r>
          </a:p>
          <a:p>
            <a:r>
              <a:t>Модул на a: 5</a:t>
            </a:r>
          </a:p>
          <a:p>
            <a:r>
              <a:t>Перпендикулярни: ДА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 ЗА УПРАЖНЕНИЕТО</a:t>
            </a:r>
          </a:p>
          <a:p/>
          <a:p>
            <a:r>
              <a:t>Показвайте този слайд СЛЕД като учениците са опитали сами.</a:t>
            </a:r>
          </a:p>
          <a:p/>
          <a:p>
            <a:r>
              <a:t>Обяснение на шаблона:</a:t>
            </a:r>
          </a:p>
          <a:p>
            <a:r>
              <a:t>1. Трите метода (Add, DotProduct, Magnitude) са НЕПОПЪЛНЕНИ — учениците ги пишат.</a:t>
            </a:r>
          </a:p>
          <a:p>
            <a:r>
              <a:t>2. VectorInfo() е вече написан — показва как да се използват методите.</a:t>
            </a:r>
          </a:p>
          <a:p>
            <a:r>
              <a:t>3. Math.Abs(dot) &lt; 0.0001 вместо dot == 0 — за реални числа!</a:t>
            </a:r>
          </a:p>
          <a:p/>
          <a:p>
            <a:r>
              <a:t>Console.Write vs Console.WriteLine:</a:t>
            </a:r>
          </a:p>
          <a:p>
            <a:r>
              <a:t>- Write: принтира без нов ред</a:t>
            </a:r>
          </a:p>
          <a:p>
            <a:r>
              <a:t>- WriteLine: принтира с нов ред</a:t>
            </a:r>
          </a:p>
          <a:p>
            <a:r>
              <a:t>→ Използваме Write в for цикъла, за да принтираме масива на един ред.</a:t>
            </a:r>
          </a:p>
          <a:p/>
          <a:p>
            <a:r>
              <a:t>Форматиране:</a:t>
            </a:r>
          </a:p>
          <a:p>
            <a:r>
              <a:t>$"Модул: {mag:F4}" → принтира с 4 десетични знака</a:t>
            </a:r>
          </a:p>
          <a:p>
            <a:r>
              <a:t>Пример: 5.0000</a:t>
            </a:r>
          </a:p>
          <a:p/>
          <a:p>
            <a:r>
              <a:t>Разговор след упражнението:</a:t>
            </a:r>
          </a:p>
          <a:p>
            <a:r>
              <a:t>"Забелязахте ли, че Add(), DotProduct() и Magnitude() следват ЕДИН И СЪЩ МОДЕЛ?</a:t>
            </a:r>
          </a:p>
          <a:p>
            <a:r>
              <a:t>for цикъл + операция + return резултат"</a:t>
            </a:r>
          </a:p>
          <a:p>
            <a:r>
              <a:t>→ Това е СИЛАТА на масивите!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LINQ И FOREACH — БОНУС СЛАЙД</a:t>
            </a:r>
          </a:p>
          <a:p/>
          <a:p>
            <a:r>
              <a:t>Покажете само ако времето позволява или за бързите ученици.</a:t>
            </a:r>
          </a:p>
          <a:p/>
          <a:p>
            <a:r>
              <a:t>Обяснение на LINQ:</a:t>
            </a:r>
          </a:p>
          <a:p>
            <a:r>
              <a:t>LINQ = Language Integrated Query — позволява операции с колекции като едно изречение.</a:t>
            </a:r>
          </a:p>
          <a:p>
            <a:r>
              <a:t>a.Select(x =&gt; x*x) → трансформира всеки елемент (lambda функция)</a:t>
            </a:r>
          </a:p>
          <a:p>
            <a:r>
              <a:t>.Sum() → сумира всички елементи</a:t>
            </a:r>
          </a:p>
          <a:p>
            <a:r>
              <a:t>a.Zip(b, (x,y) =&gt; x*y) → комбинира два масива елемент по елемент</a:t>
            </a:r>
          </a:p>
          <a:p/>
          <a:p>
            <a:r>
              <a:t>Кога да използваме for vs LINQ vs foreach:</a:t>
            </a:r>
          </a:p>
          <a:p>
            <a:r>
              <a:t>- for: когато ни трябва индексът i</a:t>
            </a:r>
          </a:p>
          <a:p>
            <a:r>
              <a:t>- foreach: когато само четем елементите</a:t>
            </a:r>
          </a:p>
          <a:p>
            <a:r>
              <a:t>- LINQ: когато искаме кратък, функционален запис</a:t>
            </a:r>
          </a:p>
          <a:p/>
          <a:p>
            <a:r>
              <a:t>string.Join(", ", a):</a:t>
            </a:r>
          </a:p>
          <a:p>
            <a:r>
              <a:t>Превръща масива в стринг: [3, -1, 5] → "3, -1, 5"</a:t>
            </a:r>
          </a:p>
          <a:p>
            <a:r>
              <a:t>Много полезно за принтиране!</a:t>
            </a:r>
          </a:p>
          <a:p/>
          <a:p>
            <a:r>
              <a:t>Това е НАПРЕДНАЛ материал — не е задължителен за упражнението.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ОБОБЩЕНИЕ — ФИНАЛЕН СЛАЙД</a:t>
            </a:r>
          </a:p>
          <a:p/>
          <a:p>
            <a:r>
              <a:t>Затваряне на урока (5 минути):</a:t>
            </a:r>
          </a:p>
          <a:p/>
          <a:p>
            <a:r>
              <a:t>Въпроси за проверка на разбирането:</a:t>
            </a:r>
          </a:p>
          <a:p>
            <a:r>
              <a:t>1. "Как декларираме 4D вектор ā = (1, 2, 3, 4) в C#?"</a:t>
            </a:r>
          </a:p>
          <a:p>
            <a:r>
              <a:t>   → double[] a = { 1, 2, 3, 4 };</a:t>
            </a:r>
          </a:p>
          <a:p/>
          <a:p>
            <a:r>
              <a:t>2. "Кой индекс е третата координата на вектора?"</a:t>
            </a:r>
          </a:p>
          <a:p>
            <a:r>
              <a:t>   → a[2]  (индексиране от 0!)</a:t>
            </a:r>
          </a:p>
          <a:p/>
          <a:p>
            <a:r>
              <a:t>3. "Два вектора са перпендикулярни. Какво е скаларното им произведение?"</a:t>
            </a:r>
          </a:p>
          <a:p>
            <a:r>
              <a:t>   → 0</a:t>
            </a:r>
          </a:p>
          <a:p/>
          <a:p>
            <a:r>
              <a:t>4. "Как изчисляваме модула?"</a:t>
            </a:r>
          </a:p>
          <a:p>
            <a:r>
              <a:t>   → Math.Sqrt(a[0]*a[0] + a[1]*a[1] + ...) или с Magnitude() метода</a:t>
            </a:r>
          </a:p>
          <a:p/>
          <a:p>
            <a:r>
              <a:t>Домашна работа (по желание):</a:t>
            </a:r>
          </a:p>
          <a:p>
            <a:r>
              <a:t>- Напишете метод Angle(a, b) — ъгъл между два вектора в градуси</a:t>
            </a:r>
          </a:p>
          <a:p>
            <a:r>
              <a:t>- Отидете на geogebra.org и нарисувайте сумата на два вектора</a:t>
            </a:r>
          </a:p>
          <a:p>
            <a:r>
              <a:t>- Разгледайте Unity Learn: "Create with Code"</a:t>
            </a:r>
          </a:p>
          <a:p/>
          <a:p>
            <a:r>
              <a:t>Следващ урок: Задачи с вектори — прилагаме всичко наученото.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88952" cy="64008"/>
          </a:xfrm>
          <a:prstGeom prst="rect">
            <a:avLst/>
          </a:prstGeom>
          <a:solidFill>
            <a:srgbClr val="00B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B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B0FF"/>
                </a:solidFill>
              </a:rPr>
              <a:t>МОП  ·  Раздел 5  ·  11А клас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Връзка между вектори
и масиви в програмирането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2900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B3C5FF"/>
                </a:solidFill>
              </a:rPr>
              <a:t>C# · Unity · Реални приложения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7890AA"/>
                </a:solidFill>
              </a:rPr>
              <a:t>← Предишен урок: Вектор. Свойства на векторите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2648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07090"/>
                </a:solidFill>
              </a:rPr>
              <a:t>Нели Няголова  ·  2025/2026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0"/>
            <a:ext cx="12188952" cy="64008"/>
          </a:xfrm>
          <a:prstGeom prst="rect">
            <a:avLst/>
          </a:prstGeom>
          <a:solidFill>
            <a:srgbClr val="00B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🔁 Преговор — Какво е вектор?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6868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00B0FF"/>
                </a:solidFill>
              </a:rPr>
              <a:t>От предишния урок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600200"/>
            <a:ext cx="11521440" cy="5029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400" b="1">
                <a:solidFill>
                  <a:srgbClr val="1A237E"/>
                </a:solidFill>
              </a:rPr>
              <a:t>📐  Вектор = насочена отсечка с начало и край</a:t>
            </a:r>
          </a:p>
          <a:p>
            <a:pPr>
              <a:spcBef>
                <a:spcPts val="800"/>
              </a:spcBef>
            </a:pPr>
            <a:r>
              <a:rPr sz="2400" b="0">
                <a:solidFill>
                  <a:srgbClr val="333333"/>
                </a:solidFill>
              </a:rPr>
              <a:t/>
            </a:r>
          </a:p>
          <a:p>
            <a:pPr>
              <a:spcBef>
                <a:spcPts val="800"/>
              </a:spcBef>
            </a:pPr>
            <a:r>
              <a:rPr sz="2400" b="0">
                <a:solidFill>
                  <a:srgbClr val="333333"/>
                </a:solidFill>
              </a:rPr>
              <a:t>▸  Означение:  ā  или  AB⃗</a:t>
            </a:r>
          </a:p>
          <a:p>
            <a:pPr>
              <a:spcBef>
                <a:spcPts val="800"/>
              </a:spcBef>
            </a:pPr>
            <a:r>
              <a:rPr sz="2400" b="0">
                <a:solidFill>
                  <a:srgbClr val="333333"/>
                </a:solidFill>
              </a:rPr>
              <a:t>▸  Характеристики:  посока  +  дължина (модул)</a:t>
            </a:r>
          </a:p>
          <a:p>
            <a:pPr>
              <a:spcBef>
                <a:spcPts val="800"/>
              </a:spcBef>
            </a:pPr>
            <a:r>
              <a:rPr sz="2400" b="0">
                <a:solidFill>
                  <a:srgbClr val="333333"/>
                </a:solidFill>
              </a:rPr>
              <a:t>▸  В равнината:  ā = (x, y)  — две координати</a:t>
            </a:r>
          </a:p>
          <a:p>
            <a:pPr>
              <a:spcBef>
                <a:spcPts val="800"/>
              </a:spcBef>
            </a:pPr>
            <a:r>
              <a:rPr sz="2400" b="0">
                <a:solidFill>
                  <a:srgbClr val="333333"/>
                </a:solidFill>
              </a:rPr>
              <a:t>▸  В пространството:  ā = (x, y, z)  — три координати</a:t>
            </a:r>
          </a:p>
          <a:p>
            <a:pPr>
              <a:spcBef>
                <a:spcPts val="800"/>
              </a:spcBef>
            </a:pPr>
            <a:r>
              <a:rPr sz="2400" b="0">
                <a:solidFill>
                  <a:srgbClr val="333333"/>
                </a:solidFill>
              </a:rPr>
              <a:t>▸  Нулев вектор:  0̄ = (0, 0)  или  (0, 0, 0)</a:t>
            </a:r>
          </a:p>
          <a:p>
            <a:pPr>
              <a:spcBef>
                <a:spcPts val="800"/>
              </a:spcBef>
            </a:pPr>
            <a:r>
              <a:rPr sz="2400" b="0">
                <a:solidFill>
                  <a:srgbClr val="333333"/>
                </a:solidFill>
              </a:rPr>
              <a:t>▸  Единичен вектор (верзор):  |ā| =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0"/>
            <a:ext cx="12188952" cy="64008"/>
          </a:xfrm>
          <a:prstGeom prst="rect">
            <a:avLst/>
          </a:prstGeom>
          <a:solidFill>
            <a:srgbClr val="00B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🔁 Преговор — Свойства на векторите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6868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00B0FF"/>
                </a:solidFill>
              </a:rPr>
              <a:t>Правилата, по които работят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600200"/>
            <a:ext cx="5577840" cy="5029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237E"/>
                </a:solidFill>
              </a:rPr>
              <a:t>➕  Аритметични свойства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4028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2200" b="0">
                <a:solidFill>
                  <a:srgbClr val="333333"/>
                </a:solidFill>
              </a:rPr>
              <a:t>▸  Събиране:  ā + b̄ = (x₁+x₂, y₁+y₂)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333333"/>
                </a:solidFill>
              </a:rPr>
              <a:t>▸  Комутативност:  ā + b̄ = b̄ + ā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333333"/>
                </a:solidFill>
              </a:rPr>
              <a:t>▸  Асоциативност:  (ā+b̄)+c̄ = ā+(b̄+c̄)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333333"/>
                </a:solidFill>
              </a:rPr>
              <a:t>▸  Умножение по скалар:  k·ā = (kx, ky)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333333"/>
                </a:solidFill>
              </a:rPr>
              <a:t>▸  Нулев елемент:  ā + 0̄ = 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600200"/>
            <a:ext cx="5577840" cy="50292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7373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6D00"/>
                </a:solidFill>
              </a:rPr>
              <a:t>🔢  Специални операции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24028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2200" b="0">
                <a:solidFill>
                  <a:srgbClr val="333333"/>
                </a:solidFill>
              </a:rPr>
              <a:t>▸  Модул:  |ā| = √(x²+y²+z²)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333333"/>
                </a:solidFill>
              </a:rPr>
              <a:t>▸  Скаларно произведение: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1A5E00"/>
                </a:solidFill>
              </a:rPr>
              <a:t>    ā·b̄ = x₁x₂ + y₁y₂ + z₁z₂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333333"/>
                </a:solidFill>
              </a:rPr>
              <a:t>▸  Ако  ā·b̄ = 0  →  ā ⊥ b̄</a:t>
            </a:r>
          </a:p>
          <a:p>
            <a:pPr>
              <a:spcBef>
                <a:spcPts val="1000"/>
              </a:spcBef>
            </a:pPr>
            <a:r>
              <a:rPr sz="2200" b="0">
                <a:solidFill>
                  <a:srgbClr val="333333"/>
                </a:solidFill>
              </a:rPr>
              <a:t>▸  Ъгъл:  cos θ = ā·b̄ / (|ā|·|b̄|)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0"/>
            <a:ext cx="12188952" cy="64008"/>
          </a:xfrm>
          <a:prstGeom prst="rect">
            <a:avLst/>
          </a:prstGeom>
          <a:solidFill>
            <a:srgbClr val="00B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💡 Голямата идея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6868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00B0FF"/>
                </a:solidFill>
              </a:rPr>
              <a:t>Векторът е масив — масивът е вектор!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600200"/>
            <a:ext cx="11521440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19072"/>
            <a:ext cx="11247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  ā = (3,  -1,  5)   ←→   double[] a = { 3, -1, 5 };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697480"/>
            <a:ext cx="5394960" cy="38404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8346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237E"/>
                </a:solidFill>
              </a:rPr>
              <a:t>📐  Математика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337560"/>
            <a:ext cx="50292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</a:pPr>
            <a:r>
              <a:rPr sz="2200" b="0">
                <a:solidFill>
                  <a:srgbClr val="333333"/>
                </a:solidFill>
              </a:rPr>
              <a:t>Вектор:  ā = (x₁, x₂, ..., xₙ)</a:t>
            </a:r>
          </a:p>
          <a:p>
            <a:pPr>
              <a:spcBef>
                <a:spcPts val="1200"/>
              </a:spcBef>
            </a:pPr>
            <a:r>
              <a:rPr sz="2200" b="0">
                <a:solidFill>
                  <a:srgbClr val="333333"/>
                </a:solidFill>
              </a:rPr>
              <a:t>Размерност:  n</a:t>
            </a:r>
          </a:p>
          <a:p>
            <a:pPr>
              <a:spcBef>
                <a:spcPts val="1200"/>
              </a:spcBef>
            </a:pPr>
            <a:r>
              <a:rPr sz="2200" b="0">
                <a:solidFill>
                  <a:srgbClr val="333333"/>
                </a:solidFill>
              </a:rPr>
              <a:t>Координата:  xᵢ  (i = 1..n)</a:t>
            </a:r>
          </a:p>
          <a:p>
            <a:pPr>
              <a:spcBef>
                <a:spcPts val="1200"/>
              </a:spcBef>
            </a:pPr>
            <a:r>
              <a:rPr sz="2200" b="0">
                <a:solidFill>
                  <a:srgbClr val="333333"/>
                </a:solidFill>
              </a:rPr>
              <a:t>Нулев вектор:  (0, 0, ..., 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11480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6D00"/>
                </a:solidFill>
              </a:rPr>
              <a:t>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12280" y="2697480"/>
            <a:ext cx="5074920" cy="38404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B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95160" y="2834640"/>
            <a:ext cx="4709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B0FF"/>
                </a:solidFill>
              </a:rPr>
              <a:t>{ }  C# масив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3337560"/>
            <a:ext cx="4709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</a:pPr>
            <a:r>
              <a:rPr sz="2200" b="0">
                <a:solidFill>
                  <a:srgbClr val="00C853"/>
                </a:solidFill>
              </a:rPr>
              <a:t>double[] a = new double[n];</a:t>
            </a:r>
          </a:p>
          <a:p>
            <a:pPr>
              <a:spcBef>
                <a:spcPts val="1200"/>
              </a:spcBef>
            </a:pPr>
            <a:r>
              <a:rPr sz="2200" b="0">
                <a:solidFill>
                  <a:srgbClr val="333333"/>
                </a:solidFill>
              </a:rPr>
              <a:t>Дължина:  a.Length</a:t>
            </a:r>
          </a:p>
          <a:p>
            <a:pPr>
              <a:spcBef>
                <a:spcPts val="1200"/>
              </a:spcBef>
            </a:pPr>
            <a:r>
              <a:rPr sz="2200" b="0">
                <a:solidFill>
                  <a:srgbClr val="333333"/>
                </a:solidFill>
              </a:rPr>
              <a:t>Елемент:  a[i]  (i = 0..n-1)</a:t>
            </a:r>
          </a:p>
          <a:p>
            <a:pPr>
              <a:spcBef>
                <a:spcPts val="1200"/>
              </a:spcBef>
            </a:pPr>
            <a:r>
              <a:rPr sz="2200" b="0">
                <a:solidFill>
                  <a:srgbClr val="333333"/>
                </a:solidFill>
              </a:rPr>
              <a:t>Нули:  new double[n]  по подразбиране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0"/>
            <a:ext cx="12188952" cy="64008"/>
          </a:xfrm>
          <a:prstGeom prst="rect">
            <a:avLst/>
          </a:prstGeom>
          <a:solidFill>
            <a:srgbClr val="00B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📊 Паралел: математика ↔ C#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6868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00B0FF"/>
                </a:solidFill>
              </a:rPr>
              <a:t>Всяко понятие има еквивалент в кода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572768"/>
            <a:ext cx="4114800" cy="47548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434840" y="1572768"/>
            <a:ext cx="3931920" cy="47548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0" y="1572768"/>
            <a:ext cx="3520440" cy="47548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636776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  Математика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1636776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  C# код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1636776"/>
            <a:ext cx="3429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  Бележка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048256"/>
            <a:ext cx="4114800" cy="566928"/>
          </a:xfrm>
          <a:prstGeom prst="rect">
            <a:avLst/>
          </a:prstGeom>
          <a:solidFill>
            <a:srgbClr val="EE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048256"/>
            <a:ext cx="3931920" cy="566928"/>
          </a:xfrm>
          <a:prstGeom prst="rect">
            <a:avLst/>
          </a:prstGeom>
          <a:solidFill>
            <a:srgbClr val="EE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2480" y="2048256"/>
            <a:ext cx="3520440" cy="566928"/>
          </a:xfrm>
          <a:prstGeom prst="rect">
            <a:avLst/>
          </a:prstGeom>
          <a:solidFill>
            <a:srgbClr val="EE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2121408"/>
            <a:ext cx="4023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237E"/>
                </a:solidFill>
              </a:rPr>
              <a:t>  Координата  xᵢ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121408"/>
            <a:ext cx="3840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6B00"/>
                </a:solidFill>
              </a:rPr>
              <a:t>  a[i]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121408"/>
            <a:ext cx="3429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333333"/>
                </a:solidFill>
              </a:rPr>
              <a:t>  Индексиране от 0 в C#!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615184"/>
            <a:ext cx="411480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34840" y="2615184"/>
            <a:ext cx="393192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12480" y="2615184"/>
            <a:ext cx="352044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2688336"/>
            <a:ext cx="4023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237E"/>
                </a:solidFill>
              </a:rPr>
              <a:t>  Размерност  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2688336"/>
            <a:ext cx="3840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6B00"/>
                </a:solidFill>
              </a:rPr>
              <a:t>  a.Length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688336"/>
            <a:ext cx="3429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333333"/>
                </a:solidFill>
              </a:rPr>
              <a:t>  Брой елементи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182112"/>
            <a:ext cx="4114800" cy="566928"/>
          </a:xfrm>
          <a:prstGeom prst="rect">
            <a:avLst/>
          </a:prstGeom>
          <a:solidFill>
            <a:srgbClr val="EE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34840" y="3182112"/>
            <a:ext cx="3931920" cy="566928"/>
          </a:xfrm>
          <a:prstGeom prst="rect">
            <a:avLst/>
          </a:prstGeom>
          <a:solidFill>
            <a:srgbClr val="EE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0" y="3182112"/>
            <a:ext cx="3520440" cy="566928"/>
          </a:xfrm>
          <a:prstGeom prst="rect">
            <a:avLst/>
          </a:prstGeom>
          <a:solidFill>
            <a:srgbClr val="EE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3255264"/>
            <a:ext cx="4023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237E"/>
                </a:solidFill>
              </a:rPr>
              <a:t>  Нулев вектор  (0,0,...)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3255264"/>
            <a:ext cx="3840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6B00"/>
                </a:solidFill>
              </a:rPr>
              <a:t>  new double[n]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3255264"/>
            <a:ext cx="3429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333333"/>
                </a:solidFill>
              </a:rPr>
              <a:t>  Нули по подразбиране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3749039"/>
            <a:ext cx="411480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434840" y="3749039"/>
            <a:ext cx="393192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12480" y="3749039"/>
            <a:ext cx="352044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3822191"/>
            <a:ext cx="4023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237E"/>
                </a:solidFill>
              </a:rPr>
              <a:t>  Сумиране  ā + b̄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3822191"/>
            <a:ext cx="3840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6B00"/>
                </a:solidFill>
              </a:rPr>
              <a:t>  c[i] = a[i] + b[i]  (for)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3822191"/>
            <a:ext cx="3429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333333"/>
                </a:solidFill>
              </a:rPr>
              <a:t>  Елемент по елемент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4315968"/>
            <a:ext cx="4114800" cy="566928"/>
          </a:xfrm>
          <a:prstGeom prst="rect">
            <a:avLst/>
          </a:prstGeom>
          <a:solidFill>
            <a:srgbClr val="EE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34840" y="4315968"/>
            <a:ext cx="3931920" cy="566928"/>
          </a:xfrm>
          <a:prstGeom prst="rect">
            <a:avLst/>
          </a:prstGeom>
          <a:solidFill>
            <a:srgbClr val="EE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412480" y="4315968"/>
            <a:ext cx="3520440" cy="566928"/>
          </a:xfrm>
          <a:prstGeom prst="rect">
            <a:avLst/>
          </a:prstGeom>
          <a:solidFill>
            <a:srgbClr val="EE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4320" y="4389120"/>
            <a:ext cx="4023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237E"/>
                </a:solidFill>
              </a:rPr>
              <a:t>  Умножение  k·ā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4840" y="4389120"/>
            <a:ext cx="3840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6B00"/>
                </a:solidFill>
              </a:rPr>
              <a:t>  b[i] = k * a[i]  (for)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4389120"/>
            <a:ext cx="3429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333333"/>
                </a:solidFill>
              </a:rPr>
              <a:t>  Скаларно умножение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4882896"/>
            <a:ext cx="411480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434840" y="4882896"/>
            <a:ext cx="393192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12480" y="4882896"/>
            <a:ext cx="352044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4320" y="4956048"/>
            <a:ext cx="4023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237E"/>
                </a:solidFill>
              </a:rPr>
              <a:t>  Скаларно произведение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34840" y="4956048"/>
            <a:ext cx="3840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6B00"/>
                </a:solidFill>
              </a:rPr>
              <a:t>  sum += a[i]*b[i]  (for)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12480" y="4956048"/>
            <a:ext cx="3429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333333"/>
                </a:solidFill>
              </a:rPr>
              <a:t>  Резултатът е число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5449824"/>
            <a:ext cx="4114800" cy="566928"/>
          </a:xfrm>
          <a:prstGeom prst="rect">
            <a:avLst/>
          </a:prstGeom>
          <a:solidFill>
            <a:srgbClr val="EE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34840" y="5449824"/>
            <a:ext cx="3931920" cy="566928"/>
          </a:xfrm>
          <a:prstGeom prst="rect">
            <a:avLst/>
          </a:prstGeom>
          <a:solidFill>
            <a:srgbClr val="EE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412480" y="5449824"/>
            <a:ext cx="3520440" cy="566928"/>
          </a:xfrm>
          <a:prstGeom prst="rect">
            <a:avLst/>
          </a:prstGeom>
          <a:solidFill>
            <a:srgbClr val="EE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4320" y="5522976"/>
            <a:ext cx="4023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237E"/>
                </a:solidFill>
              </a:rPr>
              <a:t>  Модул  |ā|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34840" y="5522976"/>
            <a:ext cx="3840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6B00"/>
                </a:solidFill>
              </a:rPr>
              <a:t>  Math.Sqrt(Σ a[i]*a[i])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12480" y="5522976"/>
            <a:ext cx="3429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333333"/>
                </a:solidFill>
              </a:rPr>
              <a:t>  Питагорова теорема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0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0"/>
            <a:ext cx="12188952" cy="64008"/>
          </a:xfrm>
          <a:prstGeom prst="rect">
            <a:avLst/>
          </a:prstGeom>
          <a:solidFill>
            <a:srgbClr val="00B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{ }  C# — Събиране и умножение по скалар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6868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00B0FF"/>
                </a:solidFill>
              </a:rPr>
              <a:t>Операциите от математиката като код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600200"/>
            <a:ext cx="5577840" cy="3657600"/>
          </a:xfrm>
          <a:prstGeom prst="rect">
            <a:avLst/>
          </a:prstGeom>
          <a:solidFill>
            <a:srgbClr val="1E1E2E"/>
          </a:solidFill>
          <a:ln w="19050">
            <a:solidFill>
              <a:srgbClr val="00B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" y="1737360"/>
            <a:ext cx="5248655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00C853"/>
                </a:solidFill>
              </a:rPr>
              <a:t>// Събиране на два вектора
static double[] Add(double[] a, double[] b)
{
    double[] c = new double[a.Length];
    for (int i = 0; i &lt; a.Length; i++)
        c[i] = a[i] + b[i];
    return c;
}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1600200"/>
            <a:ext cx="5852160" cy="3657600"/>
          </a:xfrm>
          <a:prstGeom prst="rect">
            <a:avLst/>
          </a:prstGeom>
          <a:solidFill>
            <a:srgbClr val="1E1E2E"/>
          </a:solidFill>
          <a:ln w="19050">
            <a:solidFill>
              <a:srgbClr val="00B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99631" y="1737360"/>
            <a:ext cx="55229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00C853"/>
                </a:solidFill>
              </a:rPr>
              <a:t>// Умножение на вектор по скалар
static double[] Scale(double[] a, double k)
{
    double[] result = new double[a.Length];
    for (int i = 0; i &lt; a.Length; i++)
        result[i] = a[i] * k;
    return result;
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5394960"/>
            <a:ext cx="11567160" cy="12344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45896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▸  double[] a = {1,2,3};   double[] b = {4,5,6};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96188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C853"/>
                </a:solidFill>
              </a:rPr>
              <a:t>▸  Add(a,b)   →  {5, 7, 9}       Scale(a, 2)   →  {2, 4, 6}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0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0"/>
            <a:ext cx="12188952" cy="64008"/>
          </a:xfrm>
          <a:prstGeom prst="rect">
            <a:avLst/>
          </a:prstGeom>
          <a:solidFill>
            <a:srgbClr val="00B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{ }  C# — Модул и скаларно произведение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6868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00B0FF"/>
                </a:solidFill>
              </a:rPr>
              <a:t>Операции, чийто резултат е ЧИСЛО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600200"/>
            <a:ext cx="5577840" cy="3474720"/>
          </a:xfrm>
          <a:prstGeom prst="rect">
            <a:avLst/>
          </a:prstGeom>
          <a:solidFill>
            <a:srgbClr val="1E1E2E"/>
          </a:solidFill>
          <a:ln w="19050">
            <a:solidFill>
              <a:srgbClr val="00B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" y="1737360"/>
            <a:ext cx="524865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00C853"/>
                </a:solidFill>
              </a:rPr>
              <a:t>// Модул (дължина) на вектор
static double Magnitude(double[] a)
{
    double sum = 0;
    for (int i = 0; i &lt; a.Length; i++)
        sum += a[i] * a[i];
    return Math.Sqrt(sum);
}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1600200"/>
            <a:ext cx="5852160" cy="3474720"/>
          </a:xfrm>
          <a:prstGeom prst="rect">
            <a:avLst/>
          </a:prstGeom>
          <a:solidFill>
            <a:srgbClr val="1E1E2E"/>
          </a:solidFill>
          <a:ln w="19050">
            <a:solidFill>
              <a:srgbClr val="00B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99631" y="1737360"/>
            <a:ext cx="5522976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00C853"/>
                </a:solidFill>
              </a:rPr>
              <a:t>// Скаларно произведение
static double DotProduct(double[] a, double[] b)
{
    double sum = 0;
    for (int i = 0; i &lt; a.Length; i++)
        sum += a[i] * b[i];
    return sum;
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5212080"/>
            <a:ext cx="11567160" cy="14173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285232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▸  Magnitude({3, 4})   →   5.0   (защото √(9+16) = √25 = 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8064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C853"/>
                </a:solidFill>
              </a:rPr>
              <a:t>▸  DotProduct({1,0}, {0,1})   →   0.0   →   ПЕРПЕНДИКУЛЯРНИ! 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0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0"/>
            <a:ext cx="12188952" cy="64008"/>
          </a:xfrm>
          <a:prstGeom prst="rect">
            <a:avLst/>
          </a:prstGeom>
          <a:solidFill>
            <a:srgbClr val="00B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{ }  C# — Нормализиране (единичен вектор)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6868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00B0FF"/>
                </a:solidFill>
              </a:rPr>
              <a:t>Запазваме посоката, правим дължина = 1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600200"/>
            <a:ext cx="6858000" cy="4983480"/>
          </a:xfrm>
          <a:prstGeom prst="rect">
            <a:avLst/>
          </a:prstGeom>
          <a:solidFill>
            <a:srgbClr val="1E1E2E"/>
          </a:solidFill>
          <a:ln w="19050">
            <a:solidFill>
              <a:srgbClr val="00B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" y="1737360"/>
            <a:ext cx="6528816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00C853"/>
                </a:solidFill>
              </a:rPr>
              <a:t>// Нормализиране на вектор (верзор)
// Резултатът има дължина = 1, но същата посока
static double[] Normalize(double[] a)
{
    double mag = Magnitude(a);
    if (mag == 0)
        throw new Exception("Не може да се нормализира нулев вектор!");
    double[] result = new double[a.Length];
    for (int i = 0; i &lt; a.Length; i++)
        result[i] = a[i] / mag;
    return result;
}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6640" y="1600200"/>
            <a:ext cx="4480560" cy="23774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0" y="1719072"/>
            <a:ext cx="4160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00B0FF"/>
                </a:solidFill>
              </a:rPr>
              <a:t>🔑  Защо е нужно?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2194560"/>
            <a:ext cx="41605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900" b="0">
                <a:solidFill>
                  <a:srgbClr val="FFFFFF"/>
                </a:solidFill>
              </a:rPr>
              <a:t>▸  Искаме само ПОСОКАТА,</a:t>
            </a:r>
          </a:p>
          <a:p>
            <a:pPr>
              <a:spcBef>
                <a:spcPts val="800"/>
              </a:spcBef>
            </a:pPr>
            <a:r>
              <a:rPr sz="1900" b="0">
                <a:solidFill>
                  <a:srgbClr val="FFFFFF"/>
                </a:solidFill>
              </a:rPr>
              <a:t>    не дължината</a:t>
            </a:r>
          </a:p>
          <a:p>
            <a:pPr>
              <a:spcBef>
                <a:spcPts val="800"/>
              </a:spcBef>
            </a:pPr>
            <a:r>
              <a:rPr sz="1900" b="0">
                <a:solidFill>
                  <a:srgbClr val="FFFFFF"/>
                </a:solidFill>
              </a:rPr>
              <a:t>▸  Използва се в:</a:t>
            </a:r>
          </a:p>
          <a:p>
            <a:pPr>
              <a:spcBef>
                <a:spcPts val="800"/>
              </a:spcBef>
            </a:pPr>
            <a:r>
              <a:rPr sz="1900" b="0">
                <a:solidFill>
                  <a:srgbClr val="00B0FF"/>
                </a:solidFill>
              </a:rPr>
              <a:t>    игри, физика, ML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4114800"/>
            <a:ext cx="4480560" cy="2468880"/>
          </a:xfrm>
          <a:prstGeom prst="rect">
            <a:avLst/>
          </a:prstGeom>
          <a:solidFill>
            <a:srgbClr val="1E1E2E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71231" y="4251960"/>
            <a:ext cx="4160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53"/>
                </a:solidFill>
              </a:rPr>
              <a:t>// Пример:
double[] v = {3, 4, 0};
// mag = 5
// result = {0.6, 0.8, 0}
// Magnitude(result) = 1 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0"/>
            <a:ext cx="12188952" cy="64008"/>
          </a:xfrm>
          <a:prstGeom prst="rect">
            <a:avLst/>
          </a:prstGeom>
          <a:solidFill>
            <a:srgbClr val="00B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🎯 Защо учим вектори в програмирането?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6868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00B0FF"/>
                </a:solidFill>
              </a:rPr>
              <a:t>Вектори са навсякъде около нас!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600200"/>
            <a:ext cx="5623560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09928"/>
            <a:ext cx="5257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237E"/>
                </a:solidFill>
              </a:rPr>
              <a:t>🎮  Игри (Unity / C#)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21992"/>
            <a:ext cx="5257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333333"/>
                </a:solidFill>
              </a:rPr>
              <a:t>• Позиция, скорост, посока на персонажа
• Vector3 pos = new Vector3(x, y, z)
• Всяко движение = вектор!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600200"/>
            <a:ext cx="5623560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5A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709928"/>
            <a:ext cx="5257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5A008A"/>
                </a:solidFill>
              </a:rPr>
              <a:t>🤖  Изкуствен интелект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221992"/>
            <a:ext cx="5257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333333"/>
                </a:solidFill>
              </a:rPr>
              <a:t>• Думите в ChatGPT са вектори от 1536 числа!
• "цар" - "мъж" + "жена" ≈ "царица"
• ML.NET, TensorFlow работят с масиви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4160520"/>
            <a:ext cx="5623560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4270248"/>
            <a:ext cx="5257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6B3F"/>
                </a:solidFill>
              </a:rPr>
              <a:t>🗺️  GPS и навигация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782312"/>
            <a:ext cx="5257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333333"/>
                </a:solidFill>
              </a:rPr>
              <a:t>• Посоката на движение = вектор
• Разстояние = модул на вектора
• Google Maps изчислява вектори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4160520"/>
            <a:ext cx="5623560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4270248"/>
            <a:ext cx="5257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B71C1C"/>
                </a:solidFill>
              </a:rPr>
              <a:t>📊  Анализ на данни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782312"/>
            <a:ext cx="5257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333333"/>
                </a:solidFill>
              </a:rPr>
              <a:t>• Всеки запис в база данни = вектор
• Сходство = скаларно произведение
• Spotify, Netflix препоръчват с вектори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0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0"/>
            <a:ext cx="12188952" cy="64008"/>
          </a:xfrm>
          <a:prstGeom prst="rect">
            <a:avLst/>
          </a:prstGeom>
          <a:solidFill>
            <a:srgbClr val="00B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🎮  Unity + C# — Vector3 в игрите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6868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00B0FF"/>
                </a:solidFill>
              </a:rPr>
              <a:t>Математическият вектор оживява!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600200"/>
            <a:ext cx="7315200" cy="5029200"/>
          </a:xfrm>
          <a:prstGeom prst="rect">
            <a:avLst/>
          </a:prstGeom>
          <a:solidFill>
            <a:srgbClr val="1E1E2E"/>
          </a:solidFill>
          <a:ln w="19050">
            <a:solidFill>
              <a:srgbClr val="00B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" y="1737360"/>
            <a:ext cx="6986016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C853"/>
                </a:solidFill>
              </a:rPr>
              <a:t>public class Player : MonoBehaviour
{
    public float speed = 5f;
    void Update()
    {
        // Вектор на движение от клавиатурата
        Vector3 dir = new Vector3(
            Input.GetAxis("Horizontal"),  // x
            0f,                           // y (без скачане)
            Input.GetAxis("Vertical")     // z
        );
        // Нормализираме — еднаква скорост
        if (dir.magnitude &gt; 0)
            dir = dir.normalized;
        // Движим се: позиция += посока * скорост * време
        transform.position += dir * speed * Time.deltaTime;
    }
}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1600200"/>
            <a:ext cx="4069080" cy="50292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71907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00B0FF"/>
                </a:solidFill>
              </a:rPr>
              <a:t>🔑  Vector3 методи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2240280"/>
            <a:ext cx="3749039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800" b="0">
                <a:solidFill>
                  <a:srgbClr val="FFFFFF"/>
                </a:solidFill>
              </a:rPr>
              <a:t>.magnitude  →  модул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FFFFFF"/>
                </a:solidFill>
              </a:rPr>
              <a:t>.normalized  →  верзор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FFFFFF"/>
                </a:solidFill>
              </a:rPr>
              <a:t>Vector3.Dot(a,b)  →  ā·b̄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FFFFFF"/>
                </a:solidFill>
              </a:rPr>
              <a:t>Vector3.Cross(a,b)  →  a×b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FFFFFF"/>
                </a:solidFill>
              </a:rPr>
              <a:t>Vector3.Distance(a,b)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FFFFFF"/>
                </a:solidFill>
              </a:rPr>
              <a:t>Vector3.Lerp(a,b,t)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FFFFFF"/>
                </a:solidFill>
              </a:rPr>
              <a:t>Vector3.zero  =  (0,0,0)</a:t>
            </a:r>
          </a:p>
          <a:p>
            <a:pPr>
              <a:spcBef>
                <a:spcPts val="1000"/>
              </a:spcBef>
            </a:pPr>
            <a:r>
              <a:rPr sz="1800" b="0">
                <a:solidFill>
                  <a:srgbClr val="FFFFFF"/>
                </a:solidFill>
              </a:rPr>
              <a:t>Vector3.up  =  (0,1,0)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0"/>
            <a:ext cx="12188952" cy="64008"/>
          </a:xfrm>
          <a:prstGeom prst="rect">
            <a:avLst/>
          </a:prstGeom>
          <a:solidFill>
            <a:srgbClr val="00B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🎮  Интерактивни ресурси за учене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6868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00B0FF"/>
                </a:solidFill>
              </a:rPr>
              <a:t>Опитайте ги у дома или в клас!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600200"/>
            <a:ext cx="3657600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" y="1709928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A237E"/>
                </a:solidFill>
              </a:rPr>
              <a:t>🟦  GeoGebra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" y="216712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B0FF"/>
                </a:solidFill>
              </a:rPr>
              <a:t>geogebra.org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2496312"/>
            <a:ext cx="3337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</a:rPr>
              <a:t>Визуализирайте вектори в 2D и 3D.
Събирайте, въртете, измервайте — интерактивно!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600200"/>
            <a:ext cx="3657600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709928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6D00"/>
                </a:solidFill>
              </a:rPr>
              <a:t>🟡  Kahoot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16712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B0FF"/>
                </a:solidFill>
              </a:rPr>
              <a:t>kahoot.com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496312"/>
            <a:ext cx="3337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</a:rPr>
              <a:t>Търсете "vectors" или "вектори" —
намерете готови викторини за класа!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0456" y="1600200"/>
            <a:ext cx="3657600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7A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1709928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7A36"/>
                </a:solidFill>
              </a:rPr>
              <a:t>🟢  Unity Learn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216712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B0FF"/>
                </a:solidFill>
              </a:rPr>
              <a:t>learn.unity.com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5048" y="2496312"/>
            <a:ext cx="3337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</a:rPr>
              <a:t>"Create with Code" — безплатен курс.
Правите 3D игра с Vector3 в C#!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160520"/>
            <a:ext cx="3657600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" y="4270248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B71C1C"/>
                </a:solidFill>
              </a:rPr>
              <a:t>🔴  Khan Academy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" y="472744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B0FF"/>
                </a:solidFill>
              </a:rPr>
              <a:t>khanacademy.org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" y="5056631"/>
            <a:ext cx="3337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</a:rPr>
              <a:t>Видео уроци по вектори с автопроверка.
Има и на български!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0248" y="4160520"/>
            <a:ext cx="3657600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34840" y="4270248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A1B9A"/>
                </a:solidFill>
              </a:rPr>
              <a:t>🟣  Brilliant.org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72744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B0FF"/>
                </a:solidFill>
              </a:rPr>
              <a:t>brilliant.org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5056631"/>
            <a:ext cx="3337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</a:rPr>
              <a:t>Интерактивен курс по линейна алгебра.
Стъпка по стъпка с визуализации.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0456" y="4160520"/>
            <a:ext cx="3657600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7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85048" y="4270248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70A0"/>
                </a:solidFill>
              </a:rPr>
              <a:t>🩵  Scratch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5048" y="472744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B0FF"/>
                </a:solidFill>
              </a:rPr>
              <a:t>scratch.mit.edu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5048" y="5056631"/>
            <a:ext cx="3337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</a:rPr>
              <a:t>Анимация с движещи се обекти —
векторите оживяват визуално!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0"/>
            <a:ext cx="12188952" cy="64008"/>
          </a:xfrm>
          <a:prstGeom prst="rect">
            <a:avLst/>
          </a:prstGeom>
          <a:solidFill>
            <a:srgbClr val="00B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✏️  Упражнение — Задача за клас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6868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00B0FF"/>
                </a:solidFill>
              </a:rPr>
              <a:t>Напишете методите сами!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600200"/>
            <a:ext cx="11521440" cy="3383280"/>
          </a:xfrm>
          <a:prstGeom prst="rect">
            <a:avLst/>
          </a:prstGeom>
          <a:solidFill>
            <a:srgbClr val="FFF3E0"/>
          </a:solidFill>
          <a:ln w="19050">
            <a:solidFill>
              <a:srgbClr val="FF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1907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6D00"/>
                </a:solidFill>
              </a:rPr>
              <a:t>📋  Задача: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94560"/>
            <a:ext cx="11064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2100" b="1">
                <a:solidFill>
                  <a:srgbClr val="1A237E"/>
                </a:solidFill>
              </a:rPr>
              <a:t>Напишете C# метод  VectorInfo(double[] a, double[] b)  който:</a:t>
            </a:r>
          </a:p>
          <a:p>
            <a:pPr>
              <a:spcBef>
                <a:spcPts val="800"/>
              </a:spcBef>
            </a:pPr>
            <a:r>
              <a:rPr sz="2100" b="0">
                <a:solidFill>
                  <a:srgbClr val="333333"/>
                </a:solidFill>
              </a:rPr>
              <a:t/>
            </a:r>
          </a:p>
          <a:p>
            <a:pPr>
              <a:spcBef>
                <a:spcPts val="800"/>
              </a:spcBef>
            </a:pPr>
            <a:r>
              <a:rPr sz="2100" b="0">
                <a:solidFill>
                  <a:srgbClr val="333333"/>
                </a:solidFill>
              </a:rPr>
              <a:t>  1.  Принтира сумата на двата вектора</a:t>
            </a:r>
          </a:p>
          <a:p>
            <a:pPr>
              <a:spcBef>
                <a:spcPts val="800"/>
              </a:spcBef>
            </a:pPr>
            <a:r>
              <a:rPr sz="2100" b="0">
                <a:solidFill>
                  <a:srgbClr val="333333"/>
                </a:solidFill>
              </a:rPr>
              <a:t>  2.  Принтира скаларното им произведение</a:t>
            </a:r>
          </a:p>
          <a:p>
            <a:pPr>
              <a:spcBef>
                <a:spcPts val="800"/>
              </a:spcBef>
            </a:pPr>
            <a:r>
              <a:rPr sz="2100" b="0">
                <a:solidFill>
                  <a:srgbClr val="333333"/>
                </a:solidFill>
              </a:rPr>
              <a:t>  3.  Принтира дължината (модула) на първия вектор</a:t>
            </a:r>
          </a:p>
          <a:p>
            <a:pPr>
              <a:spcBef>
                <a:spcPts val="800"/>
              </a:spcBef>
            </a:pPr>
            <a:r>
              <a:rPr sz="2100" b="0">
                <a:solidFill>
                  <a:srgbClr val="333333"/>
                </a:solidFill>
              </a:rPr>
              <a:t>  4.  Казва дали векторите са перпендикулярни (dot product = 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5120640"/>
            <a:ext cx="11521440" cy="150876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5230368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1B5E20"/>
                </a:solidFill>
              </a:rPr>
              <a:t>✅  Тест с тези данни: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650992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333333"/>
                </a:solidFill>
              </a:rPr>
              <a:t>a = { 3, 4, 0 }    b = { -4, 3, 0 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5650992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5E20"/>
                </a:solidFill>
              </a:rPr>
              <a:t>Сума: {-1, 7, 0}   |  Dot: 0   |  |a|: 5   |  Перпендикулярни: ДА 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0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0"/>
            <a:ext cx="12188952" cy="64008"/>
          </a:xfrm>
          <a:prstGeom prst="rect">
            <a:avLst/>
          </a:prstGeom>
          <a:solidFill>
            <a:srgbClr val="00B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{ }  Шаблон за упражнението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6868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00B0FF"/>
                </a:solidFill>
              </a:rPr>
              <a:t>Копирайте и попълнете!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600200"/>
            <a:ext cx="11521440" cy="5029200"/>
          </a:xfrm>
          <a:prstGeom prst="rect">
            <a:avLst/>
          </a:prstGeom>
          <a:solidFill>
            <a:srgbClr val="1E1E2E"/>
          </a:solidFill>
          <a:ln w="19050">
            <a:solidFill>
              <a:srgbClr val="00B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" y="1737360"/>
            <a:ext cx="11192256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C853"/>
                </a:solidFill>
              </a:rPr>
              <a:t>using System;
class VectorOps
{
    static double[] Add(double[] a, double[] b) { /* ... */ }
    static double DotProduct(double[] a, double[] b) { /* ... */ }
    static double Magnitude(double[] a) { /* ... */ }
    static void VectorInfo(double[] a, double[] b)
    {
        double[] sum    = Add(a, b);
        double   dot    = DotProduct(a, b);
        double   mag    = Magnitude(a);
        bool     isPerp = Math.Abs(dot) &lt; 0.0001;
        Console.Write("Сума: [");
        for (int i = 0; i &lt; sum.Length; i++)
            Console.Write((i &gt; 0 ? ", " : "") + sum[i]);
        Console.WriteLine("]");
        Console.WriteLine($"Скаларно произведение: {dot}");
        Console.WriteLine($"Модул на a: {mag:F4}");
        Console.WriteLine($"Перпендикулярни: {(isPerp ? "ДА" : "НЕ")}");
    }
    static void Main()
    {
        double[] a = { 3, 4, 0 };
        double[] b = { -4, 3, 0 };
        VectorInfo(a, b);
    }
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0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0"/>
            <a:ext cx="12188952" cy="64008"/>
          </a:xfrm>
          <a:prstGeom prst="rect">
            <a:avLst/>
          </a:prstGeom>
          <a:solidFill>
            <a:srgbClr val="00B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73152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{ }  Бонус — По-елегантен C# код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86868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00B0FF"/>
                </a:solidFill>
              </a:rPr>
              <a:t>LINQ и foreach за по-кратък запис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600200"/>
            <a:ext cx="5760720" cy="4389120"/>
          </a:xfrm>
          <a:prstGeom prst="rect">
            <a:avLst/>
          </a:prstGeom>
          <a:solidFill>
            <a:srgbClr val="1E1E2E"/>
          </a:solidFill>
          <a:ln w="19050">
            <a:solidFill>
              <a:srgbClr val="00B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" y="1737360"/>
            <a:ext cx="543153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53"/>
                </a:solidFill>
              </a:rPr>
              <a:t>// С LINQ (Language Integrated Query)
using System.Linq;
// Модул
double mag = Math.Sqrt(a.Select(x =&gt; x*x).Sum());
// Скаларно произведение
double dot = a.Zip(b, (x, y) =&gt; x * y).Sum();
// Сумиране на вектори
double[] sum = a.Zip(b, (x, y) =&gt; x + y).ToArray();
// Проверка за перпендикулярност
bool isPerp = Math.Abs(dot) &lt; 0.0001;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600200"/>
            <a:ext cx="5715000" cy="4389120"/>
          </a:xfrm>
          <a:prstGeom prst="rect">
            <a:avLst/>
          </a:prstGeom>
          <a:solidFill>
            <a:srgbClr val="1E1E2E"/>
          </a:solidFill>
          <a:ln w="19050">
            <a:solidFill>
              <a:srgbClr val="00B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6792" y="1737360"/>
            <a:ext cx="538581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C853"/>
                </a:solidFill>
              </a:rPr>
              <a:t>// С foreach (само за четене)
double sumOfSquares = 0;
foreach (double x in a)
    sumOfSquares += x * x;
double magnitude = Math.Sqrt(sumOfSquares);
// Принтиране на вектор
Console.Write("[");
Console.Write(string.Join(", ", a));
Console.WriteLine("]");
// Резултат: [3, -1, 5]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6126480"/>
            <a:ext cx="11521440" cy="5486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199632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💡  И двата начина дават СЪЩИЯ резултат — изберете по-четимия за вас!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B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00B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0B0FF"/>
                </a:solidFill>
              </a:rPr>
              <a:t>📌  Обобщение на урока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822960"/>
          </a:xfrm>
          <a:prstGeom prst="rect">
            <a:avLst/>
          </a:prstGeom>
          <a:solidFill>
            <a:srgbClr val="22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0515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</a:rPr>
              <a:t> 🔢   Векторът  (x₁, x₂, ..., xₙ)  =  масив  double[]  в C#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92808"/>
            <a:ext cx="11247120" cy="822960"/>
          </a:xfrm>
          <a:prstGeom prst="rect">
            <a:avLst/>
          </a:prstGeom>
          <a:solidFill>
            <a:srgbClr val="22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98424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</a:rPr>
              <a:t> 🔁   Всяка векторна операция = for цикъл елемент по елемент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825496"/>
            <a:ext cx="11247120" cy="822960"/>
          </a:xfrm>
          <a:prstGeom prst="rect">
            <a:avLst/>
          </a:prstGeom>
          <a:solidFill>
            <a:srgbClr val="22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916936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</a:rPr>
              <a:t> 📏   Модул = Math.Sqrt(Σ a[i]²)     |     Dot product = Σ a[i]·b[i]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758184"/>
            <a:ext cx="11247120" cy="822960"/>
          </a:xfrm>
          <a:prstGeom prst="rect">
            <a:avLst/>
          </a:prstGeom>
          <a:solidFill>
            <a:srgbClr val="22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849624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</a:rPr>
              <a:t> ⊥   Перпендикулярни вектори: DotProduct(a, b) ==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690872"/>
            <a:ext cx="11247120" cy="822960"/>
          </a:xfrm>
          <a:prstGeom prst="rect">
            <a:avLst/>
          </a:prstGeom>
          <a:solidFill>
            <a:srgbClr val="22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78231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</a:rPr>
              <a:t> 🎮   Unity Vector3 е директна реализация на 3D вектор в C#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623559"/>
            <a:ext cx="11247120" cy="822960"/>
          </a:xfrm>
          <a:prstGeom prst="rect">
            <a:avLst/>
          </a:prstGeom>
          <a:solidFill>
            <a:srgbClr val="22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5714999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</a:rPr>
              <a:t> 🌍   Приложения: игри, AI, GPS, анализ на данни — навсякъде!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8090B0"/>
                </a:solidFill>
              </a:rPr>
              <a:t>▶  Следващ урок: Операции с вектори — задачи и приложения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