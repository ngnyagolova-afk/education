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9382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0027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953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425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8460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357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447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3652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151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81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255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1C7AE-DF6D-4C40-8AB6-7287786FF950}" type="datetimeFigureOut">
              <a:rPr lang="bg-BG" smtClean="0"/>
              <a:t>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77106-397F-4179-948A-4CA32DD4ED4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6638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Метод Шанон- Фано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8361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0360"/>
          </a:xfrm>
        </p:spPr>
        <p:txBody>
          <a:bodyPr>
            <a:normAutofit fontScale="90000"/>
          </a:bodyPr>
          <a:lstStyle/>
          <a:p>
            <a:r>
              <a:rPr lang="bg-BG" b="1" dirty="0" smtClean="0"/>
              <a:t>                            </a:t>
            </a:r>
            <a:r>
              <a:rPr lang="bg-BG" sz="5600" b="1" u="sng" dirty="0" smtClean="0"/>
              <a:t>Определение</a:t>
            </a:r>
            <a:r>
              <a:rPr lang="bg-BG" b="1" dirty="0"/>
              <a:t/>
            </a:r>
            <a:br>
              <a:rPr lang="bg-BG" b="1" dirty="0"/>
            </a:br>
            <a:r>
              <a:rPr lang="bg-BG" b="1" dirty="0"/>
              <a:t>Методът на Шанон–Фано</a:t>
            </a:r>
            <a:r>
              <a:rPr lang="bg-BG" dirty="0"/>
              <a:t> е алгоритъм за изграждане на двоичен префиксен код (код без двусмислие), който минимизира дължината на кода, като на по-честите символи се дават по-къси кодови думи, а на по-редките – по-дълги.</a:t>
            </a:r>
            <a:br>
              <a:rPr lang="bg-BG" dirty="0"/>
            </a:br>
            <a:r>
              <a:rPr lang="bg-BG" dirty="0"/>
              <a:t>Той е една от първите техники за </a:t>
            </a:r>
            <a:r>
              <a:rPr lang="bg-BG" b="1" dirty="0"/>
              <a:t>оптимално кодиране и компресиране на информация</a:t>
            </a:r>
            <a:r>
              <a:rPr lang="bg-BG" dirty="0"/>
              <a:t>, предложен от Клод Шанон и Робърт Фано.</a:t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8529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1578"/>
          </a:xfrm>
        </p:spPr>
        <p:txBody>
          <a:bodyPr>
            <a:noAutofit/>
          </a:bodyPr>
          <a:lstStyle/>
          <a:p>
            <a:r>
              <a:rPr lang="bg-BG" sz="2400" b="1" dirty="0" smtClean="0"/>
              <a:t>                                      </a:t>
            </a:r>
            <a:r>
              <a:rPr lang="bg-BG" sz="3200" b="1" u="sng" dirty="0" smtClean="0"/>
              <a:t>Алгоритъм </a:t>
            </a:r>
            <a:r>
              <a:rPr lang="bg-BG" sz="3200" b="1" u="sng" dirty="0"/>
              <a:t>за решаване на задачи </a:t>
            </a:r>
            <a:br>
              <a:rPr lang="bg-BG" sz="3200" b="1" u="sng" dirty="0"/>
            </a:br>
            <a:r>
              <a:rPr lang="bg-BG" sz="2400" b="1" u="sng" dirty="0"/>
              <a:t>Събиране на данни</a:t>
            </a:r>
            <a:r>
              <a:rPr lang="bg-BG" sz="2400" u="sng" dirty="0"/>
              <a:t/>
            </a:r>
            <a:br>
              <a:rPr lang="bg-BG" sz="2400" u="sng" dirty="0"/>
            </a:br>
            <a:r>
              <a:rPr lang="bg-BG" sz="2400" dirty="0"/>
              <a:t>Определя се множеството от символи.</a:t>
            </a:r>
            <a:br>
              <a:rPr lang="bg-BG" sz="2400" dirty="0"/>
            </a:br>
            <a:r>
              <a:rPr lang="bg-BG" sz="2400" dirty="0"/>
              <a:t>Изчисляват се техните </a:t>
            </a:r>
            <a:r>
              <a:rPr lang="bg-BG" sz="2400" b="1" dirty="0"/>
              <a:t>честоти</a:t>
            </a:r>
            <a:r>
              <a:rPr lang="bg-BG" sz="2400" dirty="0"/>
              <a:t> или </a:t>
            </a:r>
            <a:r>
              <a:rPr lang="bg-BG" sz="2400" b="1" dirty="0"/>
              <a:t>вероятности</a:t>
            </a:r>
            <a:r>
              <a:rPr lang="bg-BG" sz="2400" dirty="0"/>
              <a:t>.</a:t>
            </a:r>
            <a:br>
              <a:rPr lang="bg-BG" sz="2400" dirty="0"/>
            </a:br>
            <a:r>
              <a:rPr lang="bg-BG" sz="2400" dirty="0"/>
              <a:t>Сортират се по вероятност (от най-голяма към най-малка).</a:t>
            </a:r>
            <a:br>
              <a:rPr lang="bg-BG" sz="2400" dirty="0"/>
            </a:br>
            <a:r>
              <a:rPr lang="bg-BG" sz="2400" b="1" u="sng" dirty="0"/>
              <a:t>Рекурсивно разделяне</a:t>
            </a: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Целта е да разделим списъка на </a:t>
            </a:r>
            <a:r>
              <a:rPr lang="bg-BG" sz="2400" b="1" dirty="0"/>
              <a:t>две групи</a:t>
            </a:r>
            <a:r>
              <a:rPr lang="bg-BG" sz="2400" dirty="0"/>
              <a:t> със </a:t>
            </a:r>
            <a:r>
              <a:rPr lang="bg-BG" sz="2400" b="1" dirty="0"/>
              <a:t>сумарна вероятност възможно най-близка</a:t>
            </a:r>
            <a:r>
              <a:rPr lang="bg-BG" sz="2400" dirty="0"/>
              <a:t>.</a:t>
            </a:r>
            <a:br>
              <a:rPr lang="bg-BG" sz="2400" dirty="0"/>
            </a:br>
            <a:r>
              <a:rPr lang="bg-BG" sz="2400" dirty="0"/>
              <a:t>На символите в първата група се добавя цифрата </a:t>
            </a:r>
            <a:r>
              <a:rPr lang="bg-BG" sz="2400" b="1" dirty="0"/>
              <a:t>0</a:t>
            </a:r>
            <a:r>
              <a:rPr lang="bg-BG" sz="2400" dirty="0"/>
              <a:t>.</a:t>
            </a:r>
            <a:br>
              <a:rPr lang="bg-BG" sz="2400" dirty="0"/>
            </a:br>
            <a:r>
              <a:rPr lang="bg-BG" sz="2400" dirty="0"/>
              <a:t>На символите във втората група се добавя цифрата </a:t>
            </a:r>
            <a:r>
              <a:rPr lang="bg-BG" sz="2400" b="1" dirty="0"/>
              <a:t>1</a:t>
            </a:r>
            <a:r>
              <a:rPr lang="bg-BG" sz="2400" dirty="0"/>
              <a:t>.</a:t>
            </a:r>
            <a:br>
              <a:rPr lang="bg-BG" sz="2400" dirty="0"/>
            </a:br>
            <a:r>
              <a:rPr lang="bg-BG" sz="2400" b="1" u="sng" dirty="0"/>
              <a:t>Повтаряне</a:t>
            </a: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За всяка група се прилага същата процедура, докато:</a:t>
            </a:r>
            <a:br>
              <a:rPr lang="bg-BG" sz="2400" dirty="0"/>
            </a:br>
            <a:r>
              <a:rPr lang="bg-BG" sz="2400" dirty="0"/>
              <a:t>в групата остане само един символ, или</a:t>
            </a:r>
            <a:br>
              <a:rPr lang="bg-BG" sz="2400" dirty="0"/>
            </a:br>
            <a:r>
              <a:rPr lang="bg-BG" sz="2400" dirty="0"/>
              <a:t>всички символи получат уникални кодови думи.</a:t>
            </a:r>
            <a:br>
              <a:rPr lang="bg-BG" sz="2400" dirty="0"/>
            </a:br>
            <a:r>
              <a:rPr lang="bg-BG" sz="2400" b="1" u="sng" dirty="0"/>
              <a:t>Резултат</a:t>
            </a: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Получените двоични низове са </a:t>
            </a:r>
            <a:r>
              <a:rPr lang="bg-BG" sz="2400" b="1" dirty="0"/>
              <a:t>Шанон–Фано кодовете</a:t>
            </a:r>
            <a:r>
              <a:rPr lang="bg-BG" sz="2400" dirty="0"/>
              <a:t> на символите.</a:t>
            </a:r>
            <a:br>
              <a:rPr lang="bg-BG" sz="2400" dirty="0"/>
            </a:b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02430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654875"/>
              </p:ext>
            </p:extLst>
          </p:nvPr>
        </p:nvGraphicFramePr>
        <p:xfrm>
          <a:off x="2587487" y="2420015"/>
          <a:ext cx="6795052" cy="38541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7215">
                  <a:extLst>
                    <a:ext uri="{9D8B030D-6E8A-4147-A177-3AD203B41FA5}">
                      <a16:colId xmlns:a16="http://schemas.microsoft.com/office/drawing/2014/main" val="248170981"/>
                    </a:ext>
                  </a:extLst>
                </a:gridCol>
                <a:gridCol w="4587837">
                  <a:extLst>
                    <a:ext uri="{9D8B030D-6E8A-4147-A177-3AD203B41FA5}">
                      <a16:colId xmlns:a16="http://schemas.microsoft.com/office/drawing/2014/main" val="2150284108"/>
                    </a:ext>
                  </a:extLst>
                </a:gridCol>
              </a:tblGrid>
              <a:tr h="4620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Символ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</a:rPr>
                        <a:t>Вероятност</a:t>
                      </a:r>
                      <a:endParaRPr lang="bg-BG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4817679"/>
                  </a:ext>
                </a:extLst>
              </a:tr>
              <a:tr h="4620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A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0.4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5766227"/>
                  </a:ext>
                </a:extLst>
              </a:tr>
              <a:tr h="4620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B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0.2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7980942"/>
                  </a:ext>
                </a:extLst>
              </a:tr>
              <a:tr h="4620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C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0.2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1856857"/>
                  </a:ext>
                </a:extLst>
              </a:tr>
              <a:tr h="4620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D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0.1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0603128"/>
                  </a:ext>
                </a:extLst>
              </a:tr>
              <a:tr h="4620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</a:rPr>
                        <a:t>E</a:t>
                      </a:r>
                      <a:endParaRPr lang="bg-BG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</a:rPr>
                        <a:t>0.1</a:t>
                      </a:r>
                      <a:endParaRPr lang="bg-BG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1300971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178658" y="364356"/>
            <a:ext cx="744175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Пример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Нека имаме следните символи и вероятности:</a:t>
            </a:r>
            <a:endParaRPr kumimoji="0" lang="bg-BG" altLang="bg-BG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6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7237"/>
          </a:xfrm>
        </p:spPr>
        <p:txBody>
          <a:bodyPr>
            <a:noAutofit/>
          </a:bodyPr>
          <a:lstStyle/>
          <a:p>
            <a:r>
              <a:rPr lang="bg-BG" sz="2000" b="1" u="sng" dirty="0"/>
              <a:t>Стъпка 1: Сортираме</a:t>
            </a:r>
            <a:r>
              <a:rPr lang="bg-BG" sz="2000" b="1" dirty="0"/>
              <a:t/>
            </a:r>
            <a:br>
              <a:rPr lang="bg-BG" sz="2000" b="1" dirty="0"/>
            </a:br>
            <a:r>
              <a:rPr lang="bg-BG" sz="2000" dirty="0"/>
              <a:t>A(0.4), B(0.2), C(0.2), D(0.1), E(0.1)</a:t>
            </a:r>
            <a:br>
              <a:rPr lang="bg-BG" sz="2000" dirty="0"/>
            </a:br>
            <a:r>
              <a:rPr lang="bg-BG" sz="2000" b="1" u="sng" dirty="0"/>
              <a:t>Стъпка 2: Разделяме</a:t>
            </a:r>
            <a:r>
              <a:rPr lang="bg-BG" sz="2000" b="1" dirty="0"/>
              <a:t/>
            </a:r>
            <a:br>
              <a:rPr lang="bg-BG" sz="2000" b="1" dirty="0"/>
            </a:br>
            <a:r>
              <a:rPr lang="bg-BG" sz="2000" dirty="0"/>
              <a:t>Обща вероятност = 1.0</a:t>
            </a:r>
            <a:br>
              <a:rPr lang="bg-BG" sz="2000" dirty="0"/>
            </a:br>
            <a:r>
              <a:rPr lang="bg-BG" sz="2000" dirty="0"/>
              <a:t>Половина = 0.5</a:t>
            </a:r>
            <a:br>
              <a:rPr lang="bg-BG" sz="2000" dirty="0"/>
            </a:br>
            <a:r>
              <a:rPr lang="bg-BG" sz="2000" dirty="0"/>
              <a:t>→ Първа група: A(0.4)</a:t>
            </a:r>
            <a:br>
              <a:rPr lang="bg-BG" sz="2000" dirty="0"/>
            </a:br>
            <a:r>
              <a:rPr lang="bg-BG" sz="2000" dirty="0"/>
              <a:t>→ Втора група: B(0.2), C(0.2), D(0.1), E(0.1)</a:t>
            </a:r>
            <a:br>
              <a:rPr lang="bg-BG" sz="2000" dirty="0"/>
            </a:br>
            <a:r>
              <a:rPr lang="bg-BG" sz="2000" dirty="0"/>
              <a:t>Даваме:</a:t>
            </a:r>
            <a:br>
              <a:rPr lang="bg-BG" sz="2000" dirty="0"/>
            </a:br>
            <a:r>
              <a:rPr lang="bg-BG" sz="2000" dirty="0"/>
              <a:t>A → 0</a:t>
            </a:r>
            <a:br>
              <a:rPr lang="bg-BG" sz="2000" dirty="0"/>
            </a:br>
            <a:r>
              <a:rPr lang="bg-BG" sz="2000" dirty="0"/>
              <a:t>B, C, D, E → 1</a:t>
            </a:r>
            <a:br>
              <a:rPr lang="bg-BG" sz="2000" dirty="0"/>
            </a:br>
            <a:r>
              <a:rPr lang="bg-BG" sz="2000" b="1" u="sng" dirty="0"/>
              <a:t>Стъпка 3: Разделяме втората група</a:t>
            </a:r>
            <a:r>
              <a:rPr lang="bg-BG" sz="2000" b="1" dirty="0"/>
              <a:t/>
            </a:r>
            <a:br>
              <a:rPr lang="bg-BG" sz="2000" b="1" dirty="0"/>
            </a:br>
            <a:r>
              <a:rPr lang="bg-BG" sz="2000" dirty="0"/>
              <a:t>Вероятност: 0.6</a:t>
            </a:r>
            <a:br>
              <a:rPr lang="bg-BG" sz="2000" dirty="0"/>
            </a:br>
            <a:r>
              <a:rPr lang="bg-BG" sz="2000" dirty="0"/>
              <a:t>Половина: 0.3</a:t>
            </a:r>
            <a:br>
              <a:rPr lang="bg-BG" sz="2000" dirty="0"/>
            </a:br>
            <a:r>
              <a:rPr lang="bg-BG" sz="2000" dirty="0"/>
              <a:t>→ Първа подгрупа: B(0.2), C(0.2) → 10</a:t>
            </a:r>
            <a:br>
              <a:rPr lang="bg-BG" sz="2000" dirty="0"/>
            </a:br>
            <a:r>
              <a:rPr lang="bg-BG" sz="2000" dirty="0"/>
              <a:t>→ Втора подгрупа: D(0.1), E(0.1) → 11</a:t>
            </a:r>
            <a:br>
              <a:rPr lang="bg-BG" sz="2000" dirty="0"/>
            </a:br>
            <a:r>
              <a:rPr lang="bg-BG" sz="2000" b="1" u="sng" dirty="0"/>
              <a:t>Стъпка 4: Разделяме B и C</a:t>
            </a:r>
            <a:br>
              <a:rPr lang="bg-BG" sz="2000" b="1" u="sng" dirty="0"/>
            </a:br>
            <a:r>
              <a:rPr lang="bg-BG" sz="2000" dirty="0"/>
              <a:t>B → 100</a:t>
            </a:r>
            <a:br>
              <a:rPr lang="bg-BG" sz="2000" dirty="0"/>
            </a:br>
            <a:r>
              <a:rPr lang="bg-BG" sz="2000" dirty="0"/>
              <a:t>C → 101</a:t>
            </a:r>
            <a:br>
              <a:rPr lang="bg-BG" sz="2000" dirty="0"/>
            </a:br>
            <a:r>
              <a:rPr lang="bg-BG" sz="2000" b="1" u="sng" dirty="0"/>
              <a:t>Стъпка 5: Разделяме D и E</a:t>
            </a:r>
            <a:br>
              <a:rPr lang="bg-BG" sz="2000" b="1" u="sng" dirty="0"/>
            </a:br>
            <a:r>
              <a:rPr lang="bg-BG" sz="2000" dirty="0"/>
              <a:t>D → 110</a:t>
            </a:r>
            <a:br>
              <a:rPr lang="bg-BG" sz="2000" dirty="0"/>
            </a:br>
            <a:r>
              <a:rPr lang="bg-BG" sz="2000" dirty="0"/>
              <a:t>E → 111</a:t>
            </a:r>
            <a:br>
              <a:rPr lang="bg-BG" sz="2000" dirty="0"/>
            </a:b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414419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902980"/>
              </p:ext>
            </p:extLst>
          </p:nvPr>
        </p:nvGraphicFramePr>
        <p:xfrm>
          <a:off x="2915478" y="2125820"/>
          <a:ext cx="5411526" cy="3480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5763">
                  <a:extLst>
                    <a:ext uri="{9D8B030D-6E8A-4147-A177-3AD203B41FA5}">
                      <a16:colId xmlns:a16="http://schemas.microsoft.com/office/drawing/2014/main" val="3309288227"/>
                    </a:ext>
                  </a:extLst>
                </a:gridCol>
                <a:gridCol w="2705763">
                  <a:extLst>
                    <a:ext uri="{9D8B030D-6E8A-4147-A177-3AD203B41FA5}">
                      <a16:colId xmlns:a16="http://schemas.microsoft.com/office/drawing/2014/main" val="1210377870"/>
                    </a:ext>
                  </a:extLst>
                </a:gridCol>
              </a:tblGrid>
              <a:tr h="226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Символ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Код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1800286"/>
                  </a:ext>
                </a:extLst>
              </a:tr>
              <a:tr h="2261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A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 dirty="0">
                          <a:effectLst/>
                        </a:rPr>
                        <a:t>0</a:t>
                      </a:r>
                      <a:endParaRPr lang="bg-BG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6152584"/>
                  </a:ext>
                </a:extLst>
              </a:tr>
              <a:tr h="2261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B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100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77288189"/>
                  </a:ext>
                </a:extLst>
              </a:tr>
              <a:tr h="2261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C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101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0336408"/>
                  </a:ext>
                </a:extLst>
              </a:tr>
              <a:tr h="2261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D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110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2000141"/>
                  </a:ext>
                </a:extLst>
              </a:tr>
              <a:tr h="2261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>
                          <a:effectLst/>
                        </a:rPr>
                        <a:t>E</a:t>
                      </a:r>
                      <a:endParaRPr lang="bg-BG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600" dirty="0">
                          <a:effectLst/>
                        </a:rPr>
                        <a:t>111</a:t>
                      </a:r>
                      <a:endParaRPr lang="bg-BG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7861937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407381" y="342126"/>
            <a:ext cx="842772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Краен резултат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39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9042"/>
          </a:xfrm>
        </p:spPr>
        <p:txBody>
          <a:bodyPr/>
          <a:lstStyle/>
          <a:p>
            <a:r>
              <a:rPr lang="bg-BG" b="1" dirty="0" smtClean="0"/>
              <a:t>             1</a:t>
            </a:r>
            <a:r>
              <a:rPr lang="bg-BG" b="1" dirty="0"/>
              <a:t>. Вероятност на символ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>p_i = \frac{f_i}{N}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>( p_i ) – вероятността на i-тия символ.</a:t>
            </a:r>
            <a:br>
              <a:rPr lang="bg-BG" dirty="0"/>
            </a:br>
            <a:r>
              <a:rPr lang="bg-BG" dirty="0"/>
              <a:t>( f_i ) – честотата (колко пъти се среща </a:t>
            </a:r>
            <a:r>
              <a:rPr lang="bg-BG" dirty="0" smtClean="0"/>
              <a:t>     символът </a:t>
            </a:r>
            <a:r>
              <a:rPr lang="bg-BG" dirty="0"/>
              <a:t>в текста).</a:t>
            </a:r>
            <a:br>
              <a:rPr lang="bg-BG" dirty="0"/>
            </a:br>
            <a:r>
              <a:rPr lang="bg-BG" dirty="0"/>
              <a:t>( N ) – общият брой символи.</a:t>
            </a:r>
            <a:br>
              <a:rPr lang="bg-BG" dirty="0"/>
            </a:br>
            <a:r>
              <a:rPr lang="bg-BG" sz="3200" dirty="0"/>
              <a:t>👉 Така изчисляваме колко „често“ се среща всеки символ</a:t>
            </a:r>
          </a:p>
        </p:txBody>
      </p:sp>
    </p:spTree>
    <p:extLst>
      <p:ext uri="{BB962C8B-B14F-4D97-AF65-F5344CB8AC3E}">
        <p14:creationId xmlns:p14="http://schemas.microsoft.com/office/powerpoint/2010/main" val="174224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5432"/>
          </a:xfrm>
        </p:spPr>
        <p:txBody>
          <a:bodyPr>
            <a:noAutofit/>
          </a:bodyPr>
          <a:lstStyle/>
          <a:p>
            <a:r>
              <a:rPr lang="bg-BG" sz="3200" b="1" dirty="0" smtClean="0"/>
              <a:t>                                2</a:t>
            </a:r>
            <a:r>
              <a:rPr lang="bg-BG" sz="3200" b="1" dirty="0"/>
              <a:t>. Ентропия (Шанон)</a:t>
            </a:r>
            <a:r>
              <a:rPr lang="bg-BG" sz="3200" dirty="0"/>
              <a:t/>
            </a:r>
            <a:br>
              <a:rPr lang="bg-BG" sz="3200" dirty="0"/>
            </a:br>
            <a:r>
              <a:rPr lang="bg-BG" sz="3200" dirty="0"/>
              <a:t/>
            </a:r>
            <a:br>
              <a:rPr lang="bg-BG" sz="3200" dirty="0"/>
            </a:br>
            <a:r>
              <a:rPr lang="bg-BG" sz="3200" dirty="0"/>
              <a:t>H(X) = - \sum_{i=1}^{n} p_i \cdot \log_2 p_i</a:t>
            </a:r>
            <a:br>
              <a:rPr lang="bg-BG" sz="3200" dirty="0"/>
            </a:br>
            <a:r>
              <a:rPr lang="bg-BG" sz="3200" dirty="0"/>
              <a:t/>
            </a:r>
            <a:br>
              <a:rPr lang="bg-BG" sz="3200" dirty="0"/>
            </a:br>
            <a:r>
              <a:rPr lang="bg-BG" sz="3200" dirty="0"/>
              <a:t>( H(X) ) – ентропията на източника (средното количество информация на символ).</a:t>
            </a:r>
            <a:br>
              <a:rPr lang="bg-BG" sz="3200" dirty="0"/>
            </a:br>
            <a:r>
              <a:rPr lang="bg-BG" sz="3200" dirty="0"/>
              <a:t>( n ) – броят на различните символи.</a:t>
            </a:r>
            <a:br>
              <a:rPr lang="bg-BG" sz="3200" dirty="0"/>
            </a:br>
            <a:r>
              <a:rPr lang="bg-BG" sz="3200" dirty="0"/>
              <a:t>( p_i ) – вероятността на i-тия символ.</a:t>
            </a:r>
            <a:br>
              <a:rPr lang="bg-BG" sz="3200" dirty="0"/>
            </a:br>
            <a:r>
              <a:rPr lang="bg-BG" sz="3200" dirty="0"/>
              <a:t>( \log_2 ) – логаритъм по основа 2 (защото работим в двоична система).</a:t>
            </a:r>
            <a:br>
              <a:rPr lang="bg-BG" sz="3200" dirty="0"/>
            </a:br>
            <a:r>
              <a:rPr lang="bg-BG" sz="2400" dirty="0"/>
              <a:t>👉 Ентропията дава </a:t>
            </a:r>
            <a:r>
              <a:rPr lang="bg-BG" sz="2400" b="1" dirty="0"/>
              <a:t>теоретичната граница</a:t>
            </a:r>
            <a:r>
              <a:rPr lang="bg-BG" sz="2400" dirty="0"/>
              <a:t> за минималния брой бита, които са нужни за кодиране на един символ</a:t>
            </a:r>
            <a:r>
              <a:rPr lang="bg-BG" sz="3200" dirty="0"/>
              <a:t>.</a:t>
            </a:r>
            <a:br>
              <a:rPr lang="bg-BG" sz="3200" dirty="0"/>
            </a:b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41397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6282165"/>
          </a:xfrm>
        </p:spPr>
        <p:txBody>
          <a:bodyPr>
            <a:normAutofit fontScale="90000"/>
          </a:bodyPr>
          <a:lstStyle/>
          <a:p>
            <a:r>
              <a:rPr lang="bg-BG" b="1" dirty="0" smtClean="0"/>
              <a:t>                  3</a:t>
            </a:r>
            <a:r>
              <a:rPr lang="bg-BG" b="1" dirty="0"/>
              <a:t>. Средна дължина на кода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>L = \sum_{i=1}^{n} p_i \cdot l_i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>( L ) – средната дължина на кодовата дума (в битове).</a:t>
            </a:r>
            <a:br>
              <a:rPr lang="bg-BG" dirty="0"/>
            </a:br>
            <a:r>
              <a:rPr lang="bg-BG" dirty="0"/>
              <a:t>( l_i ) – дължината (брой битове) на кода на i-тия символ.</a:t>
            </a:r>
            <a:br>
              <a:rPr lang="bg-BG" dirty="0"/>
            </a:br>
            <a:r>
              <a:rPr lang="bg-BG" dirty="0"/>
              <a:t>( p_i ) – вероятността на i-тия символ</a:t>
            </a:r>
            <a:r>
              <a:rPr lang="bg-BG" dirty="0" smtClean="0"/>
              <a:t>.</a:t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bg-BG" sz="3100" dirty="0"/>
              <a:t>👉 Показва колко бита средно използваме на символ в реалния код.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365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6750"/>
          </a:xfrm>
        </p:spPr>
        <p:txBody>
          <a:bodyPr/>
          <a:lstStyle/>
          <a:p>
            <a:r>
              <a:rPr lang="bg-BG" b="1" dirty="0" smtClean="0"/>
              <a:t>           5</a:t>
            </a:r>
            <a:r>
              <a:rPr lang="bg-BG" b="1" dirty="0"/>
              <a:t>. Редундантност (излишък)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>R = 1 - \eta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>( R ) – редундантност.</a:t>
            </a:r>
            <a:br>
              <a:rPr lang="bg-BG" dirty="0"/>
            </a:br>
            <a:r>
              <a:rPr lang="bg-BG" dirty="0"/>
              <a:t>( \eta ) – ефективност</a:t>
            </a:r>
            <a:r>
              <a:rPr lang="bg-BG" dirty="0" smtClean="0"/>
              <a:t>.</a:t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bg-BG" sz="2800" dirty="0"/>
              <a:t>👉 Показва колко „излишни“ бита имаме спрямо идеалния случай.</a:t>
            </a:r>
            <a:br>
              <a:rPr lang="bg-BG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4239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6405"/>
          </a:xfrm>
        </p:spPr>
        <p:txBody>
          <a:bodyPr>
            <a:normAutofit/>
          </a:bodyPr>
          <a:lstStyle/>
          <a:p>
            <a:pPr lvl="0"/>
            <a:r>
              <a:rPr lang="bg-BG" sz="4000" dirty="0"/>
              <a:t>Формула (1) – намираме вероятностите.</a:t>
            </a:r>
            <a:br>
              <a:rPr lang="bg-BG" sz="4000" dirty="0"/>
            </a:br>
            <a:r>
              <a:rPr lang="bg-BG" sz="4000" dirty="0"/>
              <a:t>Формула (2) – изчисляваме колко информация </a:t>
            </a:r>
            <a:r>
              <a:rPr lang="bg-BG" sz="4000" dirty="0" smtClean="0"/>
              <a:t>   носи </a:t>
            </a:r>
            <a:r>
              <a:rPr lang="bg-BG" sz="4000" dirty="0"/>
              <a:t>източникът.</a:t>
            </a:r>
            <a:br>
              <a:rPr lang="bg-BG" sz="4000" dirty="0"/>
            </a:br>
            <a:r>
              <a:rPr lang="bg-BG" sz="4000" dirty="0"/>
              <a:t>Формула (3) – изчисляваме колко бита средно ползва нашият код.</a:t>
            </a:r>
            <a:br>
              <a:rPr lang="bg-BG" sz="4000" dirty="0"/>
            </a:br>
            <a:r>
              <a:rPr lang="bg-BG" sz="4000" dirty="0"/>
              <a:t>Формула (4) – проверяваме колко близо сме до оптимума.</a:t>
            </a:r>
            <a:br>
              <a:rPr lang="bg-BG" sz="4000" dirty="0"/>
            </a:br>
            <a:r>
              <a:rPr lang="bg-BG" sz="4000" dirty="0"/>
              <a:t>Формула (5) – измерваме излишъка.</a:t>
            </a:r>
            <a:br>
              <a:rPr lang="bg-BG" sz="4000" dirty="0"/>
            </a:br>
            <a:endParaRPr lang="bg-BG" sz="4000" dirty="0"/>
          </a:p>
        </p:txBody>
      </p:sp>
    </p:spTree>
    <p:extLst>
      <p:ext uri="{BB962C8B-B14F-4D97-AF65-F5344CB8AC3E}">
        <p14:creationId xmlns:p14="http://schemas.microsoft.com/office/powerpoint/2010/main" val="1462276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84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Метод Шанон- Фано</vt:lpstr>
      <vt:lpstr>                            Определение Методът на Шанон–Фано е алгоритъм за изграждане на двоичен префиксен код (код без двусмислие), който минимизира дължината на кода, като на по-честите символи се дават по-къси кодови думи, а на по-редките – по-дълги. Той е една от първите техники за оптимално кодиране и компресиране на информация, предложен от Клод Шанон и Робърт Фано. </vt:lpstr>
      <vt:lpstr>                                      Алгоритъм за решаване на задачи  Събиране на данни Определя се множеството от символи. Изчисляват се техните честоти или вероятности. Сортират се по вероятност (от най-голяма към най-малка). Рекурсивно разделяне Целта е да разделим списъка на две групи със сумарна вероятност възможно най-близка. На символите в първата група се добавя цифрата 0. На символите във втората група се добавя цифрата 1. Повтаряне За всяка група се прилага същата процедура, докато: в групата остане само един символ, или всички символи получат уникални кодови думи. Резултат Получените двоични низове са Шанон–Фано кодовете на символите. </vt:lpstr>
      <vt:lpstr>Пример Нека имаме следните символи и вероятности:</vt:lpstr>
      <vt:lpstr>Стъпка 1: Сортираме A(0.4), B(0.2), C(0.2), D(0.1), E(0.1) Стъпка 2: Разделяме Обща вероятност = 1.0 Половина = 0.5 → Първа група: A(0.4) → Втора група: B(0.2), C(0.2), D(0.1), E(0.1) Даваме: A → 0 B, C, D, E → 1 Стъпка 3: Разделяме втората група Вероятност: 0.6 Половина: 0.3 → Първа подгрупа: B(0.2), C(0.2) → 10 → Втора подгрупа: D(0.1), E(0.1) → 11 Стъпка 4: Разделяме B и C B → 100 C → 101 Стъпка 5: Разделяме D и E D → 110 E → 111 </vt:lpstr>
      <vt:lpstr>Краен резултат </vt:lpstr>
      <vt:lpstr>             1. Вероятност на символ  p_i = \frac{f_i}{N}  ( p_i ) – вероятността на i-тия символ. ( f_i ) – честотата (колко пъти се среща      символът в текста). ( N ) – общият брой символи. 👉 Така изчисляваме колко „често“ се среща всеки символ</vt:lpstr>
      <vt:lpstr>                                2. Ентропия (Шанон)  H(X) = - \sum_{i=1}^{n} p_i \cdot \log_2 p_i  ( H(X) ) – ентропията на източника (средното количество информация на символ). ( n ) – броят на различните символи. ( p_i ) – вероятността на i-тия символ. ( \log_2 ) – логаритъм по основа 2 (защото работим в двоична система). 👉 Ентропията дава теоретичната граница за минималния брой бита, които са нужни за кодиране на един символ. </vt:lpstr>
      <vt:lpstr>                  3. Средна дължина на кода  L = \sum_{i=1}^{n} p_i \cdot l_i  ( L ) – средната дължина на кодовата дума (в битове). ( l_i ) – дължината (брой битове) на кода на i-тия символ. ( p_i ) – вероятността на i-тия символ.  👉 Показва колко бита средно използваме на символ в реалния код. </vt:lpstr>
      <vt:lpstr>           5. Редундантност (излишък)  R = 1 - \eta  ( R ) – редундантност. ( \eta ) – ефективност.  👉 Показва колко „излишни“ бита имаме спрямо идеалния случай. </vt:lpstr>
      <vt:lpstr>Формула (1) – намираме вероятностите. Формула (2) – изчисляваме колко информация    носи източникът. Формула (3) – изчисляваме колко бита средно ползва нашият код. Формула (4) – проверяваме колко близо сме до оптимума. Формула (5) – измерваме излишъка.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Шанон- Фано</dc:title>
  <dc:creator>Neli Nqgolova</dc:creator>
  <cp:lastModifiedBy>Neli Nqgolova</cp:lastModifiedBy>
  <cp:revision>8</cp:revision>
  <dcterms:created xsi:type="dcterms:W3CDTF">2025-10-07T09:30:52Z</dcterms:created>
  <dcterms:modified xsi:type="dcterms:W3CDTF">2025-10-07T09:45:18Z</dcterms:modified>
</cp:coreProperties>
</file>