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5" r:id="rId17"/>
    <p:sldId id="276" r:id="rId18"/>
    <p:sldId id="277" r:id="rId19"/>
    <p:sldId id="278" r:id="rId20"/>
    <p:sldId id="272" r:id="rId21"/>
    <p:sldId id="273" r:id="rId22"/>
    <p:sldId id="270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80" d="100"/>
          <a:sy n="80" d="100"/>
        </p:scale>
        <p:origin x="10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10/27/2025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10/27/2025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10/27/2025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10/27/2025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10/27/2025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10/27/2025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10/27/2025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10/27/2025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10/27/2025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10/27/2025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1"/>
            <a:ext cx="10382388" cy="2432436"/>
          </a:xfrm>
        </p:spPr>
        <p:txBody>
          <a:bodyPr/>
          <a:lstStyle/>
          <a:p>
            <a:r>
              <a:rPr lang="bg-BG" sz="7000" b="1" dirty="0"/>
              <a:t>Побитови операции</a:t>
            </a:r>
            <a:endParaRPr lang="bg-BG" sz="7000" b="1" dirty="0"/>
          </a:p>
        </p:txBody>
      </p:sp>
    </p:spTree>
    <p:extLst>
      <p:ext uri="{BB962C8B-B14F-4D97-AF65-F5344CB8AC3E}">
        <p14:creationId xmlns:p14="http://schemas.microsoft.com/office/powerpoint/2010/main" val="3800811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5558468"/>
          </a:xfrm>
        </p:spPr>
        <p:txBody>
          <a:bodyPr/>
          <a:lstStyle/>
          <a:p>
            <a:r>
              <a:rPr lang="ru-RU" i="1" dirty="0"/>
              <a:t>Побитовите операции са най-бързите операции, които процесорът може да изпълнява. Понякога с тяхна помощ можем да подобрим значително бързодействието на програмата си, или пък да спестим памет. 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14740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755374" y="674558"/>
            <a:ext cx="8762337" cy="6073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101568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bg-BG" altLang="bg-BG" sz="5000" b="1" i="0" u="none" strike="noStrike" cap="none" normalizeH="0" baseline="0" dirty="0" smtClean="0">
                <a:ln>
                  <a:noFill/>
                </a:ln>
                <a:solidFill>
                  <a:srgbClr val="FFC000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Защо да ги учим?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bg-BG" altLang="bg-BG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Побитовите операции: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bg-BG" altLang="bg-BG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са </a:t>
            </a:r>
            <a:r>
              <a:rPr kumimoji="0" lang="bg-BG" altLang="bg-BG" sz="4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много бързи</a:t>
            </a:r>
            <a:r>
              <a:rPr kumimoji="0" lang="bg-BG" altLang="bg-BG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bg-BG" altLang="bg-BG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пестят </a:t>
            </a:r>
            <a:r>
              <a:rPr kumimoji="0" lang="bg-BG" altLang="bg-BG" sz="4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памет</a:t>
            </a:r>
            <a:r>
              <a:rPr kumimoji="0" lang="bg-BG" altLang="bg-BG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bg-BG" altLang="bg-BG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често се използват в </a:t>
            </a:r>
            <a:r>
              <a:rPr kumimoji="0" lang="bg-BG" altLang="bg-BG" sz="4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алгоритми</a:t>
            </a:r>
            <a:r>
              <a:rPr kumimoji="0" lang="bg-BG" altLang="bg-BG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, </a:t>
            </a:r>
            <a:r>
              <a:rPr kumimoji="0" lang="bg-BG" altLang="bg-BG" sz="4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оптимизации</a:t>
            </a:r>
            <a:r>
              <a:rPr kumimoji="0" lang="bg-BG" altLang="bg-BG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 и </a:t>
            </a:r>
            <a:r>
              <a:rPr kumimoji="0" lang="bg-BG" altLang="bg-BG" sz="4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състезателно програмиране</a:t>
            </a:r>
            <a:r>
              <a:rPr kumimoji="0" lang="bg-BG" altLang="bg-BG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bg-BG" altLang="bg-BG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помагат при работа с </a:t>
            </a:r>
            <a:r>
              <a:rPr kumimoji="0" lang="bg-BG" altLang="bg-BG" sz="4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флагове, множества и двоични данни</a:t>
            </a:r>
            <a:r>
              <a:rPr kumimoji="0" lang="bg-BG" altLang="bg-BG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  <a:endParaRPr kumimoji="0" lang="bg-BG" altLang="bg-BG" sz="4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endParaRPr kumimoji="0" lang="bg-BG" altLang="bg-BG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7807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7"/>
            <a:ext cx="9404723" cy="5940131"/>
          </a:xfrm>
        </p:spPr>
        <p:txBody>
          <a:bodyPr/>
          <a:lstStyle/>
          <a:p>
            <a:r>
              <a:rPr lang="bg-BG" sz="3200" b="1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Бит</a:t>
            </a:r>
            <a:r>
              <a:rPr lang="bg-BG" sz="3200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bg-BG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bg-BG" sz="3200" dirty="0">
                <a:latin typeface="Arial" panose="020B0604020202020204" pitchFamily="34" charset="0"/>
                <a:cs typeface="Arial" panose="020B0604020202020204" pitchFamily="34" charset="0"/>
              </a:rPr>
              <a:t>● Най-малката единица данни</a:t>
            </a:r>
            <a:br>
              <a:rPr lang="bg-BG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○ Може да заема стойност 0 или 1</a:t>
            </a:r>
            <a:b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● Бита може да съхранява информация за всяко едно нещо</a:t>
            </a:r>
            <a:b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bg-BG" sz="3200" dirty="0">
                <a:latin typeface="Arial" panose="020B0604020202020204" pitchFamily="34" charset="0"/>
                <a:cs typeface="Arial" panose="020B0604020202020204" pitchFamily="34" charset="0"/>
              </a:rPr>
              <a:t>със две отделни състояния</a:t>
            </a:r>
            <a:br>
              <a:rPr lang="bg-BG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bg-BG" sz="3200" dirty="0">
                <a:latin typeface="Arial" panose="020B0604020202020204" pitchFamily="34" charset="0"/>
                <a:cs typeface="Arial" panose="020B0604020202020204" pitchFamily="34" charset="0"/>
              </a:rPr>
              <a:t>○ Логически стойности (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true/false - </a:t>
            </a:r>
            <a:r>
              <a:rPr lang="bg-BG" sz="3200" dirty="0">
                <a:latin typeface="Arial" panose="020B0604020202020204" pitchFamily="34" charset="0"/>
                <a:cs typeface="Arial" panose="020B0604020202020204" pitchFamily="34" charset="0"/>
              </a:rPr>
              <a:t>вярно/грешно)</a:t>
            </a:r>
            <a:br>
              <a:rPr lang="bg-BG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bg-BG" sz="3200" dirty="0">
                <a:latin typeface="Arial" panose="020B0604020202020204" pitchFamily="34" charset="0"/>
                <a:cs typeface="Arial" panose="020B0604020202020204" pitchFamily="34" charset="0"/>
              </a:rPr>
              <a:t>○ Алгебрични знаци (+/-)</a:t>
            </a:r>
            <a:br>
              <a:rPr lang="bg-BG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bg-BG" sz="3200" dirty="0">
                <a:latin typeface="Arial" panose="020B0604020202020204" pitchFamily="34" charset="0"/>
                <a:cs typeface="Arial" panose="020B0604020202020204" pitchFamily="34" charset="0"/>
              </a:rPr>
              <a:t>○ Състояния на активиране (включено/изключено)</a:t>
            </a:r>
            <a:br>
              <a:rPr lang="bg-BG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3200" dirty="0">
                <a:latin typeface="Arial" panose="020B0604020202020204" pitchFamily="34" charset="0"/>
                <a:cs typeface="Arial" panose="020B0604020202020204" pitchFamily="34" charset="0"/>
              </a:rPr>
              <a:t>● Последоватлност от 8 бита формира 1 байт.</a:t>
            </a:r>
            <a:endParaRPr lang="bg-BG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2434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5971936"/>
          </a:xfrm>
        </p:spPr>
        <p:txBody>
          <a:bodyPr/>
          <a:lstStyle/>
          <a:p>
            <a:r>
              <a:rPr lang="bg-BG" sz="3200" b="1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Бит, Байт, Килобайт, …</a:t>
            </a:r>
            <a:br>
              <a:rPr lang="bg-BG" sz="3200" b="1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3000" dirty="0">
                <a:latin typeface="Arial" panose="020B0604020202020204" pitchFamily="34" charset="0"/>
                <a:cs typeface="Arial" panose="020B0604020202020204" pitchFamily="34" charset="0"/>
              </a:rPr>
              <a:t>● Бит (bit) - 0 или 1</a:t>
            </a:r>
            <a:br>
              <a:rPr lang="ru-RU" sz="3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3000" dirty="0">
                <a:latin typeface="Arial" panose="020B0604020202020204" pitchFamily="34" charset="0"/>
                <a:cs typeface="Arial" panose="020B0604020202020204" pitchFamily="34" charset="0"/>
              </a:rPr>
              <a:t>● Байт (byte, octet, B) - 8 бита - най-малката адресируема</a:t>
            </a:r>
            <a:br>
              <a:rPr lang="ru-RU" sz="3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bg-BG" sz="3000" dirty="0">
                <a:latin typeface="Arial" panose="020B0604020202020204" pitchFamily="34" charset="0"/>
                <a:cs typeface="Arial" panose="020B0604020202020204" pitchFamily="34" charset="0"/>
              </a:rPr>
              <a:t>единица в паметта</a:t>
            </a:r>
            <a:br>
              <a:rPr lang="bg-BG" sz="3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bg-BG" sz="3000" dirty="0">
                <a:latin typeface="Arial" panose="020B0604020202020204" pitchFamily="34" charset="0"/>
                <a:cs typeface="Arial" panose="020B0604020202020204" pitchFamily="34" charset="0"/>
              </a:rPr>
              <a:t>● Килобайт (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kilobyte, KB) = 1024 </a:t>
            </a:r>
            <a:r>
              <a:rPr lang="bg-BG" sz="3000" dirty="0">
                <a:latin typeface="Arial" panose="020B0604020202020204" pitchFamily="34" charset="0"/>
                <a:cs typeface="Arial" panose="020B0604020202020204" pitchFamily="34" charset="0"/>
              </a:rPr>
              <a:t>байта</a:t>
            </a:r>
            <a:br>
              <a:rPr lang="bg-BG" sz="3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bg-BG" sz="3000" dirty="0">
                <a:latin typeface="Arial" panose="020B0604020202020204" pitchFamily="34" charset="0"/>
                <a:cs typeface="Arial" panose="020B0604020202020204" pitchFamily="34" charset="0"/>
              </a:rPr>
              <a:t>● Мегабайт (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megabyte, MB) = 1024 KB</a:t>
            </a:r>
            <a:b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bg-BG" sz="3000" dirty="0">
                <a:latin typeface="Arial" panose="020B0604020202020204" pitchFamily="34" charset="0"/>
                <a:cs typeface="Arial" panose="020B0604020202020204" pitchFamily="34" charset="0"/>
              </a:rPr>
              <a:t>● Гигабайт (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gigabyte, GB) = 1024 MB</a:t>
            </a:r>
            <a:b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bg-BG" sz="3000" dirty="0">
                <a:latin typeface="Arial" panose="020B0604020202020204" pitchFamily="34" charset="0"/>
                <a:cs typeface="Arial" panose="020B0604020202020204" pitchFamily="34" charset="0"/>
              </a:rPr>
              <a:t>● Терабайт (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terabyte, TB) = 1024 GB</a:t>
            </a:r>
            <a:b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bg-BG" sz="3000" dirty="0">
                <a:latin typeface="Arial" panose="020B0604020202020204" pitchFamily="34" charset="0"/>
                <a:cs typeface="Arial" panose="020B0604020202020204" pitchFamily="34" charset="0"/>
              </a:rPr>
              <a:t>● Петабайт (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petabyte, PB) = 1024 TB</a:t>
            </a:r>
            <a:endParaRPr lang="bg-BG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91398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7"/>
            <a:ext cx="9404723" cy="5916277"/>
          </a:xfrm>
        </p:spPr>
        <p:txBody>
          <a:bodyPr/>
          <a:lstStyle/>
          <a:p>
            <a:r>
              <a:rPr lang="bg-BG" b="1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Побитови оператори</a:t>
            </a:r>
            <a:br>
              <a:rPr lang="bg-BG" b="1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● Побитовите оператори работят с двоичното представяне</a:t>
            </a:r>
            <a:b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на данните, извършвайки операциите бит по… </a:t>
            </a: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бит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bg-BG" dirty="0"/>
              <a:t>Те са </a:t>
            </a:r>
            <a:r>
              <a:rPr lang="bg-BG" b="1" dirty="0"/>
              <a:t>много бързи</a:t>
            </a:r>
            <a:r>
              <a:rPr lang="bg-BG" dirty="0"/>
              <a:t>, защото се изпълняват директно от процесора.</a:t>
            </a:r>
            <a:endParaRPr lang="bg-B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25181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6019644"/>
          </a:xfrm>
        </p:spPr>
        <p:txBody>
          <a:bodyPr/>
          <a:lstStyle/>
          <a:p>
            <a:pPr algn="ctr"/>
            <a:r>
              <a:rPr lang="bg-BG" b="1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Основни побитови операции</a:t>
            </a:r>
            <a:br>
              <a:rPr lang="bg-BG" b="1" dirty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bg-BG" dirty="0"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1764268"/>
              </p:ext>
            </p:extLst>
          </p:nvPr>
        </p:nvGraphicFramePr>
        <p:xfrm>
          <a:off x="739470" y="1375576"/>
          <a:ext cx="9613128" cy="536043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03282">
                  <a:extLst>
                    <a:ext uri="{9D8B030D-6E8A-4147-A177-3AD203B41FA5}">
                      <a16:colId xmlns:a16="http://schemas.microsoft.com/office/drawing/2014/main" val="197482367"/>
                    </a:ext>
                  </a:extLst>
                </a:gridCol>
                <a:gridCol w="2403282">
                  <a:extLst>
                    <a:ext uri="{9D8B030D-6E8A-4147-A177-3AD203B41FA5}">
                      <a16:colId xmlns:a16="http://schemas.microsoft.com/office/drawing/2014/main" val="3095889089"/>
                    </a:ext>
                  </a:extLst>
                </a:gridCol>
                <a:gridCol w="2403282">
                  <a:extLst>
                    <a:ext uri="{9D8B030D-6E8A-4147-A177-3AD203B41FA5}">
                      <a16:colId xmlns:a16="http://schemas.microsoft.com/office/drawing/2014/main" val="951529535"/>
                    </a:ext>
                  </a:extLst>
                </a:gridCol>
                <a:gridCol w="2403282">
                  <a:extLst>
                    <a:ext uri="{9D8B030D-6E8A-4147-A177-3AD203B41FA5}">
                      <a16:colId xmlns:a16="http://schemas.microsoft.com/office/drawing/2014/main" val="1887312245"/>
                    </a:ext>
                  </a:extLst>
                </a:gridCol>
              </a:tblGrid>
              <a:tr h="48433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bg-BG" sz="18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Име</a:t>
                      </a:r>
                      <a:endParaRPr lang="bg-BG" sz="18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bg-BG" sz="18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Символ</a:t>
                      </a:r>
                      <a:endParaRPr lang="bg-BG" sz="18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bg-BG" sz="18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Пример</a:t>
                      </a:r>
                      <a:endParaRPr lang="bg-BG" sz="18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bg-BG" sz="18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Обяснение</a:t>
                      </a:r>
                      <a:endParaRPr lang="bg-BG" sz="18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36511739"/>
                  </a:ext>
                </a:extLst>
              </a:tr>
              <a:tr h="70835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bg-BG" sz="180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AND</a:t>
                      </a:r>
                      <a:r>
                        <a:rPr lang="en-US" sz="180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</a:t>
                      </a:r>
                      <a:r>
                        <a:rPr lang="bg-BG" sz="180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      „И“</a:t>
                      </a:r>
                      <a:endParaRPr lang="bg-BG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bg-BG" sz="4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&amp;</a:t>
                      </a:r>
                      <a:endParaRPr lang="bg-BG" sz="40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bg-BG" sz="4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 &amp; B</a:t>
                      </a:r>
                      <a:endParaRPr lang="bg-BG" sz="4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bg-BG" sz="18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Връща 1 само ако и двата бита са 1</a:t>
                      </a:r>
                      <a:endParaRPr lang="bg-BG" sz="18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981664235"/>
                  </a:ext>
                </a:extLst>
              </a:tr>
              <a:tr h="48433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bg-BG" sz="180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OR                    „ИЛИ“     </a:t>
                      </a:r>
                      <a:endParaRPr lang="bg-BG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bg-BG" sz="4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`</a:t>
                      </a:r>
                      <a:endParaRPr lang="bg-BG" sz="40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bg-BG" sz="4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`</a:t>
                      </a:r>
                      <a:endParaRPr lang="bg-BG" sz="40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bg-BG" sz="44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`A</a:t>
                      </a:r>
                      <a:endParaRPr lang="bg-BG" sz="44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648308319"/>
                  </a:ext>
                </a:extLst>
              </a:tr>
              <a:tr h="89970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bg-BG" sz="180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XOR 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bg-BG" sz="180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„</a:t>
                      </a:r>
                      <a:r>
                        <a:rPr lang="bg-BG" sz="1800" b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изключващо ИЛИ“</a:t>
                      </a:r>
                      <a:endParaRPr lang="bg-BG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bg-BG" sz="4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^</a:t>
                      </a:r>
                      <a:endParaRPr lang="bg-BG" sz="4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bg-BG" sz="4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 ^ B</a:t>
                      </a:r>
                      <a:endParaRPr lang="bg-BG" sz="40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bg-BG" sz="18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Връща 1, ако битовете са различни</a:t>
                      </a:r>
                      <a:endParaRPr lang="bg-BG" sz="18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000927669"/>
                  </a:ext>
                </a:extLst>
              </a:tr>
              <a:tr h="48433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bg-BG" sz="180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NOT                   „НЕ“</a:t>
                      </a:r>
                      <a:endParaRPr lang="bg-BG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bg-BG" sz="4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~</a:t>
                      </a:r>
                      <a:endParaRPr lang="bg-BG" sz="4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bg-BG" sz="4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~A</a:t>
                      </a:r>
                      <a:endParaRPr lang="bg-BG" sz="40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bg-BG" sz="18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Обръща всички битове</a:t>
                      </a:r>
                      <a:endParaRPr lang="bg-BG" sz="18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106484646"/>
                  </a:ext>
                </a:extLst>
              </a:tr>
              <a:tr h="92217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bg-BG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SHIFT </a:t>
                      </a:r>
                      <a:r>
                        <a:rPr lang="bg-BG" sz="180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LEFT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bg-BG" sz="1800" dirty="0" smtClean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„преместване НАЛЯВО“</a:t>
                      </a:r>
                      <a:endParaRPr lang="bg-BG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bg-BG" sz="4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&lt;&lt; </a:t>
                      </a:r>
                      <a:endParaRPr lang="bg-BG" sz="4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bg-BG" sz="4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 &lt;&lt; n</a:t>
                      </a:r>
                      <a:endParaRPr lang="bg-BG" sz="40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bg-BG" sz="18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Премества битовете наляво (умножава по 2ⁿ)</a:t>
                      </a:r>
                      <a:endParaRPr lang="bg-BG" sz="18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900754040"/>
                  </a:ext>
                </a:extLst>
              </a:tr>
              <a:tr h="92217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bg-BG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SHIFT </a:t>
                      </a:r>
                      <a:r>
                        <a:rPr lang="bg-BG" sz="180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RIGHT</a:t>
                      </a: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bg-BG" sz="1800" dirty="0" smtClean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„преместване НАДЯСНО“</a:t>
                      </a:r>
                      <a:endParaRPr lang="bg-BG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bg-BG" sz="4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&gt;&gt; </a:t>
                      </a:r>
                      <a:endParaRPr lang="bg-BG" sz="4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bg-BG" sz="4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 &gt;&gt; n</a:t>
                      </a:r>
                      <a:endParaRPr lang="bg-BG" sz="40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bg-BG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Премества битовете надясно (дели на 2ⁿ)</a:t>
                      </a:r>
                      <a:endParaRPr lang="bg-BG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4994583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10148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540689" y="397879"/>
            <a:ext cx="9907325" cy="55399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3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Пример: </a:t>
            </a:r>
            <a:r>
              <a:rPr kumimoji="0" lang="bg-BG" altLang="bg-BG" sz="3600" b="1" i="0" u="none" strike="noStrike" cap="none" normalizeH="0" baseline="0" dirty="0" smtClean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AND (&amp;)</a:t>
            </a:r>
            <a:br>
              <a:rPr kumimoji="0" lang="bg-BG" altLang="bg-BG" sz="3600" b="1" i="0" u="none" strike="noStrike" cap="none" normalizeH="0" baseline="0" dirty="0" smtClean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kumimoji="0" lang="bg-BG" altLang="bg-BG" sz="3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/>
            </a:r>
            <a:br>
              <a:rPr kumimoji="0" lang="bg-BG" altLang="bg-BG" sz="3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endParaRPr kumimoji="0" lang="bg-BG" altLang="bg-BG" sz="3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 = 1337 = 0000010100111001</a:t>
            </a:r>
            <a:br>
              <a:rPr kumimoji="0" lang="bg-BG" altLang="bg-BG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kumimoji="0" lang="bg-BG" altLang="bg-BG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 = 4213 = 0001000001110101</a:t>
            </a:r>
            <a:br>
              <a:rPr kumimoji="0" lang="bg-BG" altLang="bg-BG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kumimoji="0" lang="bg-BG" altLang="bg-BG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 &amp; B =   0000000000110001 = 49</a:t>
            </a:r>
            <a:r>
              <a:rPr kumimoji="0" lang="bg-BG" altLang="bg-BG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kumimoji="0" lang="bg-BG" altLang="bg-BG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bg-BG" altLang="bg-BG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Резултатът има 1 само където и </a:t>
            </a:r>
            <a:br>
              <a:rPr kumimoji="0" lang="bg-BG" altLang="bg-BG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kumimoji="0" lang="bg-BG" altLang="bg-BG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двете имат</a:t>
            </a:r>
            <a:r>
              <a:rPr kumimoji="0" lang="bg-BG" altLang="bg-BG" sz="36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kumimoji="0" lang="bg-BG" altLang="bg-BG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1.</a:t>
            </a:r>
            <a:endParaRPr kumimoji="0" lang="bg-BG" altLang="bg-BG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bg-BG" altLang="bg-BG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20239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485030" y="-173240"/>
            <a:ext cx="9947080" cy="58981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3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/>
            </a:r>
            <a:br>
              <a:rPr kumimoji="0" lang="bg-BG" altLang="bg-BG" sz="3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kumimoji="0" lang="bg-BG" altLang="bg-BG" sz="3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Пример: </a:t>
            </a:r>
            <a:r>
              <a:rPr kumimoji="0" lang="bg-BG" altLang="bg-BG" sz="3600" b="1" i="0" u="none" strike="noStrike" cap="none" normalizeH="0" baseline="0" dirty="0" smtClean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OR (|)</a:t>
            </a:r>
            <a:br>
              <a:rPr kumimoji="0" lang="bg-BG" altLang="bg-BG" sz="3600" b="1" i="0" u="none" strike="noStrike" cap="none" normalizeH="0" baseline="0" dirty="0" smtClean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lang="bg-BG" altLang="bg-BG" sz="3600" b="1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/>
            </a:r>
            <a:br>
              <a:rPr lang="bg-BG" altLang="bg-BG" sz="3600" b="1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endParaRPr kumimoji="0" lang="bg-BG" altLang="bg-BG" sz="3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 | B = 0001010101111101 = 5501</a:t>
            </a:r>
            <a:r>
              <a:rPr kumimoji="0" lang="bg-BG" altLang="bg-BG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kumimoji="0" lang="bg-BG" altLang="bg-BG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bg-BG" altLang="bg-BG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kumimoji="0" lang="bg-BG" altLang="bg-BG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bg-BG" altLang="bg-BG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kumimoji="0" lang="bg-BG" altLang="bg-BG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bg-BG" altLang="bg-BG" sz="3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bg-BG" altLang="bg-BG" sz="3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bg-BG" altLang="bg-BG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Резултатът има 1 навсякъде, където поне един от двата има 1.</a:t>
            </a:r>
            <a:endParaRPr kumimoji="0" lang="bg-BG" altLang="bg-BG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bg-BG" altLang="bg-BG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20757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646113" y="423288"/>
            <a:ext cx="7990008" cy="60939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3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Пример: </a:t>
            </a:r>
            <a:r>
              <a:rPr kumimoji="0" lang="bg-BG" altLang="bg-BG" sz="3600" b="1" i="0" u="none" strike="noStrike" cap="none" normalizeH="0" baseline="0" dirty="0" smtClean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XOR (^)</a:t>
            </a:r>
            <a:br>
              <a:rPr kumimoji="0" lang="bg-BG" altLang="bg-BG" sz="3600" b="1" i="0" u="none" strike="noStrike" cap="none" normalizeH="0" baseline="0" dirty="0" smtClean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lang="bg-BG" altLang="bg-BG" sz="3600" b="1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/>
            </a:r>
            <a:br>
              <a:rPr lang="bg-BG" altLang="bg-BG" sz="3600" b="1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lang="bg-BG" altLang="bg-BG" sz="3600" b="1" dirty="0" smtClean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/>
            </a:r>
            <a:br>
              <a:rPr lang="bg-BG" altLang="bg-BG" sz="3600" b="1" dirty="0" smtClean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endParaRPr kumimoji="0" lang="bg-BG" altLang="bg-BG" sz="3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 ^ B = 0001010101001100 = 5452</a:t>
            </a:r>
            <a:r>
              <a:rPr kumimoji="0" lang="bg-BG" altLang="bg-BG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kumimoji="0" lang="bg-BG" altLang="bg-BG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bg-BG" altLang="bg-BG" sz="3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bg-BG" altLang="bg-BG" sz="3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bg-BG" altLang="bg-BG" sz="36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bg-BG" altLang="bg-BG" sz="36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bg-BG" altLang="bg-BG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 там, където битовете са </a:t>
            </a:r>
            <a:r>
              <a:rPr kumimoji="0" lang="bg-BG" altLang="bg-BG" sz="3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различни</a:t>
            </a:r>
            <a:r>
              <a:rPr kumimoji="0" lang="bg-BG" altLang="bg-BG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  <a:endParaRPr kumimoji="0" lang="bg-BG" altLang="bg-BG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kumimoji="0" lang="bg-BG" altLang="bg-BG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bg-BG" altLang="bg-BG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4797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646113" y="398393"/>
            <a:ext cx="10143807" cy="6370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3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Пример: </a:t>
            </a:r>
            <a:r>
              <a:rPr kumimoji="0" lang="bg-BG" altLang="bg-BG" sz="3600" b="1" i="0" u="none" strike="noStrike" cap="none" normalizeH="0" baseline="0" dirty="0" smtClean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NOT (~)</a:t>
            </a:r>
            <a:br>
              <a:rPr kumimoji="0" lang="bg-BG" altLang="bg-BG" sz="3600" b="1" i="0" u="none" strike="noStrike" cap="none" normalizeH="0" baseline="0" dirty="0" smtClean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lang="bg-BG" altLang="bg-BG" sz="3600" b="1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/>
            </a:r>
            <a:br>
              <a:rPr lang="bg-BG" altLang="bg-BG" sz="3600" b="1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lang="bg-BG" altLang="bg-BG" sz="3600" b="1" dirty="0" smtClean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/>
            </a:r>
            <a:br>
              <a:rPr lang="bg-BG" altLang="bg-BG" sz="3600" b="1" dirty="0" smtClean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endParaRPr kumimoji="0" lang="bg-BG" altLang="bg-BG" sz="3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~1337 = 1111101011000110</a:t>
            </a:r>
            <a:r>
              <a:rPr kumimoji="0" lang="bg-BG" altLang="bg-BG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kumimoji="0" lang="bg-BG" altLang="bg-BG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bg-BG" altLang="bg-BG" sz="3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bg-BG" altLang="bg-BG" sz="3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bg-BG" altLang="bg-BG" sz="36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bg-BG" altLang="bg-BG" sz="36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bg-BG" altLang="bg-BG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Всички 0 стават 1, а всички 1 стават 0.</a:t>
            </a:r>
            <a:br>
              <a:rPr kumimoji="0" lang="bg-BG" altLang="bg-BG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kumimoji="0" lang="bg-BG" altLang="bg-BG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(Ако числото е със знак, резултатът може да стане отрицателен.)</a:t>
            </a:r>
            <a:endParaRPr kumimoji="0" lang="bg-BG" altLang="bg-BG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bg-BG" altLang="bg-BG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92276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646114" y="489791"/>
            <a:ext cx="9312534" cy="60939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3600" b="1" i="0" u="none" strike="noStrike" cap="none" normalizeH="0" baseline="0" dirty="0" smtClean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SHIFT LEFT (&lt;&lt;)</a:t>
            </a:r>
            <a:r>
              <a:rPr kumimoji="0" lang="bg-BG" altLang="bg-BG" sz="3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/>
            </a:r>
            <a:br>
              <a:rPr kumimoji="0" lang="bg-BG" altLang="bg-BG" sz="3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kumimoji="0" lang="bg-BG" altLang="bg-BG" sz="3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/>
            </a:r>
            <a:br>
              <a:rPr kumimoji="0" lang="bg-BG" altLang="bg-BG" sz="3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lang="bg-BG" altLang="bg-BG" sz="3600" b="1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/>
            </a:r>
            <a:br>
              <a:rPr lang="bg-BG" altLang="bg-BG" sz="3600" b="1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endParaRPr kumimoji="0" lang="bg-BG" altLang="bg-BG" sz="3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1337 &lt;&lt; 3 = 10696</a:t>
            </a:r>
            <a:br>
              <a:rPr kumimoji="0" lang="bg-BG" altLang="bg-BG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lang="bg-BG" altLang="bg-BG" sz="3600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/>
            </a:r>
            <a:br>
              <a:rPr lang="bg-BG" altLang="bg-BG" sz="3600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lang="bg-BG" altLang="bg-BG" sz="3600" dirty="0" smtClean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/>
            </a:r>
            <a:br>
              <a:rPr lang="bg-BG" altLang="bg-BG" sz="3600" dirty="0" smtClean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lang="bg-BG" altLang="bg-BG" sz="3600" dirty="0" smtClean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/>
            </a:r>
            <a:br>
              <a:rPr lang="bg-BG" altLang="bg-BG" sz="3600" dirty="0" smtClean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kumimoji="0" lang="bg-BG" altLang="bg-BG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Преместваме всички битове 3 позиции наляво.</a:t>
            </a:r>
            <a:br>
              <a:rPr kumimoji="0" lang="bg-BG" altLang="bg-BG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r>
              <a:rPr kumimoji="0" lang="bg-BG" altLang="bg-BG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Това е същото като </a:t>
            </a:r>
            <a:r>
              <a:rPr kumimoji="0" lang="bg-BG" altLang="bg-BG" sz="3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умножение по 2³ = 8</a:t>
            </a:r>
            <a:r>
              <a:rPr kumimoji="0" lang="bg-BG" altLang="bg-BG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  <a:r>
              <a:rPr kumimoji="0" lang="bg-BG" altLang="bg-BG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774666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646113" y="280819"/>
            <a:ext cx="10393551" cy="6370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3600" b="1" i="0" u="none" strike="noStrike" cap="none" normalizeH="0" baseline="0" dirty="0" smtClean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SHIFT RIGHT (&gt;&gt;)</a:t>
            </a:r>
            <a:r>
              <a:rPr kumimoji="0" lang="bg-BG" altLang="bg-BG" sz="3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/>
            </a:r>
            <a:br>
              <a:rPr kumimoji="0" lang="bg-BG" altLang="bg-BG" sz="3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lang="bg-BG" altLang="bg-BG" sz="3600" b="1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/>
            </a:r>
            <a:br>
              <a:rPr lang="bg-BG" altLang="bg-BG" sz="3600" b="1" dirty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lang="bg-BG" altLang="bg-BG" sz="3600" b="1" dirty="0" smtClean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/>
            </a:r>
            <a:br>
              <a:rPr lang="bg-BG" altLang="bg-BG" sz="3600" b="1" dirty="0" smtClean="0">
                <a:solidFill>
                  <a:schemeClr val="tx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endParaRPr kumimoji="0" lang="bg-BG" altLang="bg-BG" sz="3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1337 &gt;&gt; 3 = 167</a:t>
            </a:r>
            <a:r>
              <a:rPr kumimoji="0" lang="bg-BG" altLang="bg-BG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kumimoji="0" lang="bg-BG" altLang="bg-BG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bg-BG" altLang="bg-BG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kumimoji="0" lang="bg-BG" altLang="bg-BG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bg-BG" altLang="bg-BG" sz="3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bg-BG" altLang="bg-BG" sz="3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bg-BG" altLang="bg-BG" sz="3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bg-BG" altLang="bg-BG" sz="3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bg-BG" altLang="bg-BG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Преместваме всички битове 3 позиции надясно.</a:t>
            </a:r>
            <a:br>
              <a:rPr kumimoji="0" lang="bg-BG" altLang="bg-BG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kumimoji="0" lang="bg-BG" altLang="bg-BG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Това е като </a:t>
            </a:r>
            <a:r>
              <a:rPr kumimoji="0" lang="bg-BG" altLang="bg-BG" sz="3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целочислено деление на 2³ = 8</a:t>
            </a:r>
            <a:r>
              <a:rPr kumimoji="0" lang="bg-BG" altLang="bg-BG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  <a:endParaRPr kumimoji="0" lang="bg-BG" altLang="bg-BG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bg-BG" altLang="bg-BG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33317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646113" y="594619"/>
            <a:ext cx="10406199" cy="5909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3200" b="1" i="0" u="none" strike="noStrike" cap="none" normalizeH="0" baseline="0" dirty="0" smtClean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                                 Примери</a:t>
            </a:r>
            <a:br>
              <a:rPr kumimoji="0" lang="bg-BG" altLang="bg-BG" sz="3200" b="1" i="0" u="none" strike="noStrike" cap="none" normalizeH="0" baseline="0" dirty="0" smtClean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lang="bg-BG" altLang="bg-BG" sz="3200" b="1" dirty="0" smtClean="0">
                <a:solidFill>
                  <a:srgbClr val="FFC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/>
            </a:r>
            <a:br>
              <a:rPr lang="bg-BG" altLang="bg-BG" sz="3200" b="1" dirty="0" smtClean="0">
                <a:solidFill>
                  <a:srgbClr val="FFC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endParaRPr kumimoji="0" lang="bg-BG" altLang="bg-BG" sz="3200" b="1" i="0" u="none" strike="noStrike" cap="none" normalizeH="0" baseline="0" dirty="0" smtClean="0">
              <a:ln>
                <a:noFill/>
              </a:ln>
              <a:solidFill>
                <a:srgbClr val="FFC00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int a = 13;  // 00001101</a:t>
            </a:r>
            <a:br>
              <a:rPr kumimoji="0" lang="bg-BG" altLang="bg-BG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kumimoji="0" lang="bg-BG" altLang="bg-BG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int b = 6;   // 00000110</a:t>
            </a:r>
            <a:br>
              <a:rPr kumimoji="0" lang="bg-BG" altLang="bg-BG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kumimoji="0" lang="bg-BG" altLang="bg-BG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Console.WriteLine(a &amp; b); // AND  </a:t>
            </a:r>
            <a:r>
              <a:rPr kumimoji="0" lang="bg-BG" altLang="bg-BG" sz="32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</a:t>
            </a:r>
            <a:r>
              <a:rPr kumimoji="0" lang="bg-BG" altLang="bg-BG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00000100 = 4</a:t>
            </a:r>
            <a:br>
              <a:rPr kumimoji="0" lang="bg-BG" altLang="bg-BG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kumimoji="0" lang="bg-BG" altLang="bg-BG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Console.WriteLine(a | b); // OR   </a:t>
            </a:r>
            <a:r>
              <a:rPr kumimoji="0" lang="bg-BG" altLang="bg-BG" sz="32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</a:t>
            </a:r>
            <a:r>
              <a:rPr kumimoji="0" lang="bg-BG" altLang="bg-BG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00001111 = 15</a:t>
            </a:r>
            <a:br>
              <a:rPr kumimoji="0" lang="bg-BG" altLang="bg-BG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kumimoji="0" lang="bg-BG" altLang="bg-BG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Console.WriteLine(a ^ b); // XOR  </a:t>
            </a:r>
            <a:r>
              <a:rPr kumimoji="0" lang="bg-BG" altLang="bg-BG" sz="32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</a:t>
            </a:r>
            <a:r>
              <a:rPr kumimoji="0" lang="bg-BG" altLang="bg-BG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00001011 = 11</a:t>
            </a:r>
            <a:br>
              <a:rPr kumimoji="0" lang="bg-BG" altLang="bg-BG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kumimoji="0" lang="bg-BG" altLang="bg-BG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Console.WriteLine(~a);    // NOT  </a:t>
            </a:r>
            <a:r>
              <a:rPr kumimoji="0" lang="bg-BG" altLang="bg-BG" sz="32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</a:t>
            </a:r>
            <a:r>
              <a:rPr kumimoji="0" lang="bg-BG" altLang="bg-BG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11110010 = -14 (защото C# използва знакови числа)</a:t>
            </a:r>
            <a:br>
              <a:rPr kumimoji="0" lang="bg-BG" altLang="bg-BG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kumimoji="0" lang="bg-BG" altLang="bg-BG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Console.WriteLine(a &lt;&lt; 1); // Shift left </a:t>
            </a:r>
            <a:r>
              <a:rPr kumimoji="0" lang="bg-BG" altLang="bg-BG" sz="32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</a:t>
            </a:r>
            <a:r>
              <a:rPr kumimoji="0" lang="bg-BG" altLang="bg-BG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00011010 = 26</a:t>
            </a:r>
            <a:br>
              <a:rPr kumimoji="0" lang="bg-BG" altLang="bg-BG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kumimoji="0" lang="bg-BG" altLang="bg-BG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Console.WriteLine(a &gt;&gt; 1); // Shift right </a:t>
            </a:r>
            <a:r>
              <a:rPr kumimoji="0" lang="bg-BG" altLang="bg-BG" sz="32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</a:t>
            </a:r>
            <a:r>
              <a:rPr kumimoji="0" lang="bg-BG" altLang="bg-BG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00000110 = 6</a:t>
            </a:r>
            <a:r>
              <a:rPr kumimoji="0" lang="bg-BG" altLang="bg-BG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4" name="Right Arrow 3"/>
          <p:cNvSpPr/>
          <p:nvPr/>
        </p:nvSpPr>
        <p:spPr>
          <a:xfrm>
            <a:off x="6726803" y="3180522"/>
            <a:ext cx="302150" cy="23058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5" name="Right Arrow 4"/>
          <p:cNvSpPr/>
          <p:nvPr/>
        </p:nvSpPr>
        <p:spPr>
          <a:xfrm>
            <a:off x="6424653" y="3666877"/>
            <a:ext cx="302150" cy="23058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6" name="Right Arrow 5"/>
          <p:cNvSpPr/>
          <p:nvPr/>
        </p:nvSpPr>
        <p:spPr>
          <a:xfrm>
            <a:off x="6656566" y="4153232"/>
            <a:ext cx="302150" cy="23058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7" name="Right Arrow 6"/>
          <p:cNvSpPr/>
          <p:nvPr/>
        </p:nvSpPr>
        <p:spPr>
          <a:xfrm>
            <a:off x="6505491" y="4639587"/>
            <a:ext cx="302150" cy="23058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8" name="Right Arrow 7"/>
          <p:cNvSpPr/>
          <p:nvPr/>
        </p:nvSpPr>
        <p:spPr>
          <a:xfrm>
            <a:off x="7515307" y="5638800"/>
            <a:ext cx="302150" cy="23058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  <p:sp>
        <p:nvSpPr>
          <p:cNvPr id="9" name="Right Arrow 8"/>
          <p:cNvSpPr/>
          <p:nvPr/>
        </p:nvSpPr>
        <p:spPr>
          <a:xfrm>
            <a:off x="7769749" y="6131781"/>
            <a:ext cx="302150" cy="23058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570213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646111" y="613962"/>
            <a:ext cx="9682633" cy="49859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3600" b="1" i="0" u="none" strike="noStrike" cap="none" normalizeH="0" baseline="0" dirty="0" smtClean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Битови маски (Bitmasks)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Битовите маски се използват, когато искаме да пазим информация за няколко неща в </a:t>
            </a:r>
            <a:r>
              <a:rPr kumimoji="0" lang="bg-BG" altLang="bg-BG" sz="3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едно число</a:t>
            </a:r>
            <a:r>
              <a:rPr kumimoji="0" lang="bg-BG" altLang="bg-BG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Пример: имаме 5 опции (0–4).</a:t>
            </a:r>
            <a:br>
              <a:rPr kumimoji="0" lang="bg-BG" altLang="bg-BG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kumimoji="0" lang="bg-BG" altLang="bg-BG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Всеки </a:t>
            </a:r>
            <a:r>
              <a:rPr kumimoji="0" lang="bg-BG" altLang="bg-BG" sz="3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бит</a:t>
            </a:r>
            <a:r>
              <a:rPr kumimoji="0" lang="bg-BG" altLang="bg-BG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ще показва дали дадена опция е включена (1) или изключена (0).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mask = 10101 → включени са 0-та, 2-та и 4-та опция.</a:t>
            </a:r>
            <a:r>
              <a:rPr kumimoji="0" lang="bg-BG" altLang="bg-BG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77852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661823" y="2114380"/>
            <a:ext cx="8014915" cy="8720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101568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bg-BG" altLang="bg-BG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bg-BG" altLang="bg-BG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633994" y="1485276"/>
            <a:ext cx="8042744" cy="43088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3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Проверка дали елемент е включен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bg-BG" altLang="bg-BG" sz="3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bool Contains(int mask, int el)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{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return (mask &amp; (1 &lt;&lt; el)) != 0;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}</a:t>
            </a:r>
            <a:r>
              <a:rPr kumimoji="0" lang="bg-BG" altLang="bg-BG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bg-BG" altLang="bg-BG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bg-BG" altLang="bg-BG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8479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590261" y="1104342"/>
            <a:ext cx="8484042" cy="3877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3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Добавяне на елемент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bg-BG" altLang="bg-BG" sz="3600" b="1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bg-BG" altLang="bg-BG" sz="3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int Insert(int mask, int el)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return mask | (1 &lt;&lt; el);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}</a:t>
            </a:r>
            <a:r>
              <a:rPr kumimoji="0" lang="bg-BG" altLang="bg-BG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31319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598212" y="1158731"/>
            <a:ext cx="8213697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3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Премахване на елемент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bg-BG" altLang="bg-BG" sz="3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int Erase(int mask, int el)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{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return mask &amp; ~(1 &lt;&lt; el);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}</a:t>
            </a:r>
            <a:r>
              <a:rPr kumimoji="0" lang="bg-BG" altLang="bg-BG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92083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542554" y="1232499"/>
            <a:ext cx="8969071" cy="44319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3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Смяна на състояние (ако е 1 → 0, ако е 0 → 1)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bg-BG" altLang="bg-BG" sz="3600" b="1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bg-BG" altLang="bg-BG" sz="3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int Toggle(int mask, int el)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{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return mask ^ (1 &lt;&lt; el);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}</a:t>
            </a:r>
            <a:r>
              <a:rPr kumimoji="0" lang="bg-BG" altLang="bg-BG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03381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98404" y="793050"/>
            <a:ext cx="10096100" cy="5170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2800" b="1" i="0" u="none" strike="noStrike" cap="none" normalizeH="0" baseline="0" dirty="0" smtClean="0">
                <a:ln>
                  <a:noFill/>
                </a:ln>
                <a:solidFill>
                  <a:srgbClr val="FFC000"/>
                </a:solidFill>
                <a:effectLst/>
                <a:cs typeface="Arial" panose="020B0604020202020204" pitchFamily="34" charset="0"/>
              </a:rPr>
              <a:t>Разлика</a:t>
            </a:r>
            <a:r>
              <a:rPr kumimoji="0" lang="bg-BG" altLang="bg-BG" sz="2800" b="1" i="0" u="none" strike="noStrike" cap="none" normalizeH="0" dirty="0" smtClean="0">
                <a:ln>
                  <a:noFill/>
                </a:ln>
                <a:solidFill>
                  <a:srgbClr val="FFC000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bg-BG" altLang="bg-BG" sz="2800" b="1" i="0" u="none" strike="noStrike" cap="none" normalizeH="0" baseline="0" dirty="0" smtClean="0">
                <a:ln>
                  <a:noFill/>
                </a:ln>
                <a:solidFill>
                  <a:srgbClr val="FFC000"/>
                </a:solidFill>
                <a:effectLst/>
                <a:cs typeface="Arial" panose="020B0604020202020204" pitchFamily="34" charset="0"/>
              </a:rPr>
              <a:t>от логически операции</a:t>
            </a:r>
            <a:r>
              <a:rPr kumimoji="0" lang="bg-BG" altLang="bg-BG" sz="2800" b="1" i="0" u="none" strike="noStrike" cap="none" normalizeH="0" baseline="0" dirty="0" smtClean="0">
                <a:ln>
                  <a:noFill/>
                </a:ln>
                <a:effectLst/>
                <a:cs typeface="Arial" panose="020B0604020202020204" pitchFamily="34" charset="0"/>
              </a:rPr>
              <a:t/>
            </a:r>
            <a:br>
              <a:rPr kumimoji="0" lang="bg-BG" altLang="bg-BG" sz="2800" b="1" i="0" u="none" strike="noStrike" cap="none" normalizeH="0" baseline="0" dirty="0" smtClean="0">
                <a:ln>
                  <a:noFill/>
                </a:ln>
                <a:effectLst/>
                <a:cs typeface="Arial" panose="020B0604020202020204" pitchFamily="34" charset="0"/>
              </a:rPr>
            </a:br>
            <a:endParaRPr kumimoji="0" lang="bg-BG" altLang="bg-BG" sz="2800" b="1" i="0" u="none" strike="noStrike" cap="none" normalizeH="0" baseline="0" dirty="0" smtClean="0">
              <a:ln>
                <a:noFill/>
              </a:ln>
              <a:effectLst/>
              <a:cs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2800" b="0" i="0" u="none" strike="noStrike" cap="none" normalizeH="0" baseline="0" dirty="0" smtClean="0">
                <a:ln>
                  <a:noFill/>
                </a:ln>
                <a:effectLst/>
                <a:cs typeface="Arial" panose="020B0604020202020204" pitchFamily="34" charset="0"/>
              </a:rPr>
              <a:t>Забележете, че побитовите AND ("&amp;"), OR ("|") и NOT ("~") са различни от логическите AND ("&amp;&amp;"), OR ("||") и NOT ("!").</a:t>
            </a:r>
            <a:br>
              <a:rPr kumimoji="0" lang="bg-BG" altLang="bg-BG" sz="2800" b="0" i="0" u="none" strike="noStrike" cap="none" normalizeH="0" baseline="0" dirty="0" smtClean="0">
                <a:ln>
                  <a:noFill/>
                </a:ln>
                <a:effectLst/>
                <a:cs typeface="Arial" panose="020B0604020202020204" pitchFamily="34" charset="0"/>
              </a:rPr>
            </a:br>
            <a:r>
              <a:rPr kumimoji="0" lang="bg-BG" altLang="bg-BG" sz="2800" b="0" i="0" u="none" strike="noStrike" cap="none" normalizeH="0" baseline="0" dirty="0" smtClean="0">
                <a:ln>
                  <a:noFill/>
                </a:ln>
                <a:effectLst/>
                <a:cs typeface="Arial" panose="020B0604020202020204" pitchFamily="34" charset="0"/>
              </a:rPr>
              <a:t/>
            </a:r>
            <a:br>
              <a:rPr kumimoji="0" lang="bg-BG" altLang="bg-BG" sz="2800" b="0" i="0" u="none" strike="noStrike" cap="none" normalizeH="0" baseline="0" dirty="0" smtClean="0">
                <a:ln>
                  <a:noFill/>
                </a:ln>
                <a:effectLst/>
                <a:cs typeface="Arial" panose="020B0604020202020204" pitchFamily="34" charset="0"/>
              </a:rPr>
            </a:br>
            <a:r>
              <a:rPr kumimoji="0" lang="bg-BG" altLang="bg-BG" sz="2800" b="0" i="0" u="none" strike="noStrike" cap="none" normalizeH="0" baseline="0" dirty="0" smtClean="0">
                <a:ln>
                  <a:noFill/>
                </a:ln>
                <a:effectLst/>
                <a:cs typeface="Arial" panose="020B0604020202020204" pitchFamily="34" charset="0"/>
              </a:rPr>
              <a:t>Докато побитовите изпълняват операцията върху отделните битове на аргументите си, логическите такива първо превръщат аргументите си в true/false константи и </a:t>
            </a:r>
            <a:r>
              <a:rPr kumimoji="0" lang="bg-BG" altLang="bg-BG" sz="2800" b="0" i="1" u="none" strike="noStrike" cap="none" normalizeH="0" baseline="0" dirty="0" smtClean="0">
                <a:ln>
                  <a:noFill/>
                </a:ln>
                <a:effectLst/>
                <a:cs typeface="Arial" panose="020B0604020202020204" pitchFamily="34" charset="0"/>
              </a:rPr>
              <a:t>чак след това</a:t>
            </a:r>
            <a:r>
              <a:rPr kumimoji="0" lang="bg-BG" altLang="bg-BG" sz="2800" b="0" i="0" u="none" strike="noStrike" cap="none" normalizeH="0" baseline="0" dirty="0" smtClean="0">
                <a:ln>
                  <a:noFill/>
                </a:ln>
                <a:effectLst/>
                <a:cs typeface="Arial" panose="020B0604020202020204" pitchFamily="34" charset="0"/>
              </a:rPr>
              <a:t> изпълняват операцията върху тях (тоест изпълняват побитов AND/OR/NOT само на един единствен бит). В следствие на това, резултатите от тях понякога са различни. Например: </a:t>
            </a:r>
          </a:p>
        </p:txBody>
      </p:sp>
    </p:spTree>
    <p:extLst>
      <p:ext uri="{BB962C8B-B14F-4D97-AF65-F5344CB8AC3E}">
        <p14:creationId xmlns:p14="http://schemas.microsoft.com/office/powerpoint/2010/main" val="4261905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6264703"/>
              </p:ext>
            </p:extLst>
          </p:nvPr>
        </p:nvGraphicFramePr>
        <p:xfrm>
          <a:off x="1111264" y="3195793"/>
          <a:ext cx="8947150" cy="314537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473575">
                  <a:extLst>
                    <a:ext uri="{9D8B030D-6E8A-4147-A177-3AD203B41FA5}">
                      <a16:colId xmlns:a16="http://schemas.microsoft.com/office/drawing/2014/main" val="3927392318"/>
                    </a:ext>
                  </a:extLst>
                </a:gridCol>
                <a:gridCol w="4473575">
                  <a:extLst>
                    <a:ext uri="{9D8B030D-6E8A-4147-A177-3AD203B41FA5}">
                      <a16:colId xmlns:a16="http://schemas.microsoft.com/office/drawing/2014/main" val="1606038217"/>
                    </a:ext>
                  </a:extLst>
                </a:gridCol>
              </a:tblGrid>
              <a:tr h="78594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bg-BG" sz="3200" dirty="0">
                          <a:effectLst/>
                        </a:rPr>
                        <a:t>Побитови</a:t>
                      </a:r>
                      <a:endParaRPr lang="bg-BG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bg-BG" sz="3200" dirty="0">
                          <a:effectLst/>
                        </a:rPr>
                        <a:t>Логически</a:t>
                      </a:r>
                      <a:endParaRPr lang="bg-BG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866763756"/>
                  </a:ext>
                </a:extLst>
              </a:tr>
              <a:tr h="78647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bg-BG" sz="4000" b="1" dirty="0">
                          <a:effectLst/>
                        </a:rPr>
                        <a:t>&amp;, `</a:t>
                      </a:r>
                      <a:endParaRPr lang="bg-BG" sz="4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bg-BG" sz="4000" b="1" dirty="0">
                          <a:effectLst/>
                        </a:rPr>
                        <a:t>, ^, ~`</a:t>
                      </a:r>
                      <a:endParaRPr lang="bg-BG" sz="4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052648353"/>
                  </a:ext>
                </a:extLst>
              </a:tr>
              <a:tr h="78647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bg-BG" sz="2400">
                          <a:effectLst/>
                        </a:rPr>
                        <a:t>Работят върху битове</a:t>
                      </a:r>
                      <a:endParaRPr lang="bg-BG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bg-BG" sz="2400" dirty="0">
                          <a:effectLst/>
                        </a:rPr>
                        <a:t>Работят върху булеви стойности</a:t>
                      </a:r>
                      <a:endParaRPr lang="bg-BG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406279153"/>
                  </a:ext>
                </a:extLst>
              </a:tr>
              <a:tr h="78647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bg-BG" sz="2400" dirty="0">
                          <a:effectLst/>
                        </a:rPr>
                        <a:t>Не спират изчисленията</a:t>
                      </a:r>
                      <a:endParaRPr lang="bg-BG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bg-BG" sz="2400" dirty="0">
                          <a:effectLst/>
                        </a:rPr>
                        <a:t>„Short-circuit“ — спират, ако резултатът е ясен</a:t>
                      </a:r>
                      <a:endParaRPr lang="bg-BG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596576113"/>
                  </a:ext>
                </a:extLst>
              </a:tr>
            </a:tbl>
          </a:graphicData>
        </a:graphic>
      </p:graphicFrame>
      <p:sp>
        <p:nvSpPr>
          <p:cNvPr id="4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373711" y="304606"/>
            <a:ext cx="10042498" cy="3077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3200" b="1" i="0" u="none" strike="noStrike" cap="none" normalizeH="0" baseline="0" dirty="0" smtClean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Разлика между логически и побитови операции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bg-BG" altLang="bg-BG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Пример: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int a = 42, b = 17;Console.WriteLine(a &amp; b);  // 0  → побитово</a:t>
            </a:r>
            <a:br>
              <a:rPr kumimoji="0" lang="bg-BG" altLang="bg-BG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kumimoji="0" lang="bg-BG" altLang="bg-BG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Console.WriteLine(a &amp;&amp; b); // грешка – само булеви стойности!</a:t>
            </a:r>
            <a:r>
              <a:rPr kumimoji="0" lang="bg-BG" altLang="bg-BG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kumimoji="0" lang="bg-BG" altLang="bg-BG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bg-BG" altLang="bg-BG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За логически операции винаги трябва да имаме bool променливи.</a:t>
            </a:r>
            <a:endParaRPr kumimoji="0" lang="bg-BG" altLang="bg-BG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bg-BG" altLang="bg-BG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976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7"/>
            <a:ext cx="9404723" cy="5797007"/>
          </a:xfrm>
        </p:spPr>
        <p:txBody>
          <a:bodyPr/>
          <a:lstStyle/>
          <a:p>
            <a:pPr algn="ctr"/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Учителят пита:</a:t>
            </a:r>
            <a:b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— Защо получи 0 точки на контролното?</a:t>
            </a:r>
            <a:b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Ученикът (спокойно):</a:t>
            </a:r>
            <a:b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— Не е вярно, госпожо, това е просто </a:t>
            </a:r>
            <a:r>
              <a:rPr lang="ru-RU" sz="2800" i="1" dirty="0">
                <a:latin typeface="Arial" panose="020B0604020202020204" pitchFamily="34" charset="0"/>
                <a:cs typeface="Arial" panose="020B0604020202020204" pitchFamily="34" charset="0"/>
              </a:rPr>
              <a:t>изключено състояние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! 😎</a:t>
            </a:r>
            <a:b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800" b="1" dirty="0" smtClean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***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Програмист влиза в бар и казва:</a:t>
            </a:r>
            <a:b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— Искам кафе </a:t>
            </a:r>
            <a:r>
              <a:rPr lang="ru-RU" sz="2800" b="1" dirty="0">
                <a:latin typeface="Arial" panose="020B0604020202020204" pitchFamily="34" charset="0"/>
                <a:cs typeface="Arial" panose="020B0604020202020204" pitchFamily="34" charset="0"/>
              </a:rPr>
              <a:t>или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 чай.</a:t>
            </a:r>
            <a:b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Барманът му носи и двете. ☕🍵</a:t>
            </a:r>
            <a:b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Защото не </a:t>
            </a:r>
            <a:r>
              <a:rPr 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уточни</a:t>
            </a:r>
            <a:r>
              <a:rPr lang="bg-BG" sz="2800" dirty="0">
                <a:latin typeface="Arial" panose="020B0604020202020204" pitchFamily="34" charset="0"/>
                <a:cs typeface="Arial" panose="020B0604020202020204" pitchFamily="34" charset="0"/>
              </a:rPr>
              <a:t>л</a:t>
            </a:r>
            <a:r>
              <a:rPr lang="ru-RU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дали е </a:t>
            </a:r>
            <a:r>
              <a:rPr lang="ru-RU" sz="2800" b="1" dirty="0">
                <a:latin typeface="Arial" panose="020B0604020202020204" pitchFamily="34" charset="0"/>
                <a:cs typeface="Arial" panose="020B0604020202020204" pitchFamily="34" charset="0"/>
              </a:rPr>
              <a:t>логическо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 или </a:t>
            </a:r>
            <a:r>
              <a:rPr lang="ru-RU" sz="2800" b="1" dirty="0">
                <a:latin typeface="Arial" panose="020B0604020202020204" pitchFamily="34" charset="0"/>
                <a:cs typeface="Arial" panose="020B0604020202020204" pitchFamily="34" charset="0"/>
              </a:rPr>
              <a:t>побитово ИЛИ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. 😂</a:t>
            </a:r>
            <a:b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bg-BG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0896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117</TotalTime>
  <Words>383</Words>
  <Application>Microsoft Office PowerPoint</Application>
  <PresentationFormat>Widescreen</PresentationFormat>
  <Paragraphs>108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Calibri</vt:lpstr>
      <vt:lpstr>Century Gothic</vt:lpstr>
      <vt:lpstr>Times New Roman</vt:lpstr>
      <vt:lpstr>Wingdings 3</vt:lpstr>
      <vt:lpstr>Ion</vt:lpstr>
      <vt:lpstr>Побитови операции</vt:lpstr>
      <vt:lpstr>Побитовите операции са най-бързите операции, които процесорът може да изпълнява. Понякога с тяхна помощ можем да подобрим значително бързодействието на програмата си, или пък да спестим памет. </vt:lpstr>
      <vt:lpstr>PowerPoint Presentation</vt:lpstr>
      <vt:lpstr>Бит ● Най-малката единица данни ○ Може да заема стойност 0 или 1 ● Бита може да съхранява информация за всяко едно нещо със две отделни състояния ○ Логически стойности (true/false - вярно/грешно) ○ Алгебрични знаци (+/-) ○ Състояния на активиране (включено/изключено) ● Последоватлност от 8 бита формира 1 байт.</vt:lpstr>
      <vt:lpstr>Бит, Байт, Килобайт, … ● Бит (bit) - 0 или 1 ● Байт (byte, octet, B) - 8 бита - най-малката адресируема единица в паметта ● Килобайт (kilobyte, KB) = 1024 байта ● Мегабайт (megabyte, MB) = 1024 KB ● Гигабайт (gigabyte, GB) = 1024 MB ● Терабайт (terabyte, TB) = 1024 GB ● Петабайт (petabyte, PB) = 1024 TB</vt:lpstr>
      <vt:lpstr>Побитови оператори ● Побитовите оператори работят с двоичното представяне на данните, извършвайки операциите бит по… бит Те са много бързи, защото се изпълняват директно от процесора.</vt:lpstr>
      <vt:lpstr>Основни побитови операции </vt:lpstr>
      <vt:lpstr>Пример: AND (&amp;)   A = 1337 = 0000010100111001 B = 4213 = 0001000001110101 A &amp; B =   0000000000110001 = 49   Резултатът има 1 само където и  двете имат 1. </vt:lpstr>
      <vt:lpstr> Пример: OR (|)   A | B = 0001010101111101 = 5501     Резултатът има 1 навсякъде, където поне един от двата има 1. </vt:lpstr>
      <vt:lpstr>Пример: XOR (^)    A ^ B = 0001010101001100 = 5452     1 там, където битовете са различни.  </vt:lpstr>
      <vt:lpstr>Пример: NOT (~)    ~1337 = 1111101011000110     Всички 0 стават 1, а всички 1 стават 0. (Ако числото е със знак, резултатът може да стане отрицателен.) </vt:lpstr>
      <vt:lpstr>SHIFT LEFT (&lt;&lt;)    1337 &lt;&lt; 3 = 10696    Преместваме всички битове 3 позиции наляво. Това е същото като умножение по 2³ = 8. </vt:lpstr>
      <vt:lpstr>SHIFT RIGHT (&gt;&gt;)    1337 &gt;&gt; 3 = 167      Преместваме всички битове 3 позиции надясно. Това е като целочислено деление на 2³ = 8. </vt:lpstr>
      <vt:lpstr>                                     Примери   int a = 13;  // 00001101 int b = 6;   // 00000110 Console.WriteLine(a &amp; b); // AND     00000100 = 4 Console.WriteLine(a | b); // OR      00001111 = 15 Console.WriteLine(a ^ b); // XOR     00001011 = 11 Console.WriteLine(~a);    // NOT    11110010 = -14 (защото C# използва знакови числа) Console.WriteLine(a &lt;&lt; 1); // Shift left    00011010 = 26 Console.WriteLine(a &gt;&gt; 1); // Shift right    00000110 = 6 </vt:lpstr>
      <vt:lpstr>Битови маски (Bitmasks) Битовите маски се използват, когато искаме да пазим информация за няколко неща в едно число. Пример: имаме 5 опции (0–4). Всеки бит ще показва дали дадена опция е включена (1) или изключена (0). mask = 10101 → включени са 0-та, 2-та и 4-та опция. </vt:lpstr>
      <vt:lpstr>PowerPoint Presentation</vt:lpstr>
      <vt:lpstr>PowerPoint Presentation</vt:lpstr>
      <vt:lpstr>PowerPoint Presentation</vt:lpstr>
      <vt:lpstr>PowerPoint Presentation</vt:lpstr>
      <vt:lpstr>Разлика от логически операции  Забележете, че побитовите AND ("&amp;"), OR ("|") и NOT ("~") са различни от логическите AND ("&amp;&amp;"), OR ("||") и NOT ("!").  Докато побитовите изпълняват операцията върху отделните битове на аргументите си, логическите такива първо превръщат аргументите си в true/false константи и чак след това изпълняват операцията върху тях (тоест изпълняват побитов AND/OR/NOT само на един единствен бит). В следствие на това, резултатите от тях понякога са различни. Например: </vt:lpstr>
      <vt:lpstr>Разлика между логически и побитови операции  Пример: int a = 42, b = 17;Console.WriteLine(a &amp; b);  // 0  → побитово Console.WriteLine(a &amp;&amp; b); // грешка – само булеви стойности!   За логически операции винаги трябва да имаме bool променливи. </vt:lpstr>
      <vt:lpstr>Учителят пита: — Защо получи 0 точки на контролното? Ученикът (спокойно): — Не е вярно, госпожо, това е просто изключено състояние! 😎 *** Програмист влиза в бар и казва: — Искам кафе или чай. Барманът му носи и двете. ☕🍵 Защото не уточнил дали е логическо или побитово ИЛИ. 😂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Побитови операции</dc:title>
  <dc:creator>Neli Nqgolova</dc:creator>
  <cp:lastModifiedBy>Neli Nqgolova</cp:lastModifiedBy>
  <cp:revision>23</cp:revision>
  <dcterms:created xsi:type="dcterms:W3CDTF">2025-10-27T14:26:13Z</dcterms:created>
  <dcterms:modified xsi:type="dcterms:W3CDTF">2025-10-27T16:23:14Z</dcterms:modified>
</cp:coreProperties>
</file>