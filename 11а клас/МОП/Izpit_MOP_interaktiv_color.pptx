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02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viewProps" Target="viewProp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presProps" Target="pres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6CF82-4F5D-43B7-BF94-A496BDB15903}" type="datetimeFigureOut">
              <a:rPr lang="bg-BG" smtClean="0"/>
              <a:t>25.1.2026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00B58-A64E-4D7E-BEF9-DB77623B6C87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26630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 | Ученик 1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 | Ученик 1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 | Ученик 1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 | Ученик 1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 | Ученик 1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№11 | Ученик 1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№11 | Ученик 1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№11 | Ученик 1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№11 | Ученик 1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№11 | Ученик 1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№18 | Ученик 1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№18 | Ученик 1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№18 | Ученик 1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№18 | Ученик 1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№18 | Ученик 1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№2 | Ученик 2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№2 | Ученик 2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№2 | Ученик 2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№2 | Ученик 2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№2 | Ученик 2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№12 | Ученик 2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№12 | Ученик 2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№12 | Ученик 2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№12 | Ученик 2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№12 | Ученик 2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№19 | Ученик 2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№19 | Ученик 2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№19 | Ученик 2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№19 | Ученик 2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№19 | Ученик 2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Г  | Въпрос №3 | Ученик 3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Г | Въпрос №3 | Ученик 3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Г | Въпрос №3 | Ученик 3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Г | Въпрос №3 | Ученик 3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Г | Въпрос №3 | Ученик 3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№13 | Ученик 3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№13 | Ученик 3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№13 | Ученик 3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№13 | Ученик 3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№13 | Ученик 3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№20 | Ученик 3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№20 | Ученик 3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№20 | Ученик 3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№20 | Ученик 3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№20 | Ученик 3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№4 | Ученик 4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№4 | Ученик 4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№4 | Ученик 4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№4 | Ученик 4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№4 | Ученик 4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№14 | Ученик 4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№14 | Ученик 4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№14 | Ученик 4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№14 | Ученик 4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№14 | Ученик 4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№21 | Ученик 4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№21 | Ученик 4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№21 | Ученик 4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№21 | Ученик 4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№21 | Ученик 4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№5 | Ученик 5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№5 | Ученик 5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№5 | Ученик 5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№5 | Ученик 5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№5 | Ученик 5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№15 | Ученик 5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№15 | Ученик 5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№15 | Ученик 5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№15 | Ученик 5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№15 | Ученик 5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№22 | Ученик 5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№22 | Ученик 5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№22 | Ученик 5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№22 | Ученик 5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№22 | Ученик 5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№6 | Ученик 6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№6 | Ученик 6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№6 | Ученик 6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№6 | Ученик 6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№6 | Ученик 6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№16 | Ученик 6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№16 | Ученик 6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№16 | Ученик 6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№16 | Ученик 6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№16 | Ученик 6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№23 | Ученик 6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№23 | Ученик 6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№23 | Ученик 6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№23 | Ученик 6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№23 | Ученик 6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№7 | Ученик 7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№7 | Ученик 7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№7 | Ученик 7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№7 | Ученик 7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№7 | Ученик 7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№17 | Ученик 7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№17 | Ученик 7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№17 | Ученик 7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№17 | Ученик 7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№17 | Ученик 7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№23 | Ученик 7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№23 | Ученик 7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№23 | Ученик 7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№23 | Ученик 7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№23 | Ученик 7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№8 | Ученик 8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№8 | Ученик 8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№8 | Ученик 8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№8 | Ученик 8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№8 | Ученик 8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№17 | Ученик 8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№17 | Ученик 8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№17 | Ученик 8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№17 | Ученик 8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№17 | Ученик 8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№23 | Ученик 8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№23 | Ученик 8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№23 | Ученик 8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№23 | Ученик 8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№23 | Ученик 8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№9 | Ученик 9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№9 | Ученик 9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№9 | Ученик 9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№9 | Ученик 9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№9 | Ученик 9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№17 | Ученик 9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№17 | Ученик 9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№17 | Ученик 9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№17 | Ученик 9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№17 | Ученик 9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№23 | Ученик 9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№23 | Ученик 9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№23 | Ученик 9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№23 | Ученик 9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№23 | Ученик 9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А  | Въпрос №10 | Ученик 10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А | Въпрос №10 | Ученик 10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А | Въпрос №10 | Ученик 10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А | Въпрос №10 | Ученик 10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А | Въпрос №10 | Ученик 10 (въпрос 1/3)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Б  | Въпрос №17 | Ученик 10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Б | Въпрос №17 | Ученик 10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Б | Въпрос №17 | Ученик 10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Б | Въпрос №17 | Ученик 10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Б | Въпрос №17 | Ученик 10 (въпрос 2/3)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Ключ: В  | Въпрос №23 | Ученик 10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А | Верен: В | Въпрос №23 | Ученик 10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Б | Верен: В | Въпрос №23 | Ученик 10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В | Верен: В | Въпрос №23 | Ученик 10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Избран: Г | Верен: В | Въпрос №23 | Ученик 10 (въпрос 3/3)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.xml"/><Relationship Id="rId5" Type="http://schemas.openxmlformats.org/officeDocument/2006/relationships/slide" Target="slide5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1.xml"/><Relationship Id="rId5" Type="http://schemas.openxmlformats.org/officeDocument/2006/relationships/slide" Target="slide10.xml"/><Relationship Id="rId4" Type="http://schemas.openxmlformats.org/officeDocument/2006/relationships/slide" Target="slide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1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18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1.xml"/><Relationship Id="rId5" Type="http://schemas.openxmlformats.org/officeDocument/2006/relationships/slide" Target="slide20.xml"/><Relationship Id="rId4" Type="http://schemas.openxmlformats.org/officeDocument/2006/relationships/slide" Target="slide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26.xml"/><Relationship Id="rId5" Type="http://schemas.openxmlformats.org/officeDocument/2006/relationships/slide" Target="slide25.xml"/><Relationship Id="rId4" Type="http://schemas.openxmlformats.org/officeDocument/2006/relationships/slide" Target="slide2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7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31.xml"/><Relationship Id="rId5" Type="http://schemas.openxmlformats.org/officeDocument/2006/relationships/slide" Target="slide30.xml"/><Relationship Id="rId4" Type="http://schemas.openxmlformats.org/officeDocument/2006/relationships/slide" Target="slide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2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36.xml"/><Relationship Id="rId5" Type="http://schemas.openxmlformats.org/officeDocument/2006/relationships/slide" Target="slide35.xml"/><Relationship Id="rId4" Type="http://schemas.openxmlformats.org/officeDocument/2006/relationships/slide" Target="slide3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7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38.xm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41.xml"/><Relationship Id="rId5" Type="http://schemas.openxmlformats.org/officeDocument/2006/relationships/slide" Target="slide40.xml"/><Relationship Id="rId4" Type="http://schemas.openxmlformats.org/officeDocument/2006/relationships/slide" Target="slide3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46.xml"/><Relationship Id="rId5" Type="http://schemas.openxmlformats.org/officeDocument/2006/relationships/slide" Target="slide45.xml"/><Relationship Id="rId4" Type="http://schemas.openxmlformats.org/officeDocument/2006/relationships/slide" Target="slide4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47.xm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" Target="slide48.xm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51.xml"/><Relationship Id="rId5" Type="http://schemas.openxmlformats.org/officeDocument/2006/relationships/slide" Target="slide50.xml"/><Relationship Id="rId4" Type="http://schemas.openxmlformats.org/officeDocument/2006/relationships/slide" Target="slide49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" Target="slide52.xml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56.xml"/><Relationship Id="rId5" Type="http://schemas.openxmlformats.org/officeDocument/2006/relationships/slide" Target="slide55.xml"/><Relationship Id="rId4" Type="http://schemas.openxmlformats.org/officeDocument/2006/relationships/slide" Target="slide5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" Target="slide57.xml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58.xml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1.xml"/><Relationship Id="rId5" Type="http://schemas.openxmlformats.org/officeDocument/2006/relationships/slide" Target="slide60.xml"/><Relationship Id="rId4" Type="http://schemas.openxmlformats.org/officeDocument/2006/relationships/slide" Target="slide59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" Target="slide62.xml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" Target="slide62.xml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62.xml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" Target="slide62.xm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63.xml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66.xml"/><Relationship Id="rId5" Type="http://schemas.openxmlformats.org/officeDocument/2006/relationships/slide" Target="slide65.xml"/><Relationship Id="rId4" Type="http://schemas.openxmlformats.org/officeDocument/2006/relationships/slide" Target="slide64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" Target="slide67.xm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" Target="slide68.xm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1.xml"/><Relationship Id="rId5" Type="http://schemas.openxmlformats.org/officeDocument/2006/relationships/slide" Target="slide70.xml"/><Relationship Id="rId4" Type="http://schemas.openxmlformats.org/officeDocument/2006/relationships/slide" Target="slide6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" Target="slide72.xml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73.xml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76.xml"/><Relationship Id="rId5" Type="http://schemas.openxmlformats.org/officeDocument/2006/relationships/slide" Target="slide75.xml"/><Relationship Id="rId4" Type="http://schemas.openxmlformats.org/officeDocument/2006/relationships/slide" Target="slide7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" Target="slide77.xml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" Target="slide78.xml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81.xml"/><Relationship Id="rId5" Type="http://schemas.openxmlformats.org/officeDocument/2006/relationships/slide" Target="slide80.xml"/><Relationship Id="rId4" Type="http://schemas.openxmlformats.org/officeDocument/2006/relationships/slide" Target="slide79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82.xml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" Target="slide83.xml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86.xml"/><Relationship Id="rId5" Type="http://schemas.openxmlformats.org/officeDocument/2006/relationships/slide" Target="slide85.xml"/><Relationship Id="rId4" Type="http://schemas.openxmlformats.org/officeDocument/2006/relationships/slide" Target="slide8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" Target="slide87.xml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87.xml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87.xml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" Target="slide87.xml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" Target="slide88.xml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91.xml"/><Relationship Id="rId5" Type="http://schemas.openxmlformats.org/officeDocument/2006/relationships/slide" Target="slide90.xml"/><Relationship Id="rId4" Type="http://schemas.openxmlformats.org/officeDocument/2006/relationships/slide" Target="slide89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" Target="slide92.xml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slide" Target="slide93.xml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96.xml"/><Relationship Id="rId5" Type="http://schemas.openxmlformats.org/officeDocument/2006/relationships/slide" Target="slide95.xml"/><Relationship Id="rId4" Type="http://schemas.openxmlformats.org/officeDocument/2006/relationships/slide" Target="slide94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slide" Target="slide97.xml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slide" Target="slide97.xml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slide" Target="slide97.xml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97.xml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slide" Target="slide98.xml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1.xml"/><Relationship Id="rId5" Type="http://schemas.openxmlformats.org/officeDocument/2006/relationships/slide" Target="slide100.xml"/><Relationship Id="rId4" Type="http://schemas.openxmlformats.org/officeDocument/2006/relationships/slide" Target="slide99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" Target="slide102.xml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" Target="slide103.xml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06.xml"/><Relationship Id="rId5" Type="http://schemas.openxmlformats.org/officeDocument/2006/relationships/slide" Target="slide105.xml"/><Relationship Id="rId4" Type="http://schemas.openxmlformats.org/officeDocument/2006/relationships/slide" Target="slide104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" Target="slide107.xml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slide" Target="slide107.xml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slide" Target="slide107.xml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slide" Target="slide107.xml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" Target="slide108.xml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11.xml"/><Relationship Id="rId5" Type="http://schemas.openxmlformats.org/officeDocument/2006/relationships/slide" Target="slide110.xml"/><Relationship Id="rId4" Type="http://schemas.openxmlformats.org/officeDocument/2006/relationships/slide" Target="slide109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slide" Target="slide112.xml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slide" Target="slide112.xml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6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slide" Target="slide112.xml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6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slide" Target="slide112.xml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6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slide" Target="slide113.xml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16.xml"/><Relationship Id="rId5" Type="http://schemas.openxmlformats.org/officeDocument/2006/relationships/slide" Target="slide115.xml"/><Relationship Id="rId4" Type="http://schemas.openxmlformats.org/officeDocument/2006/relationships/slide" Target="slide114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slide" Target="slide117.xml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6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" Target="slide117.xml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6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slide" Target="slide117.xml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6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slide" Target="slide117.xml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6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slide" Target="slide118.xml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21.xml"/><Relationship Id="rId5" Type="http://schemas.openxmlformats.org/officeDocument/2006/relationships/slide" Target="slide120.xml"/><Relationship Id="rId4" Type="http://schemas.openxmlformats.org/officeDocument/2006/relationships/slide" Target="slide119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slide" Target="slide122.xml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" Target="slide122.xml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6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slide" Target="slide122.xml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6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slide" Target="slide122.xml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slide" Target="slide123.xml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26.xml"/><Relationship Id="rId5" Type="http://schemas.openxmlformats.org/officeDocument/2006/relationships/slide" Target="slide125.xml"/><Relationship Id="rId4" Type="http://schemas.openxmlformats.org/officeDocument/2006/relationships/slide" Target="slide124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slide" Target="slide127.xml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6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slide" Target="slide127.xml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6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slide" Target="slide127.xml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slide" Target="slide127.xml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slide" Target="slide128.xml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31.xml"/><Relationship Id="rId5" Type="http://schemas.openxmlformats.org/officeDocument/2006/relationships/slide" Target="slide130.xml"/><Relationship Id="rId4" Type="http://schemas.openxmlformats.org/officeDocument/2006/relationships/slide" Target="slide129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slide" Target="slide132.xml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slide" Target="slide132.xml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slide" Target="slide132.xml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slide" Target="slide132.xml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6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" Target="slide133.xml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36.xml"/><Relationship Id="rId5" Type="http://schemas.openxmlformats.org/officeDocument/2006/relationships/slide" Target="slide135.xml"/><Relationship Id="rId4" Type="http://schemas.openxmlformats.org/officeDocument/2006/relationships/slide" Target="slide134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" Target="slide137.xml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6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slide" Target="slide137.xml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6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slide" Target="slide137.xml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6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" Target="slide137.xml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6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slide" Target="slide138.xml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41.xml"/><Relationship Id="rId5" Type="http://schemas.openxmlformats.org/officeDocument/2006/relationships/slide" Target="slide140.xml"/><Relationship Id="rId4" Type="http://schemas.openxmlformats.org/officeDocument/2006/relationships/slide" Target="slide139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" Target="slide142.xml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6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slide" Target="slide142.xml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6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slide" Target="slide142.xml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6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slide" Target="slide142.xml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6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slide" Target="slide143.xml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46.xml"/><Relationship Id="rId5" Type="http://schemas.openxmlformats.org/officeDocument/2006/relationships/slide" Target="slide145.xml"/><Relationship Id="rId4" Type="http://schemas.openxmlformats.org/officeDocument/2006/relationships/slide" Target="slide144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slide" Target="slide147.xml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6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slide" Target="slide147.xml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6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" Target="slide147.xml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6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slide" Target="slide147.xml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6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slide" Target="slide148.xml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51.xml"/><Relationship Id="rId5" Type="http://schemas.openxmlformats.org/officeDocument/2006/relationships/slide" Target="slide150.xml"/><Relationship Id="rId4" Type="http://schemas.openxmlformats.org/officeDocument/2006/relationships/slide" Target="slide149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6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6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6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Изпит по Математически основи на програмирането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Тест с избираем отговор</a:t>
            </a:r>
          </a:p>
          <a:p>
            <a:r>
              <a:t>(Статистика • Линейна алгебра • Побитови операции)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„генерална съвкупност“ (популация) в статистиката?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Част от обектите, избрани на случаен принцип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Множество от обекти, които имат поне един общ признак и са предмет на изучаване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Числената характеристика на дадена извадка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Списъкът от всички възможни грешки при измерване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„генерална съвкупност“ (популация) в статистиката?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Част от обектите, избрани на случаен принцип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Множество от обекти, които имат поне един общ признак и са предмет на изучаване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Числената характеристика на дадена извадка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Списъкът от всички възможни грешки при измерване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„генерална съвкупност“ (популация) в статистиката?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Част от обектите, избрани на случаен принцип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Множество от обекти, които имат поне един общ признак и са предмет на изучаване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Числената характеристика на дадена извадка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Списъкът от всички възможни грешки при измерване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„генерална съвкупност“ (популация) в статистиката?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Част от обектите, избрани на случаен принцип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Множество от обекти, които имат поне един общ признак и са предмет на изучаване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Числената характеристика на дадена извадка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Списъкът от всички възможни грешки при измерване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„генерална съвкупност“ (популация) в статистиката?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Част от обектите, избрани на случаен принцип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Множество от обекти, които имат поне един общ признак и са предмет на изучаване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Числената характеристика на дадена извадка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Списъкът от всички възможни грешки при измерване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квадратна матрица?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Матрица, в която всички елементи са равни на 0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Матрица, която има само един ред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Матрица, която има еднакъв брой редове и колони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Матрица, която съдържа само единици по диагонала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квадратна матрица?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Матрица, в която всички елементи са равни на 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Матрица, която има само един ред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Матрица, която има еднакъв брой редове и колони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Матрица, която съдържа само единици по диагонала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квадратна матрица?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Матрица, в която всички елементи са равни на 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Матрица, която има само един ред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Матрица, която има еднакъв брой редове и колони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Матрица, която съдържа само единици по диагонала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квадратна матрица?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Матрица, в която всички елементи са равни на 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Матрица, която има само един ред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Матрица, която има еднакъв брой редове и колони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Матрица, която съдържа само единици по диагонала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наричаме квадратна матрица?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Матрица, в която всички елементи са равни на 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Матрица, която има само един ред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Матрица, която има еднакъв брой редове и колони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Матрица, която съдържа само единици по диагонала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Каква е разликата между &amp; и &amp;&amp; в програмирането (напр. C#)?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Няма разлика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&amp; е логическо И, а &amp;&amp; е побитово И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&amp; е побитово И, а &amp;&amp; е логическо И (работи с true/false)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&amp; се използва само за събиране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Каква е разликата между &amp; и &amp;&amp; в програмирането (напр. C#)?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Няма разлика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&amp; е логическо И, а &amp;&amp; е побитово И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&amp; е побитово И, а &amp;&amp; е логическо И (работи с true/false)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&amp; се използва само за събиране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Каква е разликата между &amp; и &amp;&amp; в програмирането (напр. C#)?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Няма разлика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&amp; е логическо И, а &amp;&amp; е побитово И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&amp; е побитово И, а &amp;&amp; е логическо И (работи с true/false)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&amp; се използва само за събиране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Каква е разликата между &amp; и &amp;&amp; в програмирането (напр. C#)?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Няма разлика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&amp; е логическо И, а &amp;&amp; е побитово И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&amp; е побитово И, а &amp;&amp; е логическо И (работи с true/false)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&amp; се използва само за събиране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Каква е разликата между &amp; и &amp;&amp; в програмирането (напр. C#)?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Няма разлика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&amp; е логическо И, а &amp;&amp; е побитово И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&amp; е побитово И, а &amp;&amp; е логическо И (работи с true/false)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&amp; се използва само за събиране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променлива е качествена (номинална)?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Ръст на учениците в см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Среден успех от дипломата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Цвят на очите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Температура на въздуха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променлива е качествена (номинална)?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Ръст на учениците в см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Среден успех от дипломата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Цвят на очите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Температура на въздуха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променлива е качествена (номинална)?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Ръст на учениците в см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Среден успех от дипломата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Цвят на очите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Температура на въздуха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променлива е качествена (номинална)?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Ръст на учениците в см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Среден успех от дипломата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Цвят на очите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Температура на въздуха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променлива е качествена (номинална)?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Ръст на учениците в см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Среден успех от дипломата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Цвят на очите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Температура на въздуха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На колко е равна детерминантата на матрица с размер 1×1 (|a11|)?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На 0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На 1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На самия елемент a11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Не може да се изчисли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На колко е равна детерминантата на матрица с размер 1×1 (|a11|)?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На 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На 1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На самия елемент a11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Не може да се изчисли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На колко е равна детерминантата на матрица с размер 1×1 (|a11|)?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На 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На 1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На самия елемент a11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Не може да се изчисли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На колко е равна детерминантата на матрица с размер 1×1 (|a11|)?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На 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На 1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На самия елемент a11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Не може да се изчисли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На колко е равна детерминантата на матрица с размер 1×1 (|a11|)?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На 0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На 1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На самия елемент a11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Не може да се изчисли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побитовата операция 1 &amp; 0?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1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0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-1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null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побитовата операция 1 &amp; 0?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0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-1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null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побитовата операция 1 &amp; 0?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0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-1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null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побитовата операция 1 &amp; 0?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0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-1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null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2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побитовата операция 1 &amp; 0?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0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-1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null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 се дефинира медианата при нечетен брой елементи в подреден ред?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Сумата на всички елементи, разделена на броя им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Най-често срещаната стойност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Разликата между най-голямата и най-малката стойност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Стойността, която стои точно в средата на реда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 се дефинира медианата при нечетен брой елементи в подреден ред?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Сумата на всички елементи, разделена на броя им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Най-често срещаната стойност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Разликата между най-голямата и най-малката стойност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Стойността, която стои точно в средата на реда ✓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 се дефинира медианата при нечетен брой елементи в подреден ред?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Сумата на всички елементи, разделена на броя им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Най-често срещаната стойност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Разликата между най-голямата и най-малката стойност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Стойността, която стои точно в средата на реда ✓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 се дефинира медианата при нечетен брой елементи в подреден ред?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Сумата на всички елементи, разделена на броя им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Най-често срещаната стойност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Разликата между най-голямата и най-малката стойност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Стойността, която стои точно в средата на реда ✓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 се дефинира медианата при нечетен брой елементи в подреден ред?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Сумата на всички елементи, разделена на броя им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Най-често срещаната стойност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Разликата между най-голямата и най-малката стойност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Стойността, която стои точно в средата на реда ✓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кои матрици се прилага правилото на Сарус?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Само за матрици 2×2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Само за матрици 3×3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За матрици с произволен размер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Само за диагонални матрици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кои матрици се прилага правилото на Сарус?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Само за матрици 2×2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Само за матрици 3×3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За матрици с произволен размер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Само за диагонални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кои матрици се прилага правилото на Сарус?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Само за матрици 2×2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Само за матрици 3×3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За матрици с произволен размер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Само за диагонални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кои матрици се прилага правилото на Сарус?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Само за матрици 2×2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Само за матрици 3×3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За матрици с произволен размер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Само за диагонални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кои матрици се прилага правилото на Сарус?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Само за матрици 2×2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Само за матрици 3×3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За матрици с произволен размер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Само за диагонални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прави операторът XOR (^) 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Връща 1, само ако и двата бита са 1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Връща 1, ако битовете са различни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всички битове (0 става 1)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Премества битовете наляво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прави операторът XOR (^)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Връща 1, само ако и двата бита са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Връща 1, ако битовете са различни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всички битове (0 става 1)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Премества битовете наляво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прави операторът XOR (^)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Връща 1, само ако и двата бита са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Връща 1, ако битовете са различни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всички битове (0 става 1)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Премества битовете наляво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прави операторът XOR (^)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Връща 1, само ако и двата бита са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Връща 1, ако битовете са различни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Обръща всички битове (0 става 1)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Премества битовете наляво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3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прави операторът XOR (^) 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Връща 1, само ако и двата бита са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Връща 1, ако битовете са различни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всички битове (0 става 1)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Премества битовете наляво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Кое от следните твърдения за модата е вярно?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Тя е средно аритметично на всички числа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Един ред данни може да има повече от една мода или да няма никаква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Тя се влияе силно от екстремните стойности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Винаги съвпада с медианата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Кое от следните твърдения за модата е вярно?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Тя е средно аритметично на всички числа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Един ред данни може да има повече от една мода или да няма никаква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Тя се влияе силно от екстремните стойности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Винаги съвпада с медианата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Кое от следните твърдения за модата е вярно?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Тя е средно аритметично на всички числа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Един ред данни може да има повече от една мода или да няма никаква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Тя се влияе силно от екстремните стойности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Винаги съвпада с медианата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Кое от следните твърдения за модата е вярно?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Тя е средно аритметично на всички числа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Един ред данни може да има повече от една мода или да няма никаква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Тя се влияе силно от екстремните стойности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Винаги съвпада с медианата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Кое от следните твърдения за модата е вярно?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Тя е средно аритметично на всички числа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Един ред данни може да има повече от една мода или да няма никаква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Тя се влияе силно от екстремните стойности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Винаги съвпада с медианата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необходимо условие, за да умножим матрица A по матрица B?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имат еднакъв брой редове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Броят на колоните на A да е равен на броя на редовете на B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И двете да са квадратни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имат еднакви детерминанти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необходимо условие, за да умножим матрица A по матрица 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Да имат еднакъв брой редове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Броят на колоните на A да е равен на броя на редовете на B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И двете да са квадратни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имат еднакви детерминанти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необходимо условие, за да умножим матрица A по матрица 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имат еднакъв брой редове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Броят на колоните на A да е равен на броя на редовете на B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И двете да са квадратни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имат еднакви детерминанти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необходимо условие, за да умножим матрица A по матрица 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имат еднакъв брой редове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Броят на колоните на A да е равен на броя на редовете на B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И двете да са квадратни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имат еднакви детерминанти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необходимо условие, за да умножим матрица A по матрица B?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имат еднакъв брой редове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Броят на колоните на A да е равен на броя на редовете на B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И двете да са квадратни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Да имат еднакви детерминанти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математическото действие на побитовото изместване наляво (A &lt;&lt; n)?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Деление на 2^n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Умножение по 2^n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Събиране с n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Изваждане на n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математическото действие на побитовото изместване наляво (A &lt;&lt; n)?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Деление на 2^n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Умножение по 2^n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Събиране с n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Изваждане на n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математическото действие на побитовото изместване наляво (A &lt;&lt; n)?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Деление на 2^n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Умножение по 2^n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Събиране с n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Изваждане на n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математическото действие на побитовото изместване наляво (A &lt;&lt; n)?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Деление на 2^n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Умножение по 2^n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Събиране с n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Изваждане на n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4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математическото действие на побитовото изместване наляво (A &lt;&lt; n)?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Деление на 2^n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Умножение по 2^n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Събиране с n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Изваждане на n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показва стандартното отклонение?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Най-често срещаната стойност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Корен квадратен от дисперсията (мярка за разсейване)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Разликата между максималната и минималната стойност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Сумата на всички стойности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показва стандартното отклонение?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Най-често срещаната стойност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Корен квадратен от дисперсията (мярка за разсейване)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Разликата между максималната и минималната стойност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Сумата на всички стойности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показва стандартното отклонение?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Най-често срещаната стойност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Корен квадратен от дисперсията (мярка за разсейване)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Разликата между максималната и минималната стойност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Сумата на всички стойности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показва стандартното отклонение?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Най-често срещаната стойност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Корен квадратен от дисперсията (мярка за разсейване)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Разликата между максималната и минималната стойност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Сумата на всички стойности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показва стандартното отклонение?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Най-често срещаната стойност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Корен квадратен от дисперсията (мярка за разсейване)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Разликата между максималната и минималната стойност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Сумата на всички стойности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се случва при транспониране на матрица?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Всички елементи стават положителни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Редовете стават колони, а колоните – редове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Разменят се местата на първия и последния ред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Всички елементи се умножават по -1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се случва при транспониране на матрица?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Всички елементи стават положителни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Редовете стават колони, а колоните – редове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Разменят се местата на първия и последния ред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Всички елементи се умножават по -1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се случва при транспониране на матрица?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Всички елементи стават положителни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Редовете стават колони, а колоните – редове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Разменят се местата на първия и последния ред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Всички елементи се умножават по -1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се случва при транспониране на матрица?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Всички елементи стават положителни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Редовете стават колони, а колоните – редове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Разменят се местата на първия и последния ред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Всички елементи се умножават по -1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се случва при транспониране на матрица?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Всички елементи стават положителни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Редовете стават колони, а колоните – редове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Разменят се местата на първия и последния ред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Всички елементи се умножават по -1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какво най-често се използват битовите маски?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За криптиране на пароли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За съхраняване на множество състояния (флагове) в едно число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За изчисляване на детерминанти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За работа с плаваща запетая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какво най-често се използват битовите маски?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За криптиране на пароли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За съхраняване на множество състояния (флагове) в едно число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За изчисляване на детерминанти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За работа с плаваща запетая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какво най-често се използват битовите маски?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За криптиране на пароли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За съхраняване на множество състояния (флагове) в едно число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За изчисляване на детерминанти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За работа с плаваща запетая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какво най-често се използват битовите маски?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За криптиране на пароли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За съхраняване на множество състояния (флагове) в едно число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За изчисляване на детерминанти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За работа с плаваща запетая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5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За какво най-често се използват битовите маски?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За криптиране на пароли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За съхраняване на множество състояния (флагове) в едно число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За изчисляване на детерминанти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За работа с плаваща запетая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диаграма е най-подходяща за представяне на дялове от цялото (напр. проценти)?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Хистограма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Честотен полигон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Кръгова диаграма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Диаграма на Парето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диаграма е най-подходяща за представяне на дялове от цялото (напр. проценти)?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Хистограма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Честотен полигон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Кръгова диаграма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Диаграма на Парето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диаграма е най-подходяща за представяне на дялове от цялото (напр. проценти)?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Хистограма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Честотен полигон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Кръгова диаграма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Диаграма на Парето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диаграма е най-подходяща за представяне на дялове от цялото (напр. проценти)?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Хистограма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Честотен полигон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Кръгова диаграма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Диаграма на Парето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диаграма е най-подходяща за представяне на дялове от цялото (напр. проценти)?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Хистограма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Честотен полигон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Кръгова диаграма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Диаграма на Парето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единична матрица (E или I)?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Матрица, пълна само с единици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Квадратна матрица с единици по главния диагонал и нули навсякъде другаде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Матрица с детерминанта равна на 0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Матрица с един ред и една колона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единична матрица (E или I)?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Матрица, пълна само с единици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Квадратна матрица с единици по главния диагонал и нули навсякъде другаде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Матрица с детерминанта равна на 0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Матрица с един ред и една колона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единична матрица (E или I)?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Матрица, пълна само с единици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Квадратна матрица с единици по главния диагонал и нули навсякъде другаде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Матрица с детерминанта равна на 0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Матрица с един ред и една колона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единична матрица (E или I)?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Матрица, пълна само с единици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Квадратна матрица с единици по главния диагонал и нули навсякъде другаде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Матрица с детерминанта равна на 0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Матрица с един ред и една колона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е единична матрица (E или I)?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Матрица, пълна само с единици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Квадратна матрица с единици по главния диагонал и нули навсякъде другаде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Матрица с детерминанта равна на 0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Матрица с един ред и една колона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6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представлява „Нулевата хипотеза“ (H0)?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Твърдението, че има ефект или разлика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Хипотезата, която приемаме, ако p &lt; α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Твърдението, че няма ефект или разлика (статуквото), което подлагаме на проверка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Грешка от първи род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представлява „Нулевата хипотеза“ (H0)?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Твърдението, че има ефект или разлика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Хипотезата, която приемаме, ако p &lt; 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Твърдението, че няма ефект или разлика (статуквото), което подлагаме на проверка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Грешка от първи род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представлява „Нулевата хипотеза“ (H0)?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Твърдението, че има ефект или разлика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Хипотезата, която приемаме, ако p &lt; 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Твърдението, че няма ефект или разлика (статуквото), което подлагаме на проверка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Грешка от първи род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представлява „Нулевата хипотеза“ (H0)?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Твърдението, че има ефект или разлика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Хипотезата, която приемаме, ако p &lt; 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Твърдението, че няма ефект или разлика (статуквото), което подлагаме на проверка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Грешка от първи род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представлява „Нулевата хипотеза“ (H0)?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Твърдението, че има ефект или разлика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Хипотезата, която приемаме, ако p &lt; α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Твърдението, че няма ефект или разлика (статуквото), което подлагаме на проверка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Грешка от първи род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7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В какъв интервал се изменя коефициентът на корелация (r)?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От 0 до 1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От -1 до 1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От 0 до 100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От -∞ до +∞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В какъв интервал се изменя коефициентът на корелация (r)?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От 0 до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От -1 до 1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От 0 до 100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От -∞ до +∞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В какъв интервал се изменя коефициентът на корелация (r)?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От 0 до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От -1 до 1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От 0 до 100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От -∞ до +∞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В какъв интервал се изменя коефициентът на корелация (r)?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От 0 до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От -1 до 1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От 0 до 100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От -∞ до +∞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В какъв интервал се изменя коефициентът на корелация (r)?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От 0 до 1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От -1 до 1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От 0 до 100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От -∞ до +∞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8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Ако p-стойността (p-value) е по-малка от нивото на значимост α, какво решение вземаме?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Приемаме нулевата хипотеза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Отхвърляме нулевата хипотеза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Не можем да вземем решение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Увеличаваме обема на извадката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Ако p-стойността (p-value) е по-малка от нивото на значимост α, какво решение вземаме?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Приемаме нулевата хипотеза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Отхвърляме нулевата хипотеза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Не можем да вземем решение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Увеличаваме обема на извадката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Ако p-стойността (p-value) е по-малка от нивото на значимост α, какво решение вземаме?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Приемаме нулевата хипотеза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Отхвърляме нулевата хипотеза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Не можем да вземем решение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Увеличаваме обема на извадката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Ако p-стойността (p-value) е по-малка от нивото на значимост α, какво решение вземаме?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Приемаме нулевата хипотеза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Отхвърляме нулевата хипотеза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Не можем да вземем решение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Увеличаваме обема на извадката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Ако p-стойността (p-value) е по-малка от нивото на значимост α, какво решение вземаме?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Приемаме нулевата хипотеза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Отхвърляме нулевата хипотеза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Не можем да вземем решение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Увеличаваме обема на извадката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9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гласи Централната гранична теорема?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Разпределението на средните стойности на извадките клони към нормално, ако извадката е достатъчно голяма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Медианата винаги е равна на средното аритметично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Вероятността за грешка намалява с увеличаване на дисперсията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Всяка променлива има само две възможни стойности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гласи Централната гранична теорема?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Разпределението на средните стойности на извадките клони към нормално, ако извадката е достатъчно голяма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Медианата винаги е равна на средното аритметично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Вероятността за грешка намалява с увеличаване на дисперсията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Всяка променлива има само две възможни стойности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гласи Централната гранична теорема?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Разпределението на средните стойности на извадките клони към нормално, ако извадката е достатъчно голяма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Медианата винаги е равна на средното аритметично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Вероятността за грешка намалява с увеличаване на дисперсията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Всяка променлива има само две възможни стойности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гласи Централната гранична теорема?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Разпределението на средните стойности на извадките клони към нормално, ако извадката е достатъчно голяма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Медианата винаги е равна на средното аритметично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Вероятността за грешка намалява с увеличаване на дисперсията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Всяка променлива има само две възможни стойности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Статистика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Какво гласи Централната гранична теорема?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Разпределението на средните стойности на извадките клони към нормално, ако извадката е достатъчно голяма 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Медианата винаги е равна на средното аритметично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Вероятността за грешка намалява с увеличаване на дисперсията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Всяка променлива има само две възможни стойности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Линейна алгебра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Коя е основната цел на метода на Гаус?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Да се намери детерминантата чрез правилото на триъгълника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Да се приведе матрицата в триъгълен вид (нули под главния диагонал) 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Да се транспонира матрицата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Да се съберат две матрици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>
            <a:hlinkClick r:id="rId3" action="ppaction://hlinksldjump"/>
          </p:cNvPr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</a:t>
            </a:r>
          </a:p>
        </p:txBody>
      </p:sp>
      <p:sp>
        <p:nvSpPr>
          <p:cNvPr id="5" name="Rounded Rectangle 4">
            <a:hlinkClick r:id="rId4" action="ppaction://hlinksldjump"/>
          </p:cNvPr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</a:t>
            </a:r>
          </a:p>
        </p:txBody>
      </p:sp>
      <p:sp>
        <p:nvSpPr>
          <p:cNvPr id="6" name="Rounded Rectangle 5">
            <a:hlinkClick r:id="rId5" action="ppaction://hlinksldjump"/>
          </p:cNvPr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</a:t>
            </a:r>
          </a:p>
        </p:txBody>
      </p:sp>
      <p:sp>
        <p:nvSpPr>
          <p:cNvPr id="7" name="Rounded Rectangle 6">
            <a:hlinkClick r:id="rId6" action="ppaction://hlinksldjump"/>
          </p:cNvPr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219653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66CC"/>
                </a:solidFill>
              </a:defRPr>
            </a:pPr>
            <a:r>
              <a:t>Ученик 10 — Побитови операции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41414"/>
                </a:solidFill>
              </a:defRPr>
            </a:pPr>
            <a:r>
              <a:t>Какъв е резултатът от операцията NOT (~) върху даден бит?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А) Нулира бита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Б) Не променя бита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7315200" cy="731520"/>
          </a:xfrm>
          <a:prstGeom prst="roundRect">
            <a:avLst/>
          </a:prstGeom>
          <a:solidFill>
            <a:srgbClr val="F5F5F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141414"/>
                </a:solidFill>
              </a:defRPr>
            </a:pPr>
            <a:r>
              <a:t>В) Обръща стойността (0 става 1, 1 става 0)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486400"/>
            <a:ext cx="7315200" cy="731520"/>
          </a:xfrm>
          <a:prstGeom prst="roundRect">
            <a:avLst/>
          </a:prstGeom>
          <a:solidFill>
            <a:srgbClr val="DC3545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000">
                <a:solidFill>
                  <a:srgbClr val="FFFFFF"/>
                </a:solidFill>
              </a:defRPr>
            </a:pPr>
            <a:r>
              <a:t>Г) Измества бита надясно </a:t>
            </a:r>
          </a:p>
        </p:txBody>
      </p:sp>
      <p:sp>
        <p:nvSpPr>
          <p:cNvPr id="8" name="Rounded Rectangle 7">
            <a:hlinkClick r:id="rId3" action="ppaction://hlinksldjump"/>
          </p:cNvPr>
          <p:cNvSpPr/>
          <p:nvPr/>
        </p:nvSpPr>
        <p:spPr>
          <a:xfrm>
            <a:off x="6583680" y="6309360"/>
            <a:ext cx="1645920" cy="548640"/>
          </a:xfrm>
          <a:prstGeom prst="round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Следващ въпрос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10044</Words>
  <Application>Microsoft Office PowerPoint</Application>
  <PresentationFormat>On-screen Show (4:3)</PresentationFormat>
  <Paragraphs>1173</Paragraphs>
  <Slides>151</Slides>
  <Notes>150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151</vt:i4>
      </vt:variant>
    </vt:vector>
  </HeadingPairs>
  <TitlesOfParts>
    <vt:vector size="154" baseType="lpstr">
      <vt:lpstr>Arial</vt:lpstr>
      <vt:lpstr>Calibri</vt:lpstr>
      <vt:lpstr>Office Theme</vt:lpstr>
      <vt:lpstr>Изпит по Математически основи на програмирането</vt:lpstr>
      <vt:lpstr>Ученик 1 — Статистика</vt:lpstr>
      <vt:lpstr>Ученик 1 — Статистика</vt:lpstr>
      <vt:lpstr>Ученик 1 — Статистика</vt:lpstr>
      <vt:lpstr>Ученик 1 — Статистика</vt:lpstr>
      <vt:lpstr>Ученик 1 — Статистика</vt:lpstr>
      <vt:lpstr>Ученик 1 — Линейна алгебра</vt:lpstr>
      <vt:lpstr>Ученик 1 — Линейна алгебра</vt:lpstr>
      <vt:lpstr>Ученик 1 — Линейна алгебра</vt:lpstr>
      <vt:lpstr>Ученик 1 — Линейна алгебра</vt:lpstr>
      <vt:lpstr>Ученик 1 — Линейна алгебра</vt:lpstr>
      <vt:lpstr>Ученик 1 — Побитови операции</vt:lpstr>
      <vt:lpstr>Ученик 1 — Побитови операции</vt:lpstr>
      <vt:lpstr>Ученик 1 — Побитови операции</vt:lpstr>
      <vt:lpstr>Ученик 1 — Побитови операции</vt:lpstr>
      <vt:lpstr>Ученик 1 — Побитови операции</vt:lpstr>
      <vt:lpstr>Ученик 2 — Статистика</vt:lpstr>
      <vt:lpstr>Ученик 2 — Статистика</vt:lpstr>
      <vt:lpstr>Ученик 2 — Статистика</vt:lpstr>
      <vt:lpstr>Ученик 2 — Статистика</vt:lpstr>
      <vt:lpstr>Ученик 2 — Статистика</vt:lpstr>
      <vt:lpstr>Ученик 2 — Линейна алгебра</vt:lpstr>
      <vt:lpstr>Ученик 2 — Линейна алгебра</vt:lpstr>
      <vt:lpstr>Ученик 2 — Линейна алгебра</vt:lpstr>
      <vt:lpstr>Ученик 2 — Линейна алгебра</vt:lpstr>
      <vt:lpstr>Ученик 2 — Линейна алгебра</vt:lpstr>
      <vt:lpstr>Ученик 2 — Побитови операции</vt:lpstr>
      <vt:lpstr>Ученик 2 — Побитови операции</vt:lpstr>
      <vt:lpstr>Ученик 2 — Побитови операции</vt:lpstr>
      <vt:lpstr>Ученик 2 — Побитови операции</vt:lpstr>
      <vt:lpstr>Ученик 2 — Побитови операции</vt:lpstr>
      <vt:lpstr>Ученик 3 — Статистика</vt:lpstr>
      <vt:lpstr>Ученик 3 — Статистика</vt:lpstr>
      <vt:lpstr>Ученик 3 — Статистика</vt:lpstr>
      <vt:lpstr>Ученик 3 — Статистика</vt:lpstr>
      <vt:lpstr>Ученик 3 — Статистика</vt:lpstr>
      <vt:lpstr>Ученик 3 — Линейна алгебра</vt:lpstr>
      <vt:lpstr>Ученик 3 — Линейна алгебра</vt:lpstr>
      <vt:lpstr>Ученик 3 — Линейна алгебра</vt:lpstr>
      <vt:lpstr>Ученик 3 — Линейна алгебра</vt:lpstr>
      <vt:lpstr>Ученик 3 — Линейна алгебра</vt:lpstr>
      <vt:lpstr>Ученик 3 — Побитови операции</vt:lpstr>
      <vt:lpstr>Ученик 3 — Побитови операции</vt:lpstr>
      <vt:lpstr>Ученик 3 — Побитови операции</vt:lpstr>
      <vt:lpstr>Ученик 3 — Побитови операции</vt:lpstr>
      <vt:lpstr>Ученик 3 — Побитови операции</vt:lpstr>
      <vt:lpstr>Ученик 4 — Статистика</vt:lpstr>
      <vt:lpstr>Ученик 4 — Статистика</vt:lpstr>
      <vt:lpstr>Ученик 4 — Статистика</vt:lpstr>
      <vt:lpstr>Ученик 4 — Статистика</vt:lpstr>
      <vt:lpstr>Ученик 4 — Статистика</vt:lpstr>
      <vt:lpstr>Ученик 4 — Линейна алгебра</vt:lpstr>
      <vt:lpstr>Ученик 4 — Линейна алгебра</vt:lpstr>
      <vt:lpstr>Ученик 4 — Линейна алгебра</vt:lpstr>
      <vt:lpstr>Ученик 4 — Линейна алгебра</vt:lpstr>
      <vt:lpstr>Ученик 4 — Линейна алгебра</vt:lpstr>
      <vt:lpstr>Ученик 4 — Побитови операции</vt:lpstr>
      <vt:lpstr>Ученик 4 — Побитови операции</vt:lpstr>
      <vt:lpstr>Ученик 4 — Побитови операции</vt:lpstr>
      <vt:lpstr>Ученик 4 — Побитови операции</vt:lpstr>
      <vt:lpstr>Ученик 4 — Побитови операции</vt:lpstr>
      <vt:lpstr>Ученик 5 — Статистика</vt:lpstr>
      <vt:lpstr>Ученик 5 — Статистика</vt:lpstr>
      <vt:lpstr>Ученик 5 — Статистика</vt:lpstr>
      <vt:lpstr>Ученик 5 — Статистика</vt:lpstr>
      <vt:lpstr>Ученик 5 — Статистика</vt:lpstr>
      <vt:lpstr>Ученик 5 — Линейна алгебра</vt:lpstr>
      <vt:lpstr>Ученик 5 — Линейна алгебра</vt:lpstr>
      <vt:lpstr>Ученик 5 — Линейна алгебра</vt:lpstr>
      <vt:lpstr>Ученик 5 — Линейна алгебра</vt:lpstr>
      <vt:lpstr>Ученик 5 — Линейна алгебра</vt:lpstr>
      <vt:lpstr>Ученик 5 — Побитови операции</vt:lpstr>
      <vt:lpstr>Ученик 5 — Побитови операции</vt:lpstr>
      <vt:lpstr>Ученик 5 — Побитови операции</vt:lpstr>
      <vt:lpstr>Ученик 5 — Побитови операции</vt:lpstr>
      <vt:lpstr>Ученик 5 — Побитови операции</vt:lpstr>
      <vt:lpstr>Ученик 6 — Статистика</vt:lpstr>
      <vt:lpstr>Ученик 6 — Статистика</vt:lpstr>
      <vt:lpstr>Ученик 6 — Статистика</vt:lpstr>
      <vt:lpstr>Ученик 6 — Статистика</vt:lpstr>
      <vt:lpstr>Ученик 6 — Статистика</vt:lpstr>
      <vt:lpstr>Ученик 6 — Линейна алгебра</vt:lpstr>
      <vt:lpstr>Ученик 6 — Линейна алгебра</vt:lpstr>
      <vt:lpstr>Ученик 6 — Линейна алгебра</vt:lpstr>
      <vt:lpstr>Ученик 6 — Линейна алгебра</vt:lpstr>
      <vt:lpstr>Ученик 6 — Линейна алгебра</vt:lpstr>
      <vt:lpstr>Ученик 6 — Побитови операции</vt:lpstr>
      <vt:lpstr>Ученик 6 — Побитови операции</vt:lpstr>
      <vt:lpstr>Ученик 6 — Побитови операции</vt:lpstr>
      <vt:lpstr>Ученик 6 — Побитови операции</vt:lpstr>
      <vt:lpstr>Ученик 6 — Побитови операции</vt:lpstr>
      <vt:lpstr>Ученик 7 — Статистика</vt:lpstr>
      <vt:lpstr>Ученик 7 — Статистика</vt:lpstr>
      <vt:lpstr>Ученик 7 — Статистика</vt:lpstr>
      <vt:lpstr>Ученик 7 — Статистика</vt:lpstr>
      <vt:lpstr>Ученик 7 — Статистика</vt:lpstr>
      <vt:lpstr>Ученик 7 — Линейна алгебра</vt:lpstr>
      <vt:lpstr>Ученик 7 — Линейна алгебра</vt:lpstr>
      <vt:lpstr>Ученик 7 — Линейна алгебра</vt:lpstr>
      <vt:lpstr>Ученик 7 — Линейна алгебра</vt:lpstr>
      <vt:lpstr>Ученик 7 — Линейна алгебра</vt:lpstr>
      <vt:lpstr>Ученик 7 — Побитови операции</vt:lpstr>
      <vt:lpstr>Ученик 7 — Побитови операции</vt:lpstr>
      <vt:lpstr>Ученик 7 — Побитови операции</vt:lpstr>
      <vt:lpstr>Ученик 7 — Побитови операции</vt:lpstr>
      <vt:lpstr>Ученик 7 — Побитови операции</vt:lpstr>
      <vt:lpstr>Ученик 8 — Статистика</vt:lpstr>
      <vt:lpstr>Ученик 8 — Статистика</vt:lpstr>
      <vt:lpstr>Ученик 8 — Статистика</vt:lpstr>
      <vt:lpstr>Ученик 8 — Статистика</vt:lpstr>
      <vt:lpstr>Ученик 8 — Статистика</vt:lpstr>
      <vt:lpstr>Ученик 8 — Линейна алгебра</vt:lpstr>
      <vt:lpstr>Ученик 8 — Линейна алгебра</vt:lpstr>
      <vt:lpstr>Ученик 8 — Линейна алгебра</vt:lpstr>
      <vt:lpstr>Ученик 8 — Линейна алгебра</vt:lpstr>
      <vt:lpstr>Ученик 8 — Линейна алгебра</vt:lpstr>
      <vt:lpstr>Ученик 8 — Побитови операции</vt:lpstr>
      <vt:lpstr>Ученик 8 — Побитови операции</vt:lpstr>
      <vt:lpstr>Ученик 8 — Побитови операции</vt:lpstr>
      <vt:lpstr>Ученик 8 — Побитови операции</vt:lpstr>
      <vt:lpstr>Ученик 8 — Побитови операции</vt:lpstr>
      <vt:lpstr>Ученик 9 — Статистика</vt:lpstr>
      <vt:lpstr>Ученик 9 — Статистика</vt:lpstr>
      <vt:lpstr>Ученик 9 — Статистика</vt:lpstr>
      <vt:lpstr>Ученик 9 — Статистика</vt:lpstr>
      <vt:lpstr>Ученик 9 — Статистика</vt:lpstr>
      <vt:lpstr>Ученик 9 — Линейна алгебра</vt:lpstr>
      <vt:lpstr>Ученик 9 — Линейна алгебра</vt:lpstr>
      <vt:lpstr>Ученик 9 — Линейна алгебра</vt:lpstr>
      <vt:lpstr>Ученик 9 — Линейна алгебра</vt:lpstr>
      <vt:lpstr>Ученик 9 — Линейна алгебра</vt:lpstr>
      <vt:lpstr>Ученик 9 — Побитови операции</vt:lpstr>
      <vt:lpstr>Ученик 9 — Побитови операции</vt:lpstr>
      <vt:lpstr>Ученик 9 — Побитови операции</vt:lpstr>
      <vt:lpstr>Ученик 9 — Побитови операции</vt:lpstr>
      <vt:lpstr>Ученик 9 — Побитови операции</vt:lpstr>
      <vt:lpstr>Ученик 10 — Статистика</vt:lpstr>
      <vt:lpstr>Ученик 10 — Статистика</vt:lpstr>
      <vt:lpstr>Ученик 10 — Статистика</vt:lpstr>
      <vt:lpstr>Ученик 10 — Статистика</vt:lpstr>
      <vt:lpstr>Ученик 10 — Статистика</vt:lpstr>
      <vt:lpstr>Ученик 10 — Линейна алгебра</vt:lpstr>
      <vt:lpstr>Ученик 10 — Линейна алгебра</vt:lpstr>
      <vt:lpstr>Ученик 10 — Линейна алгебра</vt:lpstr>
      <vt:lpstr>Ученик 10 — Линейна алгебра</vt:lpstr>
      <vt:lpstr>Ученик 10 — Линейна алгебра</vt:lpstr>
      <vt:lpstr>Ученик 10 — Побитови операции</vt:lpstr>
      <vt:lpstr>Ученик 10 — Побитови операции</vt:lpstr>
      <vt:lpstr>Ученик 10 — Побитови операции</vt:lpstr>
      <vt:lpstr>Ученик 10 — Побитови операции</vt:lpstr>
      <vt:lpstr>Ученик 10 — Побитови операции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Изпит по Математически основи на програмирането</dc:title>
  <dc:subject/>
  <dc:creator/>
  <cp:keywords/>
  <dc:description>generated using python-pptx</dc:description>
  <cp:lastModifiedBy>Нели Г. Няголова</cp:lastModifiedBy>
  <cp:revision>3</cp:revision>
  <dcterms:created xsi:type="dcterms:W3CDTF">2013-01-27T09:14:16Z</dcterms:created>
  <dcterms:modified xsi:type="dcterms:W3CDTF">2026-01-25T16:12:33Z</dcterms:modified>
  <cp:category/>
</cp:coreProperties>
</file>